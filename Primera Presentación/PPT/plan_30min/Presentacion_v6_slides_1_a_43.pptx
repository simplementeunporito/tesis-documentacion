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charts/chart1.xml" ContentType="application/vnd.openxmlformats-officedocument.drawingml.chart+xml"/>
  <Override PartName="/ppt/slideMasters/slideMaster37.xml" ContentType="application/vnd.openxmlformats-officedocument.presentationml.slideMaster+xml"/>
  <Override PartName="/ppt/slides/slide37.xml" ContentType="application/vnd.openxmlformats-officedocument.presentationml.slide+xml"/>
  <Override PartName="/ppt/charts/chart2.xml" ContentType="application/vnd.openxmlformats-officedocument.drawingml.chart+xml"/>
  <Override PartName="/ppt/slideMasters/slideMaster38.xml" ContentType="application/vnd.openxmlformats-officedocument.presentationml.slideMaster+xml"/>
  <Override PartName="/ppt/slides/slide38.xml" ContentType="application/vnd.openxmlformats-officedocument.presentationml.slide+xml"/>
  <Override PartName="/ppt/charts/chart3.xml" ContentType="application/vnd.openxmlformats-officedocument.drawingml.chart+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charts/chart4.xml" ContentType="application/vnd.openxmlformats-officedocument.drawingml.chart+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Lst>
  <p:notesMasterIdLst>
    <p:notesMasterId r:id="rId45"/>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notesMaster" Target="notesMasters/notesMaster1.xml"/><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Energía</c:v>
                </c:pt>
              </c:strCache>
            </c:strRef>
          </c:tx>
          <c:spPr>
            <a:solidFill>
              <a:schemeClr val="accent1"/>
            </a:solidFill>
            <a:ln w="9525" cap="flat">
              <a:solidFill>
                <a:srgbClr val="F9F9F9"/>
              </a:solidFill>
              <a:prstDash val="solid"/>
              <a:round/>
            </a:ln>
            <a:effectLst/>
          </c:spPr>
          <c:dPt>
            <c:idx val="0"/>
            <c:bubble3D val="0"/>
            <c:spPr>
              <a:solidFill>
                <a:srgbClr val="C55A11"/>
              </a:solidFill>
              <a:ln w="19050" cap="flat">
                <a:solidFill>
                  <a:srgbClr val="FFFFFF"/>
                </a:solidFill>
                <a:prstDash val="solid"/>
                <a:round/>
              </a:ln>
              <a:effectLst/>
            </c:spPr>
          </c:dPt>
          <c:dPt>
            <c:idx val="1"/>
            <c:bubble3D val="0"/>
            <c:spPr>
              <a:solidFill>
                <a:srgbClr val="2E75B6"/>
              </a:solidFill>
              <a:ln w="19050" cap="flat">
                <a:solidFill>
                  <a:srgbClr val="FFFFFF"/>
                </a:solidFill>
                <a:prstDash val="solid"/>
                <a:round/>
              </a:ln>
              <a:effectLst/>
            </c:spPr>
          </c:dPt>
          <c:dPt>
            <c:idx val="2"/>
            <c:bubble3D val="0"/>
            <c:spPr>
              <a:solidFill>
                <a:srgbClr val="9E9E9E"/>
              </a:solidFill>
              <a:ln w="19050" cap="flat">
                <a:solidFill>
                  <a:srgbClr val="FFFFFF"/>
                </a:solidFill>
                <a:prstDash val="solid"/>
                <a:round/>
              </a:ln>
              <a:effectLst/>
            </c:spPr>
          </c:dPt>
          <c:dLbls>
            <c:dLbl>
              <c:idx val="0"/>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1"/>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dLbl>
              <c:idx val="2"/>
              <c:numFmt formatCode="0&quot;%&quot;" sourceLinked="0"/>
              <c:spPr/>
              <c:txPr>
                <a:bodyPr/>
                <a:lstStyle/>
                <a:p>
                  <a:pPr>
                    <a:defRPr sz="1800" b="1" i="0" u="none" strike="noStrike">
                      <a:solidFill>
                        <a:srgbClr val="FFFFFF"/>
                      </a:solidFill>
                      <a:latin typeface="Arial"/>
                    </a:defRPr>
                  </a:pPr>
                </a:p>
              </c:txPr>
              <c:showLegendKey val="0"/>
              <c:showVal val="1"/>
              <c:showCatName val="0"/>
              <c:showSerName val="0"/>
              <c:showPercent val="0"/>
              <c:showBubbleSize val="0"/>
            </c:dLbl>
            <c:numFmt formatCode="0&quot;%&quot;" sourceLinked="0"/>
            <c:txPr>
              <a:bodyPr/>
              <a:lstStyle/>
              <a:p>
                <a:pPr>
                  <a:defRPr sz="1800" b="1"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Sheet1!$A$2:$A$4</c:f>
              <c:strCache>
                <c:ptCount val="3"/>
                <c:pt idx="0">
                  <c:v>Rayleigh</c:v>
                </c:pt>
                <c:pt idx="1">
                  <c:v>S</c:v>
                </c:pt>
                <c:pt idx="2">
                  <c:v>P</c:v>
                </c:pt>
              </c:strCache>
            </c:strRef>
          </c:cat>
          <c:val>
            <c:numRef>
              <c:f>Sheet1!$B$2:$B$4</c:f>
              <c:numCache>
                <c:ptCount val="3"/>
                <c:pt idx="0">
                  <c:v>67</c:v>
                </c:pt>
                <c:pt idx="1">
                  <c:v>26</c:v>
                </c:pt>
                <c:pt idx="2">
                  <c:v>7</c:v>
                </c:pt>
              </c:numCache>
            </c:numRef>
          </c:val>
        </c:ser>
        <c:firstSliceAng val="0"/>
      </c:pieChart>
      <c:spPr>
        <a:noFill/>
        <a:ln>
          <a:noFill/>
        </a:ln>
        <a:effectLst/>
      </c:spPr>
    </c:plotArea>
    <c:legend>
      <c:legendPos val="r"/>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Rayleigh (1/√r)</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C55A11"/>
              </a:solidFill>
              <a:ln w="9525" cap="flat">
                <a:solidFill>
                  <a:srgbClr val="C55A11"/>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Sheet1!$B$2:$B$11</c:f>
              <c:numCache>
                <c:formatCode>General</c:formatCode>
                <c:ptCount val="10"/>
                <c:pt idx="0">
                  <c:v>1</c:v>
                </c:pt>
                <c:pt idx="1">
                  <c:v>0.707</c:v>
                </c:pt>
                <c:pt idx="2">
                  <c:v>0.577</c:v>
                </c:pt>
                <c:pt idx="3">
                  <c:v>0.5</c:v>
                </c:pt>
                <c:pt idx="4">
                  <c:v>0.447</c:v>
                </c:pt>
                <c:pt idx="5">
                  <c:v>0.408</c:v>
                </c:pt>
                <c:pt idx="6">
                  <c:v>0.378</c:v>
                </c:pt>
                <c:pt idx="7">
                  <c:v>0.354</c:v>
                </c:pt>
                <c:pt idx="8">
                  <c:v>0.333</c:v>
                </c:pt>
                <c:pt idx="9">
                  <c:v>0.316</c:v>
                </c:pt>
              </c:numCache>
            </c:numRef>
          </c:val>
          <c:smooth val="0"/>
        </c:ser>
        <c:ser>
          <c:idx val="1"/>
          <c:order val="1"/>
          <c:tx>
            <c:strRef>
              <c:f>Sheet1!$C$1</c:f>
              <c:strCache>
                <c:ptCount val="1"/>
                <c:pt idx="0">
                  <c:v>Cuerpo, en el interior (1/r)</c:v>
                </c:pt>
              </c:strCache>
            </c:strRef>
          </c:tx>
          <c:spPr>
            <a:solidFill>
              <a:srgbClr val="2E75B6"/>
            </a:solidFill>
            <a:ln w="38100" cap="flat">
              <a:solidFill>
                <a:srgbClr val="2E75B6"/>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2E75B6"/>
              </a:solidFill>
              <a:ln w="9525" cap="flat">
                <a:solidFill>
                  <a:srgbClr val="2E75B6"/>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Sheet1!$C$2:$C$11</c:f>
              <c:numCache>
                <c:formatCode>General</c:formatCode>
                <c:ptCount val="10"/>
                <c:pt idx="0">
                  <c:v>1</c:v>
                </c:pt>
                <c:pt idx="1">
                  <c:v>0.5</c:v>
                </c:pt>
                <c:pt idx="2">
                  <c:v>0.333</c:v>
                </c:pt>
                <c:pt idx="3">
                  <c:v>0.25</c:v>
                </c:pt>
                <c:pt idx="4">
                  <c:v>0.2</c:v>
                </c:pt>
                <c:pt idx="5">
                  <c:v>0.167</c:v>
                </c:pt>
                <c:pt idx="6">
                  <c:v>0.143</c:v>
                </c:pt>
                <c:pt idx="7">
                  <c:v>0.125</c:v>
                </c:pt>
                <c:pt idx="8">
                  <c:v>0.111</c:v>
                </c:pt>
                <c:pt idx="9">
                  <c:v>0.1</c:v>
                </c:pt>
              </c:numCache>
            </c:numRef>
          </c:val>
          <c:smooth val="0"/>
        </c:ser>
        <c:ser>
          <c:idx val="2"/>
          <c:order val="2"/>
          <c:tx>
            <c:strRef>
              <c:f>Sheet1!$D$1</c:f>
              <c:strCache>
                <c:ptCount val="1"/>
                <c:pt idx="0">
                  <c:v>Cuerpo, en la superficie (1/r²)</c:v>
                </c:pt>
              </c:strCache>
            </c:strRef>
          </c:tx>
          <c:spPr>
            <a:solidFill>
              <a:srgbClr val="7F7F7F"/>
            </a:solidFill>
            <a:ln w="38100" cap="flat">
              <a:solidFill>
                <a:srgbClr val="7F7F7F"/>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none"/>
            <c:size val="6"/>
            <c:spPr>
              <a:solidFill>
                <a:srgbClr val="7F7F7F"/>
              </a:solidFill>
              <a:ln w="9525" cap="flat">
                <a:solidFill>
                  <a:srgbClr val="7F7F7F"/>
                </a:solidFill>
                <a:prstDash val="solid"/>
                <a:round/>
              </a:ln>
              <a:effectLst/>
            </c:spPr>
          </c:marker>
          <c:cat>
            <c:multiLvlStrRef>
              <c:f>Sheet1!$A$2:$A$11</c:f>
              <c:multiLvlStrCache>
                <c:ptCount val="10"/>
                <c:lvl>
                  <c:pt idx="0">
                    <c:v>1</c:v>
                  </c:pt>
                  <c:pt idx="1">
                    <c:v>2</c:v>
                  </c:pt>
                  <c:pt idx="2">
                    <c:v>3</c:v>
                  </c:pt>
                  <c:pt idx="3">
                    <c:v>4</c:v>
                  </c:pt>
                  <c:pt idx="4">
                    <c:v>5</c:v>
                  </c:pt>
                  <c:pt idx="5">
                    <c:v>6</c:v>
                  </c:pt>
                  <c:pt idx="6">
                    <c:v>7</c:v>
                  </c:pt>
                  <c:pt idx="7">
                    <c:v>8</c:v>
                  </c:pt>
                  <c:pt idx="8">
                    <c:v>9</c:v>
                  </c:pt>
                  <c:pt idx="9">
                    <c:v>10</c:v>
                  </c:pt>
                </c:lvl>
              </c:multiLvlStrCache>
            </c:multiLvlStrRef>
          </c:cat>
          <c:val>
            <c:numRef>
              <c:f>Sheet1!$D$2:$D$11</c:f>
              <c:numCache>
                <c:formatCode>General</c:formatCode>
                <c:ptCount val="10"/>
                <c:pt idx="0">
                  <c:v>1</c:v>
                </c:pt>
                <c:pt idx="1">
                  <c:v>0.25</c:v>
                </c:pt>
                <c:pt idx="2">
                  <c:v>0.111</c:v>
                </c:pt>
                <c:pt idx="3">
                  <c:v>0.063</c:v>
                </c:pt>
                <c:pt idx="4">
                  <c:v>0.04</c:v>
                </c:pt>
                <c:pt idx="5">
                  <c:v>0.028</c:v>
                </c:pt>
                <c:pt idx="6">
                  <c:v>0.02</c:v>
                </c:pt>
                <c:pt idx="7">
                  <c:v>0.016</c:v>
                </c:pt>
                <c:pt idx="8">
                  <c:v>0.012</c:v>
                </c:pt>
                <c:pt idx="9">
                  <c:v>0.01</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Distancia a la fuente (r, relativa)</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Amplitud relativa</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400">
              <a:solidFill>
                <a:srgbClr val="2D2D2D"/>
              </a:solidFill>
              <a:latin typeface="Arial"/>
              <a:cs typeface="Arial"/>
            </a:defRPr>
          </a:pPr>
          <a:endParaRPr lang="en-US"/>
        </a:p>
      </c:txPr>
    </c:legend>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cR / Vs</c:v>
                </c:pt>
              </c:strCache>
            </c:strRef>
          </c:tx>
          <c:spPr>
            <a:solidFill>
              <a:srgbClr val="C55A11"/>
            </a:solidFill>
            <a:ln w="38100" cap="flat">
              <a:solidFill>
                <a:srgbClr val="C55A11"/>
              </a:solidFill>
              <a:prstDash val="solid"/>
              <a:round/>
            </a:ln>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c:symbol val="circle"/>
            <c:size val="7"/>
            <c:spPr>
              <a:solidFill>
                <a:srgbClr val="C55A11"/>
              </a:solidFill>
              <a:ln w="9525" cap="flat">
                <a:solidFill>
                  <a:srgbClr val="C55A11"/>
                </a:solidFill>
                <a:prstDash val="solid"/>
                <a:round/>
              </a:ln>
              <a:effectLst/>
            </c:spPr>
          </c:marker>
          <c:cat>
            <c:multiLvlStrRef>
              <c:f>Sheet1!$A$2:$A$8</c:f>
              <c:multiLvlStrCache>
                <c:ptCount val="7"/>
                <c:lvl>
                  <c:pt idx="0">
                    <c:v>0</c:v>
                  </c:pt>
                  <c:pt idx="1">
                    <c:v>0,1</c:v>
                  </c:pt>
                  <c:pt idx="2">
                    <c:v>0,2</c:v>
                  </c:pt>
                  <c:pt idx="3">
                    <c:v>0,25</c:v>
                  </c:pt>
                  <c:pt idx="4">
                    <c:v>0,3</c:v>
                  </c:pt>
                  <c:pt idx="5">
                    <c:v>0,4</c:v>
                  </c:pt>
                  <c:pt idx="6">
                    <c:v>0,5</c:v>
                  </c:pt>
                </c:lvl>
              </c:multiLvlStrCache>
            </c:multiLvlStrRef>
          </c:cat>
          <c:val>
            <c:numRef>
              <c:f>Sheet1!$B$2:$B$8</c:f>
              <c:numCache>
                <c:formatCode>General</c:formatCode>
                <c:ptCount val="7"/>
                <c:pt idx="0">
                  <c:v>0.862</c:v>
                </c:pt>
                <c:pt idx="1">
                  <c:v>0.887</c:v>
                </c:pt>
                <c:pt idx="2">
                  <c:v>0.908</c:v>
                </c:pt>
                <c:pt idx="3">
                  <c:v>0.918</c:v>
                </c:pt>
                <c:pt idx="4">
                  <c:v>0.926</c:v>
                </c:pt>
                <c:pt idx="5">
                  <c:v>0.941</c:v>
                </c:pt>
                <c:pt idx="6">
                  <c:v>0.955</c:v>
                </c:pt>
              </c:numCache>
            </c:numRef>
          </c:val>
          <c:smooth val="0"/>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Coeficiente de Poisson ν</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catAx>
      <c:valAx>
        <c:axId val="2094734552"/>
        <c:scaling>
          <c:orientation val="minMax"/>
          <c:max val="1"/>
          <c:min val="0.8"/>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cR / Vs</a:t>
                </a:r>
              </a:p>
            </c:rich>
          </c:tx>
          <c:layout/>
          <c:overlay val="0"/>
        </c:title>
        <c:numFmt formatCode="0.00" sourceLinked="0"/>
        <c:majorTickMark val="out"/>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scatterChart>
        <c:scatterStyle val="lineMarker"/>
        <c:varyColors val="0"/>
        <c:ser>
          <c:idx val="0"/>
          <c:order val="0"/>
          <c:tx>
            <c:strRef>
              <c:f>Sheet1!$B$1</c:f>
              <c:strCache>
                <c:ptCount val="1"/>
                <c:pt idx="0">
                  <c:v>Curva de dispersión (modo fundamental)</c:v>
                </c:pt>
              </c:strCache>
            </c:strRef>
          </c:tx>
          <c:spPr>
            <a:solidFill>
              <a:srgbClr val="C55A11"/>
            </a:solidFill>
            <a:ln w="38100" cap="flat">
              <a:solidFill>
                <a:srgbClr val="C55A11"/>
              </a:solidFill>
              <a:prstDash val="solid"/>
              <a:round/>
            </a:ln>
            <a:effectLst/>
          </c:spPr>
          <c:marker>
            <c:symbol val="none"/>
            <c:size val="6"/>
            <c:spPr>
              <a:solidFill>
                <a:srgbClr val="C55A11"/>
              </a:solidFill>
              <a:ln w="9525" cap="flat">
                <a:solidFill>
                  <a:srgbClr val="C55A11"/>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Sheet1!$B$2:$B$48</c:f>
              <c:numCache>
                <c:formatCode>General</c:formatCode>
                <c:ptCount val="47"/>
                <c:pt idx="0">
                  <c:v>393.4</c:v>
                </c:pt>
                <c:pt idx="1">
                  <c:v>386.8</c:v>
                </c:pt>
                <c:pt idx="2">
                  <c:v>380</c:v>
                </c:pt>
                <c:pt idx="3">
                  <c:v>372.9</c:v>
                </c:pt>
                <c:pt idx="4">
                  <c:v>365.6</c:v>
                </c:pt>
                <c:pt idx="5">
                  <c:v>358</c:v>
                </c:pt>
                <c:pt idx="6">
                  <c:v>350</c:v>
                </c:pt>
                <c:pt idx="7">
                  <c:v>341.5</c:v>
                </c:pt>
                <c:pt idx="8">
                  <c:v>332.2</c:v>
                </c:pt>
                <c:pt idx="9">
                  <c:v>321.7</c:v>
                </c:pt>
                <c:pt idx="10">
                  <c:v>309.5</c:v>
                </c:pt>
                <c:pt idx="11">
                  <c:v>295.5</c:v>
                </c:pt>
                <c:pt idx="12">
                  <c:v>280.1</c:v>
                </c:pt>
                <c:pt idx="13">
                  <c:v>264.7</c:v>
                </c:pt>
                <c:pt idx="14">
                  <c:v>250.7</c:v>
                </c:pt>
                <c:pt idx="15">
                  <c:v>238.9</c:v>
                </c:pt>
                <c:pt idx="16">
                  <c:v>229</c:v>
                </c:pt>
                <c:pt idx="17">
                  <c:v>213.9</c:v>
                </c:pt>
                <c:pt idx="18">
                  <c:v>202.5</c:v>
                </c:pt>
                <c:pt idx="19">
                  <c:v>193</c:v>
                </c:pt>
                <c:pt idx="20">
                  <c:v>184.6</c:v>
                </c:pt>
                <c:pt idx="21">
                  <c:v>177</c:v>
                </c:pt>
                <c:pt idx="22">
                  <c:v>170.3</c:v>
                </c:pt>
                <c:pt idx="23">
                  <c:v>164.6</c:v>
                </c:pt>
                <c:pt idx="24">
                  <c:v>159.9</c:v>
                </c:pt>
                <c:pt idx="25">
                  <c:v>156.1</c:v>
                </c:pt>
                <c:pt idx="26">
                  <c:v>153</c:v>
                </c:pt>
                <c:pt idx="27">
                  <c:v>150.6</c:v>
                </c:pt>
                <c:pt idx="28">
                  <c:v>148.7</c:v>
                </c:pt>
                <c:pt idx="29">
                  <c:v>147.1</c:v>
                </c:pt>
                <c:pt idx="30">
                  <c:v>145.8</c:v>
                </c:pt>
                <c:pt idx="31">
                  <c:v>144.7</c:v>
                </c:pt>
                <c:pt idx="32">
                  <c:v>143.9</c:v>
                </c:pt>
                <c:pt idx="33">
                  <c:v>143.1</c:v>
                </c:pt>
                <c:pt idx="34">
                  <c:v>142.5</c:v>
                </c:pt>
                <c:pt idx="35">
                  <c:v>142</c:v>
                </c:pt>
                <c:pt idx="36">
                  <c:v>141.6</c:v>
                </c:pt>
                <c:pt idx="37">
                  <c:v>140.7</c:v>
                </c:pt>
                <c:pt idx="38">
                  <c:v>140.1</c:v>
                </c:pt>
                <c:pt idx="39">
                  <c:v>139.8</c:v>
                </c:pt>
                <c:pt idx="40">
                  <c:v>139.5</c:v>
                </c:pt>
                <c:pt idx="41">
                  <c:v>139.4</c:v>
                </c:pt>
                <c:pt idx="42">
                  <c:v>139.3</c:v>
                </c:pt>
                <c:pt idx="43">
                  <c:v>139.2</c:v>
                </c:pt>
                <c:pt idx="44">
                  <c:v>139.2</c:v>
                </c:pt>
                <c:pt idx="45">
                  <c:v>139.2</c:v>
                </c:pt>
                <c:pt idx="46">
                  <c:v>139.1</c:v>
                </c:pt>
              </c:numCache>
            </c:numRef>
          </c:yVal>
          <c:smooth val="0"/>
        </c:ser>
        <c:ser>
          <c:idx val="1"/>
          <c:order val="1"/>
          <c:tx>
            <c:strRef>
              <c:f>Sheet1!$C$1</c:f>
              <c:strCache>
                <c:ptCount val="1"/>
                <c:pt idx="0">
                  <c:v>0,93·Vs de la capa 1 (139 m/s)</c:v>
                </c:pt>
              </c:strCache>
            </c:strRef>
          </c:tx>
          <c:spPr>
            <a:solidFill>
              <a:srgbClr val="2E75B6"/>
            </a:solidFill>
            <a:ln w="38100" cap="flat">
              <a:solidFill>
                <a:srgbClr val="2E75B6"/>
              </a:solidFill>
              <a:prstDash val="solid"/>
              <a:round/>
            </a:ln>
            <a:effectLst/>
          </c:spPr>
          <c:marker>
            <c:symbol val="none"/>
            <c:size val="6"/>
            <c:spPr>
              <a:solidFill>
                <a:srgbClr val="2E75B6"/>
              </a:solidFill>
              <a:ln w="9525" cap="flat">
                <a:solidFill>
                  <a:srgbClr val="2E75B6"/>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Sheet1!$C$2:$C$48</c:f>
              <c:numCache>
                <c:formatCode>General</c:formatCode>
                <c:ptCount val="47"/>
                <c:pt idx="0">
                  <c:v>139</c:v>
                </c:pt>
                <c:pt idx="1">
                  <c:v>139</c:v>
                </c:pt>
                <c:pt idx="2">
                  <c:v>139</c:v>
                </c:pt>
                <c:pt idx="3">
                  <c:v>139</c:v>
                </c:pt>
                <c:pt idx="4">
                  <c:v>139</c:v>
                </c:pt>
                <c:pt idx="5">
                  <c:v>139</c:v>
                </c:pt>
                <c:pt idx="6">
                  <c:v>139</c:v>
                </c:pt>
                <c:pt idx="7">
                  <c:v>139</c:v>
                </c:pt>
                <c:pt idx="8">
                  <c:v>139</c:v>
                </c:pt>
                <c:pt idx="9">
                  <c:v>139</c:v>
                </c:pt>
                <c:pt idx="10">
                  <c:v>139</c:v>
                </c:pt>
                <c:pt idx="11">
                  <c:v>139</c:v>
                </c:pt>
                <c:pt idx="12">
                  <c:v>139</c:v>
                </c:pt>
                <c:pt idx="13">
                  <c:v>139</c:v>
                </c:pt>
                <c:pt idx="14">
                  <c:v>139</c:v>
                </c:pt>
                <c:pt idx="15">
                  <c:v>139</c:v>
                </c:pt>
                <c:pt idx="16">
                  <c:v>139</c:v>
                </c:pt>
                <c:pt idx="17">
                  <c:v>139</c:v>
                </c:pt>
                <c:pt idx="18">
                  <c:v>139</c:v>
                </c:pt>
                <c:pt idx="19">
                  <c:v>139</c:v>
                </c:pt>
                <c:pt idx="20">
                  <c:v>139</c:v>
                </c:pt>
                <c:pt idx="21">
                  <c:v>139</c:v>
                </c:pt>
                <c:pt idx="22">
                  <c:v>139</c:v>
                </c:pt>
                <c:pt idx="23">
                  <c:v>139</c:v>
                </c:pt>
                <c:pt idx="24">
                  <c:v>139</c:v>
                </c:pt>
                <c:pt idx="25">
                  <c:v>139</c:v>
                </c:pt>
                <c:pt idx="26">
                  <c:v>139</c:v>
                </c:pt>
                <c:pt idx="27">
                  <c:v>139</c:v>
                </c:pt>
                <c:pt idx="28">
                  <c:v>139</c:v>
                </c:pt>
                <c:pt idx="29">
                  <c:v>139</c:v>
                </c:pt>
                <c:pt idx="30">
                  <c:v>139</c:v>
                </c:pt>
                <c:pt idx="31">
                  <c:v>139</c:v>
                </c:pt>
                <c:pt idx="32">
                  <c:v>139</c:v>
                </c:pt>
                <c:pt idx="33">
                  <c:v>139</c:v>
                </c:pt>
                <c:pt idx="34">
                  <c:v>139</c:v>
                </c:pt>
                <c:pt idx="35">
                  <c:v>139</c:v>
                </c:pt>
                <c:pt idx="36">
                  <c:v>139</c:v>
                </c:pt>
                <c:pt idx="37">
                  <c:v>139</c:v>
                </c:pt>
                <c:pt idx="38">
                  <c:v>139</c:v>
                </c:pt>
                <c:pt idx="39">
                  <c:v>139</c:v>
                </c:pt>
                <c:pt idx="40">
                  <c:v>139</c:v>
                </c:pt>
                <c:pt idx="41">
                  <c:v>139</c:v>
                </c:pt>
                <c:pt idx="42">
                  <c:v>139</c:v>
                </c:pt>
                <c:pt idx="43">
                  <c:v>139</c:v>
                </c:pt>
                <c:pt idx="44">
                  <c:v>139</c:v>
                </c:pt>
                <c:pt idx="45">
                  <c:v>139</c:v>
                </c:pt>
                <c:pt idx="46">
                  <c:v>139</c:v>
                </c:pt>
              </c:numCache>
            </c:numRef>
          </c:yVal>
          <c:smooth val="0"/>
        </c:ser>
        <c:ser>
          <c:idx val="2"/>
          <c:order val="2"/>
          <c:tx>
            <c:strRef>
              <c:f>Sheet1!$D$1</c:f>
              <c:strCache>
                <c:ptCount val="1"/>
                <c:pt idx="0">
                  <c:v>0,93·Vs del medio inferior (417 m/s)</c:v>
                </c:pt>
              </c:strCache>
            </c:strRef>
          </c:tx>
          <c:spPr>
            <a:solidFill>
              <a:srgbClr val="7F7F7F"/>
            </a:solidFill>
            <a:ln w="38100" cap="flat">
              <a:solidFill>
                <a:srgbClr val="7F7F7F"/>
              </a:solidFill>
              <a:prstDash val="solid"/>
              <a:round/>
            </a:ln>
            <a:effectLst/>
          </c:spPr>
          <c:marker>
            <c:symbol val="none"/>
            <c:size val="6"/>
            <c:spPr>
              <a:solidFill>
                <a:srgbClr val="7F7F7F"/>
              </a:solidFill>
              <a:ln w="9525" cap="flat">
                <a:solidFill>
                  <a:srgbClr val="7F7F7F"/>
                </a:solidFill>
                <a:prstDash val="solid"/>
                <a:round/>
              </a:ln>
              <a:effectLst/>
            </c:spPr>
          </c:marker>
          <c:xVal>
            <c:numRef>
              <c:f>Sheet1!$A$2:$A$48</c:f>
              <c:numCache>
                <c:formatCode>General</c:formatCode>
                <c:ptCount val="47"/>
                <c:pt idx="0">
                  <c:v>2</c:v>
                </c:pt>
                <c:pt idx="1">
                  <c:v>2.5</c:v>
                </c:pt>
                <c:pt idx="2">
                  <c:v>3</c:v>
                </c:pt>
                <c:pt idx="3">
                  <c:v>3.5</c:v>
                </c:pt>
                <c:pt idx="4">
                  <c:v>4</c:v>
                </c:pt>
                <c:pt idx="5">
                  <c:v>4.5</c:v>
                </c:pt>
                <c:pt idx="6">
                  <c:v>5</c:v>
                </c:pt>
                <c:pt idx="7">
                  <c:v>5.5</c:v>
                </c:pt>
                <c:pt idx="8">
                  <c:v>6</c:v>
                </c:pt>
                <c:pt idx="9">
                  <c:v>6.5</c:v>
                </c:pt>
                <c:pt idx="10">
                  <c:v>7</c:v>
                </c:pt>
                <c:pt idx="11">
                  <c:v>7.5</c:v>
                </c:pt>
                <c:pt idx="12">
                  <c:v>8</c:v>
                </c:pt>
                <c:pt idx="13">
                  <c:v>8.5</c:v>
                </c:pt>
                <c:pt idx="14">
                  <c:v>9</c:v>
                </c:pt>
                <c:pt idx="15">
                  <c:v>9.5</c:v>
                </c:pt>
                <c:pt idx="16">
                  <c:v>10</c:v>
                </c:pt>
                <c:pt idx="17">
                  <c:v>11</c:v>
                </c:pt>
                <c:pt idx="18">
                  <c:v>12</c:v>
                </c:pt>
                <c:pt idx="19">
                  <c:v>13</c:v>
                </c:pt>
                <c:pt idx="20">
                  <c:v>14</c:v>
                </c:pt>
                <c:pt idx="21">
                  <c:v>15</c:v>
                </c:pt>
                <c:pt idx="22">
                  <c:v>16</c:v>
                </c:pt>
                <c:pt idx="23">
                  <c:v>17</c:v>
                </c:pt>
                <c:pt idx="24">
                  <c:v>18</c:v>
                </c:pt>
                <c:pt idx="25">
                  <c:v>19</c:v>
                </c:pt>
                <c:pt idx="26">
                  <c:v>20</c:v>
                </c:pt>
                <c:pt idx="27">
                  <c:v>21</c:v>
                </c:pt>
                <c:pt idx="28">
                  <c:v>22</c:v>
                </c:pt>
                <c:pt idx="29">
                  <c:v>23</c:v>
                </c:pt>
                <c:pt idx="30">
                  <c:v>24</c:v>
                </c:pt>
                <c:pt idx="31">
                  <c:v>25</c:v>
                </c:pt>
                <c:pt idx="32">
                  <c:v>26</c:v>
                </c:pt>
                <c:pt idx="33">
                  <c:v>27</c:v>
                </c:pt>
                <c:pt idx="34">
                  <c:v>28</c:v>
                </c:pt>
                <c:pt idx="35">
                  <c:v>29</c:v>
                </c:pt>
                <c:pt idx="36">
                  <c:v>30</c:v>
                </c:pt>
                <c:pt idx="37">
                  <c:v>33</c:v>
                </c:pt>
                <c:pt idx="38">
                  <c:v>36</c:v>
                </c:pt>
                <c:pt idx="39">
                  <c:v>39</c:v>
                </c:pt>
                <c:pt idx="40">
                  <c:v>42</c:v>
                </c:pt>
                <c:pt idx="41">
                  <c:v>45</c:v>
                </c:pt>
                <c:pt idx="42">
                  <c:v>48</c:v>
                </c:pt>
                <c:pt idx="43">
                  <c:v>51</c:v>
                </c:pt>
                <c:pt idx="44">
                  <c:v>54</c:v>
                </c:pt>
                <c:pt idx="45">
                  <c:v>57</c:v>
                </c:pt>
                <c:pt idx="46">
                  <c:v>60</c:v>
                </c:pt>
              </c:numCache>
            </c:numRef>
          </c:xVal>
          <c:yVal>
            <c:numRef>
              <c:f>Sheet1!$D$2:$D$48</c:f>
              <c:numCache>
                <c:formatCode>General</c:formatCode>
                <c:ptCount val="47"/>
                <c:pt idx="0">
                  <c:v>417</c:v>
                </c:pt>
                <c:pt idx="1">
                  <c:v>417</c:v>
                </c:pt>
                <c:pt idx="2">
                  <c:v>417</c:v>
                </c:pt>
                <c:pt idx="3">
                  <c:v>417</c:v>
                </c:pt>
                <c:pt idx="4">
                  <c:v>417</c:v>
                </c:pt>
                <c:pt idx="5">
                  <c:v>417</c:v>
                </c:pt>
                <c:pt idx="6">
                  <c:v>417</c:v>
                </c:pt>
                <c:pt idx="7">
                  <c:v>417</c:v>
                </c:pt>
                <c:pt idx="8">
                  <c:v>417</c:v>
                </c:pt>
                <c:pt idx="9">
                  <c:v>417</c:v>
                </c:pt>
                <c:pt idx="10">
                  <c:v>417</c:v>
                </c:pt>
                <c:pt idx="11">
                  <c:v>417</c:v>
                </c:pt>
                <c:pt idx="12">
                  <c:v>417</c:v>
                </c:pt>
                <c:pt idx="13">
                  <c:v>417</c:v>
                </c:pt>
                <c:pt idx="14">
                  <c:v>417</c:v>
                </c:pt>
                <c:pt idx="15">
                  <c:v>417</c:v>
                </c:pt>
                <c:pt idx="16">
                  <c:v>417</c:v>
                </c:pt>
                <c:pt idx="17">
                  <c:v>417</c:v>
                </c:pt>
                <c:pt idx="18">
                  <c:v>417</c:v>
                </c:pt>
                <c:pt idx="19">
                  <c:v>417</c:v>
                </c:pt>
                <c:pt idx="20">
                  <c:v>417</c:v>
                </c:pt>
                <c:pt idx="21">
                  <c:v>417</c:v>
                </c:pt>
                <c:pt idx="22">
                  <c:v>417</c:v>
                </c:pt>
                <c:pt idx="23">
                  <c:v>417</c:v>
                </c:pt>
                <c:pt idx="24">
                  <c:v>417</c:v>
                </c:pt>
                <c:pt idx="25">
                  <c:v>417</c:v>
                </c:pt>
                <c:pt idx="26">
                  <c:v>417</c:v>
                </c:pt>
                <c:pt idx="27">
                  <c:v>417</c:v>
                </c:pt>
                <c:pt idx="28">
                  <c:v>417</c:v>
                </c:pt>
                <c:pt idx="29">
                  <c:v>417</c:v>
                </c:pt>
                <c:pt idx="30">
                  <c:v>417</c:v>
                </c:pt>
                <c:pt idx="31">
                  <c:v>417</c:v>
                </c:pt>
                <c:pt idx="32">
                  <c:v>417</c:v>
                </c:pt>
                <c:pt idx="33">
                  <c:v>417</c:v>
                </c:pt>
                <c:pt idx="34">
                  <c:v>417</c:v>
                </c:pt>
                <c:pt idx="35">
                  <c:v>417</c:v>
                </c:pt>
                <c:pt idx="36">
                  <c:v>417</c:v>
                </c:pt>
                <c:pt idx="37">
                  <c:v>417</c:v>
                </c:pt>
                <c:pt idx="38">
                  <c:v>417</c:v>
                </c:pt>
                <c:pt idx="39">
                  <c:v>417</c:v>
                </c:pt>
                <c:pt idx="40">
                  <c:v>417</c:v>
                </c:pt>
                <c:pt idx="41">
                  <c:v>417</c:v>
                </c:pt>
                <c:pt idx="42">
                  <c:v>417</c:v>
                </c:pt>
                <c:pt idx="43">
                  <c:v>417</c:v>
                </c:pt>
                <c:pt idx="44">
                  <c:v>417</c:v>
                </c:pt>
                <c:pt idx="45">
                  <c:v>417</c:v>
                </c:pt>
                <c:pt idx="46">
                  <c:v>417</c:v>
                </c:pt>
              </c:numCache>
            </c:numRef>
          </c:yVal>
          <c:smooth val="0"/>
        </c:ser>
        <c:dLbls>
          <c:numFmt formatCode="General"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dLbls>
        <c:axId val="2094734554"/>
        <c:axId val="2094734552"/>
      </c:scatterChart>
      <c:valAx>
        <c:axId val="2094734554"/>
        <c:scaling>
          <c:orientation val="minMax"/>
          <c:max val="60"/>
          <c:min val="0"/>
        </c:scaling>
        <c:delete val="0"/>
        <c:axPos val="b"/>
        <c:title>
          <c:tx>
            <c:rich>
              <a:bodyPr/>
              <a:lstStyle/>
              <a:p>
                <a:pPr>
                  <a:defRPr sz="1400" b="0" i="0" u="none" strike="noStrike">
                    <a:solidFill>
                      <a:srgbClr val="6B6B6B"/>
                    </a:solidFill>
                    <a:latin typeface="Arial"/>
                  </a:defRPr>
                </a:pPr>
                <a:r>
                  <a:rPr sz="1400" b="0" i="0" u="none" strike="noStrike">
                    <a:solidFill>
                      <a:srgbClr val="6B6B6B"/>
                    </a:solidFill>
                    <a:latin typeface="Arial"/>
                  </a:rPr>
                  <a:t>Frecuencia (Hz)</a:t>
                </a:r>
              </a:p>
            </c:rich>
          </c:tx>
          <c:layout/>
          <c:overlay val="0"/>
        </c:title>
        <c:numFmt formatCode="General" sourceLinked="1"/>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2"/>
        <c:crosses val="autoZero"/>
        <c:auto val="1"/>
        <c:lblAlgn val="ctr"/>
        <c:noMultiLvlLbl val="1"/>
      </c:valAx>
      <c:valAx>
        <c:axId val="2094734552"/>
        <c:scaling>
          <c:orientation val="minMax"/>
          <c:max val="450"/>
          <c:min val="100"/>
        </c:scaling>
        <c:delete val="0"/>
        <c:axPos val="l"/>
        <c:majorGridlines>
          <c:spPr>
            <a:ln w="6350" cap="flat">
              <a:solidFill>
                <a:srgbClr val="D9D9D9"/>
              </a:solidFill>
              <a:prstDash val="solid"/>
              <a:round/>
            </a:ln>
          </c:spPr>
        </c:majorGridlines>
        <c:title>
          <c:tx>
            <c:rich>
              <a:bodyPr/>
              <a:lstStyle/>
              <a:p>
                <a:pPr>
                  <a:defRPr sz="1400" b="0" i="0" u="none" strike="noStrike">
                    <a:solidFill>
                      <a:srgbClr val="6B6B6B"/>
                    </a:solidFill>
                    <a:latin typeface="Arial"/>
                  </a:defRPr>
                </a:pPr>
                <a:r>
                  <a:rPr sz="1400" b="0" i="0" u="none" strike="noStrike">
                    <a:solidFill>
                      <a:srgbClr val="6B6B6B"/>
                    </a:solidFill>
                    <a:latin typeface="Arial"/>
                  </a:rPr>
                  <a:t>Velocidad de fase (m/s)</a:t>
                </a:r>
              </a:p>
            </c:rich>
          </c:tx>
          <c:layout/>
          <c:overlay val="0"/>
        </c:title>
        <c:numFmt formatCode="General" sourceLinked="0"/>
        <c:majorTickMark val="none"/>
        <c:minorTickMark val="none"/>
        <c:tickLblPos val="nextTo"/>
        <c:spPr>
          <a:ln w="12700" cap="flat">
            <a:solidFill>
              <a:srgbClr val="888888"/>
            </a:solidFill>
            <a:prstDash val="solid"/>
            <a:round/>
          </a:ln>
        </c:spPr>
        <c:txPr>
          <a:bodyPr/>
          <a:lstStyle/>
          <a:p>
            <a:pPr>
              <a:defRPr sz="1400" b="0" i="0" u="none" strike="noStrike">
                <a:solidFill>
                  <a:srgbClr val="6B6B6B"/>
                </a:solidFill>
                <a:latin typeface="Arial"/>
              </a:defRPr>
            </a:pPr>
            <a:endParaRPr lang="en-US"/>
          </a:p>
        </c:txPr>
        <c:crossAx val="2094734554"/>
        <c:crosses val="autoZero"/>
        <c:crossBetween val="midCat"/>
      </c:valAx>
      <c:spPr>
        <a:noFill/>
        <a:ln>
          <a:noFill/>
        </a:ln>
        <a:effectLst/>
      </c:spPr>
    </c:plotArea>
    <c:legend>
      <c:legendPos val="b"/>
      <c:overlay val="0"/>
      <c:txPr>
        <a:bodyPr/>
        <a:lstStyle/>
        <a:p>
          <a:pPr>
            <a:defRPr sz="1200">
              <a:solidFill>
                <a:srgbClr val="2D2D2D"/>
              </a:solidFill>
              <a:latin typeface="Arial"/>
              <a:cs typeface="Aria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Soy Elías Álvarez y les voy a mostrar cómo avanza mi proyecto final de carrera: una plataforma electrónica para medir el suelo con ondas sísmicas. En la imagen está la idea completa: un golpe en la superficie, una línea de geófonos y los registros que llegan a cada uno. Es la primera de dos presentaciones. Hoy me concentro en el estado del arte, la idea general y los resultados parciales; la validación completa queda para diciembre.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construir hay que saber sobre qué se apoya la obra. Se reconoce qué materiales hay y se estiman parámetros para dimensionar la fundación. Y durante la ejecución se controla que los rellenos y las capas compactadas sean uniformes. Esto importa acá: la construcción paraguaya creció 6,2 % en 2025 según el Banco Central. Hablo de un sector en expansión, no de un auge sin matices: venía de dos años de caída.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Pero el trabajo con el terreno no termina cuando se levanta la obra. Aparecen grietas y asentamientos, problemas en rutas y pavimentos, taludes que se mueven. Hay que volver a medir, y de preferencia sin dañar lo que ya está construido.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Entonces la pregunta es cómo medir. Necesitamos un método que capte algo del terreno y que, procesando lo sensado, nos dé información que sirva. Ese recorrido, del transductor al procesamiento, es lo que construye este trabajo: la plataforma de medición. Todavía no definimos qué fenómeno medir. Ese es el primer punto de la hoja de ruta: explorar los fenómenos candidatos y sus técnicas, analizar a fondo el que elijamos, ver las especificaciones y la plataforma propuesta, y cerrar con los resultados parciales.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medir el terreno hay dos grandes caminos. Uno mide cuánto cuesta penetrarlo: resistencia. El otro usa ondas: aprovecha alguna propiedad de la onda, como la velocidad o el tiempo de llegada, y cómo el terreno la modifica. Además, cada camino puede hacerse desde dentro del terreno, con perforaciones o hincas, o desde la superficie. Vamos a recorrer las celdas una por una. La naranja es hacia donde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por el SPT. Se baja una cuchara partida al fondo de una perforación y se hinca golpeándola con un martillo de 63,5 kilos que cae 76 centímetros. El primer tramo de 15 centímetros asienta la cuchara y no cuenta. N es el número de golpes para los siguientes 30 centímetros. Además de ese número, la cuchara trae una muestra de suelo, alterada pero útil para clasificarlo.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CPT es distinto: en vez de golpear, se empuja un cono de forma continua, a unos 2 centímetros por segundo. Sensores en la punta y en el manguito miden la resistencia de punta y la fricción lateral. Si además tiene un sensor de presión de poros, se llama CPTu o piezocono. El resultado es un perfil continuo, y de ahí se interpreta el tipo de suelo, como se ve a la derecha de la figura.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Qué ofrecen. El SPT es sencillo, está en todas partes y entrega una muestra. El CPT da un perfil continuo y repetible, sin perforar antes, y con presión de poros distingue mejor el tipo de suelo. Los dos tienen décadas de correlaciones publicadas, y eso pesa mucho en la práctica.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qué no ofrecen. El SPT da un dato por profundidad y depende de la energía del martillo y de quién lo opera. El CPT no trae muestra y no atraviesa gravas ni suelos muy duros. Y en los dos, la rigidez, que es lo que nos interesa, se obtiene por correlaciones, no se mide. Esa es la pregunta que dejo abierta: cómo medir la rigidez directamente.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Antes de hablar de métodos basados en ondas, conviene ver de dónde salen las ondas. Si excitamos un terreno sólido, por ejemplo con un golpe, el material experimenta deformaciones transitorias fruto de esa energía: se deforma y vuelve, y esa deformación se transmite de punto a punto. Según cómo se deforme el material, aparecen distintos tipos de onda. Hay dos que viajan por dentro, las P y las S, y dos que viajan pegadas a la superficie, Love y Rayleigh. Empezamos por las de dentro.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Para poder analizar el problema, lo simplificamos hasta el absurdo. Suponemos un cuerpo homogéneo, es decir, con las mismas propiedades en todos los puntos; isótropo, con las mismas propiedades en todas las direcciones; y elástico lineal, que significa que la deformación es proporcional a la fuerza y desaparece cuando la fuerza cesa. Un suelo real no cumple ninguna de las tres, y lo vamos a ver más adelante cuando aparezca la estratificación. Pero con esta simplificación el problema tiene solución cerrada.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esas hipótesis, la ecuación de movimiento es la de Navier: la inercia, rho por la aceleración, es igual a las fuerzas elásticas, escritas con las constantes de Lamé, lambda y mu. Se puede descomponer el desplazamiento en una parte irrotacional, con un potencial escalar phi, y otra sin divergencia, con un potencial vectorial psi. Cada potencial cumple su propia ecuación de onda. Es decir, el medio tiene dos modos de vibración: uno de compresión, que viaja a Vp, y uno de corte, que viaja a Vs. Son las ondas P y S. Es matemática estándar de elastodinámica; la cita exacta la confirmo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escalar es la onda P. Las partículas oscilan en la misma dirección en que avanza la onda, así que el material se comprime y se dilata. No se transporta material: se transporta la perturbación. Viaja tanto en sólidos como en fluidos.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solución del potencial vectorial es la onda S. La oscilación es perpendicular al avance y el material no se comprime: se corta. Por eso necesita que el medio resista al corte. Un fluido no lo hace, así que la S no viaja por el agua.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las ecuaciones de onda se leen las velocidades. La P depende de lambda más dos mu, sobre la densidad; la S depende solo de mu sobre la densidad. Mu es lo que en geotecnia se llama G, el módulo de corte, la rigidez al corte. En el mismo medio la P siempre es más rápida que la S. Lo importante es esto: si medimos velocidades de onda, accedemos a parámetros elásticos del terreno.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hipótesis de elasticidad lineal en un suelo real solo se sostiene para deformaciones pequeñas. En ese rango, el esfuerzo de corte tau es proporcional a la deformación gamma, y la constante es el módulo de corte G, que ahí es casi constante y se llama Gmax. El umbral, del orden de 10 a la menos 5, depende del tipo de suelo. Las ondas de prospección producen deformaciones de ese orden o menores. Fuera de ese rango, G baja con la deformación. Nota para mí: confirmar el umbral en Foti, cap. 1 o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juntamos todo. Del modelo elástico lineal sale que Vs es raíz de mu sobre rho. Cuando el suelo se deforma poco, mu es el módulo de corte máximo, Gmax. Entonces Gmax es la densidad por Vs al cuadrado. Esa relación solo vale en pequeña señal: no sirve para describir al suelo con deformaciones grandes.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Esto es lo que hace útil a Vs. Gmax depende de la densidad y de Vs al cuadrado. Derivando, el error relativo en Gmax es, como cota, el error en la densidad más el doble del error en Vs. La densidad varía poco y se estima razonablemente; Vs varía mucho y es lo que medimos. Por eso, conocer Vs permite estimar Gmax razonablemente. Con la advertencia de siempre: es válido a pequeñas deformaciones.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Vs ya definida, vemos los métodos que la miden de forma directa. En el downhole se deja una cadena de geófonos dentro de un pozo y se golpea en superficie. Cada geófono recibe la onda en un tiempo distinto, y la diferencia de tiempos entre dos profundidades, junto con la distancia que las separa, da la velocidad de ese tramo.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crosshole usa al menos dos pozos. La fuente baja a una profundidad en un pozo y el receptor a la misma profundidad en el otro. Como la onda viaja en horizontal por una sola capa, Vs es la distancia entre pozos dividida por el tiempo de viaje. Nota para mí: confirmar el número de figura y el crédito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Los dos miden Vs sin correlaciones: el trayecto es conocido. El downhole necesita un solo pozo y da un perfil con la profundidad. El crosshole mide capas individuales a una profundidad conocida, con mejor resolución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 que cuestan. Hay que perforar y entubar, lo que lleva tiempo y dinero. El crosshole además pide pozos alineados y verticales. Y cada ensayo describe un punto del sitio. Si queremos cubrir una línea larga sin perforar, hay que buscar otra cosa.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Pasamos a los métodos desde la superficie. En refracción, la onda incide en la interfaz con el ángulo crítico y viaja por la capa rápida, justo por debajo de la interfaz. Desde ahí sale hacia los geófonos. Más allá de cierta distancia, esa onda llega antes que la directa, aunque haya recorrido más camino, porque lo hizo en material más rápido.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 grafica el tiempo de llegada contra la distancia fuente-geófono. La onda directa da una recta con pendiente uno sobre V1. La refractada da otra recta, menos inclinada, con pendiente uno sobre V2, que corta el eje del tiempo en el intercepto ti. De ahí se obtienen las dos velocidades, y con el intercepto, el espesor de la primera capa.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Ventajas y límites de la refracción. Es simple, rápida y da velocidades y espesores. Pero supone que la velocidad aumenta con la profundidad: una capa blanda debajo de otra rápida no se ve, y las capas delgadas pueden pasar desapercibidas.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reflexión no importa el camino por el contenido de la capa, sino el eco. La energía baja, se refleja en cada interfaz y vuelve al geófono. Cada geófono produce una traza que registra el tiempo de ida y vuelta, y ese tiempo es función de la profundidad de la interfaz y de la velocidad de la onda.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reflexión llega más profundo y da una buena imagen de la estructura, pero para los primeros metros, que son los que nos interesan en ingeniería, rinde poco: exige alta frecuencia, más procesamiento y compite con las ondas directas y superficiales. Y esas ondas superficiales, que aquí estorban, son justo las que vamos a usar. Nota para mí: confirmar estas limitaciones en Foti, cap.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acá el medio era uniforme. Pero el terreno real tampoco es homogéneo: tiene variaciones continuas y discontinuidades. Aun así, pasar de un modelo homogéneo a uno en capas es un paso más realista, y en cada interfaz cambian la densidad y las velocidades de las ondas P y S. Cuando una onda de cuerpo llega a una interfaz, una parte de la energía se refleja y otra se transmite al segundo medio. Cuánto se refleja depende del contraste entre los dos medios. Ese es el caso general. Ahora el caso que más nos interesa: cuando el segundo medio es el aire.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Tomemos el caso en que el segundo medio es el aire. El aire casi no ofrece resistencia, así que en la superficie el esfuerzo es nulo, y eso se llama condición de superficie libre. La energía no puede salir: vuelve al terreno. Esta condición es la que va a acoplar las ondas P y S y dar origen a las ondas superficiales. Para ver cómo, primero hay que darle una polaridad a la onda 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 tomamos como referencia el plano de la superficie libre, hay que darle una polaridad a la forma en que puede moverse una onda S: oscila perpendicular a su avance, pero hay infinitas direcciones perpendiculares. Desde acá las clasificamos en dos. SV oscila en el plano vertical que contiene el rayo. SH oscila en horizontal, perpendicular a ese plano. Esta separación importa porque en la superficie libre se comportan de forma muy distinta. Nota para mí: reemplazar la figura por la mejorada con ChatGPT.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Ahora que tenemos P, SV y SH, la ley de Snell relaciona los ángulos de todas las ondas que se generan en una interfaz: el seno del ángulo dividido por la velocidad es constante, y ese valor se llama parámetro del rayo. Cada onda entra con su propia velocidad: Vp para la P y Vs para SV y SH. Como la S es más lenta que la P, sale con un ángulo menor. Con esto queda claro cómo se reparte una P que llega a una interfaz, y falta ver qué ondas se acoplan entre sí.</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 la ley de Snell ya podemos concluir cómo se relacionan las tres. En una interfaz, y en particular en la superficie libre, P y SV están acopladas: una P incidente genera P y SV reflejadas, y una SV genera SV y P. Es la conversión de modo. La SH, en cambio, no se mezcla con nada: solo genera SH. De la combinación de P y SV en la superficie libre salen las ondas Rayleigh. De la SH salen las ondas Love, pero solo en una condición especial, que vemos a continuación.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SH sola no genera ondas superficiales en un semiespacio homogéneo. Necesita una capa blanda sobre un medio más rápido. Si la SH incide en la interfaz con un ángulo mayor que el crítico, que es el arcoseno de Vs1 sobre Vs2, se refleja totalmente. En la superficie libre también se refleja, así que queda atrapada en la capa rebotando entre las dos. Por eso la condición es que Vs1 sea menor que Vs2. Matiz para mí: más en general basta que la velocidad aumente con la profundidad, no hace falta una capa nítida.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SH atrapadas en la capa interfieren de forma constructiva a ciertas frecuencias, y ese patrón que avanza por la superficie es la onda Love. El movimiento es horizontal y perpendicular a la propagación. Para nosotros importa que no tiene componente vertical: un geófono vertical como el SM-24 no la registra.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onda Rayleigh es la combinación de P y SV en la superficie libre. Las partículas describen una elipse en el plano vertical, en sentido retrógrado en la superficie. A diferencia de la Love, no necesita capas: aparece ya en un semiespacio homogéneo. Y tiene componente vertical, que es justo lo que mide el geófono vertical.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Cuando se golpea la superficie, la energía se reparte entre los tres tipos de onda. Con las hipótesis clásicas, que son un semiespacio homogéneo e isótropo, coeficiente de Poisson de 0,25 y una fuente vertical circular, las Rayleigh se llevan el 67 por ciento, las S el 26 y las P el 7. Es un caso idealizado, pero explica por qué en superficie se ve sobre todo Rayleigh. Nota para mí: mis apuntes citan a Lamb 1904; la referencia habitual para este reparto es Miller y Pursey 1955.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otra razón es la atenuación geométrica. La Rayleigh se reparte sobre un frente cilíndrico y su amplitud cae con uno sobre raíz de r. Las ondas de cuerpo se reparten sobre una esfera: caen con uno sobre r en el interior del medio, y con uno sobre r al cuadrado si las medimos a lo largo de la superficie. Aviso para mí: en el resumen firmado dice 1/r para las de cuerpo, que es correcto en el interior pero no sobre la superficie; hay que matizarlo ahí. Confirmar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un semiespacio homogéneo la velocidad de la Rayleigh es una fracción fija de la velocidad de la S. Con la aproximación de Viktorov, esa fracción va de 0,86 a 0,95 según el coeficiente de Poisson, y para ν igual a 0,25 vale unos 0,92. De ahí sale la regla práctica cR igual a 0,9 por Vs. Importante: en este caso ideal no hay dispersión, todas las frecuencias viajan a la misma velocidad. La dispersión aparece cuando el terreno tiene capas, y es lo que vamos a ver ahora. Nota para mí: confirmar la fórmula y su referencia en Foti, cap.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Hasta ahora el medio era uniforme. En un terreno estratificado la velocidad de corte cambia con la profundidad, y casi siempre aumenta. Como ejemplo uso un modelo de tres capas, de 150, 250 y 450 metros por segundo. Lo que queremos es el perfil Vs de z, porque con él y la densidad estimamos Gmax en función de la profundidad, como vimos antes.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 longitud de onda es la velocidad dividida por la frecuencia. Una onda de baja frecuencia tiene una longitud de onda grande, y el movimiento que produce llega más profundo. Una de alta frecuencia tiene una longitud corta y solo siente lo superficial. Por eso, midiendo en varias frecuencias, podemos muestrear distintas profundidades. Cuidado: la regla de que la profundidad es del orden de lambda sobre tres o sobre dos es empírica, no una equivalencia exacta. Por qué no es exacta lo vemos ahora. Nota para mí: confirmar la regla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curva está calculada para el modelo de tres capas con disba, un código de dispersión de ondas superficiales. A alta frecuencia la longitud de onda es corta, la Rayleigh solo siente la capa superior y viaja a casi 0,93 veces su Vs, unos 139 metros por segundo. A medida que baja la frecuencia, la onda empieza a sentir las capas profundas y su velocidad sube hacia 0,93 veces la Vs del medio inferior. Esa dependencia de la velocidad con la frecuencia es la dispersión. Y explica por qué lambda igual a c sobre f no da una profundidad fija: c mismo cambia con f. El 0,93 sale de ν igual a 0,3 con la aproximación de Viktorov. Nota para mí: la curva baja de 417 solo asintóticamente; a 2 Hz está en 393.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Medimos la curva de dispersión experimental. Proponemos un perfil Vs de z, calculamos su curva teórica y la comparamos con la medida. Si no coinciden, modificamos el perfil y repetimos. Cuando coinciden dentro de la incertidumbre, ese perfil es el resultado. Es un problema de optimización, y por eso conviene entender sus límites en la siguiente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cosas a tener presentes. Primero, la solución no es única: perfiles distintos pueden producir curvas de dispersión casi idénticas. Segundo, la resolución cae con la profundidad: las capas profundas se distinguen peor. Tercero, el resultado depende de lo que supongamos de entrada, como el modelo inicial y el número de capas. Y para todo esto hace falta medir la curva en un rango amplio de frecuencias, que es un requisito para nuestro sistema de adquisición. Nota para mí: confirmar estos puntos y el capítulo en Foti.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1000</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image" Target="../media/image-21-2.png"/><Relationship Id="rId3" Type="http://schemas.openxmlformats.org/officeDocument/2006/relationships/slideLayout" Target="../slideLayouts/slideLayout1.xml"/><Relationship Id="rId4"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1.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F4E79"/>
        </a:solidFill>
      </p:bgPr>
    </p:bg>
    <p:spTree>
      <p:nvGrpSpPr>
        <p:cNvPr id="1" name=""/>
        <p:cNvGrpSpPr/>
        <p:nvPr/>
      </p:nvGrpSpPr>
      <p:grpSpPr>
        <a:xfrm>
          <a:off x="0" y="0"/>
          <a:ext cx="0" cy="0"/>
          <a:chOff x="0" y="0"/>
          <a:chExt cx="0" cy="0"/>
        </a:xfrm>
      </p:grpSpPr>
      <p:sp>
        <p:nvSpPr>
          <p:cNvPr id="2" name="Título"/>
          <p:cNvSpPr txBox="1"/>
          <p:nvPr/>
        </p:nvSpPr>
        <p:spPr>
          <a:xfrm>
            <a:off x="457200" y="274320"/>
            <a:ext cx="8229600" cy="1234440"/>
          </a:xfrm>
          <a:prstGeom prst="rect">
            <a:avLst/>
          </a:prstGeom>
          <a:noFill/>
          <a:ln/>
        </p:spPr>
        <p:txBody>
          <a:bodyPr wrap="square" lIns="0" tIns="0" rIns="0" bIns="0" rtlCol="0" anchor="t"/>
          <a:lstStyle/>
          <a:p>
            <a:pPr indent="0" marL="0">
              <a:buNone/>
            </a:pPr>
            <a:r>
              <a:rPr lang="en-US" sz="2400" b="1" dirty="0">
                <a:solidFill>
                  <a:srgbClr val="FFFFFF"/>
                </a:solidFill>
                <a:latin typeface="Arial" pitchFamily="34" charset="0"/>
                <a:ea typeface="Arial" pitchFamily="34" charset="-122"/>
                <a:cs typeface="Arial" pitchFamily="34" charset="-120"/>
              </a:rPr>
              <a:t>Diseño e implementación de un sistema electrónico multicanal del tipo IoT para caracterización geotécnica del suelo mediante ondas sísmicas</a:t>
            </a:r>
            <a:endParaRPr lang="en-US" sz="2400" dirty="0"/>
          </a:p>
        </p:txBody>
      </p:sp>
      <p:sp>
        <p:nvSpPr>
          <p:cNvPr id="3" name="Text 1"/>
          <p:cNvSpPr txBox="1"/>
          <p:nvPr/>
        </p:nvSpPr>
        <p:spPr>
          <a:xfrm>
            <a:off x="457200" y="1600200"/>
            <a:ext cx="8229600" cy="320040"/>
          </a:xfrm>
          <a:prstGeom prst="rect">
            <a:avLst/>
          </a:prstGeom>
          <a:noFill/>
          <a:ln/>
        </p:spPr>
        <p:txBody>
          <a:bodyPr wrap="square" lIns="0" tIns="0" rIns="0" bIns="0" rtlCol="0" anchor="ctr"/>
          <a:lstStyle/>
          <a:p>
            <a:pPr indent="0" marL="0">
              <a:buNone/>
            </a:pPr>
            <a:r>
              <a:rPr lang="en-US" sz="1800" dirty="0">
                <a:solidFill>
                  <a:srgbClr val="CADCFC"/>
                </a:solidFill>
                <a:latin typeface="Arial" pitchFamily="34" charset="0"/>
                <a:ea typeface="Arial" pitchFamily="34" charset="-122"/>
                <a:cs typeface="Arial" pitchFamily="34" charset="-120"/>
              </a:rPr>
              <a:t>Proyecto final de carrera · Primera presentación</a:t>
            </a:r>
            <a:endParaRPr lang="en-US" sz="1800" dirty="0"/>
          </a:p>
        </p:txBody>
      </p:sp>
      <p:sp>
        <p:nvSpPr>
          <p:cNvPr id="4" name="Autoría"/>
          <p:cNvSpPr txBox="1"/>
          <p:nvPr/>
        </p:nvSpPr>
        <p:spPr>
          <a:xfrm>
            <a:off x="457200" y="2286000"/>
            <a:ext cx="3566160" cy="2377440"/>
          </a:xfrm>
          <a:prstGeom prst="rect">
            <a:avLst/>
          </a:prstGeom>
          <a:noFill/>
          <a:ln/>
        </p:spPr>
        <p:txBody>
          <a:bodyPr wrap="square" lIns="0" tIns="0" rIns="0" bIns="0" rtlCol="0" anchor="t"/>
          <a:lstStyle/>
          <a:p>
            <a:pPr indent="0" marL="0">
              <a:spcAft>
                <a:spcPts val="600"/>
              </a:spcAft>
              <a:buNone/>
            </a:pPr>
            <a:r>
              <a:rPr lang="en-US" sz="1600" b="1" dirty="0">
                <a:solidFill>
                  <a:srgbClr val="FFFFFF"/>
                </a:solidFill>
                <a:latin typeface="Arial" pitchFamily="34" charset="0"/>
                <a:ea typeface="Arial" pitchFamily="34" charset="-122"/>
                <a:cs typeface="Arial" pitchFamily="34" charset="-120"/>
              </a:rPr>
              <a:t>Elías David Álvarez Martínez</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Matrícula Y24127 · Ingeniería Electrónica</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Tutor: Enrique A. Vargas Cabral, Ph.D.</a:t>
            </a:r>
            <a:endParaRPr lang="en-US" sz="1600" dirty="0"/>
          </a:p>
          <a:p>
            <a:pPr indent="0" marL="0">
              <a:spcAft>
                <a:spcPts val="600"/>
              </a:spcAft>
              <a:buNone/>
            </a:pPr>
            <a:r>
              <a:rPr lang="en-US" sz="1600" dirty="0">
                <a:solidFill>
                  <a:srgbClr val="FFFFFF"/>
                </a:solidFill>
                <a:latin typeface="Arial" pitchFamily="34" charset="0"/>
                <a:ea typeface="Arial" pitchFamily="34" charset="-122"/>
                <a:cs typeface="Arial" pitchFamily="34" charset="-120"/>
              </a:rPr>
              <a:t>Universidad Católica «Nuestra Señora de la Asunción»</a:t>
            </a:r>
            <a:endParaRPr lang="en-US" sz="1600" dirty="0"/>
          </a:p>
        </p:txBody>
      </p:sp>
      <p:sp>
        <p:nvSpPr>
          <p:cNvPr id="5" name="Marco imagen"/>
          <p:cNvSpPr/>
          <p:nvPr/>
        </p:nvSpPr>
        <p:spPr>
          <a:xfrm>
            <a:off x="4206240" y="2240280"/>
            <a:ext cx="4480560" cy="2240280"/>
          </a:xfrm>
          <a:prstGeom prst="rect">
            <a:avLst/>
          </a:prstGeom>
          <a:solidFill>
            <a:srgbClr val="FFFFFF"/>
          </a:solidFill>
          <a:ln w="12700">
            <a:solidFill>
              <a:srgbClr val="FFFFFF"/>
            </a:solidFill>
            <a:prstDash val="solid"/>
          </a:ln>
        </p:spPr>
      </p:sp>
      <p:pic>
        <p:nvPicPr>
          <p:cNvPr id="6" name="Esquema MASW" descr="Esquema de adquisición MASW: martillo, línea de geófonos y registros en el tiempo">    </p:cNvPr>
          <p:cNvPicPr>
            <a:picLocks noChangeAspect="1"/>
          </p:cNvPicPr>
          <p:nvPr/>
        </p:nvPicPr>
        <p:blipFill>
          <a:blip r:embed="rId1"/>
          <a:stretch>
            <a:fillRect/>
          </a:stretch>
        </p:blipFill>
        <p:spPr>
          <a:xfrm>
            <a:off x="4251960" y="2286000"/>
            <a:ext cx="4389120" cy="2194560"/>
          </a:xfrm>
          <a:prstGeom prst="rect">
            <a:avLst/>
          </a:prstGeom>
        </p:spPr>
      </p:pic>
      <p:sp>
        <p:nvSpPr>
          <p:cNvPr id="7" name="Crédito imagen"/>
          <p:cNvSpPr txBox="1"/>
          <p:nvPr/>
        </p:nvSpPr>
        <p:spPr>
          <a:xfrm>
            <a:off x="4206240" y="4526280"/>
            <a:ext cx="4480560" cy="274320"/>
          </a:xfrm>
          <a:prstGeom prst="rect">
            <a:avLst/>
          </a:prstGeom>
          <a:noFill/>
          <a:ln/>
        </p:spPr>
        <p:txBody>
          <a:bodyPr wrap="square" lIns="0" tIns="0" rIns="0" bIns="0" rtlCol="0" anchor="ctr"/>
          <a:lstStyle/>
          <a:p>
            <a:pPr indent="0" marL="0">
              <a:buNone/>
            </a:pPr>
            <a:r>
              <a:rPr lang="en-US" sz="1100" dirty="0">
                <a:solidFill>
                  <a:srgbClr val="CADCFC"/>
                </a:solidFill>
                <a:latin typeface="Arial" pitchFamily="34" charset="0"/>
                <a:ea typeface="Arial" pitchFamily="34" charset="-122"/>
                <a:cs typeface="Arial" pitchFamily="34" charset="-120"/>
              </a:rPr>
              <a:t>Esquema MASW: GeoStru (2019), original de M. Bandini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Toda obra empieza por conocer el suelo que la sostiene</a:t>
            </a:r>
            <a:endParaRPr lang="en-US" sz="2400" dirty="0"/>
          </a:p>
        </p:txBody>
      </p:sp>
      <p:pic>
        <p:nvPicPr>
          <p:cNvPr id="3" name="Imagen fundación" descr="Esquema de zapata aislada: armadura, hormigón de limpieza y terreno de fundación">    </p:cNvPr>
          <p:cNvPicPr>
            <a:picLocks noChangeAspect="1"/>
          </p:cNvPicPr>
          <p:nvPr/>
        </p:nvPicPr>
        <p:blipFill>
          <a:blip r:embed="rId1"/>
          <a:stretch>
            <a:fillRect/>
          </a:stretch>
        </p:blipFill>
        <p:spPr>
          <a:xfrm>
            <a:off x="457200" y="1188720"/>
            <a:ext cx="1792224" cy="3191256"/>
          </a:xfrm>
          <a:prstGeom prst="rect">
            <a:avLst/>
          </a:prstGeom>
        </p:spPr>
      </p:pic>
      <p:sp>
        <p:nvSpPr>
          <p:cNvPr id="4" name="Cuerpo"/>
          <p:cNvSpPr txBox="1"/>
          <p:nvPr/>
        </p:nvSpPr>
        <p:spPr>
          <a:xfrm>
            <a:off x="2651760" y="1280160"/>
            <a:ext cx="6035040" cy="173736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Reconocer los materiales antes de construir</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Estimar parámetros para dimensionar la fundación</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Controlar rellenos y capas compactadas durante la obra</a:t>
            </a:r>
            <a:endParaRPr lang="en-US" sz="2000" dirty="0"/>
          </a:p>
        </p:txBody>
      </p:sp>
      <p:sp>
        <p:nvSpPr>
          <p:cNvPr id="5" name="Recuadro dato"/>
          <p:cNvSpPr/>
          <p:nvPr/>
        </p:nvSpPr>
        <p:spPr>
          <a:xfrm>
            <a:off x="2651760" y="3246120"/>
            <a:ext cx="6035040" cy="822960"/>
          </a:xfrm>
          <a:prstGeom prst="rect">
            <a:avLst/>
          </a:prstGeom>
          <a:solidFill>
            <a:srgbClr val="EAF1F8"/>
          </a:solidFill>
          <a:ln w="12700">
            <a:solidFill>
              <a:srgbClr val="EAF1F8"/>
            </a:solidFill>
            <a:prstDash val="solid"/>
          </a:ln>
        </p:spPr>
      </p:sp>
      <p:sp>
        <p:nvSpPr>
          <p:cNvPr id="6" name="Dato Paraguay"/>
          <p:cNvSpPr txBox="1"/>
          <p:nvPr/>
        </p:nvSpPr>
        <p:spPr>
          <a:xfrm>
            <a:off x="2788920" y="3246120"/>
            <a:ext cx="5760720" cy="822960"/>
          </a:xfrm>
          <a:prstGeom prst="rect">
            <a:avLst/>
          </a:prstGeom>
          <a:noFill/>
          <a:ln/>
        </p:spPr>
        <p:txBody>
          <a:bodyPr wrap="square" lIns="0" tIns="0" rIns="0" bIns="0" rtlCol="0" anchor="ctr"/>
          <a:lstStyle/>
          <a:p>
            <a:pPr indent="0" marL="0">
              <a:buNone/>
            </a:pPr>
            <a:r>
              <a:rPr lang="en-US" sz="1800" b="1" dirty="0">
                <a:solidFill>
                  <a:srgbClr val="1F4E79"/>
                </a:solidFill>
                <a:latin typeface="Arial" pitchFamily="34" charset="0"/>
                <a:ea typeface="Arial" pitchFamily="34" charset="-122"/>
                <a:cs typeface="Arial" pitchFamily="34" charset="-120"/>
              </a:rPr>
              <a:t>La construcción creció 6,2 % en 2025 (BCP, 2026)</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Samtani y Nowatzki (2006). BCP (2026). Imagen: Instagram (s. f.).</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El control del terreno no termina cuando la obra se levanta</a:t>
            </a:r>
            <a:endParaRPr lang="en-US" sz="2400" dirty="0"/>
          </a:p>
        </p:txBody>
      </p:sp>
      <p:pic>
        <p:nvPicPr>
          <p:cNvPr id="3" name="Foto grietas" descr="Grietas y asentamientos">    </p:cNvPr>
          <p:cNvPicPr>
            <a:picLocks noChangeAspect="1"/>
          </p:cNvPicPr>
          <p:nvPr/>
        </p:nvPicPr>
        <p:blipFill>
          <a:blip r:embed="rId1"/>
          <a:stretch>
            <a:fillRect/>
          </a:stretch>
        </p:blipFill>
        <p:spPr>
          <a:xfrm>
            <a:off x="457200" y="1280160"/>
            <a:ext cx="2560320" cy="1563624"/>
          </a:xfrm>
          <a:prstGeom prst="rect">
            <a:avLst/>
          </a:prstGeom>
        </p:spPr>
      </p:pic>
      <p:sp>
        <p:nvSpPr>
          <p:cNvPr id="4" name="Text 1"/>
          <p:cNvSpPr txBox="1"/>
          <p:nvPr/>
        </p:nvSpPr>
        <p:spPr>
          <a:xfrm>
            <a:off x="45720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Grietas y asentamientos</a:t>
            </a:r>
            <a:endParaRPr lang="en-US" sz="1600" dirty="0"/>
          </a:p>
        </p:txBody>
      </p:sp>
      <p:pic>
        <p:nvPicPr>
          <p:cNvPr id="5" name="Foto pavimento_relleno" descr="Pavimentos y rellenos">    </p:cNvPr>
          <p:cNvPicPr>
            <a:picLocks noChangeAspect="1"/>
          </p:cNvPicPr>
          <p:nvPr/>
        </p:nvPicPr>
        <p:blipFill>
          <a:blip r:embed="rId2"/>
          <a:stretch>
            <a:fillRect/>
          </a:stretch>
        </p:blipFill>
        <p:spPr>
          <a:xfrm>
            <a:off x="3291840" y="1280160"/>
            <a:ext cx="2560320" cy="1737360"/>
          </a:xfrm>
          <a:prstGeom prst="rect">
            <a:avLst/>
          </a:prstGeom>
        </p:spPr>
      </p:pic>
      <p:sp>
        <p:nvSpPr>
          <p:cNvPr id="6" name="Text 2"/>
          <p:cNvSpPr txBox="1"/>
          <p:nvPr/>
        </p:nvSpPr>
        <p:spPr>
          <a:xfrm>
            <a:off x="329184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Pavimentos y rellenos</a:t>
            </a:r>
            <a:endParaRPr lang="en-US" sz="1600" dirty="0"/>
          </a:p>
        </p:txBody>
      </p:sp>
      <p:pic>
        <p:nvPicPr>
          <p:cNvPr id="7" name="Foto talud" descr="Taludes">    </p:cNvPr>
          <p:cNvPicPr>
            <a:picLocks noChangeAspect="1"/>
          </p:cNvPicPr>
          <p:nvPr/>
        </p:nvPicPr>
        <p:blipFill>
          <a:blip r:embed="rId3"/>
          <a:stretch>
            <a:fillRect/>
          </a:stretch>
        </p:blipFill>
        <p:spPr>
          <a:xfrm>
            <a:off x="6126480" y="1280160"/>
            <a:ext cx="2560320" cy="1737360"/>
          </a:xfrm>
          <a:prstGeom prst="rect">
            <a:avLst/>
          </a:prstGeom>
        </p:spPr>
      </p:pic>
      <p:sp>
        <p:nvSpPr>
          <p:cNvPr id="8" name="Text 3"/>
          <p:cNvSpPr txBox="1"/>
          <p:nvPr/>
        </p:nvSpPr>
        <p:spPr>
          <a:xfrm>
            <a:off x="6126480" y="3108960"/>
            <a:ext cx="2560320" cy="320040"/>
          </a:xfrm>
          <a:prstGeom prst="rect">
            <a:avLst/>
          </a:prstGeom>
          <a:noFill/>
          <a:ln/>
        </p:spPr>
        <p:txBody>
          <a:bodyPr wrap="square" lIns="0" tIns="0" rIns="0" bIns="0" rtlCol="0" anchor="t"/>
          <a:lstStyle/>
          <a:p>
            <a:pPr indent="0" marL="0">
              <a:buNone/>
            </a:pPr>
            <a:r>
              <a:rPr lang="en-US" sz="1600" b="1" dirty="0">
                <a:solidFill>
                  <a:srgbClr val="1F4E79"/>
                </a:solidFill>
                <a:latin typeface="Arial" pitchFamily="34" charset="0"/>
                <a:ea typeface="Arial" pitchFamily="34" charset="-122"/>
                <a:cs typeface="Arial" pitchFamily="34" charset="-120"/>
              </a:rPr>
              <a:t>Taludes</a:t>
            </a:r>
            <a:endParaRPr lang="en-US" sz="1600" dirty="0"/>
          </a:p>
        </p:txBody>
      </p:sp>
      <p:sp>
        <p:nvSpPr>
          <p:cNvPr id="9" name="Mensaje"/>
          <p:cNvSpPr txBox="1"/>
          <p:nvPr/>
        </p:nvSpPr>
        <p:spPr>
          <a:xfrm>
            <a:off x="457200" y="3657600"/>
            <a:ext cx="8229600" cy="731520"/>
          </a:xfrm>
          <a:prstGeom prst="rect">
            <a:avLst/>
          </a:prstGeom>
          <a:noFill/>
          <a:ln/>
        </p:spPr>
        <p:txBody>
          <a:bodyPr wrap="square" lIns="0" tIns="0" rIns="0" bIns="0" rtlCol="0" anchor="t"/>
          <a:lstStyle/>
          <a:p>
            <a:pPr indent="0" marL="0">
              <a:buNone/>
            </a:pPr>
            <a:r>
              <a:rPr lang="en-US" sz="2000" dirty="0">
                <a:solidFill>
                  <a:srgbClr val="2D2D2D"/>
                </a:solidFill>
                <a:latin typeface="Arial" pitchFamily="34" charset="0"/>
                <a:ea typeface="Arial" pitchFamily="34" charset="-122"/>
                <a:cs typeface="Arial" pitchFamily="34" charset="-120"/>
              </a:rPr>
              <a:t>Evaluar durante y después de la obra: cambios, daños y mantenimiento, sin alterar lo construido</a:t>
            </a:r>
            <a:endParaRPr lang="en-US" sz="20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Park et al. (2018). Imágenes: UPCommons (asentamientos); 360 en Concreto (rodillo); Facebook (ilustración).</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ítulo"/>
          <p:cNvSpPr txBox="1"/>
          <p:nvPr/>
        </p:nvSpPr>
        <p:spPr>
          <a:xfrm>
            <a:off x="457200" y="274320"/>
            <a:ext cx="8229600" cy="10972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Nos proponemos definir un método de medición del terreno que, mediante el procesamiento de lo sensado, permita obtener información útil</a:t>
            </a:r>
            <a:endParaRPr lang="en-US" sz="2400" dirty="0"/>
          </a:p>
        </p:txBody>
      </p:sp>
      <p:sp>
        <p:nvSpPr>
          <p:cNvPr id="3" name="Marco plataforma"/>
          <p:cNvSpPr/>
          <p:nvPr/>
        </p:nvSpPr>
        <p:spPr>
          <a:xfrm>
            <a:off x="2514600" y="1463040"/>
            <a:ext cx="4114800" cy="1051560"/>
          </a:xfrm>
          <a:prstGeom prst="roundRect">
            <a:avLst>
              <a:gd name="adj" fmla="val 6957"/>
            </a:avLst>
          </a:prstGeom>
          <a:solidFill>
            <a:srgbClr val="FFFFFF">
              <a:alpha val="0"/>
            </a:srgbClr>
          </a:solidFill>
          <a:ln w="25400">
            <a:solidFill>
              <a:srgbClr val="C55A11"/>
            </a:solidFill>
            <a:prstDash val="solid"/>
          </a:ln>
        </p:spPr>
      </p:sp>
      <p:sp>
        <p:nvSpPr>
          <p:cNvPr id="4" name="Caja 1"/>
          <p:cNvSpPr/>
          <p:nvPr/>
        </p:nvSpPr>
        <p:spPr>
          <a:xfrm>
            <a:off x="457200" y="1554480"/>
            <a:ext cx="1783080" cy="868680"/>
          </a:xfrm>
          <a:prstGeom prst="rect">
            <a:avLst/>
          </a:prstGeom>
          <a:solidFill>
            <a:srgbClr val="EAF1F8"/>
          </a:solidFill>
          <a:ln w="12700">
            <a:solidFill>
              <a:srgbClr val="2E75B6"/>
            </a:solidFill>
            <a:prstDash val="solid"/>
          </a:ln>
        </p:spPr>
      </p:sp>
      <p:sp>
        <p:nvSpPr>
          <p:cNvPr id="5" name="Text 3"/>
          <p:cNvSpPr txBox="1"/>
          <p:nvPr/>
        </p:nvSpPr>
        <p:spPr>
          <a:xfrm>
            <a:off x="45720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Fenómeno físico del terreno</a:t>
            </a:r>
            <a:endParaRPr lang="en-US" sz="1600" dirty="0"/>
          </a:p>
        </p:txBody>
      </p:sp>
      <p:sp>
        <p:nvSpPr>
          <p:cNvPr id="6" name="Shape 4"/>
          <p:cNvSpPr/>
          <p:nvPr/>
        </p:nvSpPr>
        <p:spPr>
          <a:xfrm>
            <a:off x="2267712" y="1988820"/>
            <a:ext cx="310896" cy="0"/>
          </a:xfrm>
          <a:prstGeom prst="line">
            <a:avLst/>
          </a:prstGeom>
          <a:noFill/>
          <a:ln w="25400">
            <a:solidFill>
              <a:srgbClr val="1F4E79"/>
            </a:solidFill>
            <a:prstDash val="solid"/>
            <a:tailEnd type="triangle"/>
          </a:ln>
        </p:spPr>
      </p:sp>
      <p:sp>
        <p:nvSpPr>
          <p:cNvPr id="7" name="Caja 2"/>
          <p:cNvSpPr/>
          <p:nvPr/>
        </p:nvSpPr>
        <p:spPr>
          <a:xfrm>
            <a:off x="2606040" y="1554480"/>
            <a:ext cx="1783080" cy="868680"/>
          </a:xfrm>
          <a:prstGeom prst="rect">
            <a:avLst/>
          </a:prstGeom>
          <a:solidFill>
            <a:srgbClr val="EAF1F8"/>
          </a:solidFill>
          <a:ln w="12700">
            <a:solidFill>
              <a:srgbClr val="2E75B6"/>
            </a:solidFill>
            <a:prstDash val="solid"/>
          </a:ln>
        </p:spPr>
      </p:sp>
      <p:sp>
        <p:nvSpPr>
          <p:cNvPr id="8" name="Text 6"/>
          <p:cNvSpPr txBox="1"/>
          <p:nvPr/>
        </p:nvSpPr>
        <p:spPr>
          <a:xfrm>
            <a:off x="260604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Transductor</a:t>
            </a:r>
            <a:endParaRPr lang="en-US" sz="1600" dirty="0"/>
          </a:p>
        </p:txBody>
      </p:sp>
      <p:sp>
        <p:nvSpPr>
          <p:cNvPr id="9" name="Shape 7"/>
          <p:cNvSpPr/>
          <p:nvPr/>
        </p:nvSpPr>
        <p:spPr>
          <a:xfrm>
            <a:off x="4416552" y="1988820"/>
            <a:ext cx="310896" cy="0"/>
          </a:xfrm>
          <a:prstGeom prst="line">
            <a:avLst/>
          </a:prstGeom>
          <a:noFill/>
          <a:ln w="25400">
            <a:solidFill>
              <a:srgbClr val="1F4E79"/>
            </a:solidFill>
            <a:prstDash val="solid"/>
            <a:tailEnd type="triangle"/>
          </a:ln>
        </p:spPr>
      </p:sp>
      <p:sp>
        <p:nvSpPr>
          <p:cNvPr id="10" name="Caja 3"/>
          <p:cNvSpPr/>
          <p:nvPr/>
        </p:nvSpPr>
        <p:spPr>
          <a:xfrm>
            <a:off x="4754880" y="1554480"/>
            <a:ext cx="1783080" cy="868680"/>
          </a:xfrm>
          <a:prstGeom prst="rect">
            <a:avLst/>
          </a:prstGeom>
          <a:solidFill>
            <a:srgbClr val="EAF1F8"/>
          </a:solidFill>
          <a:ln w="12700">
            <a:solidFill>
              <a:srgbClr val="2E75B6"/>
            </a:solidFill>
            <a:prstDash val="solid"/>
          </a:ln>
        </p:spPr>
      </p:sp>
      <p:sp>
        <p:nvSpPr>
          <p:cNvPr id="11" name="Text 9"/>
          <p:cNvSpPr txBox="1"/>
          <p:nvPr/>
        </p:nvSpPr>
        <p:spPr>
          <a:xfrm>
            <a:off x="475488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Procesamiento</a:t>
            </a:r>
            <a:endParaRPr lang="en-US" sz="1600" dirty="0"/>
          </a:p>
        </p:txBody>
      </p:sp>
      <p:sp>
        <p:nvSpPr>
          <p:cNvPr id="12" name="Shape 10"/>
          <p:cNvSpPr/>
          <p:nvPr/>
        </p:nvSpPr>
        <p:spPr>
          <a:xfrm>
            <a:off x="6565392" y="1988820"/>
            <a:ext cx="310896" cy="0"/>
          </a:xfrm>
          <a:prstGeom prst="line">
            <a:avLst/>
          </a:prstGeom>
          <a:noFill/>
          <a:ln w="25400">
            <a:solidFill>
              <a:srgbClr val="1F4E79"/>
            </a:solidFill>
            <a:prstDash val="solid"/>
            <a:tailEnd type="triangle"/>
          </a:ln>
        </p:spPr>
      </p:sp>
      <p:sp>
        <p:nvSpPr>
          <p:cNvPr id="13" name="Caja 4"/>
          <p:cNvSpPr/>
          <p:nvPr/>
        </p:nvSpPr>
        <p:spPr>
          <a:xfrm>
            <a:off x="6903720" y="1554480"/>
            <a:ext cx="1783080" cy="868680"/>
          </a:xfrm>
          <a:prstGeom prst="rect">
            <a:avLst/>
          </a:prstGeom>
          <a:solidFill>
            <a:srgbClr val="1F4E79"/>
          </a:solidFill>
          <a:ln w="12700">
            <a:solidFill>
              <a:srgbClr val="1F4E79"/>
            </a:solidFill>
            <a:prstDash val="solid"/>
          </a:ln>
        </p:spPr>
      </p:sp>
      <p:sp>
        <p:nvSpPr>
          <p:cNvPr id="14" name="Text 12"/>
          <p:cNvSpPr txBox="1"/>
          <p:nvPr/>
        </p:nvSpPr>
        <p:spPr>
          <a:xfrm>
            <a:off x="6903720" y="1554480"/>
            <a:ext cx="17830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Información útil del terreno</a:t>
            </a:r>
            <a:endParaRPr lang="en-US" sz="1600" dirty="0"/>
          </a:p>
        </p:txBody>
      </p:sp>
      <p:sp>
        <p:nvSpPr>
          <p:cNvPr id="15" name="Etiqueta plataforma"/>
          <p:cNvSpPr txBox="1"/>
          <p:nvPr/>
        </p:nvSpPr>
        <p:spPr>
          <a:xfrm>
            <a:off x="2514600" y="2578608"/>
            <a:ext cx="4114800" cy="45720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Lo que construye este trabajo: la plataforma que realiza la medición</a:t>
            </a:r>
            <a:endParaRPr lang="en-US" sz="1600" dirty="0"/>
          </a:p>
        </p:txBody>
      </p:sp>
      <p:sp>
        <p:nvSpPr>
          <p:cNvPr id="16" name="Text 14"/>
          <p:cNvSpPr txBox="1"/>
          <p:nvPr/>
        </p:nvSpPr>
        <p:spPr>
          <a:xfrm>
            <a:off x="457200" y="3063240"/>
            <a:ext cx="2743200" cy="320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Hoja de ruta</a:t>
            </a:r>
            <a:endParaRPr lang="en-US" sz="2000" dirty="0"/>
          </a:p>
        </p:txBody>
      </p:sp>
      <p:sp>
        <p:nvSpPr>
          <p:cNvPr id="17" name="Número 1"/>
          <p:cNvSpPr/>
          <p:nvPr/>
        </p:nvSpPr>
        <p:spPr>
          <a:xfrm>
            <a:off x="457200" y="3493008"/>
            <a:ext cx="246888" cy="246888"/>
          </a:xfrm>
          <a:prstGeom prst="ellipse">
            <a:avLst/>
          </a:prstGeom>
          <a:solidFill>
            <a:srgbClr val="2E75B6"/>
          </a:solidFill>
          <a:ln w="12700">
            <a:solidFill>
              <a:srgbClr val="2E75B6"/>
            </a:solidFill>
            <a:prstDash val="solid"/>
          </a:ln>
        </p:spPr>
      </p:sp>
      <p:sp>
        <p:nvSpPr>
          <p:cNvPr id="18" name="Text 16"/>
          <p:cNvSpPr txBox="1"/>
          <p:nvPr/>
        </p:nvSpPr>
        <p:spPr>
          <a:xfrm>
            <a:off x="457200" y="3493008"/>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1</a:t>
            </a:r>
            <a:endParaRPr lang="en-US" sz="1200" dirty="0"/>
          </a:p>
        </p:txBody>
      </p:sp>
      <p:sp>
        <p:nvSpPr>
          <p:cNvPr id="19" name="Hoja de ruta 1"/>
          <p:cNvSpPr txBox="1"/>
          <p:nvPr/>
        </p:nvSpPr>
        <p:spPr>
          <a:xfrm>
            <a:off x="822960" y="3474720"/>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Exploración de los fenómenos físicos candidatos a medir y las técnicas asociadas</a:t>
            </a:r>
            <a:endParaRPr lang="en-US" sz="1600" dirty="0"/>
          </a:p>
        </p:txBody>
      </p:sp>
      <p:sp>
        <p:nvSpPr>
          <p:cNvPr id="20" name="Número 2"/>
          <p:cNvSpPr/>
          <p:nvPr/>
        </p:nvSpPr>
        <p:spPr>
          <a:xfrm>
            <a:off x="457200" y="3803904"/>
            <a:ext cx="246888" cy="246888"/>
          </a:xfrm>
          <a:prstGeom prst="ellipse">
            <a:avLst/>
          </a:prstGeom>
          <a:solidFill>
            <a:srgbClr val="2E75B6"/>
          </a:solidFill>
          <a:ln w="12700">
            <a:solidFill>
              <a:srgbClr val="2E75B6"/>
            </a:solidFill>
            <a:prstDash val="solid"/>
          </a:ln>
        </p:spPr>
      </p:sp>
      <p:sp>
        <p:nvSpPr>
          <p:cNvPr id="21" name="Text 19"/>
          <p:cNvSpPr txBox="1"/>
          <p:nvPr/>
        </p:nvSpPr>
        <p:spPr>
          <a:xfrm>
            <a:off x="457200" y="3803904"/>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2</a:t>
            </a:r>
            <a:endParaRPr lang="en-US" sz="1200" dirty="0"/>
          </a:p>
        </p:txBody>
      </p:sp>
      <p:sp>
        <p:nvSpPr>
          <p:cNvPr id="22" name="Hoja de ruta 2"/>
          <p:cNvSpPr txBox="1"/>
          <p:nvPr/>
        </p:nvSpPr>
        <p:spPr>
          <a:xfrm>
            <a:off x="822960" y="3785616"/>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Análisis en profundidad del método seleccionado</a:t>
            </a:r>
            <a:endParaRPr lang="en-US" sz="1600" dirty="0"/>
          </a:p>
        </p:txBody>
      </p:sp>
      <p:sp>
        <p:nvSpPr>
          <p:cNvPr id="23" name="Número 3"/>
          <p:cNvSpPr/>
          <p:nvPr/>
        </p:nvSpPr>
        <p:spPr>
          <a:xfrm>
            <a:off x="457200" y="4114800"/>
            <a:ext cx="246888" cy="246888"/>
          </a:xfrm>
          <a:prstGeom prst="ellipse">
            <a:avLst/>
          </a:prstGeom>
          <a:solidFill>
            <a:srgbClr val="2E75B6"/>
          </a:solidFill>
          <a:ln w="12700">
            <a:solidFill>
              <a:srgbClr val="2E75B6"/>
            </a:solidFill>
            <a:prstDash val="solid"/>
          </a:ln>
        </p:spPr>
      </p:sp>
      <p:sp>
        <p:nvSpPr>
          <p:cNvPr id="24" name="Text 22"/>
          <p:cNvSpPr txBox="1"/>
          <p:nvPr/>
        </p:nvSpPr>
        <p:spPr>
          <a:xfrm>
            <a:off x="457200" y="4114800"/>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3</a:t>
            </a:r>
            <a:endParaRPr lang="en-US" sz="1200" dirty="0"/>
          </a:p>
        </p:txBody>
      </p:sp>
      <p:sp>
        <p:nvSpPr>
          <p:cNvPr id="25" name="Hoja de ruta 3"/>
          <p:cNvSpPr txBox="1"/>
          <p:nvPr/>
        </p:nvSpPr>
        <p:spPr>
          <a:xfrm>
            <a:off x="822960" y="4096512"/>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Especificaciones y plataforma propuesta</a:t>
            </a:r>
            <a:endParaRPr lang="en-US" sz="1600" dirty="0"/>
          </a:p>
        </p:txBody>
      </p:sp>
      <p:sp>
        <p:nvSpPr>
          <p:cNvPr id="26" name="Número 4"/>
          <p:cNvSpPr/>
          <p:nvPr/>
        </p:nvSpPr>
        <p:spPr>
          <a:xfrm>
            <a:off x="457200" y="4425696"/>
            <a:ext cx="246888" cy="246888"/>
          </a:xfrm>
          <a:prstGeom prst="ellipse">
            <a:avLst/>
          </a:prstGeom>
          <a:solidFill>
            <a:srgbClr val="2E75B6"/>
          </a:solidFill>
          <a:ln w="12700">
            <a:solidFill>
              <a:srgbClr val="2E75B6"/>
            </a:solidFill>
            <a:prstDash val="solid"/>
          </a:ln>
        </p:spPr>
      </p:sp>
      <p:sp>
        <p:nvSpPr>
          <p:cNvPr id="27" name="Text 25"/>
          <p:cNvSpPr txBox="1"/>
          <p:nvPr/>
        </p:nvSpPr>
        <p:spPr>
          <a:xfrm>
            <a:off x="457200" y="4425696"/>
            <a:ext cx="246888" cy="246888"/>
          </a:xfrm>
          <a:prstGeom prst="rect">
            <a:avLst/>
          </a:prstGeom>
          <a:noFill/>
          <a:ln/>
        </p:spPr>
        <p:txBody>
          <a:bodyPr wrap="square" lIns="0" tIns="0" rIns="0" bIns="0" rtlCol="0" anchor="ctr"/>
          <a:lstStyle/>
          <a:p>
            <a:pPr algn="ctr" indent="0" marL="0">
              <a:buNone/>
            </a:pPr>
            <a:r>
              <a:rPr lang="en-US" sz="1200" b="1" dirty="0">
                <a:solidFill>
                  <a:srgbClr val="FFFFFF"/>
                </a:solidFill>
                <a:latin typeface="Arial" pitchFamily="34" charset="0"/>
                <a:ea typeface="Arial" pitchFamily="34" charset="-122"/>
                <a:cs typeface="Arial" pitchFamily="34" charset="-120"/>
              </a:rPr>
              <a:t>4</a:t>
            </a:r>
            <a:endParaRPr lang="en-US" sz="1200" dirty="0"/>
          </a:p>
        </p:txBody>
      </p:sp>
      <p:sp>
        <p:nvSpPr>
          <p:cNvPr id="28" name="Hoja de ruta 4"/>
          <p:cNvSpPr txBox="1"/>
          <p:nvPr/>
        </p:nvSpPr>
        <p:spPr>
          <a:xfrm>
            <a:off x="822960" y="4407408"/>
            <a:ext cx="7863840" cy="283464"/>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Resultados parciales</a:t>
            </a:r>
            <a:endParaRPr lang="en-US" sz="16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Hay dos formas de medir el terreno: por su resistencia o por cómo transmite ondas</a:t>
            </a:r>
            <a:endParaRPr lang="en-US" sz="2400" dirty="0"/>
          </a:p>
        </p:txBody>
      </p:sp>
      <p:sp>
        <p:nvSpPr>
          <p:cNvPr id="3" name="Encabezado dentro"/>
          <p:cNvSpPr/>
          <p:nvPr/>
        </p:nvSpPr>
        <p:spPr>
          <a:xfrm>
            <a:off x="2048256" y="1188720"/>
            <a:ext cx="1737360" cy="777240"/>
          </a:xfrm>
          <a:prstGeom prst="rect">
            <a:avLst/>
          </a:prstGeom>
          <a:solidFill>
            <a:srgbClr val="1F4E79"/>
          </a:solidFill>
          <a:ln w="12700">
            <a:solidFill>
              <a:srgbClr val="1F4E79"/>
            </a:solidFill>
            <a:prstDash val="solid"/>
          </a:ln>
        </p:spPr>
      </p:sp>
      <p:sp>
        <p:nvSpPr>
          <p:cNvPr id="4" name="Text 2"/>
          <p:cNvSpPr txBox="1"/>
          <p:nvPr/>
        </p:nvSpPr>
        <p:spPr>
          <a:xfrm>
            <a:off x="2048256"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Dentro del terreno (invasivo)</a:t>
            </a:r>
            <a:endParaRPr lang="en-US" sz="1600" dirty="0"/>
          </a:p>
        </p:txBody>
      </p:sp>
      <p:sp>
        <p:nvSpPr>
          <p:cNvPr id="5" name="Encabezado superficie"/>
          <p:cNvSpPr/>
          <p:nvPr/>
        </p:nvSpPr>
        <p:spPr>
          <a:xfrm>
            <a:off x="3822192" y="1188720"/>
            <a:ext cx="1737360" cy="777240"/>
          </a:xfrm>
          <a:prstGeom prst="rect">
            <a:avLst/>
          </a:prstGeom>
          <a:solidFill>
            <a:srgbClr val="1F4E79"/>
          </a:solidFill>
          <a:ln w="12700">
            <a:solidFill>
              <a:srgbClr val="1F4E79"/>
            </a:solidFill>
            <a:prstDash val="solid"/>
          </a:ln>
        </p:spPr>
      </p:sp>
      <p:sp>
        <p:nvSpPr>
          <p:cNvPr id="6" name="Text 4"/>
          <p:cNvSpPr txBox="1"/>
          <p:nvPr/>
        </p:nvSpPr>
        <p:spPr>
          <a:xfrm>
            <a:off x="3822192" y="1188720"/>
            <a:ext cx="1737360" cy="77724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Desde la superficie (no invasivo)</a:t>
            </a:r>
            <a:endParaRPr lang="en-US" sz="1600" dirty="0"/>
          </a:p>
        </p:txBody>
      </p:sp>
      <p:sp>
        <p:nvSpPr>
          <p:cNvPr id="7" name="Fila resistencia"/>
          <p:cNvSpPr/>
          <p:nvPr/>
        </p:nvSpPr>
        <p:spPr>
          <a:xfrm>
            <a:off x="457200" y="2002536"/>
            <a:ext cx="1554480" cy="868680"/>
          </a:xfrm>
          <a:prstGeom prst="rect">
            <a:avLst/>
          </a:prstGeom>
          <a:solidFill>
            <a:srgbClr val="2E75B6"/>
          </a:solidFill>
          <a:ln w="12700">
            <a:solidFill>
              <a:srgbClr val="2E75B6"/>
            </a:solidFill>
            <a:prstDash val="solid"/>
          </a:ln>
        </p:spPr>
      </p:sp>
      <p:sp>
        <p:nvSpPr>
          <p:cNvPr id="8" name="Text 6"/>
          <p:cNvSpPr txBox="1"/>
          <p:nvPr/>
        </p:nvSpPr>
        <p:spPr>
          <a:xfrm>
            <a:off x="457200" y="2002536"/>
            <a:ext cx="1554480" cy="86868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Resistencia a la penetración</a:t>
            </a:r>
            <a:endParaRPr lang="en-US" sz="1600" dirty="0"/>
          </a:p>
        </p:txBody>
      </p:sp>
      <p:sp>
        <p:nvSpPr>
          <p:cNvPr id="9" name="Fila ondas"/>
          <p:cNvSpPr/>
          <p:nvPr/>
        </p:nvSpPr>
        <p:spPr>
          <a:xfrm>
            <a:off x="457200" y="2907792"/>
            <a:ext cx="1554480" cy="1508760"/>
          </a:xfrm>
          <a:prstGeom prst="rect">
            <a:avLst/>
          </a:prstGeom>
          <a:solidFill>
            <a:srgbClr val="2E75B6"/>
          </a:solidFill>
          <a:ln w="12700">
            <a:solidFill>
              <a:srgbClr val="2E75B6"/>
            </a:solidFill>
            <a:prstDash val="solid"/>
          </a:ln>
        </p:spPr>
      </p:sp>
      <p:sp>
        <p:nvSpPr>
          <p:cNvPr id="10" name="Text 8"/>
          <p:cNvSpPr txBox="1"/>
          <p:nvPr/>
        </p:nvSpPr>
        <p:spPr>
          <a:xfrm>
            <a:off x="457200" y="2907792"/>
            <a:ext cx="1554480" cy="1508760"/>
          </a:xfrm>
          <a:prstGeom prst="rect">
            <a:avLst/>
          </a:prstGeom>
          <a:noFill/>
          <a:ln/>
        </p:spPr>
        <p:txBody>
          <a:bodyPr wrap="square" lIns="38100" tIns="38100" rIns="38100" bIns="381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Propagación de ondas</a:t>
            </a:r>
            <a:endParaRPr lang="en-US" sz="1600" dirty="0"/>
          </a:p>
        </p:txBody>
      </p:sp>
      <p:sp>
        <p:nvSpPr>
          <p:cNvPr id="11" name="Celda penetración dentro"/>
          <p:cNvSpPr/>
          <p:nvPr/>
        </p:nvSpPr>
        <p:spPr>
          <a:xfrm>
            <a:off x="2048256" y="2002536"/>
            <a:ext cx="1737360" cy="868680"/>
          </a:xfrm>
          <a:prstGeom prst="rect">
            <a:avLst/>
          </a:prstGeom>
          <a:solidFill>
            <a:srgbClr val="FFFFFF"/>
          </a:solidFill>
          <a:ln w="12700">
            <a:solidFill>
              <a:srgbClr val="6B6B6B"/>
            </a:solidFill>
            <a:prstDash val="solid"/>
          </a:ln>
        </p:spPr>
      </p:sp>
      <p:sp>
        <p:nvSpPr>
          <p:cNvPr id="12" name="Text 10"/>
          <p:cNvSpPr txBox="1"/>
          <p:nvPr/>
        </p:nvSpPr>
        <p:spPr>
          <a:xfrm>
            <a:off x="2048256" y="2002536"/>
            <a:ext cx="1737360" cy="86868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SPT</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CPT / CPTu</a:t>
            </a:r>
            <a:endParaRPr lang="en-US" sz="1600" dirty="0"/>
          </a:p>
        </p:txBody>
      </p:sp>
      <p:sp>
        <p:nvSpPr>
          <p:cNvPr id="13" name="Celda penetración superficie"/>
          <p:cNvSpPr/>
          <p:nvPr/>
        </p:nvSpPr>
        <p:spPr>
          <a:xfrm>
            <a:off x="3822192" y="2002536"/>
            <a:ext cx="1737360" cy="868680"/>
          </a:xfrm>
          <a:prstGeom prst="rect">
            <a:avLst/>
          </a:prstGeom>
          <a:solidFill>
            <a:srgbClr val="FFFFFF"/>
          </a:solidFill>
          <a:ln w="12700">
            <a:solidFill>
              <a:srgbClr val="6B6B6B"/>
            </a:solidFill>
            <a:prstDash val="solid"/>
          </a:ln>
        </p:spPr>
      </p:sp>
      <p:sp>
        <p:nvSpPr>
          <p:cNvPr id="14" name="Text 12"/>
          <p:cNvSpPr txBox="1"/>
          <p:nvPr/>
        </p:nvSpPr>
        <p:spPr>
          <a:xfrm>
            <a:off x="3822192" y="2002536"/>
            <a:ext cx="1737360" cy="868680"/>
          </a:xfrm>
          <a:prstGeom prst="rect">
            <a:avLst/>
          </a:prstGeom>
          <a:noFill/>
          <a:ln/>
        </p:spPr>
        <p:txBody>
          <a:bodyPr wrap="square" lIns="38100" tIns="38100" rIns="38100" bIns="38100" rtlCol="0" anchor="ctr"/>
          <a:lstStyle/>
          <a:p>
            <a:pPr algn="ctr" indent="0" marL="0">
              <a:buNone/>
            </a:pPr>
            <a:r>
              <a:rPr lang="en-US" sz="1600" dirty="0">
                <a:solidFill>
                  <a:srgbClr val="6B6B6B"/>
                </a:solidFill>
                <a:latin typeface="Arial" pitchFamily="34" charset="0"/>
                <a:ea typeface="Arial" pitchFamily="34" charset="-122"/>
                <a:cs typeface="Arial" pitchFamily="34" charset="-120"/>
              </a:rPr>
              <a:t>—</a:t>
            </a:r>
            <a:endParaRPr lang="en-US" sz="1600" dirty="0"/>
          </a:p>
        </p:txBody>
      </p:sp>
      <p:sp>
        <p:nvSpPr>
          <p:cNvPr id="15" name="Celda ondas dentro"/>
          <p:cNvSpPr/>
          <p:nvPr/>
        </p:nvSpPr>
        <p:spPr>
          <a:xfrm>
            <a:off x="2048256" y="2907792"/>
            <a:ext cx="1737360" cy="1508760"/>
          </a:xfrm>
          <a:prstGeom prst="rect">
            <a:avLst/>
          </a:prstGeom>
          <a:solidFill>
            <a:srgbClr val="FFFFFF"/>
          </a:solidFill>
          <a:ln w="12700">
            <a:solidFill>
              <a:srgbClr val="6B6B6B"/>
            </a:solidFill>
            <a:prstDash val="solid"/>
          </a:ln>
        </p:spPr>
      </p:sp>
      <p:sp>
        <p:nvSpPr>
          <p:cNvPr id="16" name="Text 14"/>
          <p:cNvSpPr txBox="1"/>
          <p:nvPr/>
        </p:nvSpPr>
        <p:spPr>
          <a:xfrm>
            <a:off x="2048256"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Downhole</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Crosshole</a:t>
            </a:r>
            <a:endParaRPr lang="en-US" sz="1600" dirty="0"/>
          </a:p>
        </p:txBody>
      </p:sp>
      <p:sp>
        <p:nvSpPr>
          <p:cNvPr id="17" name="Celda ondas superficie"/>
          <p:cNvSpPr/>
          <p:nvPr/>
        </p:nvSpPr>
        <p:spPr>
          <a:xfrm>
            <a:off x="3822192" y="2907792"/>
            <a:ext cx="1737360" cy="1508760"/>
          </a:xfrm>
          <a:prstGeom prst="rect">
            <a:avLst/>
          </a:prstGeom>
          <a:solidFill>
            <a:srgbClr val="FFFFFF"/>
          </a:solidFill>
          <a:ln w="38100">
            <a:solidFill>
              <a:srgbClr val="C55A11"/>
            </a:solidFill>
            <a:prstDash val="solid"/>
          </a:ln>
        </p:spPr>
      </p:sp>
      <p:sp>
        <p:nvSpPr>
          <p:cNvPr id="18" name="Text 16"/>
          <p:cNvSpPr txBox="1"/>
          <p:nvPr/>
        </p:nvSpPr>
        <p:spPr>
          <a:xfrm>
            <a:off x="3822192" y="2907792"/>
            <a:ext cx="1737360" cy="1508760"/>
          </a:xfrm>
          <a:prstGeom prst="rect">
            <a:avLst/>
          </a:prstGeom>
          <a:noFill/>
          <a:ln/>
        </p:spPr>
        <p:txBody>
          <a:bodyPr wrap="square" lIns="38100" tIns="38100" rIns="38100" bIns="38100" rtlCol="0" anchor="ctr"/>
          <a:lstStyle/>
          <a:p>
            <a:pPr algn="ctr" indent="0" marL="0">
              <a:buNone/>
            </a:pPr>
            <a:r>
              <a:rPr lang="en-US" sz="1600" b="1" dirty="0">
                <a:solidFill>
                  <a:srgbClr val="1F4E79"/>
                </a:solidFill>
                <a:latin typeface="Arial" pitchFamily="34" charset="0"/>
                <a:ea typeface="Arial" pitchFamily="34" charset="-122"/>
                <a:cs typeface="Arial" pitchFamily="34" charset="-120"/>
              </a:rPr>
              <a:t>Refracción</a:t>
            </a:r>
            <a:endParaRPr lang="en-US" sz="1600" dirty="0"/>
          </a:p>
          <a:p>
            <a:pPr algn="ctr" indent="0" marL="0">
              <a:buNone/>
            </a:pPr>
            <a:r>
              <a:rPr lang="en-US" sz="1600" b="1" dirty="0">
                <a:solidFill>
                  <a:srgbClr val="1F4E79"/>
                </a:solidFill>
                <a:latin typeface="Arial" pitchFamily="34" charset="0"/>
                <a:ea typeface="Arial" pitchFamily="34" charset="-122"/>
                <a:cs typeface="Arial" pitchFamily="34" charset="-120"/>
              </a:rPr>
              <a:t>Reflexión</a:t>
            </a:r>
            <a:endParaRPr lang="en-US" sz="1600" dirty="0"/>
          </a:p>
          <a:p>
            <a:pPr algn="ctr" indent="0" marL="0">
              <a:buNone/>
            </a:pPr>
            <a:r>
              <a:rPr lang="en-US" sz="1600" b="1" dirty="0">
                <a:solidFill>
                  <a:srgbClr val="C55A11"/>
                </a:solidFill>
                <a:latin typeface="Arial" pitchFamily="34" charset="0"/>
                <a:ea typeface="Arial" pitchFamily="34" charset="-122"/>
                <a:cs typeface="Arial" pitchFamily="34" charset="-120"/>
              </a:rPr>
              <a:t>Ondas superficiales</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Love, Rayleigh</a:t>
            </a:r>
            <a:endParaRPr lang="en-US" sz="1600" dirty="0"/>
          </a:p>
          <a:p>
            <a:pPr algn="ctr" indent="0" marL="0">
              <a:buNone/>
            </a:pPr>
            <a:r>
              <a:rPr lang="en-US" sz="1600" dirty="0">
                <a:solidFill>
                  <a:srgbClr val="1F4E79"/>
                </a:solidFill>
                <a:latin typeface="Arial" pitchFamily="34" charset="0"/>
                <a:ea typeface="Arial" pitchFamily="34" charset="-122"/>
                <a:cs typeface="Arial" pitchFamily="34" charset="-120"/>
              </a:rPr>
              <a:t>SASW / MASW</a:t>
            </a:r>
            <a:endParaRPr lang="en-US" sz="1600" dirty="0"/>
          </a:p>
        </p:txBody>
      </p:sp>
      <p:sp>
        <p:nvSpPr>
          <p:cNvPr id="19" name="Cuerpo"/>
          <p:cNvSpPr txBox="1"/>
          <p:nvPr/>
        </p:nvSpPr>
        <p:spPr>
          <a:xfrm>
            <a:off x="5897880" y="1280160"/>
            <a:ext cx="2788920" cy="3108960"/>
          </a:xfrm>
          <a:prstGeom prst="rect">
            <a:avLst/>
          </a:prstGeom>
          <a:noFill/>
          <a:ln/>
        </p:spPr>
        <p:txBody>
          <a:bodyPr wrap="square" lIns="0" tIns="0" rIns="0" bIns="0" rtlCol="0" anchor="t"/>
          <a:lstStyle/>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Resistencia: miden cuánto cuesta penetrar el terreno</a:t>
            </a:r>
            <a:endParaRPr lang="en-US" sz="1800" dirty="0"/>
          </a:p>
          <a:p>
            <a:pPr marL="342900" indent="-342900">
              <a:spcAft>
                <a:spcPts val="1400"/>
              </a:spcAft>
              <a:buSzPct val="100000"/>
              <a:buChar char="•"/>
            </a:pPr>
            <a:r>
              <a:rPr lang="en-US" sz="1800" dirty="0">
                <a:solidFill>
                  <a:srgbClr val="2D2D2D"/>
                </a:solidFill>
                <a:latin typeface="Arial" pitchFamily="34" charset="0"/>
                <a:ea typeface="Arial" pitchFamily="34" charset="-122"/>
                <a:cs typeface="Arial" pitchFamily="34" charset="-120"/>
              </a:rPr>
              <a:t>Ondas: usan propiedades de las ondas y cómo el terreno las modifica</a:t>
            </a:r>
            <a:endParaRPr lang="en-US" sz="18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Clasificación elaborada a partir de Foti et al. (2014), cap. 1.</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SPT: se cuentan los golpes necesarios para hincar una cuchara en el suelo</a:t>
            </a:r>
            <a:endParaRPr lang="en-US" sz="2400" dirty="0"/>
          </a:p>
        </p:txBody>
      </p:sp>
      <p:pic>
        <p:nvPicPr>
          <p:cNvPr id="3" name="Figura SPT" descr="Ensayo SPT: martillo, barras, cuchara partida y tres tramos de avance">    </p:cNvPr>
          <p:cNvPicPr>
            <a:picLocks noChangeAspect="1"/>
          </p:cNvPicPr>
          <p:nvPr/>
        </p:nvPicPr>
        <p:blipFill>
          <a:blip r:embed="rId1"/>
          <a:stretch>
            <a:fillRect/>
          </a:stretch>
        </p:blipFill>
        <p:spPr>
          <a:xfrm>
            <a:off x="457200" y="1234440"/>
            <a:ext cx="4389120" cy="3291840"/>
          </a:xfrm>
          <a:prstGeom prst="rect">
            <a:avLst/>
          </a:prstGeom>
        </p:spPr>
      </p:pic>
      <p:sp>
        <p:nvSpPr>
          <p:cNvPr id="4" name="Cuerpo"/>
          <p:cNvSpPr txBox="1"/>
          <p:nvPr/>
        </p:nvSpPr>
        <p:spPr>
          <a:xfrm>
            <a:off x="5120640" y="1371600"/>
            <a:ext cx="3566160" cy="292608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martillo normalizado golpea una cuchara partida</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N: golpes para penetrar 0,304 m (N2 + N3)</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Además recupera una muestra alterada</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Procedimiento según la norma ASTM D1586.</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CPT/CPTu: un cono se hinca a velocidad constante y mide mientras avanza</a:t>
            </a:r>
            <a:endParaRPr lang="en-US" sz="2400" dirty="0"/>
          </a:p>
        </p:txBody>
      </p:sp>
      <p:pic>
        <p:nvPicPr>
          <p:cNvPr id="3" name="Figura CPTu" descr="Piezocono: punta, manguito de fricción y presión de poros; camión de ensayo y perfil registrado">    </p:cNvPr>
          <p:cNvPicPr>
            <a:picLocks noChangeAspect="1"/>
          </p:cNvPicPr>
          <p:nvPr/>
        </p:nvPicPr>
        <p:blipFill>
          <a:blip r:embed="rId1"/>
          <a:stretch>
            <a:fillRect/>
          </a:stretch>
        </p:blipFill>
        <p:spPr>
          <a:xfrm>
            <a:off x="457200" y="1097280"/>
            <a:ext cx="3337875" cy="3611880"/>
          </a:xfrm>
          <a:prstGeom prst="rect">
            <a:avLst/>
          </a:prstGeom>
        </p:spPr>
      </p:pic>
      <p:sp>
        <p:nvSpPr>
          <p:cNvPr id="4" name="Cuerpo"/>
          <p:cNvSpPr txBox="1"/>
          <p:nvPr/>
        </p:nvSpPr>
        <p:spPr>
          <a:xfrm>
            <a:off x="4114800" y="1280160"/>
            <a:ext cx="4572000" cy="2743200"/>
          </a:xfrm>
          <a:prstGeom prst="rect">
            <a:avLst/>
          </a:prstGeom>
          <a:noFill/>
          <a:ln/>
        </p:spPr>
        <p:txBody>
          <a:bodyPr wrap="square" lIns="0" tIns="0" rIns="0" bIns="0" rtlCol="0" anchor="t"/>
          <a:lstStyle/>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Se hinca a unos 2 cm/s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Mide resistencia de punta (qc) y fricción lateral (fs)</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El CPTu agrega la presión de poros (u₂)</a:t>
            </a:r>
            <a:endParaRPr lang="en-US" sz="2000" dirty="0"/>
          </a:p>
          <a:p>
            <a:pPr marL="342900" indent="-342900">
              <a:spcAft>
                <a:spcPts val="1000"/>
              </a:spcAft>
              <a:buSzPct val="100000"/>
              <a:buChar char="•"/>
            </a:pPr>
            <a:r>
              <a:rPr lang="en-US" sz="2000" dirty="0">
                <a:solidFill>
                  <a:srgbClr val="2D2D2D"/>
                </a:solidFill>
                <a:latin typeface="Arial" pitchFamily="34" charset="0"/>
                <a:ea typeface="Arial" pitchFamily="34" charset="-122"/>
                <a:cs typeface="Arial" pitchFamily="34" charset="-120"/>
              </a:rPr>
              <a:t>Entrega un perfil continuo con la profundidad</a:t>
            </a:r>
            <a:endParaRPr lang="en-US" sz="2000" dirty="0"/>
          </a:p>
        </p:txBody>
      </p:sp>
      <p:sp>
        <p:nvSpPr>
          <p:cNvPr id="5" name="Cita"/>
          <p:cNvSpPr txBox="1"/>
          <p:nvPr/>
        </p:nvSpPr>
        <p:spPr>
          <a:xfrm>
            <a:off x="4114800" y="4206240"/>
            <a:ext cx="4572000" cy="45720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Putt et al. (2022), Front. Environ. Sci. 9:821882, fig. 1 (CC BY),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resistencia medida directamente y con mucha experiencia acumulada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Equipo simple y muy difundido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Recupera una muestra para clasificar</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Amplia base de correlaciones</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continuo, rápido y repetible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requiere perforación previa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 presión de poros ayuda a distinguir el suelo</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puntuales, invasivos y sin medir la rigidez de forma directa</a:t>
            </a:r>
            <a:endParaRPr lang="en-US" sz="2400" dirty="0"/>
          </a:p>
        </p:txBody>
      </p:sp>
      <p:pic>
        <p:nvPicPr>
          <p:cNvPr id="3" name="SPT pequeña" descr="SPT">    </p:cNvPr>
          <p:cNvPicPr>
            <a:picLocks noChangeAspect="1"/>
          </p:cNvPicPr>
          <p:nvPr/>
        </p:nvPicPr>
        <p:blipFill>
          <a:blip r:embed="rId1"/>
          <a:stretch>
            <a:fillRect/>
          </a:stretch>
        </p:blipFill>
        <p:spPr>
          <a:xfrm>
            <a:off x="457200" y="1188720"/>
            <a:ext cx="1920240" cy="1440180"/>
          </a:xfrm>
          <a:prstGeom prst="rect">
            <a:avLst/>
          </a:prstGeom>
        </p:spPr>
      </p:pic>
      <p:sp>
        <p:nvSpPr>
          <p:cNvPr id="4" name="Text 1"/>
          <p:cNvSpPr txBox="1"/>
          <p:nvPr/>
        </p:nvSpPr>
        <p:spPr>
          <a:xfrm>
            <a:off x="2560320" y="1188720"/>
            <a:ext cx="1828800" cy="144018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SPT</a:t>
            </a:r>
            <a:endParaRPr lang="en-US" sz="2000" dirty="0"/>
          </a:p>
        </p:txBody>
      </p:sp>
      <p:sp>
        <p:nvSpPr>
          <p:cNvPr id="5" name="Cuerpo SPT"/>
          <p:cNvSpPr txBox="1"/>
          <p:nvPr/>
        </p:nvSpPr>
        <p:spPr>
          <a:xfrm>
            <a:off x="457200" y="281178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dato por profundidad, no un perfil continuo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Depende de la energía del martillo y del operador</a:t>
            </a:r>
            <a:endParaRPr lang="en-US" sz="1800" dirty="0"/>
          </a:p>
        </p:txBody>
      </p:sp>
      <p:pic>
        <p:nvPicPr>
          <p:cNvPr id="6" name="CPTu pequeña" descr="CPTu">    </p:cNvPr>
          <p:cNvPicPr>
            <a:picLocks noChangeAspect="1"/>
          </p:cNvPicPr>
          <p:nvPr/>
        </p:nvPicPr>
        <p:blipFill>
          <a:blip r:embed="rId2"/>
          <a:stretch>
            <a:fillRect/>
          </a:stretch>
        </p:blipFill>
        <p:spPr>
          <a:xfrm>
            <a:off x="4754880" y="1188720"/>
            <a:ext cx="1325880" cy="1435608"/>
          </a:xfrm>
          <a:prstGeom prst="rect">
            <a:avLst/>
          </a:prstGeom>
        </p:spPr>
      </p:pic>
      <p:sp>
        <p:nvSpPr>
          <p:cNvPr id="7" name="Text 3"/>
          <p:cNvSpPr txBox="1"/>
          <p:nvPr/>
        </p:nvSpPr>
        <p:spPr>
          <a:xfrm>
            <a:off x="6263640" y="1188720"/>
            <a:ext cx="2423160" cy="1435608"/>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CPT / CPTu</a:t>
            </a:r>
            <a:endParaRPr lang="en-US" sz="2000" dirty="0"/>
          </a:p>
        </p:txBody>
      </p:sp>
      <p:sp>
        <p:nvSpPr>
          <p:cNvPr id="8" name="Cuerpo CPT / CPTu"/>
          <p:cNvSpPr txBox="1"/>
          <p:nvPr/>
        </p:nvSpPr>
        <p:spPr>
          <a:xfrm>
            <a:off x="4754880" y="2807208"/>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recupera muestra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No atraviesa gravas ni suelos muy duros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Los dos entregan resistencia, no rigidez, y la rigidez se estima por correlaciones</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SPT: adaptada de Froldi (2021). CPT: Putt et al. (2022).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Al excitar un terreno sólido, este se deforma de forma transitoria y la perturbación se propaga</a:t>
            </a:r>
            <a:endParaRPr lang="en-US" sz="2400" dirty="0"/>
          </a:p>
        </p:txBody>
      </p:sp>
      <p:sp>
        <p:nvSpPr>
          <p:cNvPr id="3" name="Cuerpo"/>
          <p:cNvSpPr txBox="1"/>
          <p:nvPr/>
        </p:nvSpPr>
        <p:spPr>
          <a:xfrm>
            <a:off x="457200" y="1371600"/>
            <a:ext cx="3291840" cy="2743200"/>
          </a:xfrm>
          <a:prstGeom prst="rect">
            <a:avLst/>
          </a:prstGeom>
          <a:noFill/>
          <a:ln/>
        </p:spPr>
        <p:txBody>
          <a:bodyPr wrap="square" lIns="0" tIns="0" rIns="0" bIns="0" rtlCol="0" anchor="t"/>
          <a:lstStyle/>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Un golpe aplica energía en un punto</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El material se deforma de distintas maneras</a:t>
            </a:r>
            <a:endParaRPr lang="en-US" sz="2000" dirty="0"/>
          </a:p>
          <a:p>
            <a:pPr marL="342900" indent="-342900">
              <a:spcAft>
                <a:spcPts val="1400"/>
              </a:spcAft>
              <a:buSzPct val="100000"/>
              <a:buChar char="•"/>
            </a:pPr>
            <a:r>
              <a:rPr lang="en-US" sz="2000" dirty="0">
                <a:solidFill>
                  <a:srgbClr val="2D2D2D"/>
                </a:solidFill>
                <a:latin typeface="Arial" pitchFamily="34" charset="0"/>
                <a:ea typeface="Arial" pitchFamily="34" charset="-122"/>
                <a:cs typeface="Arial" pitchFamily="34" charset="-120"/>
              </a:rPr>
              <a:t>Cada tipo de deformación viaja como una onda</a:t>
            </a:r>
            <a:endParaRPr lang="en-US" sz="2000" dirty="0"/>
          </a:p>
        </p:txBody>
      </p:sp>
      <p:pic>
        <p:nvPicPr>
          <p:cNvPr id="4" name="Figura propagación" descr="Ondas Rayleigh generadas por una fuente en superficie, con campo cercano y órbita de partícula">    </p:cNvPr>
          <p:cNvPicPr>
            <a:picLocks noChangeAspect="1"/>
          </p:cNvPicPr>
          <p:nvPr/>
        </p:nvPicPr>
        <p:blipFill>
          <a:blip r:embed="rId1"/>
          <a:stretch>
            <a:fillRect/>
          </a:stretch>
        </p:blipFill>
        <p:spPr>
          <a:xfrm>
            <a:off x="3931920" y="1234440"/>
            <a:ext cx="4754880" cy="3015143"/>
          </a:xfrm>
          <a:prstGeom prst="rect">
            <a:avLst/>
          </a:prstGeom>
        </p:spPr>
      </p:pic>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Foti et al. (2014), cap. 2 (n.º de figura por confirmar),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Para analizarlo, simplificamos: un medio homogéneo, isótropo y elástico lineal</a:t>
            </a:r>
            <a:endParaRPr lang="en-US" sz="2400" dirty="0"/>
          </a:p>
        </p:txBody>
      </p:sp>
      <p:sp>
        <p:nvSpPr>
          <p:cNvPr id="3" name="Cabecera Homogéneo"/>
          <p:cNvSpPr/>
          <p:nvPr/>
        </p:nvSpPr>
        <p:spPr>
          <a:xfrm>
            <a:off x="457200" y="1325880"/>
            <a:ext cx="2560320" cy="548640"/>
          </a:xfrm>
          <a:prstGeom prst="rect">
            <a:avLst/>
          </a:prstGeom>
          <a:solidFill>
            <a:srgbClr val="1F4E79"/>
          </a:solidFill>
          <a:ln w="12700">
            <a:solidFill>
              <a:srgbClr val="1F4E79"/>
            </a:solidFill>
            <a:prstDash val="solid"/>
          </a:ln>
        </p:spPr>
      </p:sp>
      <p:sp>
        <p:nvSpPr>
          <p:cNvPr id="4" name="Text 2"/>
          <p:cNvSpPr txBox="1"/>
          <p:nvPr/>
        </p:nvSpPr>
        <p:spPr>
          <a:xfrm>
            <a:off x="45720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Homogéneo</a:t>
            </a:r>
            <a:endParaRPr lang="en-US" sz="2000" dirty="0"/>
          </a:p>
        </p:txBody>
      </p:sp>
      <p:sp>
        <p:nvSpPr>
          <p:cNvPr id="5" name="Tarjeta Homogéneo"/>
          <p:cNvSpPr/>
          <p:nvPr/>
        </p:nvSpPr>
        <p:spPr>
          <a:xfrm>
            <a:off x="457200" y="1874520"/>
            <a:ext cx="2560320" cy="1463040"/>
          </a:xfrm>
          <a:prstGeom prst="rect">
            <a:avLst/>
          </a:prstGeom>
          <a:solidFill>
            <a:srgbClr val="FFFFFF"/>
          </a:solidFill>
          <a:ln w="19050">
            <a:solidFill>
              <a:srgbClr val="1F4E79"/>
            </a:solidFill>
            <a:prstDash val="solid"/>
          </a:ln>
        </p:spPr>
      </p:sp>
      <p:sp>
        <p:nvSpPr>
          <p:cNvPr id="6" name="Text 4"/>
          <p:cNvSpPr txBox="1"/>
          <p:nvPr/>
        </p:nvSpPr>
        <p:spPr>
          <a:xfrm>
            <a:off x="59436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todos los puntos</a:t>
            </a:r>
            <a:endParaRPr lang="en-US" sz="1800" dirty="0"/>
          </a:p>
        </p:txBody>
      </p:sp>
      <p:sp>
        <p:nvSpPr>
          <p:cNvPr id="7" name="Cabecera Isótropo"/>
          <p:cNvSpPr/>
          <p:nvPr/>
        </p:nvSpPr>
        <p:spPr>
          <a:xfrm>
            <a:off x="3291840" y="1325880"/>
            <a:ext cx="2560320" cy="548640"/>
          </a:xfrm>
          <a:prstGeom prst="rect">
            <a:avLst/>
          </a:prstGeom>
          <a:solidFill>
            <a:srgbClr val="1F4E79"/>
          </a:solidFill>
          <a:ln w="12700">
            <a:solidFill>
              <a:srgbClr val="1F4E79"/>
            </a:solidFill>
            <a:prstDash val="solid"/>
          </a:ln>
        </p:spPr>
      </p:sp>
      <p:sp>
        <p:nvSpPr>
          <p:cNvPr id="8" name="Text 6"/>
          <p:cNvSpPr txBox="1"/>
          <p:nvPr/>
        </p:nvSpPr>
        <p:spPr>
          <a:xfrm>
            <a:off x="329184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Isótropo</a:t>
            </a:r>
            <a:endParaRPr lang="en-US" sz="2000" dirty="0"/>
          </a:p>
        </p:txBody>
      </p:sp>
      <p:sp>
        <p:nvSpPr>
          <p:cNvPr id="9" name="Tarjeta Isótropo"/>
          <p:cNvSpPr/>
          <p:nvPr/>
        </p:nvSpPr>
        <p:spPr>
          <a:xfrm>
            <a:off x="3291840" y="1874520"/>
            <a:ext cx="2560320" cy="1463040"/>
          </a:xfrm>
          <a:prstGeom prst="rect">
            <a:avLst/>
          </a:prstGeom>
          <a:solidFill>
            <a:srgbClr val="FFFFFF"/>
          </a:solidFill>
          <a:ln w="19050">
            <a:solidFill>
              <a:srgbClr val="1F4E79"/>
            </a:solidFill>
            <a:prstDash val="solid"/>
          </a:ln>
        </p:spPr>
      </p:sp>
      <p:sp>
        <p:nvSpPr>
          <p:cNvPr id="10" name="Text 8"/>
          <p:cNvSpPr txBox="1"/>
          <p:nvPr/>
        </p:nvSpPr>
        <p:spPr>
          <a:xfrm>
            <a:off x="342900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Mismas propiedades en todas las direcciones</a:t>
            </a:r>
            <a:endParaRPr lang="en-US" sz="1800" dirty="0"/>
          </a:p>
        </p:txBody>
      </p:sp>
      <p:sp>
        <p:nvSpPr>
          <p:cNvPr id="11" name="Cabecera Elástico lineal"/>
          <p:cNvSpPr/>
          <p:nvPr/>
        </p:nvSpPr>
        <p:spPr>
          <a:xfrm>
            <a:off x="6126480" y="1325880"/>
            <a:ext cx="2560320" cy="548640"/>
          </a:xfrm>
          <a:prstGeom prst="rect">
            <a:avLst/>
          </a:prstGeom>
          <a:solidFill>
            <a:srgbClr val="1F4E79"/>
          </a:solidFill>
          <a:ln w="12700">
            <a:solidFill>
              <a:srgbClr val="1F4E79"/>
            </a:solidFill>
            <a:prstDash val="solid"/>
          </a:ln>
        </p:spPr>
      </p:sp>
      <p:sp>
        <p:nvSpPr>
          <p:cNvPr id="12" name="Text 10"/>
          <p:cNvSpPr txBox="1"/>
          <p:nvPr/>
        </p:nvSpPr>
        <p:spPr>
          <a:xfrm>
            <a:off x="6126480" y="1325880"/>
            <a:ext cx="2560320" cy="5486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Elástico lineal</a:t>
            </a:r>
            <a:endParaRPr lang="en-US" sz="2000" dirty="0"/>
          </a:p>
        </p:txBody>
      </p:sp>
      <p:sp>
        <p:nvSpPr>
          <p:cNvPr id="13" name="Tarjeta Elástico lineal"/>
          <p:cNvSpPr/>
          <p:nvPr/>
        </p:nvSpPr>
        <p:spPr>
          <a:xfrm>
            <a:off x="6126480" y="1874520"/>
            <a:ext cx="2560320" cy="1463040"/>
          </a:xfrm>
          <a:prstGeom prst="rect">
            <a:avLst/>
          </a:prstGeom>
          <a:solidFill>
            <a:srgbClr val="FFFFFF"/>
          </a:solidFill>
          <a:ln w="19050">
            <a:solidFill>
              <a:srgbClr val="1F4E79"/>
            </a:solidFill>
            <a:prstDash val="solid"/>
          </a:ln>
        </p:spPr>
      </p:sp>
      <p:sp>
        <p:nvSpPr>
          <p:cNvPr id="14" name="Text 12"/>
          <p:cNvSpPr txBox="1"/>
          <p:nvPr/>
        </p:nvSpPr>
        <p:spPr>
          <a:xfrm>
            <a:off x="6263640" y="2011680"/>
            <a:ext cx="2286000" cy="1280160"/>
          </a:xfrm>
          <a:prstGeom prst="rect">
            <a:avLst/>
          </a:prstGeom>
          <a:noFill/>
          <a:ln/>
        </p:spPr>
        <p:txBody>
          <a:bodyPr wrap="square" lIns="0" tIns="0" rIns="0" bIns="0" rtlCol="0" anchor="ctr"/>
          <a:lstStyle/>
          <a:p>
            <a:pPr algn="ctr" indent="0" marL="0">
              <a:buNone/>
            </a:pPr>
            <a:r>
              <a:rPr lang="en-US" sz="1800" dirty="0">
                <a:solidFill>
                  <a:srgbClr val="2D2D2D"/>
                </a:solidFill>
                <a:latin typeface="Arial" pitchFamily="34" charset="0"/>
                <a:ea typeface="Arial" pitchFamily="34" charset="-122"/>
                <a:cs typeface="Arial" pitchFamily="34" charset="-120"/>
              </a:rPr>
              <a:t>La deformación es proporcional a la fuerza y desaparece al cesar</a:t>
            </a:r>
            <a:endParaRPr lang="en-US" sz="1800" dirty="0"/>
          </a:p>
        </p:txBody>
      </p:sp>
      <p:sp>
        <p:nvSpPr>
          <p:cNvPr id="15" name="Text 13"/>
          <p:cNvSpPr txBox="1"/>
          <p:nvPr/>
        </p:nvSpPr>
        <p:spPr>
          <a:xfrm>
            <a:off x="457200" y="3657600"/>
            <a:ext cx="8229600" cy="64008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Es una simplificación extrema: el suelo real no cumple ninguna de las tres</a:t>
            </a:r>
            <a:endParaRPr lang="en-US" sz="2000" dirty="0"/>
          </a:p>
        </p:txBody>
      </p:sp>
      <p:sp>
        <p:nvSpPr>
          <p:cNvPr id="1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ese medio, la ecuación de movimiento admite solo dos tipos de onda: P y S</a:t>
            </a:r>
            <a:endParaRPr lang="en-US" sz="2400" dirty="0"/>
          </a:p>
        </p:txBody>
      </p:sp>
      <p:sp>
        <p:nvSpPr>
          <p:cNvPr id="3" name="Fondo E_navier"/>
          <p:cNvSpPr/>
          <p:nvPr/>
        </p:nvSpPr>
        <p:spPr>
          <a:xfrm>
            <a:off x="457200" y="1188720"/>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1800" i="1">
                          <a:solidFill>
                            <a:srgbClr val="1F4E79"/>
                          </a:solidFill>
                          <a:latin typeface="Cambria Math" panose="02040503050406030204" pitchFamily="18" charset="0"/>
                        </a:rPr>
                        <m:t xml:space="preserve">ρ</m:t>
                      </m:r>
                      <m:f>
                        <m:fPr>
                          <m:ctrlPr>
                            <a:rPr lang="es-ES" sz="1800" i="1">
                              <a:latin typeface="Cambria Math" panose="02040503050406030204" pitchFamily="18" charset="0"/>
                            </a:rPr>
                          </m:ctrlPr>
                        </m:fPr>
                        <m:num>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num>
                        <m:den>
                          <m:r>
                            <a:rPr lang="es-ES" sz="1800" i="1">
                              <a:solidFill>
                                <a:srgbClr val="1F4E79"/>
                              </a:solidFill>
                              <a:latin typeface="Cambria Math" panose="02040503050406030204" pitchFamily="18" charset="0"/>
                            </a:rPr>
                            <m:t xml:space="preserve">∂</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t</m:t>
                              </m:r>
                            </m:e>
                            <m:sup>
                              <m:r>
                                <a:rPr lang="es-ES" sz="1800" i="1">
                                  <a:solidFill>
                                    <a:srgbClr val="1F4E79"/>
                                  </a:solidFill>
                                  <a:latin typeface="Cambria Math" panose="02040503050406030204" pitchFamily="18" charset="0"/>
                                </a:rPr>
                                <m:t xml:space="preserve">2</m:t>
                              </m:r>
                            </m:sup>
                          </m:sSup>
                        </m:den>
                      </m:f>
                      <m:r>
                        <a:rPr lang="es-ES" sz="1800" i="1">
                          <a:solidFill>
                            <a:srgbClr val="1F4E79"/>
                          </a:solidFill>
                          <a:latin typeface="Cambria Math" panose="02040503050406030204" pitchFamily="18" charset="0"/>
                        </a:rPr>
                        <m:t xml:space="preserve">=(λ+μ)∇(∇·u)+μ</m:t>
                      </m:r>
                      <m:sSup>
                        <m:sSupPr>
                          <m:ctrlPr>
                            <a:rPr lang="es-ES" sz="1800" i="1">
                              <a:latin typeface="Cambria Math" panose="02040503050406030204" pitchFamily="18" charset="0"/>
                            </a:rPr>
                          </m:ctrlPr>
                        </m:sSupPr>
                        <m:e>
                          <m:r>
                            <a:rPr lang="es-ES" sz="1800" i="1">
                              <a:solidFill>
                                <a:srgbClr val="1F4E79"/>
                              </a:solidFill>
                              <a:latin typeface="Cambria Math" panose="02040503050406030204" pitchFamily="18" charset="0"/>
                            </a:rPr>
                            <m:t xml:space="preserve">∇</m:t>
                          </m:r>
                        </m:e>
                        <m:sup>
                          <m:r>
                            <a:rPr lang="es-ES" sz="1800" i="1">
                              <a:solidFill>
                                <a:srgbClr val="1F4E79"/>
                              </a:solidFill>
                              <a:latin typeface="Cambria Math" panose="02040503050406030204" pitchFamily="18" charset="0"/>
                            </a:rPr>
                            <m:t xml:space="preserve">2</m:t>
                          </m:r>
                        </m:sup>
                      </m:sSup>
                      <m:r>
                        <a:rPr lang="es-ES" sz="1800" i="1">
                          <a:solidFill>
                            <a:srgbClr val="1F4E79"/>
                          </a:solidFill>
                          <a:latin typeface="Cambria Math" panose="02040503050406030204" pitchFamily="18" charset="0"/>
                        </a:rPr>
                        <m:t xml:space="preserve">u</m:t>
                      </m:r>
                    </m:oMath>
                  </m:oMathPara>
                </a14:m>
                <a:endParaRPr lang="es-ES"/>
              </a:p>
            </p:txBody>
          </p:sp>
        </mc:Choice>
        <mc:Fallback>
          <p:sp>
            <p:nvSpPr>
              <p:cNvPr id="4" name="Ecuación E_navier"/>
              <p:cNvSpPr txBox="1"/>
              <p:nvPr/>
            </p:nvSpPr>
            <p:spPr>
              <a:xfrm>
                <a:off x="457200" y="1188720"/>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ρ ∂²u/∂t² = (λ+μ)∇(∇·u) + μ∇²u</a:t>
                </a:r>
                <a:endParaRPr lang="en-US" sz="2400" dirty="0"/>
              </a:p>
            </p:txBody>
          </p:sp>
        </mc:Fallback>
      </mc:AlternateContent>
      <p:sp>
        <p:nvSpPr>
          <p:cNvPr id="5" name="Text 3"/>
          <p:cNvSpPr txBox="1"/>
          <p:nvPr/>
        </p:nvSpPr>
        <p:spPr>
          <a:xfrm>
            <a:off x="5074920" y="1188720"/>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Ecuación de movimiento. u: desplazamiento; ρ: densidad; λ, μ: constantes de Lamé</a:t>
            </a:r>
            <a:endParaRPr lang="en-US" sz="1600" dirty="0"/>
          </a:p>
        </p:txBody>
      </p:sp>
      <p:sp>
        <p:nvSpPr>
          <p:cNvPr id="6" name="Fondo E_helm"/>
          <p:cNvSpPr/>
          <p:nvPr/>
        </p:nvSpPr>
        <p:spPr>
          <a:xfrm>
            <a:off x="457200" y="1993392"/>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400" i="1">
                          <a:solidFill>
                            <a:srgbClr val="1F4E79"/>
                          </a:solidFill>
                          <a:latin typeface="Cambria Math" panose="02040503050406030204" pitchFamily="18" charset="0"/>
                        </a:rPr>
                        <m:t xml:space="preserve">u=∇φ+∇×ψ</m:t>
                      </m:r>
                    </m:oMath>
                  </m:oMathPara>
                </a14:m>
                <a:endParaRPr lang="es-ES"/>
              </a:p>
            </p:txBody>
          </p:sp>
        </mc:Choice>
        <mc:Fallback>
          <p:sp>
            <p:nvSpPr>
              <p:cNvPr id="7" name="Ecuación E_helm"/>
              <p:cNvSpPr txBox="1"/>
              <p:nvPr/>
            </p:nvSpPr>
            <p:spPr>
              <a:xfrm>
                <a:off x="457200" y="1993392"/>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u = ∇φ + ∇×ψ</a:t>
                </a:r>
                <a:endParaRPr lang="en-US" sz="2400" dirty="0"/>
              </a:p>
            </p:txBody>
          </p:sp>
        </mc:Fallback>
      </mc:AlternateContent>
      <p:sp>
        <p:nvSpPr>
          <p:cNvPr id="8" name="Text 6"/>
          <p:cNvSpPr txBox="1"/>
          <p:nvPr/>
        </p:nvSpPr>
        <p:spPr>
          <a:xfrm>
            <a:off x="5074920" y="1993392"/>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Descomposición con un potencial escalar φ y uno vectorial ψ</a:t>
            </a:r>
            <a:endParaRPr lang="en-US" sz="1600" dirty="0"/>
          </a:p>
        </p:txBody>
      </p:sp>
      <p:sp>
        <p:nvSpPr>
          <p:cNvPr id="9" name="Fondo E_phi"/>
          <p:cNvSpPr/>
          <p:nvPr/>
        </p:nvSpPr>
        <p:spPr>
          <a:xfrm>
            <a:off x="457200" y="2798064"/>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p</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φ</m:t>
                      </m:r>
                    </m:oMath>
                  </m:oMathPara>
                </a14:m>
                <a:endParaRPr lang="es-ES"/>
              </a:p>
            </p:txBody>
          </p:sp>
        </mc:Choice>
        <mc:Fallback>
          <p:sp>
            <p:nvSpPr>
              <p:cNvPr id="10" name="Ecuación E_phi"/>
              <p:cNvSpPr txBox="1"/>
              <p:nvPr/>
            </p:nvSpPr>
            <p:spPr>
              <a:xfrm>
                <a:off x="457200" y="2798064"/>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∂²φ/∂t² = Vp² ∇²φ</a:t>
                </a:r>
                <a:endParaRPr lang="en-US" sz="2400" dirty="0"/>
              </a:p>
            </p:txBody>
          </p:sp>
        </mc:Fallback>
      </mc:AlternateContent>
      <p:sp>
        <p:nvSpPr>
          <p:cNvPr id="11" name="Text 9"/>
          <p:cNvSpPr txBox="1"/>
          <p:nvPr/>
        </p:nvSpPr>
        <p:spPr>
          <a:xfrm>
            <a:off x="5074920" y="2798064"/>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φ: compresión, viaja a Vp (onda P)</a:t>
            </a:r>
            <a:endParaRPr lang="en-US" sz="1600" dirty="0"/>
          </a:p>
        </p:txBody>
      </p:sp>
      <p:sp>
        <p:nvSpPr>
          <p:cNvPr id="12" name="Fondo E_psi"/>
          <p:cNvSpPr/>
          <p:nvPr/>
        </p:nvSpPr>
        <p:spPr>
          <a:xfrm>
            <a:off x="457200" y="3602736"/>
            <a:ext cx="4389120" cy="73152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num>
                        <m:den>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t</m:t>
                              </m:r>
                            </m:e>
                            <m:sup>
                              <m:r>
                                <a:rPr lang="es-ES" sz="2400" i="1">
                                  <a:solidFill>
                                    <a:srgbClr val="1F4E79"/>
                                  </a:solidFill>
                                  <a:latin typeface="Cambria Math" panose="02040503050406030204" pitchFamily="18" charset="0"/>
                                </a:rPr>
                                <m:t xml:space="preserve">2</m:t>
                              </m:r>
                            </m:sup>
                          </m:sSup>
                        </m:den>
                      </m:f>
                      <m:r>
                        <a:rPr lang="es-ES" sz="2400" i="1">
                          <a:solidFill>
                            <a:srgbClr val="1F4E79"/>
                          </a:solidFill>
                          <a:latin typeface="Cambria Math" panose="02040503050406030204" pitchFamily="18" charset="0"/>
                        </a:rPr>
                        <m:t xml:space="preserve">=</m:t>
                      </m:r>
                      <m:sSup>
                        <m:sSupPr>
                          <m:ctrlPr>
                            <a:rPr lang="es-ES" sz="2400" i="1">
                              <a:latin typeface="Cambria Math" panose="02040503050406030204" pitchFamily="18" charset="0"/>
                            </a:rPr>
                          </m:ctrlPr>
                        </m:sSupPr>
                        <m:e>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e>
                        <m:sup>
                          <m:r>
                            <a:rPr lang="es-ES" sz="2400" i="1">
                              <a:solidFill>
                                <a:srgbClr val="1F4E79"/>
                              </a:solidFill>
                              <a:latin typeface="Cambria Math" panose="02040503050406030204" pitchFamily="18" charset="0"/>
                            </a:rPr>
                            <m:t xml:space="preserve">2</m:t>
                          </m:r>
                        </m:sup>
                      </m:sSup>
                      <m:sSup>
                        <m:sSupPr>
                          <m:ctrlPr>
                            <a:rPr lang="es-ES" sz="2400" i="1">
                              <a:latin typeface="Cambria Math" panose="02040503050406030204" pitchFamily="18" charset="0"/>
                            </a:rPr>
                          </m:ctrlPr>
                        </m:sSupPr>
                        <m:e>
                          <m:r>
                            <a:rPr lang="es-ES" sz="2400" i="1">
                              <a:solidFill>
                                <a:srgbClr val="1F4E79"/>
                              </a:solidFill>
                              <a:latin typeface="Cambria Math" panose="02040503050406030204" pitchFamily="18" charset="0"/>
                            </a:rPr>
                            <m:t xml:space="preserve">∇</m:t>
                          </m:r>
                        </m:e>
                        <m:sup>
                          <m:r>
                            <a:rPr lang="es-ES" sz="2400" i="1">
                              <a:solidFill>
                                <a:srgbClr val="1F4E79"/>
                              </a:solidFill>
                              <a:latin typeface="Cambria Math" panose="02040503050406030204" pitchFamily="18" charset="0"/>
                            </a:rPr>
                            <m:t xml:space="preserve">2</m:t>
                          </m:r>
                        </m:sup>
                      </m:sSup>
                      <m:r>
                        <a:rPr lang="es-ES" sz="2400" i="1">
                          <a:solidFill>
                            <a:srgbClr val="1F4E79"/>
                          </a:solidFill>
                          <a:latin typeface="Cambria Math" panose="02040503050406030204" pitchFamily="18" charset="0"/>
                        </a:rPr>
                        <m:t xml:space="preserve">ψ</m:t>
                      </m:r>
                    </m:oMath>
                  </m:oMathPara>
                </a14:m>
                <a:endParaRPr lang="es-ES"/>
              </a:p>
            </p:txBody>
          </p:sp>
        </mc:Choice>
        <mc:Fallback>
          <p:sp>
            <p:nvSpPr>
              <p:cNvPr id="13" name="Ecuación E_psi"/>
              <p:cNvSpPr txBox="1"/>
              <p:nvPr/>
            </p:nvSpPr>
            <p:spPr>
              <a:xfrm>
                <a:off x="457200" y="3602736"/>
                <a:ext cx="4389120" cy="73152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∂²ψ/∂t² = Vs² ∇²ψ</a:t>
                </a:r>
                <a:endParaRPr lang="en-US" sz="2400" dirty="0"/>
              </a:p>
            </p:txBody>
          </p:sp>
        </mc:Fallback>
      </mc:AlternateContent>
      <p:sp>
        <p:nvSpPr>
          <p:cNvPr id="14" name="Text 12"/>
          <p:cNvSpPr txBox="1"/>
          <p:nvPr/>
        </p:nvSpPr>
        <p:spPr>
          <a:xfrm>
            <a:off x="5074920" y="3602736"/>
            <a:ext cx="3611880" cy="731520"/>
          </a:xfrm>
          <a:prstGeom prst="rect">
            <a:avLst/>
          </a:prstGeom>
          <a:noFill/>
          <a:ln/>
        </p:spPr>
        <p:txBody>
          <a:bodyPr wrap="square" lIns="0" tIns="0" rIns="0" bIns="0" rtlCol="0" anchor="ctr"/>
          <a:lstStyle/>
          <a:p>
            <a:pPr indent="0" marL="0">
              <a:buNone/>
            </a:pPr>
            <a:r>
              <a:rPr lang="en-US" sz="1600" dirty="0">
                <a:solidFill>
                  <a:srgbClr val="2D2D2D"/>
                </a:solidFill>
                <a:latin typeface="Arial" pitchFamily="34" charset="0"/>
                <a:ea typeface="Arial" pitchFamily="34" charset="-122"/>
                <a:cs typeface="Arial" pitchFamily="34" charset="-120"/>
              </a:rPr>
              <a:t>ψ: corte, viaja a Vs (onda S)</a:t>
            </a:r>
            <a:endParaRPr lang="en-US" sz="1600" dirty="0"/>
          </a:p>
        </p:txBody>
      </p:sp>
      <p:sp>
        <p:nvSpPr>
          <p:cNvPr id="1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Descomposición de Helmholtz de la ecuación de Navier.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P: el terreno se comprime y se dilata en la dirección en que avanza</a:t>
            </a:r>
            <a:endParaRPr lang="en-US" sz="2400" dirty="0"/>
          </a:p>
        </p:txBody>
      </p:sp>
      <p:pic>
        <p:nvPicPr>
          <p:cNvPr id="3" name="Onda P" descr="Onda P: compresión y dilatación,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en la dirección de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Viaja en sólidos y en fluidos</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S: el terreno se corta en la dirección perpendicular al avance</a:t>
            </a:r>
            <a:endParaRPr lang="en-US" sz="2400" dirty="0"/>
          </a:p>
        </p:txBody>
      </p:sp>
      <p:pic>
        <p:nvPicPr>
          <p:cNvPr id="3" name="Onda S" descr="Onda S: oscilación perpendicular a la dirección de propagación">    </p:cNvPr>
          <p:cNvPicPr>
            <a:picLocks noChangeAspect="1"/>
          </p:cNvPicPr>
          <p:nvPr/>
        </p:nvPicPr>
        <p:blipFill>
          <a:blip r:embed="rId1"/>
          <a:stretch>
            <a:fillRect/>
          </a:stretch>
        </p:blipFill>
        <p:spPr>
          <a:xfrm>
            <a:off x="457200" y="1280160"/>
            <a:ext cx="5486400" cy="2743200"/>
          </a:xfrm>
          <a:prstGeom prst="rect">
            <a:avLst/>
          </a:prstGeom>
        </p:spPr>
      </p:pic>
      <p:sp>
        <p:nvSpPr>
          <p:cNvPr id="4" name="Cuerpo"/>
          <p:cNvSpPr txBox="1"/>
          <p:nvPr/>
        </p:nvSpPr>
        <p:spPr>
          <a:xfrm>
            <a:off x="6217920" y="1371600"/>
            <a:ext cx="2468880" cy="274320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Las partículas oscilan perpendicular a la propagación</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No viaja por fluidos: necesita rigidez al corte</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velocidades de propagación se deducen de esas mismas ecuaciones</a:t>
            </a:r>
            <a:endParaRPr lang="en-US" sz="2400" dirty="0"/>
          </a:p>
        </p:txBody>
      </p:sp>
      <p:sp>
        <p:nvSpPr>
          <p:cNvPr id="3" name="Fondo Vp"/>
          <p:cNvSpPr/>
          <p:nvPr/>
        </p:nvSpPr>
        <p:spPr>
          <a:xfrm>
            <a:off x="457200" y="132588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p</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λ+2μ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p"/>
              <p:cNvSpPr txBox="1"/>
              <p:nvPr/>
            </p:nvSpPr>
            <p:spPr>
              <a:xfrm>
                <a:off x="457200" y="132588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Vp = √((λ + 2μ) / ρ)</a:t>
                </a:r>
                <a:endParaRPr lang="en-US" sz="2400" dirty="0"/>
              </a:p>
            </p:txBody>
          </p:sp>
        </mc:Fallback>
      </mc:AlternateContent>
      <p:sp>
        <p:nvSpPr>
          <p:cNvPr id="5" name="Fondo Vs"/>
          <p:cNvSpPr/>
          <p:nvPr/>
        </p:nvSpPr>
        <p:spPr>
          <a:xfrm>
            <a:off x="457200" y="2377440"/>
            <a:ext cx="438912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6" name="Ecuación E_vs"/>
              <p:cNvSpPr txBox="1"/>
              <p:nvPr/>
            </p:nvSpPr>
            <p:spPr>
              <a:xfrm>
                <a:off x="457200" y="2377440"/>
                <a:ext cx="438912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7" name="Cuerpo"/>
          <p:cNvSpPr txBox="1"/>
          <p:nvPr/>
        </p:nvSpPr>
        <p:spPr>
          <a:xfrm>
            <a:off x="5120640" y="1325880"/>
            <a:ext cx="3566160" cy="256032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μ: módulo de corte (también G), la rigidez al corte</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λ: constante de Lamé</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ρ: densidad del medio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En el mismo medio, Vp &gt; Vs</a:t>
            </a:r>
            <a:endParaRPr lang="en-US" sz="1800" dirty="0"/>
          </a:p>
        </p:txBody>
      </p:sp>
      <p:sp>
        <p:nvSpPr>
          <p:cNvPr id="8" name="Text 6"/>
          <p:cNvSpPr txBox="1"/>
          <p:nvPr/>
        </p:nvSpPr>
        <p:spPr>
          <a:xfrm>
            <a:off x="457200" y="3611880"/>
            <a:ext cx="8229600" cy="731520"/>
          </a:xfrm>
          <a:prstGeom prst="rect">
            <a:avLst/>
          </a:prstGeom>
          <a:noFill/>
          <a:ln/>
        </p:spPr>
        <p:txBody>
          <a:bodyPr wrap="square" lIns="0" tIns="0" rIns="0" bIns="0" rtlCol="0" anchor="t"/>
          <a:lstStyle/>
          <a:p>
            <a:pPr indent="0" marL="0">
              <a:buNone/>
            </a:pPr>
            <a:r>
              <a:rPr lang="en-US" sz="2000" b="1" dirty="0">
                <a:solidFill>
                  <a:srgbClr val="C55A11"/>
                </a:solidFill>
                <a:latin typeface="Arial" pitchFamily="34" charset="0"/>
                <a:ea typeface="Arial" pitchFamily="34" charset="-122"/>
                <a:cs typeface="Arial" pitchFamily="34" charset="-120"/>
              </a:rPr>
              <a:t>Medir velocidades de onda da acceso a parámetros elásticos del terreno</a:t>
            </a:r>
            <a:endParaRPr lang="en-US" sz="20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suelos, la relación esfuerzo-deformación solo es lineal para deformaciones pequeñas</a:t>
            </a:r>
            <a:endParaRPr lang="en-US" sz="2400" dirty="0"/>
          </a:p>
        </p:txBody>
      </p:sp>
      <p:pic>
        <p:nvPicPr>
          <p:cNvPr id="3" name="Corte simple" descr="Corte simple: esfuerzo τ y deformación γ = Δ/h">    </p:cNvPr>
          <p:cNvPicPr>
            <a:picLocks noChangeAspect="1"/>
          </p:cNvPicPr>
          <p:nvPr/>
        </p:nvPicPr>
        <p:blipFill>
          <a:blip r:embed="rId1"/>
          <a:stretch>
            <a:fillRect/>
          </a:stretch>
        </p:blipFill>
        <p:spPr>
          <a:xfrm>
            <a:off x="457200" y="1280160"/>
            <a:ext cx="4023360" cy="3017520"/>
          </a:xfrm>
          <a:prstGeom prst="rect">
            <a:avLst/>
          </a:prstGeom>
        </p:spPr>
      </p:pic>
      <p:sp>
        <p:nvSpPr>
          <p:cNvPr id="4" name="Fondo τ = Gγ"/>
          <p:cNvSpPr/>
          <p:nvPr/>
        </p:nvSpPr>
        <p:spPr>
          <a:xfrm>
            <a:off x="4754880" y="1325880"/>
            <a:ext cx="393192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τ=G·γ</m:t>
                      </m:r>
                    </m:oMath>
                  </m:oMathPara>
                </a14:m>
                <a:endParaRPr lang="es-ES"/>
              </a:p>
            </p:txBody>
          </p:sp>
        </mc:Choice>
        <mc:Fallback>
          <p:sp>
            <p:nvSpPr>
              <p:cNvPr id="5" name="Ecuación E_tau"/>
              <p:cNvSpPr txBox="1"/>
              <p:nvPr/>
            </p:nvSpPr>
            <p:spPr>
              <a:xfrm>
                <a:off x="4754880" y="1325880"/>
                <a:ext cx="393192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τ = G · γ</a:t>
                </a:r>
                <a:endParaRPr lang="en-US" sz="2400" dirty="0"/>
              </a:p>
            </p:txBody>
          </p:sp>
        </mc:Fallback>
      </mc:AlternateContent>
      <p:sp>
        <p:nvSpPr>
          <p:cNvPr id="6" name="Cuerpo"/>
          <p:cNvSpPr txBox="1"/>
          <p:nvPr/>
        </p:nvSpPr>
        <p:spPr>
          <a:xfrm>
            <a:off x="4754880" y="2331720"/>
            <a:ext cx="3931920" cy="219456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Esfuerzo y deformación de corte son proporcionales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Con γ del orden de 10⁻⁵ o menos, G es casi constante: Gmax</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Las ondas de prospección producen deformaciones así de pequeñas</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Umbral aproximado; depende del tipo de suelo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pequeña señal, la velocidad de corte da directamente la rigidez máxima</a:t>
            </a:r>
            <a:endParaRPr lang="en-US" sz="2400" dirty="0"/>
          </a:p>
        </p:txBody>
      </p:sp>
      <p:sp>
        <p:nvSpPr>
          <p:cNvPr id="3" name="Ecuación 1"/>
          <p:cNvSpPr/>
          <p:nvPr/>
        </p:nvSpPr>
        <p:spPr>
          <a:xfrm>
            <a:off x="457200" y="128016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r>
                        <a:rPr lang="es-ES" sz="2800" i="1">
                          <a:solidFill>
                            <a:srgbClr val="1F4E79"/>
                          </a:solidFill>
                          <a:latin typeface="Cambria Math" panose="02040503050406030204" pitchFamily="18" charset="0"/>
                        </a:rPr>
                        <m:t xml:space="preserve">=</m:t>
                      </m:r>
                      <m:rad>
                        <m:radPr>
                          <m:degHide m:val="1"/>
                          <m:ctrlPr>
                            <a:rPr lang="es-ES" sz="2800" i="1">
                              <a:latin typeface="Cambria Math" panose="02040503050406030204" pitchFamily="18" charset="0"/>
                            </a:rPr>
                          </m:ctrlPr>
                        </m:radPr>
                        <m:deg/>
                        <m:e>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μ</m:t>
                              </m:r>
                            </m:num>
                            <m:den>
                              <m:r>
                                <a:rPr lang="es-ES" sz="2800" i="1">
                                  <a:solidFill>
                                    <a:srgbClr val="1F4E79"/>
                                  </a:solidFill>
                                  <a:latin typeface="Cambria Math" panose="02040503050406030204" pitchFamily="18" charset="0"/>
                                </a:rPr>
                                <m:t xml:space="preserve">ρ</m:t>
                              </m:r>
                            </m:den>
                          </m:f>
                        </m:e>
                      </m:rad>
                    </m:oMath>
                  </m:oMathPara>
                </a14:m>
                <a:endParaRPr lang="es-ES"/>
              </a:p>
            </p:txBody>
          </p:sp>
        </mc:Choice>
        <mc:Fallback>
          <p:sp>
            <p:nvSpPr>
              <p:cNvPr id="4" name="Ecuación E_vs"/>
              <p:cNvSpPr txBox="1"/>
              <p:nvPr/>
            </p:nvSpPr>
            <p:spPr>
              <a:xfrm>
                <a:off x="457200" y="128016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Vs = √(μ / ρ)</a:t>
                </a:r>
                <a:endParaRPr lang="en-US" sz="2400" dirty="0"/>
              </a:p>
            </p:txBody>
          </p:sp>
        </mc:Fallback>
      </mc:AlternateContent>
      <p:sp>
        <p:nvSpPr>
          <p:cNvPr id="5" name="Text 3"/>
          <p:cNvSpPr txBox="1"/>
          <p:nvPr/>
        </p:nvSpPr>
        <p:spPr>
          <a:xfrm>
            <a:off x="5120640" y="128016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Medio elástico lineal, homogéneo e isótropo</a:t>
            </a:r>
            <a:endParaRPr lang="en-US" sz="1800" dirty="0"/>
          </a:p>
        </p:txBody>
      </p:sp>
      <p:sp>
        <p:nvSpPr>
          <p:cNvPr id="6" name="Shape 4"/>
          <p:cNvSpPr/>
          <p:nvPr/>
        </p:nvSpPr>
        <p:spPr>
          <a:xfrm>
            <a:off x="2651760" y="2075688"/>
            <a:ext cx="0" cy="237744"/>
          </a:xfrm>
          <a:prstGeom prst="line">
            <a:avLst/>
          </a:prstGeom>
          <a:noFill/>
          <a:ln w="25400">
            <a:solidFill>
              <a:srgbClr val="1F4E79"/>
            </a:solidFill>
            <a:prstDash val="solid"/>
            <a:tailEnd type="triangle"/>
          </a:ln>
        </p:spPr>
      </p:sp>
      <p:sp>
        <p:nvSpPr>
          <p:cNvPr id="7" name="Ecuación 2"/>
          <p:cNvSpPr/>
          <p:nvPr/>
        </p:nvSpPr>
        <p:spPr>
          <a:xfrm>
            <a:off x="457200" y="2331720"/>
            <a:ext cx="43891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μ=</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G</m:t>
                          </m:r>
                        </m:e>
                        <m:sub>
                          <m:r>
                            <m:rPr>
                              <m:sty m:val="p"/>
                            </m:rPr>
                            <a:rPr lang="es-ES" sz="2800">
                              <a:solidFill>
                                <a:srgbClr val="1F4E79"/>
                              </a:solidFill>
                              <a:latin typeface="Cambria Math" panose="02040503050406030204" pitchFamily="18" charset="0"/>
                            </a:rPr>
                            <m:t xml:space="preserve">max</m:t>
                          </m:r>
                        </m:sub>
                      </m:sSub>
                    </m:oMath>
                  </m:oMathPara>
                </a14:m>
                <a:endParaRPr lang="es-ES"/>
              </a:p>
            </p:txBody>
          </p:sp>
        </mc:Choice>
        <mc:Fallback>
          <p:sp>
            <p:nvSpPr>
              <p:cNvPr id="8" name="Ecuación E_mugmax"/>
              <p:cNvSpPr txBox="1"/>
              <p:nvPr/>
            </p:nvSpPr>
            <p:spPr>
              <a:xfrm>
                <a:off x="457200" y="2331720"/>
                <a:ext cx="43891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μ = Gmax</a:t>
                </a:r>
                <a:endParaRPr lang="en-US" sz="2400" dirty="0"/>
              </a:p>
            </p:txBody>
          </p:sp>
        </mc:Fallback>
      </mc:AlternateContent>
      <p:sp>
        <p:nvSpPr>
          <p:cNvPr id="9" name="Text 7"/>
          <p:cNvSpPr txBox="1"/>
          <p:nvPr/>
        </p:nvSpPr>
        <p:spPr>
          <a:xfrm>
            <a:off x="5120640" y="233172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Solo en pequeña señal: el módulo de corte es Gmax</a:t>
            </a:r>
            <a:endParaRPr lang="en-US" sz="1800" dirty="0"/>
          </a:p>
        </p:txBody>
      </p:sp>
      <p:sp>
        <p:nvSpPr>
          <p:cNvPr id="10" name="Shape 8"/>
          <p:cNvSpPr/>
          <p:nvPr/>
        </p:nvSpPr>
        <p:spPr>
          <a:xfrm>
            <a:off x="2651760" y="3127248"/>
            <a:ext cx="0" cy="237744"/>
          </a:xfrm>
          <a:prstGeom prst="line">
            <a:avLst/>
          </a:prstGeom>
          <a:noFill/>
          <a:ln w="25400">
            <a:solidFill>
              <a:srgbClr val="1F4E79"/>
            </a:solidFill>
            <a:prstDash val="solid"/>
            <a:tailEnd type="triangle"/>
          </a:ln>
        </p:spPr>
      </p:sp>
      <p:sp>
        <p:nvSpPr>
          <p:cNvPr id="11" name="Ecuación 3"/>
          <p:cNvSpPr/>
          <p:nvPr/>
        </p:nvSpPr>
        <p:spPr>
          <a:xfrm>
            <a:off x="457200" y="3383280"/>
            <a:ext cx="4389120" cy="777240"/>
          </a:xfrm>
          <a:prstGeom prst="rect">
            <a:avLst/>
          </a:prstGeom>
          <a:solidFill>
            <a:srgbClr val="1F4E79"/>
          </a:solidFill>
          <a:ln w="12700">
            <a:solidFill>
              <a:srgbClr val="1F4E79"/>
            </a:solidFill>
            <a:prstDash val="solid"/>
          </a:ln>
        </p:spPr>
      </p:sp>
      <mc:AlternateContent xmlns:mc="http://schemas.openxmlformats.org/markup-compatibility/2006">
        <mc:Choice xmlns:a14="http://schemas.microsoft.com/office/drawing/2010/main" Requires="a14">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G</m:t>
                          </m:r>
                        </m:e>
                        <m:sub>
                          <m:r>
                            <m:rPr>
                              <m:sty m:val="p"/>
                            </m:rPr>
                            <a:rPr lang="es-ES" sz="2800">
                              <a:solidFill>
                                <a:srgbClr val="FFFFFF"/>
                              </a:solidFill>
                              <a:latin typeface="Cambria Math" panose="02040503050406030204" pitchFamily="18" charset="0"/>
                            </a:rPr>
                            <m:t xml:space="preserve">max</m:t>
                          </m:r>
                        </m:sub>
                      </m:sSub>
                      <m:r>
                        <a:rPr lang="es-ES" sz="2800" i="1">
                          <a:solidFill>
                            <a:srgbClr val="FFFFFF"/>
                          </a:solidFill>
                          <a:latin typeface="Cambria Math" panose="02040503050406030204" pitchFamily="18" charset="0"/>
                        </a:rPr>
                        <m:t xml:space="preserve">=ρ</m:t>
                      </m:r>
                      <m:sSup>
                        <m:sSupPr>
                          <m:ctrlPr>
                            <a:rPr lang="es-ES" sz="2800" i="1">
                              <a:latin typeface="Cambria Math" panose="02040503050406030204" pitchFamily="18" charset="0"/>
                            </a:rPr>
                          </m:ctrlPr>
                        </m:sSupPr>
                        <m:e>
                          <m:sSub>
                            <m:sSubPr>
                              <m:ctrlPr>
                                <a:rPr lang="es-ES" sz="2800" i="1">
                                  <a:latin typeface="Cambria Math" panose="02040503050406030204" pitchFamily="18" charset="0"/>
                                </a:rPr>
                              </m:ctrlPr>
                            </m:sSubPr>
                            <m:e>
                              <m:r>
                                <a:rPr lang="es-ES" sz="2800" i="1">
                                  <a:solidFill>
                                    <a:srgbClr val="FFFFFF"/>
                                  </a:solidFill>
                                  <a:latin typeface="Cambria Math" panose="02040503050406030204" pitchFamily="18" charset="0"/>
                                </a:rPr>
                                <m:t xml:space="preserve">V</m:t>
                              </m:r>
                            </m:e>
                            <m:sub>
                              <m:r>
                                <a:rPr lang="es-ES" sz="2800" i="1">
                                  <a:solidFill>
                                    <a:srgbClr val="FFFFFF"/>
                                  </a:solidFill>
                                  <a:latin typeface="Cambria Math" panose="02040503050406030204" pitchFamily="18" charset="0"/>
                                </a:rPr>
                                <m:t xml:space="preserve">s</m:t>
                              </m:r>
                            </m:sub>
                          </m:sSub>
                        </m:e>
                        <m:sup>
                          <m:r>
                            <a:rPr lang="es-ES" sz="2800" i="1">
                              <a:solidFill>
                                <a:srgbClr val="FFFFFF"/>
                              </a:solidFill>
                              <a:latin typeface="Cambria Math" panose="02040503050406030204" pitchFamily="18" charset="0"/>
                            </a:rPr>
                            <m:t xml:space="preserve">2</m:t>
                          </m:r>
                        </m:sup>
                      </m:sSup>
                    </m:oMath>
                  </m:oMathPara>
                </a14:m>
                <a:endParaRPr lang="es-ES"/>
              </a:p>
            </p:txBody>
          </p:sp>
        </mc:Choice>
        <mc:Fallback>
          <p:sp>
            <p:nvSpPr>
              <p:cNvPr id="12" name="Ecuación E_gmax_w"/>
              <p:cNvSpPr txBox="1"/>
              <p:nvPr/>
            </p:nvSpPr>
            <p:spPr>
              <a:xfrm>
                <a:off x="457200" y="3383280"/>
                <a:ext cx="4389120" cy="777240"/>
              </a:xfrm>
              <a:prstGeom prst="rect">
                <a:avLst/>
              </a:prstGeom>
              <a:noFill/>
              <a:ln/>
            </p:spPr>
            <p:txBody>
              <a:bodyPr wrap="square" lIns="0" tIns="0" rIns="0" bIns="0" rtlCol="0" anchor="ctr"/>
              <a:lstStyle/>
              <a:p>
                <a:pPr algn="ctr" indent="0" marL="0">
                  <a:buNone/>
                </a:pPr>
                <a:r>
                  <a:rPr lang="en-US" sz="2400" dirty="0">
                    <a:solidFill>
                      <a:srgbClr val="FFFFFF"/>
                    </a:solidFill>
                    <a:latin typeface="Arial" pitchFamily="34" charset="0"/>
                    <a:ea typeface="Arial" pitchFamily="34" charset="-122"/>
                    <a:cs typeface="Arial" pitchFamily="34" charset="-120"/>
                  </a:rPr>
                  <a:t>Gmax = ρ · Vs²</a:t>
                </a:r>
                <a:endParaRPr lang="en-US" sz="2400" dirty="0"/>
              </a:p>
            </p:txBody>
          </p:sp>
        </mc:Fallback>
      </mc:AlternateContent>
      <p:sp>
        <p:nvSpPr>
          <p:cNvPr id="13" name="Text 11"/>
          <p:cNvSpPr txBox="1"/>
          <p:nvPr/>
        </p:nvSpPr>
        <p:spPr>
          <a:xfrm>
            <a:off x="5120640" y="3383280"/>
            <a:ext cx="3566160" cy="77724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Relación buscada. Válida solo en pequeña señal</a:t>
            </a:r>
            <a:endParaRPr lang="en-US" sz="1800" dirty="0"/>
          </a:p>
        </p:txBody>
      </p:sp>
      <p:sp>
        <p:nvSpPr>
          <p:cNvPr id="1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2.</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Si conocemos Vs, podemos estimar Gmax con una incertidumbre razonable</a:t>
            </a:r>
            <a:endParaRPr lang="en-US" sz="2400" dirty="0"/>
          </a:p>
        </p:txBody>
      </p:sp>
      <p:sp>
        <p:nvSpPr>
          <p:cNvPr id="3" name="Fondo error"/>
          <p:cNvSpPr/>
          <p:nvPr/>
        </p:nvSpPr>
        <p:spPr>
          <a:xfrm>
            <a:off x="457200" y="1325880"/>
            <a:ext cx="4389120" cy="109728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ΔG</m:t>
                          </m:r>
                        </m:num>
                        <m:den>
                          <m:r>
                            <a:rPr lang="es-ES" sz="2400" i="1">
                              <a:solidFill>
                                <a:srgbClr val="1F4E79"/>
                              </a:solidFill>
                              <a:latin typeface="Cambria Math" panose="02040503050406030204" pitchFamily="18" charset="0"/>
                            </a:rPr>
                            <m:t xml:space="preserve">G</m:t>
                          </m:r>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Δρ</m:t>
                          </m:r>
                        </m:num>
                        <m:den>
                          <m:r>
                            <a:rPr lang="es-ES" sz="2400" i="1">
                              <a:solidFill>
                                <a:srgbClr val="1F4E79"/>
                              </a:solidFill>
                              <a:latin typeface="Cambria Math" panose="02040503050406030204" pitchFamily="18" charset="0"/>
                            </a:rPr>
                            <m:t xml:space="preserve">ρ</m:t>
                          </m:r>
                        </m:den>
                      </m:f>
                      <m:r>
                        <a:rPr lang="es-ES" sz="2400" i="1">
                          <a:solidFill>
                            <a:srgbClr val="1F4E79"/>
                          </a:solidFill>
                          <a:latin typeface="Cambria Math" panose="02040503050406030204" pitchFamily="18" charset="0"/>
                        </a:rPr>
                        <m:t xml:space="preserve">+2</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Δ</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den>
                      </m:f>
                    </m:oMath>
                  </m:oMathPara>
                </a14:m>
                <a:endParaRPr lang="es-ES"/>
              </a:p>
            </p:txBody>
          </p:sp>
        </mc:Choice>
        <mc:Fallback>
          <p:sp>
            <p:nvSpPr>
              <p:cNvPr id="4" name="Ecuación E_err"/>
              <p:cNvSpPr txBox="1"/>
              <p:nvPr/>
            </p:nvSpPr>
            <p:spPr>
              <a:xfrm>
                <a:off x="457200" y="1325880"/>
                <a:ext cx="4389120" cy="109728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ΔG/G ≈ Δρ/ρ + 2·ΔVs/Vs</a:t>
                </a:r>
                <a:endParaRPr lang="en-US" sz="2400" dirty="0"/>
              </a:p>
            </p:txBody>
          </p:sp>
        </mc:Fallback>
      </mc:AlternateContent>
      <p:sp>
        <p:nvSpPr>
          <p:cNvPr id="5" name="Cuerpo"/>
          <p:cNvSpPr txBox="1"/>
          <p:nvPr/>
        </p:nvSpPr>
        <p:spPr>
          <a:xfrm>
            <a:off x="5120640" y="1325880"/>
            <a:ext cx="3566160" cy="27432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ρ varía poco entre suelos y se estima con muestras o correlaciones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Vs varía mucho y se mide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 error en Vs pesa el doble que uno en ρ</a:t>
            </a:r>
            <a:endParaRPr lang="en-US" sz="1800" dirty="0"/>
          </a:p>
        </p:txBody>
      </p:sp>
      <p:sp>
        <p:nvSpPr>
          <p:cNvPr id="6" name="Text 4"/>
          <p:cNvSpPr txBox="1"/>
          <p:nvPr/>
        </p:nvSpPr>
        <p:spPr>
          <a:xfrm>
            <a:off x="457200" y="2743200"/>
            <a:ext cx="4389120" cy="10972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Vale para pequeñas deformaciones: no describe al suelo cerca de la falla</a:t>
            </a:r>
            <a:endParaRPr lang="en-US" sz="18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Propagación de errores lineal, cota superior.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Downhole: la fuente está en superficie y los geófonos dentro del pozo</a:t>
            </a:r>
            <a:endParaRPr lang="en-US" sz="2400" dirty="0"/>
          </a:p>
        </p:txBody>
      </p:sp>
      <p:pic>
        <p:nvPicPr>
          <p:cNvPr id="3" name="Figura downhole" descr="Ensayo downhole: fuente sísmica en superficie, geófonos dentro del pozo, tres capas">    </p:cNvPr>
          <p:cNvPicPr>
            <a:picLocks noChangeAspect="1"/>
          </p:cNvPicPr>
          <p:nvPr/>
        </p:nvPicPr>
        <p:blipFill>
          <a:blip r:embed="rId1"/>
          <a:stretch>
            <a:fillRect/>
          </a:stretch>
        </p:blipFill>
        <p:spPr>
          <a:xfrm>
            <a:off x="457200" y="1188720"/>
            <a:ext cx="4026263" cy="3291840"/>
          </a:xfrm>
          <a:prstGeom prst="rect">
            <a:avLst/>
          </a:prstGeom>
        </p:spPr>
      </p:pic>
      <p:sp>
        <p:nvSpPr>
          <p:cNvPr id="4" name="Cuerpo"/>
          <p:cNvSpPr txBox="1"/>
          <p:nvPr/>
        </p:nvSpPr>
        <p:spPr>
          <a:xfrm>
            <a:off x="4754880" y="1371600"/>
            <a:ext cx="3931920" cy="29260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 solo pozo con geófonos a distintas profundidades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Una fuente golpea en superficie</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de cada tramo: distancia entre geófonos sobre diferencia de tiempos</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Crosshole: fuente y receptor a la misma profundidad, en pozos distintos</a:t>
            </a:r>
            <a:endParaRPr lang="en-US" sz="2400" dirty="0"/>
          </a:p>
        </p:txBody>
      </p:sp>
      <p:pic>
        <p:nvPicPr>
          <p:cNvPr id="3" name="Figura crosshole" descr="Ensayo crosshole: fuente en un pozo, receptor en otro, distancia Δx">    </p:cNvPr>
          <p:cNvPicPr>
            <a:picLocks noChangeAspect="1"/>
          </p:cNvPicPr>
          <p:nvPr/>
        </p:nvPicPr>
        <p:blipFill>
          <a:blip r:embed="rId1"/>
          <a:stretch>
            <a:fillRect/>
          </a:stretch>
        </p:blipFill>
        <p:spPr>
          <a:xfrm>
            <a:off x="457200" y="1234440"/>
            <a:ext cx="4937760" cy="3040493"/>
          </a:xfrm>
          <a:prstGeom prst="rect">
            <a:avLst/>
          </a:prstGeom>
        </p:spPr>
      </p:pic>
      <p:sp>
        <p:nvSpPr>
          <p:cNvPr id="4" name="Cuerpo"/>
          <p:cNvSpPr txBox="1"/>
          <p:nvPr/>
        </p:nvSpPr>
        <p:spPr>
          <a:xfrm>
            <a:off x="5669280" y="1371600"/>
            <a:ext cx="3017520" cy="292608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Dos pozos o más, a distancia Δx conocida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onda S viaja en horizontal por una sola capa</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Vs = Δx / Δt</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Adaptada de 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Ventajas: miden Vs de forma directa, con trayectos conocidos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Un solo pozo</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Perfil de Vs con la profundidad</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Vs de capas individuales a profundidad conocida</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Mejor resolución vertical</a:t>
            </a:r>
            <a:endParaRPr lang="en-US" sz="18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Limitaciones: exigen perforar y siguen siendo ensayos puntuales</a:t>
            </a:r>
            <a:endParaRPr lang="en-US" sz="2400" dirty="0"/>
          </a:p>
        </p:txBody>
      </p:sp>
      <p:pic>
        <p:nvPicPr>
          <p:cNvPr id="3" name="Downhole pequeña" descr="Downhole">    </p:cNvPr>
          <p:cNvPicPr>
            <a:picLocks noChangeAspect="1"/>
          </p:cNvPicPr>
          <p:nvPr/>
        </p:nvPicPr>
        <p:blipFill>
          <a:blip r:embed="rId1"/>
          <a:stretch>
            <a:fillRect/>
          </a:stretch>
        </p:blipFill>
        <p:spPr>
          <a:xfrm>
            <a:off x="457200" y="1188720"/>
            <a:ext cx="1920240" cy="1570025"/>
          </a:xfrm>
          <a:prstGeom prst="rect">
            <a:avLst/>
          </a:prstGeom>
        </p:spPr>
      </p:pic>
      <p:sp>
        <p:nvSpPr>
          <p:cNvPr id="4" name="Text 1"/>
          <p:cNvSpPr txBox="1"/>
          <p:nvPr/>
        </p:nvSpPr>
        <p:spPr>
          <a:xfrm>
            <a:off x="2560320" y="1188720"/>
            <a:ext cx="1828800" cy="1570025"/>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Downhole</a:t>
            </a:r>
            <a:endParaRPr lang="en-US" sz="2000" dirty="0"/>
          </a:p>
        </p:txBody>
      </p:sp>
      <p:sp>
        <p:nvSpPr>
          <p:cNvPr id="5" name="Cuerpo Downhole"/>
          <p:cNvSpPr txBox="1"/>
          <p:nvPr/>
        </p:nvSpPr>
        <p:spPr>
          <a:xfrm>
            <a:off x="457200" y="2941625"/>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Menor resolución vertical</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Requiere perforar y entubar</a:t>
            </a:r>
            <a:endParaRPr lang="en-US" sz="1800" dirty="0"/>
          </a:p>
        </p:txBody>
      </p:sp>
      <p:pic>
        <p:nvPicPr>
          <p:cNvPr id="6" name="Crosshole pequeña" descr="Crosshole">    </p:cNvPr>
          <p:cNvPicPr>
            <a:picLocks noChangeAspect="1"/>
          </p:cNvPicPr>
          <p:nvPr/>
        </p:nvPicPr>
        <p:blipFill>
          <a:blip r:embed="rId2"/>
          <a:stretch>
            <a:fillRect/>
          </a:stretch>
        </p:blipFill>
        <p:spPr>
          <a:xfrm>
            <a:off x="4754880" y="1188720"/>
            <a:ext cx="2377440" cy="1463040"/>
          </a:xfrm>
          <a:prstGeom prst="rect">
            <a:avLst/>
          </a:prstGeom>
        </p:spPr>
      </p:pic>
      <p:sp>
        <p:nvSpPr>
          <p:cNvPr id="7" name="Text 3"/>
          <p:cNvSpPr txBox="1"/>
          <p:nvPr/>
        </p:nvSpPr>
        <p:spPr>
          <a:xfrm>
            <a:off x="7315200" y="1188720"/>
            <a:ext cx="1371600" cy="1463040"/>
          </a:xfrm>
          <a:prstGeom prst="rect">
            <a:avLst/>
          </a:prstGeom>
          <a:noFill/>
          <a:ln/>
        </p:spPr>
        <p:txBody>
          <a:bodyPr wrap="square" lIns="0" tIns="0" rIns="0" bIns="0" rtlCol="0" anchor="ctr"/>
          <a:lstStyle/>
          <a:p>
            <a:pPr indent="0" marL="0">
              <a:buNone/>
            </a:pPr>
            <a:r>
              <a:rPr lang="en-US" sz="2000" b="1" dirty="0">
                <a:solidFill>
                  <a:srgbClr val="1F4E79"/>
                </a:solidFill>
                <a:latin typeface="Arial" pitchFamily="34" charset="0"/>
                <a:ea typeface="Arial" pitchFamily="34" charset="-122"/>
                <a:cs typeface="Arial" pitchFamily="34" charset="-120"/>
              </a:rPr>
              <a:t>Crosshole</a:t>
            </a:r>
            <a:endParaRPr lang="en-US" sz="2000" dirty="0"/>
          </a:p>
        </p:txBody>
      </p:sp>
      <p:sp>
        <p:nvSpPr>
          <p:cNvPr id="8" name="Cuerpo Crosshole"/>
          <p:cNvSpPr txBox="1"/>
          <p:nvPr/>
        </p:nvSpPr>
        <p:spPr>
          <a:xfrm>
            <a:off x="4754880" y="2834640"/>
            <a:ext cx="3931920" cy="1828800"/>
          </a:xfrm>
          <a:prstGeom prst="rect">
            <a:avLst/>
          </a:prstGeom>
          <a:noFill/>
          <a:ln/>
        </p:spPr>
        <p:txBody>
          <a:bodyPr wrap="square" lIns="0" tIns="0" rIns="0" bIns="0" rtlCol="0" anchor="t"/>
          <a:lstStyle/>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Dos o más pozos alineados y verticales</a:t>
            </a:r>
            <a:endParaRPr lang="en-US" sz="1800" dirty="0"/>
          </a:p>
          <a:p>
            <a:pPr marL="342900" indent="-342900">
              <a:spcAft>
                <a:spcPts val="800"/>
              </a:spcAft>
              <a:buSzPct val="100000"/>
              <a:buChar char="•"/>
            </a:pPr>
            <a:r>
              <a:rPr lang="en-US" sz="1800" dirty="0">
                <a:solidFill>
                  <a:srgbClr val="2D2D2D"/>
                </a:solidFill>
                <a:latin typeface="Arial" pitchFamily="34" charset="0"/>
                <a:ea typeface="Arial" pitchFamily="34" charset="-122"/>
                <a:cs typeface="Arial" pitchFamily="34" charset="-120"/>
              </a:rPr>
              <a:t>Costo y tiempo altos</a:t>
            </a:r>
            <a:endParaRPr lang="en-US" sz="1800" dirty="0"/>
          </a:p>
        </p:txBody>
      </p:sp>
      <p:sp>
        <p:nvSpPr>
          <p:cNvPr id="9" name="Mensaje"/>
          <p:cNvSpPr txBox="1"/>
          <p:nvPr/>
        </p:nvSpPr>
        <p:spPr>
          <a:xfrm>
            <a:off x="457200" y="4160520"/>
            <a:ext cx="8229600" cy="411480"/>
          </a:xfrm>
          <a:prstGeom prst="rect">
            <a:avLst/>
          </a:prstGeom>
          <a:noFill/>
          <a:ln/>
        </p:spPr>
        <p:txBody>
          <a:bodyPr wrap="square" lIns="0" tIns="0" rIns="0" bIns="0" rtlCol="0" anchor="t"/>
          <a:lstStyle/>
          <a:p>
            <a:pPr indent="0" marL="0">
              <a:buNone/>
            </a:pPr>
            <a:r>
              <a:rPr lang="en-US" sz="1800" b="1" dirty="0">
                <a:solidFill>
                  <a:srgbClr val="C55A11"/>
                </a:solidFill>
                <a:latin typeface="Arial" pitchFamily="34" charset="0"/>
                <a:ea typeface="Arial" pitchFamily="34" charset="-122"/>
                <a:cs typeface="Arial" pitchFamily="34" charset="-120"/>
              </a:rPr>
              <a:t>Dan Vs de forma directa, pero un punto del sitio por ensayo</a:t>
            </a:r>
            <a:endParaRPr lang="en-US" sz="1800" dirty="0"/>
          </a:p>
        </p:txBody>
      </p:sp>
      <p:sp>
        <p:nvSpPr>
          <p:cNvPr id="1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 EPA, CLU-IN (s. f.), traducida. Crosshole: Foti et al. (2014).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a cierta distancia, la onda refractada llega antes que la directa</a:t>
            </a:r>
            <a:endParaRPr lang="en-US" sz="2400" dirty="0"/>
          </a:p>
        </p:txBody>
      </p:sp>
      <p:pic>
        <p:nvPicPr>
          <p:cNvPr id="3" name="Figura refracción" descr="Refracción sísmica en dos capas: energía directa, reflejada y refractada (onda de cabeza), con ángulo crítico">    </p:cNvPr>
          <p:cNvPicPr>
            <a:picLocks noChangeAspect="1"/>
          </p:cNvPicPr>
          <p:nvPr/>
        </p:nvPicPr>
        <p:blipFill>
          <a:blip r:embed="rId1"/>
          <a:stretch>
            <a:fillRect/>
          </a:stretch>
        </p:blipFill>
        <p:spPr>
          <a:xfrm>
            <a:off x="457200" y="1234440"/>
            <a:ext cx="5120640" cy="3058925"/>
          </a:xfrm>
          <a:prstGeom prst="rect">
            <a:avLst/>
          </a:prstGeom>
        </p:spPr>
      </p:pic>
      <p:sp>
        <p:nvSpPr>
          <p:cNvPr id="4" name="Cuerpo"/>
          <p:cNvSpPr txBox="1"/>
          <p:nvPr/>
        </p:nvSpPr>
        <p:spPr>
          <a:xfrm>
            <a:off x="5760720" y="1371600"/>
            <a:ext cx="292608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Con ángulo de incidencia igual al crítico, la energía viaja por el techo de la capa rápida (onda de cabeza)</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Vuelve a la superficie y llega antes que la directa, a partir de cierta distancia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USGS (1987), Open-File Report 87-0103-A, recreada y traducida (fuente exacta por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del gráfico de tiempos salen las velocidades y el espesor de la capa</a:t>
            </a:r>
            <a:endParaRPr lang="en-US" sz="2400" dirty="0"/>
          </a:p>
        </p:txBody>
      </p:sp>
      <p:pic>
        <p:nvPicPr>
          <p:cNvPr id="3" name="Dromocrónica" descr="Dromocrónica: rectas de onda directa y refractada con tiempo de intercepto y distancia de cruce">    </p:cNvPr>
          <p:cNvPicPr>
            <a:picLocks noChangeAspect="1"/>
          </p:cNvPicPr>
          <p:nvPr/>
        </p:nvPicPr>
        <p:blipFill>
          <a:blip r:embed="rId1"/>
          <a:stretch>
            <a:fillRect/>
          </a:stretch>
        </p:blipFill>
        <p:spPr>
          <a:xfrm>
            <a:off x="457200" y="1188720"/>
            <a:ext cx="8229600" cy="3131507"/>
          </a:xfrm>
          <a:prstGeom prst="rect">
            <a:avLst/>
          </a:prstGeom>
        </p:spPr>
      </p:pic>
      <p:sp>
        <p:nvSpPr>
          <p:cNvPr id="4"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«Refraction dia.jpg» (L. Antiga, 2010, dominio público),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Refracción: simple y rápida, pero exige que la velocidad crezca con la profundidad</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Equipo y procesamiento simples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Rápida de ejecutar en campo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Da velocidades y espesores de capa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velocidad debe aumentar con la profundidad</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Una capa blanda bajo otra rápida queda oculta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Capas delgadas pueden no verse</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se registra el tiempo de ida y vuelta de la energía reflejada</a:t>
            </a:r>
            <a:endParaRPr lang="en-US" sz="2400" dirty="0"/>
          </a:p>
        </p:txBody>
      </p:sp>
      <p:pic>
        <p:nvPicPr>
          <p:cNvPr id="3" name="Figura reflexión" descr="Reflexión sísmica: rayos desde la fuente hasta cada interfaz y de vuelta al geófono, con la traza registrada">    </p:cNvPr>
          <p:cNvPicPr>
            <a:picLocks noChangeAspect="1"/>
          </p:cNvPicPr>
          <p:nvPr/>
        </p:nvPicPr>
        <p:blipFill>
          <a:blip r:embed="rId1"/>
          <a:stretch>
            <a:fillRect/>
          </a:stretch>
        </p:blipFill>
        <p:spPr>
          <a:xfrm>
            <a:off x="457200" y="1188720"/>
            <a:ext cx="4572000" cy="3203924"/>
          </a:xfrm>
          <a:prstGeom prst="rect">
            <a:avLst/>
          </a:prstGeom>
        </p:spPr>
      </p:pic>
      <p:sp>
        <p:nvSpPr>
          <p:cNvPr id="4" name="Cuerpo"/>
          <p:cNvSpPr txBox="1"/>
          <p:nvPr/>
        </p:nvSpPr>
        <p:spPr>
          <a:xfrm>
            <a:off x="5303520" y="1280160"/>
            <a:ext cx="3383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La energía se refleja en cada interfaz</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Cada geófono registra una traza</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El tiempo depende de la profundidad y de la velocidad</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«Basics of Seismic Reflection» (CC BY-SA 4.0),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Reflexión: alcanza más profundidad, pero rinde poco en los primeros metros</a:t>
            </a:r>
            <a:endParaRPr lang="en-US" sz="2400" dirty="0"/>
          </a:p>
        </p:txBody>
      </p:sp>
      <p:sp>
        <p:nvSpPr>
          <p:cNvPr id="3" name="Cabecera Ventajas"/>
          <p:cNvSpPr/>
          <p:nvPr/>
        </p:nvSpPr>
        <p:spPr>
          <a:xfrm>
            <a:off x="457200" y="1280160"/>
            <a:ext cx="3931920" cy="502920"/>
          </a:xfrm>
          <a:prstGeom prst="rect">
            <a:avLst/>
          </a:prstGeom>
          <a:solidFill>
            <a:srgbClr val="1F4E79"/>
          </a:solidFill>
          <a:ln w="12700">
            <a:solidFill>
              <a:srgbClr val="1F4E79"/>
            </a:solidFill>
            <a:prstDash val="solid"/>
          </a:ln>
        </p:spPr>
      </p:sp>
      <p:sp>
        <p:nvSpPr>
          <p:cNvPr id="4" name="Text 2"/>
          <p:cNvSpPr txBox="1"/>
          <p:nvPr/>
        </p:nvSpPr>
        <p:spPr>
          <a:xfrm>
            <a:off x="45720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Ventajas</a:t>
            </a:r>
            <a:endParaRPr lang="en-US" sz="2000" dirty="0"/>
          </a:p>
        </p:txBody>
      </p:sp>
      <p:sp>
        <p:nvSpPr>
          <p:cNvPr id="5" name="Tarjeta Ventajas"/>
          <p:cNvSpPr/>
          <p:nvPr/>
        </p:nvSpPr>
        <p:spPr>
          <a:xfrm>
            <a:off x="457200" y="1783080"/>
            <a:ext cx="3931920" cy="2514600"/>
          </a:xfrm>
          <a:prstGeom prst="rect">
            <a:avLst/>
          </a:prstGeom>
          <a:solidFill>
            <a:srgbClr val="FFFFFF"/>
          </a:solidFill>
          <a:ln w="19050">
            <a:solidFill>
              <a:srgbClr val="1F4E79"/>
            </a:solidFill>
            <a:prstDash val="solid"/>
          </a:ln>
        </p:spPr>
      </p:sp>
      <p:sp>
        <p:nvSpPr>
          <p:cNvPr id="6" name="Cuerpo Ventajas"/>
          <p:cNvSpPr txBox="1"/>
          <p:nvPr/>
        </p:nvSpPr>
        <p:spPr>
          <a:xfrm>
            <a:off x="64008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Alcanza mayores profundidades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Buena imagen de la estructura</a:t>
            </a:r>
            <a:endParaRPr lang="en-US" sz="1800" dirty="0"/>
          </a:p>
        </p:txBody>
      </p:sp>
      <p:sp>
        <p:nvSpPr>
          <p:cNvPr id="7" name="Cabecera Limitaciones"/>
          <p:cNvSpPr/>
          <p:nvPr/>
        </p:nvSpPr>
        <p:spPr>
          <a:xfrm>
            <a:off x="4754880" y="1280160"/>
            <a:ext cx="3931920" cy="502920"/>
          </a:xfrm>
          <a:prstGeom prst="rect">
            <a:avLst/>
          </a:prstGeom>
          <a:solidFill>
            <a:srgbClr val="C55A11"/>
          </a:solidFill>
          <a:ln w="12700">
            <a:solidFill>
              <a:srgbClr val="C55A11"/>
            </a:solidFill>
            <a:prstDash val="solid"/>
          </a:ln>
        </p:spPr>
      </p:sp>
      <p:sp>
        <p:nvSpPr>
          <p:cNvPr id="8" name="Text 6"/>
          <p:cNvSpPr txBox="1"/>
          <p:nvPr/>
        </p:nvSpPr>
        <p:spPr>
          <a:xfrm>
            <a:off x="4754880" y="1280160"/>
            <a:ext cx="3931920" cy="50292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Limitaciones</a:t>
            </a:r>
            <a:endParaRPr lang="en-US" sz="2000" dirty="0"/>
          </a:p>
        </p:txBody>
      </p:sp>
      <p:sp>
        <p:nvSpPr>
          <p:cNvPr id="9" name="Tarjeta Limitaciones"/>
          <p:cNvSpPr/>
          <p:nvPr/>
        </p:nvSpPr>
        <p:spPr>
          <a:xfrm>
            <a:off x="4754880" y="1783080"/>
            <a:ext cx="3931920" cy="2514600"/>
          </a:xfrm>
          <a:prstGeom prst="rect">
            <a:avLst/>
          </a:prstGeom>
          <a:solidFill>
            <a:srgbClr val="FFFFFF"/>
          </a:solidFill>
          <a:ln w="19050">
            <a:solidFill>
              <a:srgbClr val="C55A11"/>
            </a:solidFill>
            <a:prstDash val="solid"/>
          </a:ln>
        </p:spPr>
      </p:sp>
      <p:sp>
        <p:nvSpPr>
          <p:cNvPr id="10" name="Cuerpo Limitaciones"/>
          <p:cNvSpPr txBox="1"/>
          <p:nvPr/>
        </p:nvSpPr>
        <p:spPr>
          <a:xfrm>
            <a:off x="4937760" y="1920240"/>
            <a:ext cx="3566160" cy="228600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Poca resolución en los primeros metros</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Exige fuentes de alta frecuencia y más procesamiento</a:t>
            </a:r>
            <a:endParaRPr lang="en-US" sz="1800" dirty="0"/>
          </a:p>
          <a:p>
            <a:pPr marL="342900" indent="-342900">
              <a:spcAft>
                <a:spcPts val="1000"/>
              </a:spcAft>
              <a:buSzPct val="100000"/>
              <a:buChar char="•"/>
            </a:pPr>
            <a:r>
              <a:rPr lang="en-US" sz="1800" dirty="0">
                <a:solidFill>
                  <a:srgbClr val="2D2D2D"/>
                </a:solidFill>
                <a:latin typeface="Arial" pitchFamily="34" charset="0"/>
                <a:ea typeface="Arial" pitchFamily="34" charset="-122"/>
                <a:cs typeface="Arial" pitchFamily="34" charset="-120"/>
              </a:rPr>
              <a:t>Interfieren las ondas directas y superficiales</a:t>
            </a:r>
            <a:endParaRPr lang="en-US" sz="1800" dirty="0"/>
          </a:p>
        </p:txBody>
      </p:sp>
      <p:sp>
        <p:nvSpPr>
          <p:cNvPr id="11"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 1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de cuerpo, al llegar a una interfaz, se reflejan y se transmiten</a:t>
            </a:r>
            <a:endParaRPr lang="en-US" sz="2400" dirty="0"/>
          </a:p>
        </p:txBody>
      </p:sp>
      <p:pic>
        <p:nvPicPr>
          <p:cNvPr id="3" name="Figura interfaz" descr="Interfaz entre dos medios con onda incidente, reflejada y transmitida">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577840" y="1280160"/>
            <a:ext cx="3108960" cy="320040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ondas de cuerpo (P y S) viajan por el interior del terreno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El terreno real no es homogéneo: tiene variaciones continuas y discontinuidades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Un modelo en capas es más realista: en cada interfaz cambian ρ, Vp y Vs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Parte de la energía se refleja y parte se transmite</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el caso de una superficie libre, la energía vuelve al terreno</a:t>
            </a:r>
            <a:endParaRPr lang="en-US" sz="2400" dirty="0"/>
          </a:p>
        </p:txBody>
      </p:sp>
      <p:pic>
        <p:nvPicPr>
          <p:cNvPr id="3" name="Figura superficie libre" descr="Superficie libre: la onda incidente se refleja de vuelta al terreno">    </p:cNvPr>
          <p:cNvPicPr>
            <a:picLocks noChangeAspect="1"/>
          </p:cNvPicPr>
          <p:nvPr/>
        </p:nvPicPr>
        <p:blipFill>
          <a:blip r:embed="rId1"/>
          <a:stretch>
            <a:fillRect/>
          </a:stretch>
        </p:blipFill>
        <p:spPr>
          <a:xfrm>
            <a:off x="457200" y="1280160"/>
            <a:ext cx="4937760" cy="3108960"/>
          </a:xfrm>
          <a:prstGeom prst="rect">
            <a:avLst/>
          </a:prstGeom>
        </p:spPr>
      </p:pic>
      <p:sp>
        <p:nvSpPr>
          <p:cNvPr id="4" name="Cuerpo"/>
          <p:cNvSpPr txBox="1"/>
          <p:nvPr/>
        </p:nvSpPr>
        <p:spPr>
          <a:xfrm>
            <a:off x="5669280" y="1371600"/>
            <a:ext cx="3017520" cy="3017520"/>
          </a:xfrm>
          <a:prstGeom prst="rect">
            <a:avLst/>
          </a:prstGeom>
          <a:noFill/>
          <a:ln/>
        </p:spPr>
        <p:txBody>
          <a:bodyPr wrap="square" lIns="0" tIns="0" rIns="0" bIns="0" rtlCol="0" anchor="t"/>
          <a:lstStyle/>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La superficie libre es el contacto entre el terreno y el aire</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El aire no transmite esfuerzos: en la superficie el esfuerzo es cero</a:t>
            </a:r>
            <a:endParaRPr lang="en-US" sz="1800" dirty="0"/>
          </a:p>
          <a:p>
            <a:pPr marL="342900" indent="-342900">
              <a:spcAft>
                <a:spcPts val="1200"/>
              </a:spcAft>
              <a:buSzPct val="100000"/>
              <a:buChar char="•"/>
            </a:pPr>
            <a:r>
              <a:rPr lang="en-US" sz="1800" dirty="0">
                <a:solidFill>
                  <a:srgbClr val="2D2D2D"/>
                </a:solidFill>
                <a:latin typeface="Arial" pitchFamily="34" charset="0"/>
                <a:ea typeface="Arial" pitchFamily="34" charset="-122"/>
                <a:cs typeface="Arial" pitchFamily="34" charset="-120"/>
              </a:rPr>
              <a:t>Prácticamente toda la energía se refleja hacia el terreno</a:t>
            </a:r>
            <a:endParaRPr lang="en-US" sz="18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Respecto a la superficie libre, la onda S se clasifica en SV y SH</a:t>
            </a:r>
            <a:endParaRPr lang="en-US" sz="2400" dirty="0"/>
          </a:p>
        </p:txBody>
      </p:sp>
      <p:pic>
        <p:nvPicPr>
          <p:cNvPr id="3" name="Figura SV y SH" descr="Onda SV con movimiento en el plano de incidencia y onda SH con movimiento perpendicular a ese plano">    </p:cNvPr>
          <p:cNvPicPr>
            <a:picLocks noChangeAspect="1"/>
          </p:cNvPicPr>
          <p:nvPr/>
        </p:nvPicPr>
        <p:blipFill>
          <a:blip r:embed="rId1"/>
          <a:stretch>
            <a:fillRect/>
          </a:stretch>
        </p:blipFill>
        <p:spPr>
          <a:xfrm>
            <a:off x="457200" y="1234440"/>
            <a:ext cx="5486400" cy="3108960"/>
          </a:xfrm>
          <a:prstGeom prst="rect">
            <a:avLst/>
          </a:prstGeom>
        </p:spPr>
      </p:pic>
      <p:sp>
        <p:nvSpPr>
          <p:cNvPr id="4" name="Cuerpo"/>
          <p:cNvSpPr txBox="1"/>
          <p:nvPr/>
        </p:nvSpPr>
        <p:spPr>
          <a:xfrm>
            <a:off x="6126480" y="1280160"/>
            <a:ext cx="2560320" cy="32004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Referencia: el plano de la superficie libre</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La onda S puede moverse de dos formas respecto a él</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SV: oscila en el plano vertical que contiene el rayo</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SH: oscila en horizontal, perpendicular a ese plano</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la polarización de la onda S.</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Los ángulos de las ondas generadas se relacionan con la ley de Snell</a:t>
            </a:r>
            <a:endParaRPr lang="en-US" sz="2400" dirty="0"/>
          </a:p>
        </p:txBody>
      </p:sp>
      <p:pic>
        <p:nvPicPr>
          <p:cNvPr id="3" name="Figura Snell" descr="Onda P incidente en una interfaz: ondas P y S reflejadas y transmitidas con sus ángulos">    </p:cNvPr>
          <p:cNvPicPr>
            <a:picLocks noChangeAspect="1"/>
          </p:cNvPicPr>
          <p:nvPr/>
        </p:nvPicPr>
        <p:blipFill>
          <a:blip r:embed="rId1"/>
          <a:stretch>
            <a:fillRect/>
          </a:stretch>
        </p:blipFill>
        <p:spPr>
          <a:xfrm>
            <a:off x="457200" y="1234440"/>
            <a:ext cx="2880360" cy="3200400"/>
          </a:xfrm>
          <a:prstGeom prst="rect">
            <a:avLst/>
          </a:prstGeom>
        </p:spPr>
      </p:pic>
      <p:sp>
        <p:nvSpPr>
          <p:cNvPr id="4" name="Fondo Snell"/>
          <p:cNvSpPr/>
          <p:nvPr/>
        </p:nvSpPr>
        <p:spPr>
          <a:xfrm>
            <a:off x="3931920" y="1280160"/>
            <a:ext cx="475488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1</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1</m:t>
                              </m:r>
                            </m:sub>
                          </m:sSub>
                        </m:den>
                      </m:f>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m:rPr>
                              <m:sty m:val="p"/>
                            </m:rPr>
                            <a:rPr lang="es-ES" sz="2400">
                              <a:solidFill>
                                <a:srgbClr val="1F4E79"/>
                              </a:solidFill>
                              <a:latin typeface="Cambria Math" panose="02040503050406030204" pitchFamily="18" charset="0"/>
                            </a:rPr>
                            <m:t xml:space="preserve">sin</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θ</m:t>
                              </m:r>
                            </m:e>
                            <m:sub>
                              <m:r>
                                <a:rPr lang="es-ES" sz="2400" i="1">
                                  <a:solidFill>
                                    <a:srgbClr val="1F4E79"/>
                                  </a:solidFill>
                                  <a:latin typeface="Cambria Math" panose="02040503050406030204" pitchFamily="18" charset="0"/>
                                </a:rPr>
                                <m:t xml:space="preserve">2</m:t>
                              </m:r>
                            </m:sub>
                          </m:sSub>
                        </m:num>
                        <m:den>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2</m:t>
                              </m:r>
                            </m:sub>
                          </m:sSub>
                        </m:den>
                      </m:f>
                      <m:r>
                        <a:rPr lang="es-ES" sz="2400" i="1">
                          <a:solidFill>
                            <a:srgbClr val="1F4E79"/>
                          </a:solidFill>
                          <a:latin typeface="Cambria Math" panose="02040503050406030204" pitchFamily="18" charset="0"/>
                        </a:rPr>
                        <m:t xml:space="preserve">=p</m:t>
                      </m:r>
                    </m:oMath>
                  </m:oMathPara>
                </a14:m>
                <a:endParaRPr lang="es-ES"/>
              </a:p>
            </p:txBody>
          </p:sp>
        </mc:Choice>
        <mc:Fallback>
          <p:sp>
            <p:nvSpPr>
              <p:cNvPr id="5" name="Ecuación E_snell"/>
              <p:cNvSpPr txBox="1"/>
              <p:nvPr/>
            </p:nvSpPr>
            <p:spPr>
              <a:xfrm>
                <a:off x="3931920" y="1280160"/>
                <a:ext cx="475488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sin θ₁ / V₁ = sin θ₂ / V₂ = p</a:t>
                </a:r>
                <a:endParaRPr lang="en-US" sz="2400" dirty="0"/>
              </a:p>
            </p:txBody>
          </p:sp>
        </mc:Fallback>
      </mc:AlternateContent>
      <p:sp>
        <p:nvSpPr>
          <p:cNvPr id="6" name="Cuerpo"/>
          <p:cNvSpPr txBox="1"/>
          <p:nvPr/>
        </p:nvSpPr>
        <p:spPr>
          <a:xfrm>
            <a:off x="3931920" y="2377440"/>
            <a:ext cx="4754880" cy="210312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 es el parámetro del rayo: el mismo para todas las ondas generadas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Vale para P, SV y SH: V es Vp para P y Vs para SV y SH</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Como Vs &lt; Vp, la S sale con un ángulo menor que la P</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SLB (s. f.), The Defining Series: Beginner's Guide to Seismic Surveying,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la superficie libre, P y SV se convierten entre sí; SH queda aparte</a:t>
            </a:r>
            <a:endParaRPr lang="en-US" sz="2400" dirty="0"/>
          </a:p>
        </p:txBody>
      </p:sp>
      <p:sp>
        <p:nvSpPr>
          <p:cNvPr id="3" name="Caja P"/>
          <p:cNvSpPr/>
          <p:nvPr/>
        </p:nvSpPr>
        <p:spPr>
          <a:xfrm>
            <a:off x="457200" y="1371600"/>
            <a:ext cx="1371600" cy="777240"/>
          </a:xfrm>
          <a:prstGeom prst="roundRect">
            <a:avLst>
              <a:gd name="adj" fmla="val 9412"/>
            </a:avLst>
          </a:prstGeom>
          <a:solidFill>
            <a:srgbClr val="2E75B6"/>
          </a:solidFill>
          <a:ln w="12700">
            <a:solidFill>
              <a:srgbClr val="2E75B6"/>
            </a:solidFill>
            <a:prstDash val="solid"/>
          </a:ln>
        </p:spPr>
      </p:sp>
      <p:sp>
        <p:nvSpPr>
          <p:cNvPr id="4" name="Text 2"/>
          <p:cNvSpPr txBox="1"/>
          <p:nvPr/>
        </p:nvSpPr>
        <p:spPr>
          <a:xfrm>
            <a:off x="45720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P</a:t>
            </a:r>
            <a:endParaRPr lang="en-US" sz="2000" dirty="0"/>
          </a:p>
        </p:txBody>
      </p:sp>
      <p:sp>
        <p:nvSpPr>
          <p:cNvPr id="5" name="Caja SV"/>
          <p:cNvSpPr/>
          <p:nvPr/>
        </p:nvSpPr>
        <p:spPr>
          <a:xfrm>
            <a:off x="3017520" y="1371600"/>
            <a:ext cx="1371600" cy="777240"/>
          </a:xfrm>
          <a:prstGeom prst="roundRect">
            <a:avLst>
              <a:gd name="adj" fmla="val 9412"/>
            </a:avLst>
          </a:prstGeom>
          <a:solidFill>
            <a:srgbClr val="2E75B6"/>
          </a:solidFill>
          <a:ln w="12700">
            <a:solidFill>
              <a:srgbClr val="2E75B6"/>
            </a:solidFill>
            <a:prstDash val="solid"/>
          </a:ln>
        </p:spPr>
      </p:sp>
      <p:sp>
        <p:nvSpPr>
          <p:cNvPr id="6" name="Text 4"/>
          <p:cNvSpPr txBox="1"/>
          <p:nvPr/>
        </p:nvSpPr>
        <p:spPr>
          <a:xfrm>
            <a:off x="3017520" y="1371600"/>
            <a:ext cx="13716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SV</a:t>
            </a:r>
            <a:endParaRPr lang="en-US" sz="2000" dirty="0"/>
          </a:p>
        </p:txBody>
      </p:sp>
      <p:sp>
        <p:nvSpPr>
          <p:cNvPr id="7" name="Shape 5"/>
          <p:cNvSpPr/>
          <p:nvPr/>
        </p:nvSpPr>
        <p:spPr>
          <a:xfrm>
            <a:off x="1874520" y="1760220"/>
            <a:ext cx="1097280" cy="0"/>
          </a:xfrm>
          <a:prstGeom prst="line">
            <a:avLst/>
          </a:prstGeom>
          <a:noFill/>
          <a:ln w="38100">
            <a:solidFill>
              <a:srgbClr val="1F4E79"/>
            </a:solidFill>
            <a:prstDash val="solid"/>
            <a:headEnd type="triangle"/>
            <a:tailEnd type="triangle"/>
          </a:ln>
        </p:spPr>
      </p:sp>
      <p:sp>
        <p:nvSpPr>
          <p:cNvPr id="8" name="Text 6"/>
          <p:cNvSpPr txBox="1"/>
          <p:nvPr/>
        </p:nvSpPr>
        <p:spPr>
          <a:xfrm>
            <a:off x="1783080" y="1828800"/>
            <a:ext cx="1280160" cy="365760"/>
          </a:xfrm>
          <a:prstGeom prst="rect">
            <a:avLst/>
          </a:prstGeom>
          <a:noFill/>
          <a:ln/>
        </p:spPr>
        <p:txBody>
          <a:bodyPr wrap="square" lIns="0" tIns="0" rIns="0" bIns="0" rtlCol="0" anchor="t"/>
          <a:lstStyle/>
          <a:p>
            <a:pPr algn="ctr" indent="0" marL="0">
              <a:buNone/>
            </a:pPr>
            <a:r>
              <a:rPr lang="en-US" sz="1600" dirty="0">
                <a:solidFill>
                  <a:srgbClr val="1F4E79"/>
                </a:solidFill>
                <a:latin typeface="Arial" pitchFamily="34" charset="0"/>
                <a:ea typeface="Arial" pitchFamily="34" charset="-122"/>
                <a:cs typeface="Arial" pitchFamily="34" charset="-120"/>
              </a:rPr>
              <a:t>se acoplan</a:t>
            </a:r>
            <a:endParaRPr lang="en-US" sz="1600" dirty="0"/>
          </a:p>
        </p:txBody>
      </p:sp>
      <p:sp>
        <p:nvSpPr>
          <p:cNvPr id="9" name="Caja SH"/>
          <p:cNvSpPr/>
          <p:nvPr/>
        </p:nvSpPr>
        <p:spPr>
          <a:xfrm>
            <a:off x="5760720" y="1371600"/>
            <a:ext cx="1828800" cy="777240"/>
          </a:xfrm>
          <a:prstGeom prst="roundRect">
            <a:avLst>
              <a:gd name="adj" fmla="val 9412"/>
            </a:avLst>
          </a:prstGeom>
          <a:solidFill>
            <a:srgbClr val="C55A11"/>
          </a:solidFill>
          <a:ln w="12700">
            <a:solidFill>
              <a:srgbClr val="C55A11"/>
            </a:solidFill>
            <a:prstDash val="solid"/>
          </a:ln>
        </p:spPr>
      </p:sp>
      <p:sp>
        <p:nvSpPr>
          <p:cNvPr id="10" name="Text 8"/>
          <p:cNvSpPr txBox="1"/>
          <p:nvPr/>
        </p:nvSpPr>
        <p:spPr>
          <a:xfrm>
            <a:off x="5760720" y="1371600"/>
            <a:ext cx="1828800" cy="77724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SH</a:t>
            </a:r>
            <a:endParaRPr lang="en-US" sz="2000" dirty="0"/>
          </a:p>
        </p:txBody>
      </p:sp>
      <p:sp>
        <p:nvSpPr>
          <p:cNvPr id="11" name="Text 9"/>
          <p:cNvSpPr txBox="1"/>
          <p:nvPr/>
        </p:nvSpPr>
        <p:spPr>
          <a:xfrm>
            <a:off x="5486400" y="2194560"/>
            <a:ext cx="2377440" cy="365760"/>
          </a:xfrm>
          <a:prstGeom prst="rect">
            <a:avLst/>
          </a:prstGeom>
          <a:noFill/>
          <a:ln/>
        </p:spPr>
        <p:txBody>
          <a:bodyPr wrap="square" lIns="0" tIns="0" rIns="0" bIns="0" rtlCol="0" anchor="t"/>
          <a:lstStyle/>
          <a:p>
            <a:pPr algn="ctr" indent="0" marL="0">
              <a:buNone/>
            </a:pPr>
            <a:r>
              <a:rPr lang="en-US" sz="1600" dirty="0">
                <a:solidFill>
                  <a:srgbClr val="C55A11"/>
                </a:solidFill>
                <a:latin typeface="Arial" pitchFamily="34" charset="0"/>
                <a:ea typeface="Arial" pitchFamily="34" charset="-122"/>
                <a:cs typeface="Arial" pitchFamily="34" charset="-120"/>
              </a:rPr>
              <a:t>solo genera SH</a:t>
            </a:r>
            <a:endParaRPr lang="en-US" sz="1600" dirty="0"/>
          </a:p>
        </p:txBody>
      </p:sp>
      <p:sp>
        <p:nvSpPr>
          <p:cNvPr id="12" name="Shape 10"/>
          <p:cNvSpPr/>
          <p:nvPr/>
        </p:nvSpPr>
        <p:spPr>
          <a:xfrm>
            <a:off x="2423160" y="2286000"/>
            <a:ext cx="0" cy="685800"/>
          </a:xfrm>
          <a:prstGeom prst="line">
            <a:avLst/>
          </a:prstGeom>
          <a:noFill/>
          <a:ln w="38100">
            <a:solidFill>
              <a:srgbClr val="1F4E79"/>
            </a:solidFill>
            <a:prstDash val="solid"/>
            <a:tailEnd type="triangle"/>
          </a:ln>
        </p:spPr>
      </p:sp>
      <p:sp>
        <p:nvSpPr>
          <p:cNvPr id="13" name="Shape 11"/>
          <p:cNvSpPr/>
          <p:nvPr/>
        </p:nvSpPr>
        <p:spPr>
          <a:xfrm>
            <a:off x="6675120" y="2606040"/>
            <a:ext cx="0" cy="365760"/>
          </a:xfrm>
          <a:prstGeom prst="line">
            <a:avLst/>
          </a:prstGeom>
          <a:noFill/>
          <a:ln w="38100">
            <a:solidFill>
              <a:srgbClr val="C55A11"/>
            </a:solidFill>
            <a:prstDash val="solid"/>
            <a:tailEnd type="triangle"/>
          </a:ln>
        </p:spPr>
      </p:sp>
      <p:sp>
        <p:nvSpPr>
          <p:cNvPr id="14" name="Resultado Rayleigh"/>
          <p:cNvSpPr/>
          <p:nvPr/>
        </p:nvSpPr>
        <p:spPr>
          <a:xfrm>
            <a:off x="457200" y="3017520"/>
            <a:ext cx="3931920" cy="822960"/>
          </a:xfrm>
          <a:prstGeom prst="roundRect">
            <a:avLst>
              <a:gd name="adj" fmla="val 8889"/>
            </a:avLst>
          </a:prstGeom>
          <a:solidFill>
            <a:srgbClr val="1F4E79"/>
          </a:solidFill>
          <a:ln w="12700">
            <a:solidFill>
              <a:srgbClr val="1F4E79"/>
            </a:solidFill>
            <a:prstDash val="solid"/>
          </a:ln>
        </p:spPr>
      </p:sp>
      <p:sp>
        <p:nvSpPr>
          <p:cNvPr id="15" name="Text 13"/>
          <p:cNvSpPr txBox="1"/>
          <p:nvPr/>
        </p:nvSpPr>
        <p:spPr>
          <a:xfrm>
            <a:off x="457200" y="3017520"/>
            <a:ext cx="393192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Rayleigh</a:t>
            </a:r>
            <a:endParaRPr lang="en-US" sz="2000" dirty="0"/>
          </a:p>
        </p:txBody>
      </p:sp>
      <p:sp>
        <p:nvSpPr>
          <p:cNvPr id="16" name="Resultado Love"/>
          <p:cNvSpPr/>
          <p:nvPr/>
        </p:nvSpPr>
        <p:spPr>
          <a:xfrm>
            <a:off x="5120640" y="3017520"/>
            <a:ext cx="3291840" cy="822960"/>
          </a:xfrm>
          <a:prstGeom prst="roundRect">
            <a:avLst>
              <a:gd name="adj" fmla="val 8889"/>
            </a:avLst>
          </a:prstGeom>
          <a:solidFill>
            <a:srgbClr val="C55A11"/>
          </a:solidFill>
          <a:ln w="12700">
            <a:solidFill>
              <a:srgbClr val="C55A11"/>
            </a:solidFill>
            <a:prstDash val="solid"/>
          </a:ln>
        </p:spPr>
      </p:sp>
      <p:sp>
        <p:nvSpPr>
          <p:cNvPr id="17" name="Text 15"/>
          <p:cNvSpPr txBox="1"/>
          <p:nvPr/>
        </p:nvSpPr>
        <p:spPr>
          <a:xfrm>
            <a:off x="5120640" y="3017520"/>
            <a:ext cx="329184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Ondas Love</a:t>
            </a:r>
            <a:endParaRPr lang="en-US" sz="2000" dirty="0"/>
          </a:p>
        </p:txBody>
      </p:sp>
      <p:sp>
        <p:nvSpPr>
          <p:cNvPr id="18" name="Text 16"/>
          <p:cNvSpPr txBox="1"/>
          <p:nvPr/>
        </p:nvSpPr>
        <p:spPr>
          <a:xfrm>
            <a:off x="457200" y="3931920"/>
            <a:ext cx="393192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Movimiento en el plano vertical</a:t>
            </a:r>
            <a:endParaRPr lang="en-US" sz="1600" dirty="0"/>
          </a:p>
        </p:txBody>
      </p:sp>
      <p:sp>
        <p:nvSpPr>
          <p:cNvPr id="19" name="Text 17"/>
          <p:cNvSpPr txBox="1"/>
          <p:nvPr/>
        </p:nvSpPr>
        <p:spPr>
          <a:xfrm>
            <a:off x="4937760" y="3931920"/>
            <a:ext cx="3657600" cy="365760"/>
          </a:xfrm>
          <a:prstGeom prst="rect">
            <a:avLst/>
          </a:prstGeom>
          <a:noFill/>
          <a:ln/>
        </p:spPr>
        <p:txBody>
          <a:bodyPr wrap="square" lIns="0" tIns="0" rIns="0" bIns="0" rtlCol="0" anchor="t"/>
          <a:lstStyle/>
          <a:p>
            <a:pPr algn="ctr" indent="0" marL="0">
              <a:buNone/>
            </a:pPr>
            <a:r>
              <a:rPr lang="en-US" sz="1600" dirty="0">
                <a:solidFill>
                  <a:srgbClr val="6B6B6B"/>
                </a:solidFill>
                <a:latin typeface="Arial" pitchFamily="34" charset="0"/>
                <a:ea typeface="Arial" pitchFamily="34" charset="-122"/>
                <a:cs typeface="Arial" pitchFamily="34" charset="-120"/>
              </a:rPr>
              <a:t>Solo con capa blanda sobre medio rápido</a:t>
            </a:r>
            <a:endParaRPr lang="en-US" sz="1600" dirty="0"/>
          </a:p>
        </p:txBody>
      </p:sp>
      <p:sp>
        <p:nvSpPr>
          <p:cNvPr id="20"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Las ondas Love solo existen si una capa blanda cubre un medio más rápido</a:t>
            </a:r>
            <a:endParaRPr lang="en-US" sz="2400" dirty="0"/>
          </a:p>
        </p:txBody>
      </p:sp>
      <p:pic>
        <p:nvPicPr>
          <p:cNvPr id="3" name="Figura condición Love" descr="Onda SH atrapada en una capa blanda por reflexión total en la interfaz y reflexión en la superficie libre">    </p:cNvPr>
          <p:cNvPicPr>
            <a:picLocks noChangeAspect="1"/>
          </p:cNvPicPr>
          <p:nvPr/>
        </p:nvPicPr>
        <p:blipFill>
          <a:blip r:embed="rId1"/>
          <a:stretch>
            <a:fillRect/>
          </a:stretch>
        </p:blipFill>
        <p:spPr>
          <a:xfrm>
            <a:off x="457200" y="1234440"/>
            <a:ext cx="5120640" cy="3108960"/>
          </a:xfrm>
          <a:prstGeom prst="rect">
            <a:avLst/>
          </a:prstGeom>
        </p:spPr>
      </p:pic>
      <p:sp>
        <p:nvSpPr>
          <p:cNvPr id="4" name="Fondo thc"/>
          <p:cNvSpPr/>
          <p:nvPr/>
        </p:nvSpPr>
        <p:spPr>
          <a:xfrm>
            <a:off x="5760720" y="1280160"/>
            <a:ext cx="2926080" cy="82296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θ</m:t>
                          </m:r>
                        </m:e>
                        <m:sub>
                          <m:r>
                            <m:rPr>
                              <m:sty m:val="p"/>
                            </m:rPr>
                            <a:rPr lang="es-ES" sz="2000">
                              <a:solidFill>
                                <a:srgbClr val="1F4E79"/>
                              </a:solidFill>
                              <a:latin typeface="Cambria Math" panose="02040503050406030204" pitchFamily="18" charset="0"/>
                            </a:rPr>
                            <m:t xml:space="preserve">c</m:t>
                          </m:r>
                        </m:sub>
                      </m:sSub>
                      <m:r>
                        <a:rPr lang="es-ES" sz="2000" i="1">
                          <a:solidFill>
                            <a:srgbClr val="1F4E79"/>
                          </a:solidFill>
                          <a:latin typeface="Cambria Math" panose="02040503050406030204" pitchFamily="18" charset="0"/>
                        </a:rPr>
                        <m:t xml:space="preserve">=arcsin</m:t>
                      </m:r>
                      <m:r>
                        <a:rPr lang="es-ES" sz="2000" i="1">
                          <a:solidFill>
                            <a:srgbClr val="1F4E79"/>
                          </a:solidFill>
                          <a:latin typeface="Cambria Math" panose="02040503050406030204" pitchFamily="18" charset="0"/>
                        </a:rPr>
                        <m:t xml:space="preserve">(</m:t>
                      </m:r>
                      <m:f>
                        <m:fPr>
                          <m:ctrlPr>
                            <a:rPr lang="es-ES" sz="2000" i="1">
                              <a:latin typeface="Cambria Math" panose="02040503050406030204" pitchFamily="18" charset="0"/>
                            </a:rPr>
                          </m:ctrlPr>
                        </m:fPr>
                        <m:num>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s1</m:t>
                              </m:r>
                            </m:sub>
                          </m:sSub>
                        </m:num>
                        <m:den>
                          <m:sSub>
                            <m:sSubPr>
                              <m:ctrlPr>
                                <a:rPr lang="es-ES" sz="2000" i="1">
                                  <a:latin typeface="Cambria Math" panose="02040503050406030204" pitchFamily="18" charset="0"/>
                                </a:rPr>
                              </m:ctrlPr>
                            </m:sSubPr>
                            <m:e>
                              <m:r>
                                <a:rPr lang="es-ES" sz="2000" i="1">
                                  <a:solidFill>
                                    <a:srgbClr val="1F4E79"/>
                                  </a:solidFill>
                                  <a:latin typeface="Cambria Math" panose="02040503050406030204" pitchFamily="18" charset="0"/>
                                </a:rPr>
                                <m:t xml:space="preserve">V</m:t>
                              </m:r>
                            </m:e>
                            <m:sub>
                              <m:r>
                                <a:rPr lang="es-ES" sz="2000" i="1">
                                  <a:solidFill>
                                    <a:srgbClr val="1F4E79"/>
                                  </a:solidFill>
                                  <a:latin typeface="Cambria Math" panose="02040503050406030204" pitchFamily="18" charset="0"/>
                                </a:rPr>
                                <m:t xml:space="preserve">s2</m:t>
                              </m:r>
                            </m:sub>
                          </m:sSub>
                        </m:den>
                      </m:f>
                      <m:r>
                        <a:rPr lang="es-ES" sz="2000" i="1">
                          <a:solidFill>
                            <a:srgbClr val="1F4E79"/>
                          </a:solidFill>
                          <a:latin typeface="Cambria Math" panose="02040503050406030204" pitchFamily="18" charset="0"/>
                        </a:rPr>
                        <m:t xml:space="preserve">)</m:t>
                      </m:r>
                    </m:oMath>
                  </m:oMathPara>
                </a14:m>
                <a:endParaRPr lang="es-ES"/>
              </a:p>
            </p:txBody>
          </p:sp>
        </mc:Choice>
        <mc:Fallback>
          <p:sp>
            <p:nvSpPr>
              <p:cNvPr id="5" name="Ecuación E_thc"/>
              <p:cNvSpPr txBox="1"/>
              <p:nvPr/>
            </p:nvSpPr>
            <p:spPr>
              <a:xfrm>
                <a:off x="5760720" y="1280160"/>
                <a:ext cx="2926080" cy="82296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θc = arcsin(Vs1 / Vs2)</a:t>
                </a:r>
                <a:endParaRPr lang="en-US" sz="2400" dirty="0"/>
              </a:p>
            </p:txBody>
          </p:sp>
        </mc:Fallback>
      </mc:AlternateContent>
      <p:sp>
        <p:nvSpPr>
          <p:cNvPr id="6" name="Cuerpo"/>
          <p:cNvSpPr txBox="1"/>
          <p:nvPr/>
        </p:nvSpPr>
        <p:spPr>
          <a:xfrm>
            <a:off x="5760720" y="2286000"/>
            <a:ext cx="292608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SH incide más allá del ángulo crítico y se refleja totalmente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Queda atrapada entre la superficie libre y la interfaz</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Exige Vs1 &lt; Vs2</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ver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Love: movimiento horizontal, perpendicular a la propagación</a:t>
            </a:r>
            <a:endParaRPr lang="en-US" sz="2400" dirty="0"/>
          </a:p>
        </p:txBody>
      </p:sp>
      <p:pic>
        <p:nvPicPr>
          <p:cNvPr id="3" name="Onda Love" descr="Onda Love: movimiento horizontal transversal a la propagación">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Resulta de la interferencia constructiva de las SH atrapadas</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Las partículas se mueven en horizontal, perpendicular al avance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Sin componente vertical: un geófono vertical no la registra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Onda Rayleigh: P y SV acopladas en la superficie libre, con órbita elíptica</a:t>
            </a:r>
            <a:endParaRPr lang="en-US" sz="2400" dirty="0"/>
          </a:p>
        </p:txBody>
      </p:sp>
      <p:pic>
        <p:nvPicPr>
          <p:cNvPr id="3" name="Onda Rayleigh" descr="Onda Rayleigh: movimiento elíptico retrógrado en el plano vertical">    </p:cNvPr>
          <p:cNvPicPr>
            <a:picLocks noChangeAspect="1"/>
          </p:cNvPicPr>
          <p:nvPr/>
        </p:nvPicPr>
        <p:blipFill>
          <a:blip r:embed="rId1"/>
          <a:stretch>
            <a:fillRect/>
          </a:stretch>
        </p:blipFill>
        <p:spPr>
          <a:xfrm>
            <a:off x="457200" y="1280160"/>
            <a:ext cx="5120640" cy="2560320"/>
          </a:xfrm>
          <a:prstGeom prst="rect">
            <a:avLst/>
          </a:prstGeom>
        </p:spPr>
      </p:pic>
      <p:sp>
        <p:nvSpPr>
          <p:cNvPr id="4" name="Cuerpo"/>
          <p:cNvSpPr txBox="1"/>
          <p:nvPr/>
        </p:nvSpPr>
        <p:spPr>
          <a:xfrm>
            <a:off x="5852160" y="132588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Acopla P y SV en la superficie libre</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Movimiento elíptico retrógrado en el plano vertical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Existe incluso en un semiespacio homogéneo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Tiene componente vertical: la registra el geófono vertical</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Imagen: Wikimedia Commons, «Overview Seismic Waves» (CC BY-SA 4.0; LukeTriton, S. Earle, M. Bačić et al.), recortada y traducida.</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Una fuente en superficie envía dos tercios de su energía en ondas Rayleigh</a:t>
            </a:r>
            <a:endParaRPr lang="en-US" sz="2400" dirty="0"/>
          </a:p>
        </p:txBody>
      </p:sp>
      <p:graphicFrame>
        <p:nvGraphicFramePr>
          <p:cNvPr id="3" name="Chart 0" descr=""/>
          <p:cNvGraphicFramePr/>
          <p:nvPr/>
        </p:nvGraphicFramePr>
        <p:xfrm>
          <a:off x="457200" y="1188720"/>
          <a:ext cx="457200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303520" y="1371600"/>
            <a:ext cx="3383280" cy="155448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Rayleigh 67 %, S 26 %, P 7 %</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Las Rayleigh dominan el registro en superficie</a:t>
            </a:r>
            <a:endParaRPr lang="en-US" sz="2000" dirty="0"/>
          </a:p>
        </p:txBody>
      </p:sp>
      <p:sp>
        <p:nvSpPr>
          <p:cNvPr id="5" name="Supuestos"/>
          <p:cNvSpPr txBox="1"/>
          <p:nvPr/>
        </p:nvSpPr>
        <p:spPr>
          <a:xfrm>
            <a:off x="5303520" y="3108960"/>
            <a:ext cx="3383280" cy="914400"/>
          </a:xfrm>
          <a:prstGeom prst="rect">
            <a:avLst/>
          </a:prstGeom>
          <a:noFill/>
          <a:ln/>
        </p:spPr>
        <p:txBody>
          <a:bodyPr wrap="square" lIns="0" tIns="0" rIns="0" bIns="0" rtlCol="0" anchor="t"/>
          <a:lstStyle/>
          <a:p>
            <a:pPr indent="0" marL="0">
              <a:buNone/>
            </a:pPr>
            <a:r>
              <a:rPr lang="en-US" sz="1600" dirty="0">
                <a:solidFill>
                  <a:srgbClr val="6B6B6B"/>
                </a:solidFill>
                <a:latin typeface="Arial" pitchFamily="34" charset="0"/>
                <a:ea typeface="Arial" pitchFamily="34" charset="-122"/>
                <a:cs typeface="Arial" pitchFamily="34" charset="-120"/>
              </a:rPr>
              <a:t>Supone ν = 0,25, fuente vertical circular y semiespacio homogéneo e isótropo</a:t>
            </a:r>
            <a:endParaRPr lang="en-US" sz="1600" dirty="0"/>
          </a:p>
        </p:txBody>
      </p:sp>
      <p:sp>
        <p:nvSpPr>
          <p:cNvPr id="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Miller y Pursey (1955); reproducido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Además, las Rayleigh se atenúan menos con la distancia que las de cuerpo</a:t>
            </a:r>
            <a:endParaRPr lang="en-US" sz="2400" dirty="0"/>
          </a:p>
        </p:txBody>
      </p:sp>
      <p:graphicFrame>
        <p:nvGraphicFramePr>
          <p:cNvPr id="3" name="Chart 0" descr=""/>
          <p:cNvGraphicFramePr/>
          <p:nvPr/>
        </p:nvGraphicFramePr>
        <p:xfrm>
          <a:off x="457200" y="1188720"/>
          <a:ext cx="5120640" cy="329184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017520"/>
          </a:xfrm>
          <a:prstGeom prst="rect">
            <a:avLst/>
          </a:prstGeom>
          <a:noFill/>
          <a:ln/>
        </p:spPr>
        <p:txBody>
          <a:bodyPr wrap="square" lIns="0" tIns="0" rIns="0" bIns="0" rtlCol="0" anchor="t"/>
          <a:lstStyle/>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Rayleigh: amplitud ∝ 1/√r</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Cuerpo: 1/r en el interior, 1/r² a lo largo de la superficie</a:t>
            </a:r>
            <a:endParaRPr lang="en-US" sz="1600" dirty="0"/>
          </a:p>
          <a:p>
            <a:pPr marL="342900" indent="-342900">
              <a:spcAft>
                <a:spcPts val="1200"/>
              </a:spcAft>
              <a:buSzPct val="100000"/>
              <a:buChar char="•"/>
            </a:pPr>
            <a:r>
              <a:rPr lang="en-US" sz="1600" dirty="0">
                <a:solidFill>
                  <a:srgbClr val="2D2D2D"/>
                </a:solidFill>
                <a:latin typeface="Arial" pitchFamily="34" charset="0"/>
                <a:ea typeface="Arial" pitchFamily="34" charset="-122"/>
                <a:cs typeface="Arial" pitchFamily="34" charset="-120"/>
              </a:rPr>
              <a:t>Lejos de la fuente, domina la Rayleigh</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Richart, Hall y Woods (1970);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semiespacio homogéneo, Rayleigh viaja a cR ≈ 0,9·Vs y no depende de la frecuencia</a:t>
            </a:r>
            <a:endParaRPr lang="en-US" sz="2400" dirty="0"/>
          </a:p>
        </p:txBody>
      </p:sp>
      <p:graphicFrame>
        <p:nvGraphicFramePr>
          <p:cNvPr id="3" name="Chart 0" descr=""/>
          <p:cNvGraphicFramePr/>
          <p:nvPr/>
        </p:nvGraphicFramePr>
        <p:xfrm>
          <a:off x="457200" y="1188720"/>
          <a:ext cx="4206240" cy="2743200"/>
        </p:xfrm>
        <a:graphic xmlns:a="http://schemas.openxmlformats.org/drawingml/2006/main">
          <a:graphicData uri="http://schemas.openxmlformats.org/drawingml/2006/chart">
            <c:chart xmlns:c="http://schemas.openxmlformats.org/drawingml/2006/chart" r:id="rId1"/>
          </a:graphicData>
        </a:graphic>
      </p:graphicFrame>
      <p:sp>
        <p:nvSpPr>
          <p:cNvPr id="4" name="Fondo cR"/>
          <p:cNvSpPr/>
          <p:nvPr/>
        </p:nvSpPr>
        <p:spPr>
          <a:xfrm>
            <a:off x="4937760" y="1234440"/>
            <a:ext cx="374904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cr"/>
              <p:cNvSpPr txBox="1"/>
              <p:nvPr/>
            </p:nvSpPr>
            <p:spPr>
              <a:xfrm>
                <a:off x="4937760" y="1234440"/>
                <a:ext cx="374904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c</m:t>
                          </m:r>
                        </m:e>
                        <m:sub>
                          <m:r>
                            <a:rPr lang="es-ES" sz="2800" i="1">
                              <a:solidFill>
                                <a:srgbClr val="1F4E79"/>
                              </a:solidFill>
                              <a:latin typeface="Cambria Math" panose="02040503050406030204" pitchFamily="18" charset="0"/>
                            </a:rPr>
                            <m:t xml:space="preserve">R</m:t>
                          </m:r>
                        </m:sub>
                      </m:sSub>
                      <m:r>
                        <a:rPr lang="es-ES" sz="2800" i="1">
                          <a:solidFill>
                            <a:srgbClr val="1F4E79"/>
                          </a:solidFill>
                          <a:latin typeface="Cambria Math" panose="02040503050406030204" pitchFamily="18" charset="0"/>
                        </a:rPr>
                        <m:t xml:space="preserve">≈0,9·</m:t>
                      </m:r>
                      <m:sSub>
                        <m:sSubPr>
                          <m:ctrlPr>
                            <a:rPr lang="es-ES" sz="2800" i="1">
                              <a:latin typeface="Cambria Math" panose="02040503050406030204" pitchFamily="18" charset="0"/>
                            </a:rPr>
                          </m:ctrlPr>
                        </m:sSubPr>
                        <m:e>
                          <m:r>
                            <a:rPr lang="es-ES" sz="2800" i="1">
                              <a:solidFill>
                                <a:srgbClr val="1F4E79"/>
                              </a:solidFill>
                              <a:latin typeface="Cambria Math" panose="02040503050406030204" pitchFamily="18" charset="0"/>
                            </a:rPr>
                            <m:t xml:space="preserve">V</m:t>
                          </m:r>
                        </m:e>
                        <m:sub>
                          <m:r>
                            <a:rPr lang="es-ES" sz="2800" i="1">
                              <a:solidFill>
                                <a:srgbClr val="1F4E79"/>
                              </a:solidFill>
                              <a:latin typeface="Cambria Math" panose="02040503050406030204" pitchFamily="18" charset="0"/>
                            </a:rPr>
                            <m:t xml:space="preserve">s</m:t>
                          </m:r>
                        </m:sub>
                      </m:sSub>
                    </m:oMath>
                  </m:oMathPara>
                </a14:m>
                <a:endParaRPr lang="es-ES"/>
              </a:p>
            </p:txBody>
          </p:sp>
        </mc:Choice>
        <mc:Fallback>
          <p:sp>
            <p:nvSpPr>
              <p:cNvPr id="5" name="Ecuación E_cr"/>
              <p:cNvSpPr txBox="1"/>
              <p:nvPr/>
            </p:nvSpPr>
            <p:spPr>
              <a:xfrm>
                <a:off x="4937760" y="1234440"/>
                <a:ext cx="374904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0,9 · Vs</a:t>
                </a:r>
                <a:endParaRPr lang="en-US" sz="2400" dirty="0"/>
              </a:p>
            </p:txBody>
          </p:sp>
        </mc:Fallback>
      </mc:AlternateContent>
      <p:sp>
        <p:nvSpPr>
          <p:cNvPr id="6" name="Fondo cR nu"/>
          <p:cNvSpPr/>
          <p:nvPr/>
        </p:nvSpPr>
        <p:spPr>
          <a:xfrm>
            <a:off x="4937760" y="2103120"/>
            <a:ext cx="3749040" cy="91440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7" name="Ecuación E_crnu"/>
              <p:cNvSpPr txBox="1"/>
              <p:nvPr/>
            </p:nvSpPr>
            <p:spPr>
              <a:xfrm>
                <a:off x="4937760" y="2103120"/>
                <a:ext cx="3749040" cy="91440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c</m:t>
                          </m:r>
                        </m:e>
                        <m:sub>
                          <m:r>
                            <a:rPr lang="es-ES" sz="2400" i="1">
                              <a:solidFill>
                                <a:srgbClr val="1F4E79"/>
                              </a:solidFill>
                              <a:latin typeface="Cambria Math" panose="02040503050406030204" pitchFamily="18" charset="0"/>
                            </a:rPr>
                            <m:t xml:space="preserve">R</m:t>
                          </m:r>
                        </m:sub>
                      </m:sSub>
                      <m:r>
                        <a:rPr lang="es-ES" sz="2400" i="1">
                          <a:solidFill>
                            <a:srgbClr val="1F4E79"/>
                          </a:solidFill>
                          <a:latin typeface="Cambria Math" panose="02040503050406030204" pitchFamily="18" charset="0"/>
                        </a:rPr>
                        <m:t xml:space="preserve">≈</m:t>
                      </m:r>
                      <m:f>
                        <m:fPr>
                          <m:ctrlPr>
                            <a:rPr lang="es-ES" sz="2400" i="1">
                              <a:latin typeface="Cambria Math" panose="02040503050406030204" pitchFamily="18" charset="0"/>
                            </a:rPr>
                          </m:ctrlPr>
                        </m:fPr>
                        <m:num>
                          <m:r>
                            <a:rPr lang="es-ES" sz="2400" i="1">
                              <a:solidFill>
                                <a:srgbClr val="1F4E79"/>
                              </a:solidFill>
                              <a:latin typeface="Cambria Math" panose="02040503050406030204" pitchFamily="18" charset="0"/>
                            </a:rPr>
                            <m:t xml:space="preserve">0,862+1,14ν</m:t>
                          </m:r>
                        </m:num>
                        <m:den>
                          <m:r>
                            <a:rPr lang="es-ES" sz="2400" i="1">
                              <a:solidFill>
                                <a:srgbClr val="1F4E79"/>
                              </a:solidFill>
                              <a:latin typeface="Cambria Math" panose="02040503050406030204" pitchFamily="18" charset="0"/>
                            </a:rPr>
                            <m:t xml:space="preserve">1+ν</m:t>
                          </m:r>
                        </m:den>
                      </m:f>
                      <m:r>
                        <a:rPr lang="es-ES" sz="2400" i="1">
                          <a:solidFill>
                            <a:srgbClr val="1F4E79"/>
                          </a:solidFill>
                          <a:latin typeface="Cambria Math" panose="02040503050406030204" pitchFamily="18" charset="0"/>
                        </a:rPr>
                        <m:t xml:space="preserve">·</m:t>
                      </m:r>
                      <m:sSub>
                        <m:sSubPr>
                          <m:ctrlPr>
                            <a:rPr lang="es-ES" sz="2400" i="1">
                              <a:latin typeface="Cambria Math" panose="02040503050406030204" pitchFamily="18" charset="0"/>
                            </a:rPr>
                          </m:ctrlPr>
                        </m:sSubPr>
                        <m:e>
                          <m:r>
                            <a:rPr lang="es-ES" sz="2400" i="1">
                              <a:solidFill>
                                <a:srgbClr val="1F4E79"/>
                              </a:solidFill>
                              <a:latin typeface="Cambria Math" panose="02040503050406030204" pitchFamily="18" charset="0"/>
                            </a:rPr>
                            <m:t xml:space="preserve">V</m:t>
                          </m:r>
                        </m:e>
                        <m:sub>
                          <m:r>
                            <a:rPr lang="es-ES" sz="2400" i="1">
                              <a:solidFill>
                                <a:srgbClr val="1F4E79"/>
                              </a:solidFill>
                              <a:latin typeface="Cambria Math" panose="02040503050406030204" pitchFamily="18" charset="0"/>
                            </a:rPr>
                            <m:t xml:space="preserve">s</m:t>
                          </m:r>
                        </m:sub>
                      </m:sSub>
                    </m:oMath>
                  </m:oMathPara>
                </a14:m>
                <a:endParaRPr lang="es-ES"/>
              </a:p>
            </p:txBody>
          </p:sp>
        </mc:Choice>
        <mc:Fallback>
          <p:sp>
            <p:nvSpPr>
              <p:cNvPr id="7" name="Ecuación E_crnu"/>
              <p:cNvSpPr txBox="1"/>
              <p:nvPr/>
            </p:nvSpPr>
            <p:spPr>
              <a:xfrm>
                <a:off x="4937760" y="2103120"/>
                <a:ext cx="3749040" cy="91440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cR ≈ (0,862 + 1,14ν)/(1 + ν) · Vs</a:t>
                </a:r>
                <a:endParaRPr lang="en-US" sz="2400" dirty="0"/>
              </a:p>
            </p:txBody>
          </p:sp>
        </mc:Fallback>
      </mc:AlternateContent>
      <p:sp>
        <p:nvSpPr>
          <p:cNvPr id="8" name="Cuerpo"/>
          <p:cNvSpPr txBox="1"/>
          <p:nvPr/>
        </p:nvSpPr>
        <p:spPr>
          <a:xfrm>
            <a:off x="4937760" y="3154680"/>
            <a:ext cx="3749040" cy="1371600"/>
          </a:xfrm>
          <a:prstGeom prst="rect">
            <a:avLst/>
          </a:prstGeom>
          <a:noFill/>
          <a:ln/>
        </p:spPr>
        <p:txBody>
          <a:bodyPr wrap="square" lIns="0" tIns="0" rIns="0" bIns="0" rtlCol="0" anchor="t"/>
          <a:lstStyle/>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cR / Vs va de 0,86 a 0,95 según ν</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No hay dispersión: todas las frecuencias van a la misma cR</a:t>
            </a:r>
            <a:endParaRPr lang="en-US" sz="1600" dirty="0"/>
          </a:p>
          <a:p>
            <a:pPr marL="342900" indent="-342900">
              <a:spcAft>
                <a:spcPts val="800"/>
              </a:spcAft>
              <a:buSzPct val="100000"/>
              <a:buChar char="•"/>
            </a:pPr>
            <a:r>
              <a:rPr lang="en-US" sz="1600" dirty="0">
                <a:solidFill>
                  <a:srgbClr val="2D2D2D"/>
                </a:solidFill>
                <a:latin typeface="Arial" pitchFamily="34" charset="0"/>
                <a:ea typeface="Arial" pitchFamily="34" charset="-122"/>
                <a:cs typeface="Arial" pitchFamily="34" charset="-120"/>
              </a:rPr>
              <a:t>Vs ≈ cR / 0,9</a:t>
            </a:r>
            <a:endParaRPr lang="en-US" sz="1600" dirty="0"/>
          </a:p>
        </p:txBody>
      </p:sp>
      <p:sp>
        <p:nvSpPr>
          <p:cNvPr id="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Aproximación de Viktorov (1967), en Foti et al. (2014), cap. 2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En un terreno estratificado, la velocidad de corte cambia con la profundidad</a:t>
            </a:r>
            <a:endParaRPr lang="en-US" sz="2400" dirty="0"/>
          </a:p>
        </p:txBody>
      </p:sp>
      <p:pic>
        <p:nvPicPr>
          <p:cNvPr id="3" name="Perfil Vs" descr="Perfil de Vs en escalones: 150, 250 y 450 m/s con la profundidad">    </p:cNvPr>
          <p:cNvPicPr>
            <a:picLocks noChangeAspect="1"/>
          </p:cNvPicPr>
          <p:nvPr/>
        </p:nvPicPr>
        <p:blipFill>
          <a:blip r:embed="rId1"/>
          <a:stretch>
            <a:fillRect/>
          </a:stretch>
        </p:blipFill>
        <p:spPr>
          <a:xfrm>
            <a:off x="457200" y="1280160"/>
            <a:ext cx="4023360" cy="3108960"/>
          </a:xfrm>
          <a:prstGeom prst="rect">
            <a:avLst/>
          </a:prstGeom>
        </p:spPr>
      </p:pic>
      <p:sp>
        <p:nvSpPr>
          <p:cNvPr id="4" name="Cuerpo"/>
          <p:cNvSpPr txBox="1"/>
          <p:nvPr/>
        </p:nvSpPr>
        <p:spPr>
          <a:xfrm>
            <a:off x="4754880" y="1371600"/>
            <a:ext cx="3931920" cy="3017520"/>
          </a:xfrm>
          <a:prstGeom prst="rect">
            <a:avLst/>
          </a:prstGeom>
          <a:noFill/>
          <a:ln/>
        </p:spPr>
        <p:txBody>
          <a:bodyPr wrap="square" lIns="0" tIns="0" rIns="0" bIns="0" rtlCol="0" anchor="t"/>
          <a:lstStyle/>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Vs suele aumentar con la profundidad</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Ejemplo: tres capas, 150, 250 y 450 m/s</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Lo que queremos conocer es Vs(z)</a:t>
            </a:r>
            <a:endParaRPr lang="en-US" sz="2000" dirty="0"/>
          </a:p>
          <a:p>
            <a:pPr marL="342900" indent="-342900">
              <a:spcAft>
                <a:spcPts val="1200"/>
              </a:spcAft>
              <a:buSzPct val="100000"/>
              <a:buChar char="•"/>
            </a:pPr>
            <a:r>
              <a:rPr lang="en-US" sz="2000" dirty="0">
                <a:solidFill>
                  <a:srgbClr val="2D2D2D"/>
                </a:solidFill>
                <a:latin typeface="Arial" pitchFamily="34" charset="0"/>
                <a:ea typeface="Arial" pitchFamily="34" charset="-122"/>
                <a:cs typeface="Arial" pitchFamily="34" charset="-120"/>
              </a:rPr>
              <a:t>Con Vs(z) se estima Gmax(z)</a:t>
            </a:r>
            <a:endParaRPr lang="en-US" sz="20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Modelo de ejemplo propio (ilustrativo): 3 capas, ν = 0,3.</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Cada frecuencia tiene una longitud de onda, y cada longitud de onda llega a una profundidad distinta</a:t>
            </a:r>
            <a:endParaRPr lang="en-US" sz="2400" dirty="0"/>
          </a:p>
        </p:txBody>
      </p:sp>
      <p:pic>
        <p:nvPicPr>
          <p:cNvPr id="3" name="Esquema longitud de onda" descr="Esquema: a 15 Hz la longitud de onda es de unos 12 m y sensa la capa superior; a 5 Hz es de unos 70 m y llega a capas profundas">    </p:cNvPr>
          <p:cNvPicPr>
            <a:picLocks noChangeAspect="1"/>
          </p:cNvPicPr>
          <p:nvPr/>
        </p:nvPicPr>
        <p:blipFill>
          <a:blip r:embed="rId1"/>
          <a:stretch>
            <a:fillRect/>
          </a:stretch>
        </p:blipFill>
        <p:spPr>
          <a:xfrm>
            <a:off x="457200" y="1325880"/>
            <a:ext cx="4937760" cy="3108960"/>
          </a:xfrm>
          <a:prstGeom prst="rect">
            <a:avLst/>
          </a:prstGeom>
        </p:spPr>
      </p:pic>
      <p:sp>
        <p:nvSpPr>
          <p:cNvPr id="4" name="Fondo lambda"/>
          <p:cNvSpPr/>
          <p:nvPr/>
        </p:nvSpPr>
        <p:spPr>
          <a:xfrm>
            <a:off x="5669280" y="1325880"/>
            <a:ext cx="3017520" cy="777240"/>
          </a:xfrm>
          <a:prstGeom prst="rect">
            <a:avLst/>
          </a:prstGeom>
          <a:solidFill>
            <a:srgbClr val="EAF1F8"/>
          </a:solidFill>
          <a:ln w="12700">
            <a:solidFill>
              <a:srgbClr val="EAF1F8"/>
            </a:solidFill>
            <a:prstDash val="solid"/>
          </a:ln>
        </p:spPr>
      </p:sp>
      <mc:AlternateContent xmlns:mc="http://schemas.openxmlformats.org/markup-compatibility/2006">
        <mc:Choice xmlns:a14="http://schemas.microsoft.com/office/drawing/2010/main" Requires="a14">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14:m xmlns:a14="http://schemas.microsoft.com/office/drawing/2010/main">
                  <m:oMathPara xmlns:m="http://schemas.openxmlformats.org/officeDocument/2006/math">
                    <m:oMathParaPr>
                      <m:jc m:val="center"/>
                    </m:oMathParaPr>
                    <m:oMath>
                      <m:r>
                        <a:rPr lang="es-ES" sz="2800" i="1">
                          <a:solidFill>
                            <a:srgbClr val="1F4E79"/>
                          </a:solidFill>
                          <a:latin typeface="Cambria Math" panose="02040503050406030204" pitchFamily="18" charset="0"/>
                        </a:rPr>
                        <m:t xml:space="preserve">λ=</m:t>
                      </m:r>
                      <m:f>
                        <m:fPr>
                          <m:ctrlPr>
                            <a:rPr lang="es-ES" sz="2800" i="1">
                              <a:latin typeface="Cambria Math" panose="02040503050406030204" pitchFamily="18" charset="0"/>
                            </a:rPr>
                          </m:ctrlPr>
                        </m:fPr>
                        <m:num>
                          <m:r>
                            <a:rPr lang="es-ES" sz="2800" i="1">
                              <a:solidFill>
                                <a:srgbClr val="1F4E79"/>
                              </a:solidFill>
                              <a:latin typeface="Cambria Math" panose="02040503050406030204" pitchFamily="18" charset="0"/>
                            </a:rPr>
                            <m:t xml:space="preserve">c</m:t>
                          </m:r>
                        </m:num>
                        <m:den>
                          <m:r>
                            <a:rPr lang="es-ES" sz="2800" i="1">
                              <a:solidFill>
                                <a:srgbClr val="1F4E79"/>
                              </a:solidFill>
                              <a:latin typeface="Cambria Math" panose="02040503050406030204" pitchFamily="18" charset="0"/>
                            </a:rPr>
                            <m:t xml:space="preserve">f</m:t>
                          </m:r>
                        </m:den>
                      </m:f>
                    </m:oMath>
                  </m:oMathPara>
                </a14:m>
                <a:endParaRPr lang="es-ES"/>
              </a:p>
            </p:txBody>
          </p:sp>
        </mc:Choice>
        <mc:Fallback>
          <p:sp>
            <p:nvSpPr>
              <p:cNvPr id="5" name="Ecuación E_lam"/>
              <p:cNvSpPr txBox="1"/>
              <p:nvPr/>
            </p:nvSpPr>
            <p:spPr>
              <a:xfrm>
                <a:off x="5669280" y="1325880"/>
                <a:ext cx="3017520" cy="777240"/>
              </a:xfrm>
              <a:prstGeom prst="rect">
                <a:avLst/>
              </a:prstGeom>
              <a:noFill/>
              <a:ln/>
            </p:spPr>
            <p:txBody>
              <a:bodyPr wrap="square" lIns="0" tIns="0" rIns="0" bIns="0" rtlCol="0" anchor="ctr"/>
              <a:lstStyle/>
              <a:p>
                <a:pPr algn="ctr" indent="0" marL="0">
                  <a:buNone/>
                </a:pPr>
                <a:r>
                  <a:rPr lang="en-US" sz="2400" dirty="0">
                    <a:solidFill>
                      <a:srgbClr val="1F4E79"/>
                    </a:solidFill>
                    <a:latin typeface="Arial" pitchFamily="34" charset="0"/>
                    <a:ea typeface="Arial" pitchFamily="34" charset="-122"/>
                    <a:cs typeface="Arial" pitchFamily="34" charset="-120"/>
                  </a:rPr>
                  <a:t>λ = c / f</a:t>
                </a:r>
                <a:endParaRPr lang="en-US" sz="2400" dirty="0"/>
              </a:p>
            </p:txBody>
          </p:sp>
        </mc:Fallback>
      </mc:AlternateContent>
      <p:sp>
        <p:nvSpPr>
          <p:cNvPr id="6" name="Cuerpo"/>
          <p:cNvSpPr txBox="1"/>
          <p:nvPr/>
        </p:nvSpPr>
        <p:spPr>
          <a:xfrm>
            <a:off x="5669280" y="2286000"/>
            <a:ext cx="3017520" cy="21945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λ grande, llega más profundo</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λ corta, sensa lo superficial</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Profundidad ≈ λ/3 a λ/2: regla empírica</a:t>
            </a:r>
            <a:endParaRPr lang="en-US" sz="1600" dirty="0"/>
          </a:p>
        </p:txBody>
      </p:sp>
      <p:sp>
        <p:nvSpPr>
          <p:cNvPr id="7"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(c de la curva de la slide 41). Regla λ/3–λ/2: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Como cada capa tiene una Vs distinta, la velocidad de la Rayleigh depende de la frecuencia: dispersión</a:t>
            </a:r>
            <a:endParaRPr lang="en-US" sz="2400" dirty="0"/>
          </a:p>
        </p:txBody>
      </p:sp>
      <p:graphicFrame>
        <p:nvGraphicFramePr>
          <p:cNvPr id="3" name="Chart 0" descr=""/>
          <p:cNvGraphicFramePr/>
          <p:nvPr/>
        </p:nvGraphicFramePr>
        <p:xfrm>
          <a:off x="457200" y="1280160"/>
          <a:ext cx="5212080" cy="3200400"/>
        </p:xfrm>
        <a:graphic xmlns:a="http://schemas.openxmlformats.org/drawingml/2006/main">
          <a:graphicData uri="http://schemas.openxmlformats.org/drawingml/2006/chart">
            <c:chart xmlns:c="http://schemas.openxmlformats.org/drawingml/2006/chart" r:id="rId1"/>
          </a:graphicData>
        </a:graphic>
      </p:graphicFrame>
      <p:sp>
        <p:nvSpPr>
          <p:cNvPr id="4" name="Cuerpo"/>
          <p:cNvSpPr txBox="1"/>
          <p:nvPr/>
        </p:nvSpPr>
        <p:spPr>
          <a:xfrm>
            <a:off x="5852160" y="1371600"/>
            <a:ext cx="2834640" cy="3108960"/>
          </a:xfrm>
          <a:prstGeom prst="rect">
            <a:avLst/>
          </a:prstGeom>
          <a:noFill/>
          <a:ln/>
        </p:spPr>
        <p:txBody>
          <a:bodyPr wrap="square" lIns="0" tIns="0" rIns="0" bIns="0" rtlCol="0" anchor="t"/>
          <a:lstStyle/>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c depende de f: hay dispersión</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Alta frecuencia: c ≈ 0,93·Vs de la capa superior</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Baja frecuencia: c tiende a 0,93·Vs del medio inferior</a:t>
            </a:r>
            <a:endParaRPr lang="en-US" sz="1600" dirty="0"/>
          </a:p>
          <a:p>
            <a:pPr marL="342900" indent="-342900">
              <a:spcAft>
                <a:spcPts val="1000"/>
              </a:spcAft>
              <a:buSzPct val="100000"/>
              <a:buChar char="•"/>
            </a:pPr>
            <a:r>
              <a:rPr lang="en-US" sz="1600" dirty="0">
                <a:solidFill>
                  <a:srgbClr val="2D2D2D"/>
                </a:solidFill>
                <a:latin typeface="Arial" pitchFamily="34" charset="0"/>
                <a:ea typeface="Arial" pitchFamily="34" charset="-122"/>
                <a:cs typeface="Arial" pitchFamily="34" charset="-120"/>
              </a:rPr>
              <a:t>Por eso λ = c/f no da una profundidad fija</a:t>
            </a:r>
            <a:endParaRPr lang="en-US" sz="1600" dirty="0"/>
          </a:p>
        </p:txBody>
      </p:sp>
      <p:sp>
        <p:nvSpPr>
          <p:cNvPr id="5"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Cálculo propio con disba (Luu, 2021), modelo de la slide 39.</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ajusta un perfil Vs(z) hasta que su curva teórica coincide con la medida</a:t>
            </a:r>
            <a:endParaRPr lang="en-US" sz="2400" dirty="0"/>
          </a:p>
        </p:txBody>
      </p:sp>
      <p:sp>
        <p:nvSpPr>
          <p:cNvPr id="3" name="Registros"/>
          <p:cNvSpPr/>
          <p:nvPr/>
        </p:nvSpPr>
        <p:spPr>
          <a:xfrm>
            <a:off x="457200" y="1371600"/>
            <a:ext cx="1828800" cy="868680"/>
          </a:xfrm>
          <a:prstGeom prst="roundRect">
            <a:avLst>
              <a:gd name="adj" fmla="val 8421"/>
            </a:avLst>
          </a:prstGeom>
          <a:solidFill>
            <a:srgbClr val="2E75B6"/>
          </a:solidFill>
          <a:ln w="12700">
            <a:solidFill>
              <a:srgbClr val="2E75B6"/>
            </a:solidFill>
            <a:prstDash val="solid"/>
          </a:ln>
        </p:spPr>
      </p:sp>
      <p:sp>
        <p:nvSpPr>
          <p:cNvPr id="4" name="Text 2"/>
          <p:cNvSpPr txBox="1"/>
          <p:nvPr/>
        </p:nvSpPr>
        <p:spPr>
          <a:xfrm>
            <a:off x="457200" y="13716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Registros de campo</a:t>
            </a:r>
            <a:endParaRPr lang="en-US" sz="1600" dirty="0"/>
          </a:p>
        </p:txBody>
      </p:sp>
      <p:sp>
        <p:nvSpPr>
          <p:cNvPr id="5" name="Curva experimental"/>
          <p:cNvSpPr/>
          <p:nvPr/>
        </p:nvSpPr>
        <p:spPr>
          <a:xfrm>
            <a:off x="2743200" y="1371600"/>
            <a:ext cx="2194560" cy="868680"/>
          </a:xfrm>
          <a:prstGeom prst="roundRect">
            <a:avLst>
              <a:gd name="adj" fmla="val 8421"/>
            </a:avLst>
          </a:prstGeom>
          <a:solidFill>
            <a:srgbClr val="2E75B6"/>
          </a:solidFill>
          <a:ln w="12700">
            <a:solidFill>
              <a:srgbClr val="2E75B6"/>
            </a:solidFill>
            <a:prstDash val="solid"/>
          </a:ln>
        </p:spPr>
      </p:sp>
      <p:sp>
        <p:nvSpPr>
          <p:cNvPr id="6" name="Text 4"/>
          <p:cNvSpPr txBox="1"/>
          <p:nvPr/>
        </p:nvSpPr>
        <p:spPr>
          <a:xfrm>
            <a:off x="2743200" y="13716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de dispersión experimental</a:t>
            </a:r>
            <a:endParaRPr lang="en-US" sz="1600" dirty="0"/>
          </a:p>
        </p:txBody>
      </p:sp>
      <p:sp>
        <p:nvSpPr>
          <p:cNvPr id="7" name="Comparar"/>
          <p:cNvSpPr/>
          <p:nvPr/>
        </p:nvSpPr>
        <p:spPr>
          <a:xfrm>
            <a:off x="5394960" y="1371600"/>
            <a:ext cx="1554480" cy="868680"/>
          </a:xfrm>
          <a:prstGeom prst="roundRect">
            <a:avLst>
              <a:gd name="adj" fmla="val 8421"/>
            </a:avLst>
          </a:prstGeom>
          <a:solidFill>
            <a:srgbClr val="1F4E79"/>
          </a:solidFill>
          <a:ln w="12700">
            <a:solidFill>
              <a:srgbClr val="1F4E79"/>
            </a:solidFill>
            <a:prstDash val="solid"/>
          </a:ln>
        </p:spPr>
      </p:sp>
      <p:sp>
        <p:nvSpPr>
          <p:cNvPr id="8" name="Text 6"/>
          <p:cNvSpPr txBox="1"/>
          <p:nvPr/>
        </p:nvSpPr>
        <p:spPr>
          <a:xfrm>
            <a:off x="5394960" y="1371600"/>
            <a:ext cx="155448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Comparar</a:t>
            </a:r>
            <a:endParaRPr lang="en-US" sz="1600" dirty="0"/>
          </a:p>
        </p:txBody>
      </p:sp>
      <p:sp>
        <p:nvSpPr>
          <p:cNvPr id="9" name="Perfil final"/>
          <p:cNvSpPr/>
          <p:nvPr/>
        </p:nvSpPr>
        <p:spPr>
          <a:xfrm>
            <a:off x="7315200" y="1371600"/>
            <a:ext cx="1371600" cy="868680"/>
          </a:xfrm>
          <a:prstGeom prst="roundRect">
            <a:avLst>
              <a:gd name="adj" fmla="val 8421"/>
            </a:avLst>
          </a:prstGeom>
          <a:solidFill>
            <a:srgbClr val="C55A11"/>
          </a:solidFill>
          <a:ln w="12700">
            <a:solidFill>
              <a:srgbClr val="C55A11"/>
            </a:solidFill>
            <a:prstDash val="solid"/>
          </a:ln>
        </p:spPr>
      </p:sp>
      <p:sp>
        <p:nvSpPr>
          <p:cNvPr id="10" name="Text 8"/>
          <p:cNvSpPr txBox="1"/>
          <p:nvPr/>
        </p:nvSpPr>
        <p:spPr>
          <a:xfrm>
            <a:off x="7315200" y="1371600"/>
            <a:ext cx="13716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Perfil Vs(z)</a:t>
            </a:r>
            <a:endParaRPr lang="en-US" sz="1600" dirty="0"/>
          </a:p>
        </p:txBody>
      </p:sp>
      <p:sp>
        <p:nvSpPr>
          <p:cNvPr id="11" name="Shape 9"/>
          <p:cNvSpPr/>
          <p:nvPr/>
        </p:nvSpPr>
        <p:spPr>
          <a:xfrm>
            <a:off x="2286000" y="1805940"/>
            <a:ext cx="457200" cy="0"/>
          </a:xfrm>
          <a:prstGeom prst="line">
            <a:avLst/>
          </a:prstGeom>
          <a:noFill/>
          <a:ln w="31750">
            <a:solidFill>
              <a:srgbClr val="1F4E79"/>
            </a:solidFill>
            <a:prstDash val="solid"/>
            <a:tailEnd type="triangle"/>
          </a:ln>
        </p:spPr>
      </p:sp>
      <p:sp>
        <p:nvSpPr>
          <p:cNvPr id="12" name="Shape 10"/>
          <p:cNvSpPr/>
          <p:nvPr/>
        </p:nvSpPr>
        <p:spPr>
          <a:xfrm>
            <a:off x="4937760" y="1805940"/>
            <a:ext cx="457200" cy="0"/>
          </a:xfrm>
          <a:prstGeom prst="line">
            <a:avLst/>
          </a:prstGeom>
          <a:noFill/>
          <a:ln w="31750">
            <a:solidFill>
              <a:srgbClr val="1F4E79"/>
            </a:solidFill>
            <a:prstDash val="solid"/>
            <a:tailEnd type="triangle"/>
          </a:ln>
        </p:spPr>
      </p:sp>
      <p:sp>
        <p:nvSpPr>
          <p:cNvPr id="13" name="Shape 11"/>
          <p:cNvSpPr/>
          <p:nvPr/>
        </p:nvSpPr>
        <p:spPr>
          <a:xfrm>
            <a:off x="6949440" y="1805940"/>
            <a:ext cx="365760" cy="0"/>
          </a:xfrm>
          <a:prstGeom prst="line">
            <a:avLst/>
          </a:prstGeom>
          <a:noFill/>
          <a:ln w="31750">
            <a:solidFill>
              <a:srgbClr val="C55A11"/>
            </a:solidFill>
            <a:prstDash val="solid"/>
            <a:tailEnd type="triangle"/>
          </a:ln>
        </p:spPr>
      </p:sp>
      <p:sp>
        <p:nvSpPr>
          <p:cNvPr id="14" name="Text 12"/>
          <p:cNvSpPr txBox="1"/>
          <p:nvPr/>
        </p:nvSpPr>
        <p:spPr>
          <a:xfrm>
            <a:off x="6812280" y="1051560"/>
            <a:ext cx="1097280" cy="274320"/>
          </a:xfrm>
          <a:prstGeom prst="rect">
            <a:avLst/>
          </a:prstGeom>
          <a:noFill/>
          <a:ln/>
        </p:spPr>
        <p:txBody>
          <a:bodyPr wrap="square" lIns="0" tIns="0" rIns="0" bIns="0" rtlCol="0" anchor="t"/>
          <a:lstStyle/>
          <a:p>
            <a:pPr algn="ctr" indent="0" marL="0">
              <a:buNone/>
            </a:pPr>
            <a:r>
              <a:rPr lang="en-US" sz="1400" dirty="0">
                <a:solidFill>
                  <a:srgbClr val="C55A11"/>
                </a:solidFill>
                <a:latin typeface="Arial" pitchFamily="34" charset="0"/>
                <a:ea typeface="Arial" pitchFamily="34" charset="-122"/>
                <a:cs typeface="Arial" pitchFamily="34" charset="-120"/>
              </a:rPr>
              <a:t>coinciden</a:t>
            </a:r>
            <a:endParaRPr lang="en-US" sz="1400" dirty="0"/>
          </a:p>
        </p:txBody>
      </p:sp>
      <p:sp>
        <p:nvSpPr>
          <p:cNvPr id="15" name="Modelo"/>
          <p:cNvSpPr/>
          <p:nvPr/>
        </p:nvSpPr>
        <p:spPr>
          <a:xfrm>
            <a:off x="457200" y="2971800"/>
            <a:ext cx="1828800" cy="868680"/>
          </a:xfrm>
          <a:prstGeom prst="roundRect">
            <a:avLst>
              <a:gd name="adj" fmla="val 8421"/>
            </a:avLst>
          </a:prstGeom>
          <a:solidFill>
            <a:srgbClr val="6B6B6B"/>
          </a:solidFill>
          <a:ln w="12700">
            <a:solidFill>
              <a:srgbClr val="6B6B6B"/>
            </a:solidFill>
            <a:prstDash val="solid"/>
          </a:ln>
        </p:spPr>
      </p:sp>
      <p:sp>
        <p:nvSpPr>
          <p:cNvPr id="16" name="Text 14"/>
          <p:cNvSpPr txBox="1"/>
          <p:nvPr/>
        </p:nvSpPr>
        <p:spPr>
          <a:xfrm>
            <a:off x="457200" y="2971800"/>
            <a:ext cx="182880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Modelo Vs(z) propuesto</a:t>
            </a:r>
            <a:endParaRPr lang="en-US" sz="1600" dirty="0"/>
          </a:p>
        </p:txBody>
      </p:sp>
      <p:sp>
        <p:nvSpPr>
          <p:cNvPr id="17" name="Curva teórica"/>
          <p:cNvSpPr/>
          <p:nvPr/>
        </p:nvSpPr>
        <p:spPr>
          <a:xfrm>
            <a:off x="2743200" y="2971800"/>
            <a:ext cx="2194560" cy="868680"/>
          </a:xfrm>
          <a:prstGeom prst="roundRect">
            <a:avLst>
              <a:gd name="adj" fmla="val 8421"/>
            </a:avLst>
          </a:prstGeom>
          <a:solidFill>
            <a:srgbClr val="6B6B6B"/>
          </a:solidFill>
          <a:ln w="12700">
            <a:solidFill>
              <a:srgbClr val="6B6B6B"/>
            </a:solidFill>
            <a:prstDash val="solid"/>
          </a:ln>
        </p:spPr>
      </p:sp>
      <p:sp>
        <p:nvSpPr>
          <p:cNvPr id="18" name="Text 16"/>
          <p:cNvSpPr txBox="1"/>
          <p:nvPr/>
        </p:nvSpPr>
        <p:spPr>
          <a:xfrm>
            <a:off x="2743200" y="2971800"/>
            <a:ext cx="2194560" cy="868680"/>
          </a:xfrm>
          <a:prstGeom prst="rect">
            <a:avLst/>
          </a:prstGeom>
          <a:noFill/>
          <a:ln/>
        </p:spPr>
        <p:txBody>
          <a:bodyPr wrap="square" lIns="50800" tIns="50800" rIns="50800" bIns="50800"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Curva teórica del modelo</a:t>
            </a:r>
            <a:endParaRPr lang="en-US" sz="1600" dirty="0"/>
          </a:p>
        </p:txBody>
      </p:sp>
      <p:sp>
        <p:nvSpPr>
          <p:cNvPr id="19" name="Shape 17"/>
          <p:cNvSpPr/>
          <p:nvPr/>
        </p:nvSpPr>
        <p:spPr>
          <a:xfrm>
            <a:off x="2286000" y="3406140"/>
            <a:ext cx="457200" cy="0"/>
          </a:xfrm>
          <a:prstGeom prst="line">
            <a:avLst/>
          </a:prstGeom>
          <a:noFill/>
          <a:ln w="31750">
            <a:solidFill>
              <a:srgbClr val="6B6B6B"/>
            </a:solidFill>
            <a:prstDash val="solid"/>
            <a:tailEnd type="triangle"/>
          </a:ln>
        </p:spPr>
      </p:sp>
      <p:sp>
        <p:nvSpPr>
          <p:cNvPr id="20" name="Shape 18"/>
          <p:cNvSpPr/>
          <p:nvPr/>
        </p:nvSpPr>
        <p:spPr>
          <a:xfrm>
            <a:off x="4937760" y="3406140"/>
            <a:ext cx="640080" cy="0"/>
          </a:xfrm>
          <a:prstGeom prst="line">
            <a:avLst/>
          </a:prstGeom>
          <a:noFill/>
          <a:ln w="31750">
            <a:solidFill>
              <a:srgbClr val="6B6B6B"/>
            </a:solidFill>
            <a:prstDash val="solid"/>
          </a:ln>
        </p:spPr>
      </p:sp>
      <p:sp>
        <p:nvSpPr>
          <p:cNvPr id="21" name="Shape 19"/>
          <p:cNvSpPr/>
          <p:nvPr/>
        </p:nvSpPr>
        <p:spPr>
          <a:xfrm flipV="1">
            <a:off x="5577840" y="2240280"/>
            <a:ext cx="0" cy="1165860"/>
          </a:xfrm>
          <a:prstGeom prst="line">
            <a:avLst/>
          </a:prstGeom>
          <a:noFill/>
          <a:ln w="31750">
            <a:solidFill>
              <a:srgbClr val="6B6B6B"/>
            </a:solidFill>
            <a:prstDash val="solid"/>
            <a:tailEnd type="triangle"/>
          </a:ln>
        </p:spPr>
      </p:sp>
      <p:sp>
        <p:nvSpPr>
          <p:cNvPr id="22" name="Text 20"/>
          <p:cNvSpPr txBox="1"/>
          <p:nvPr/>
        </p:nvSpPr>
        <p:spPr>
          <a:xfrm>
            <a:off x="1371600" y="4297680"/>
            <a:ext cx="5303520" cy="274320"/>
          </a:xfrm>
          <a:prstGeom prst="rect">
            <a:avLst/>
          </a:prstGeom>
          <a:noFill/>
          <a:ln/>
        </p:spPr>
        <p:txBody>
          <a:bodyPr wrap="square" lIns="0" tIns="0" rIns="0" bIns="0" rtlCol="0" anchor="t"/>
          <a:lstStyle/>
          <a:p>
            <a:pPr algn="ctr" indent="0" marL="0">
              <a:buNone/>
            </a:pPr>
            <a:r>
              <a:rPr lang="en-US" sz="1600" b="1" dirty="0">
                <a:solidFill>
                  <a:srgbClr val="C55A11"/>
                </a:solidFill>
                <a:latin typeface="Arial" pitchFamily="34" charset="0"/>
                <a:ea typeface="Arial" pitchFamily="34" charset="-122"/>
                <a:cs typeface="Arial" pitchFamily="34" charset="-120"/>
              </a:rPr>
              <a:t>No coinciden: se modifica Vs(z)</a:t>
            </a:r>
            <a:endParaRPr lang="en-US" sz="1600" dirty="0"/>
          </a:p>
        </p:txBody>
      </p:sp>
      <p:sp>
        <p:nvSpPr>
          <p:cNvPr id="23" name="Shape 21"/>
          <p:cNvSpPr/>
          <p:nvPr/>
        </p:nvSpPr>
        <p:spPr>
          <a:xfrm>
            <a:off x="6675120" y="2240280"/>
            <a:ext cx="0" cy="2011680"/>
          </a:xfrm>
          <a:prstGeom prst="line">
            <a:avLst/>
          </a:prstGeom>
          <a:noFill/>
          <a:ln w="31750">
            <a:solidFill>
              <a:srgbClr val="C55A11"/>
            </a:solidFill>
            <a:prstDash val="solid"/>
          </a:ln>
        </p:spPr>
      </p:sp>
      <p:sp>
        <p:nvSpPr>
          <p:cNvPr id="24" name="Shape 22"/>
          <p:cNvSpPr/>
          <p:nvPr/>
        </p:nvSpPr>
        <p:spPr>
          <a:xfrm>
            <a:off x="1371600" y="4251960"/>
            <a:ext cx="5303520" cy="0"/>
          </a:xfrm>
          <a:prstGeom prst="line">
            <a:avLst/>
          </a:prstGeom>
          <a:noFill/>
          <a:ln w="31750">
            <a:solidFill>
              <a:srgbClr val="C55A11"/>
            </a:solidFill>
            <a:prstDash val="solid"/>
          </a:ln>
        </p:spPr>
      </p:sp>
      <p:sp>
        <p:nvSpPr>
          <p:cNvPr id="25" name="Shape 23"/>
          <p:cNvSpPr/>
          <p:nvPr/>
        </p:nvSpPr>
        <p:spPr>
          <a:xfrm>
            <a:off x="1371600" y="3840480"/>
            <a:ext cx="0" cy="411480"/>
          </a:xfrm>
          <a:prstGeom prst="line">
            <a:avLst/>
          </a:prstGeom>
          <a:noFill/>
          <a:ln w="31750">
            <a:solidFill>
              <a:srgbClr val="C55A11"/>
            </a:solidFill>
            <a:prstDash val="solid"/>
            <a:headEnd type="triangle"/>
          </a:ln>
        </p:spPr>
      </p:sp>
      <p:sp>
        <p:nvSpPr>
          <p:cNvPr id="26"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Esquema propio sobre el procedimiento general de inversión (Foti et al., 2014, a confirmar).</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ítulo"/>
          <p:cNvSpPr txBox="1"/>
          <p:nvPr/>
        </p:nvSpPr>
        <p:spPr>
          <a:xfrm>
            <a:off x="457200" y="274320"/>
            <a:ext cx="8229600" cy="868680"/>
          </a:xfrm>
          <a:prstGeom prst="rect">
            <a:avLst/>
          </a:prstGeom>
          <a:noFill/>
          <a:ln/>
        </p:spPr>
        <p:txBody>
          <a:bodyPr wrap="square" lIns="0" tIns="0" rIns="0" bIns="0" rtlCol="0" anchor="t"/>
          <a:lstStyle/>
          <a:p>
            <a:pPr indent="0" marL="0">
              <a:buNone/>
            </a:pPr>
            <a:r>
              <a:rPr lang="en-US" sz="2400" b="1" dirty="0">
                <a:solidFill>
                  <a:srgbClr val="1F4E79"/>
                </a:solidFill>
                <a:latin typeface="Arial" pitchFamily="34" charset="0"/>
                <a:ea typeface="Arial" pitchFamily="34" charset="-122"/>
                <a:cs typeface="Arial" pitchFamily="34" charset="-120"/>
              </a:rPr>
              <a:t>La inversión tiene límites: no es única y pierde resolución con la profundidad</a:t>
            </a:r>
            <a:endParaRPr lang="en-US" sz="2400" dirty="0"/>
          </a:p>
        </p:txBody>
      </p:sp>
      <p:sp>
        <p:nvSpPr>
          <p:cNvPr id="3" name="Cabecera No unicidad"/>
          <p:cNvSpPr/>
          <p:nvPr/>
        </p:nvSpPr>
        <p:spPr>
          <a:xfrm>
            <a:off x="457200" y="1325880"/>
            <a:ext cx="4023360" cy="457200"/>
          </a:xfrm>
          <a:prstGeom prst="rect">
            <a:avLst/>
          </a:prstGeom>
          <a:solidFill>
            <a:srgbClr val="1F4E79"/>
          </a:solidFill>
          <a:ln w="12700">
            <a:solidFill>
              <a:srgbClr val="1F4E79"/>
            </a:solidFill>
            <a:prstDash val="solid"/>
          </a:ln>
        </p:spPr>
      </p:sp>
      <p:sp>
        <p:nvSpPr>
          <p:cNvPr id="4" name="Text 2"/>
          <p:cNvSpPr txBox="1"/>
          <p:nvPr/>
        </p:nvSpPr>
        <p:spPr>
          <a:xfrm>
            <a:off x="45720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No unicidad</a:t>
            </a:r>
            <a:endParaRPr lang="en-US" sz="2000" dirty="0"/>
          </a:p>
        </p:txBody>
      </p:sp>
      <p:sp>
        <p:nvSpPr>
          <p:cNvPr id="5" name="Tarjeta No unicidad"/>
          <p:cNvSpPr/>
          <p:nvPr/>
        </p:nvSpPr>
        <p:spPr>
          <a:xfrm>
            <a:off x="457200" y="1783080"/>
            <a:ext cx="4023360" cy="914400"/>
          </a:xfrm>
          <a:prstGeom prst="rect">
            <a:avLst/>
          </a:prstGeom>
          <a:solidFill>
            <a:srgbClr val="FFFFFF"/>
          </a:solidFill>
          <a:ln w="19050">
            <a:solidFill>
              <a:srgbClr val="1F4E79"/>
            </a:solidFill>
            <a:prstDash val="solid"/>
          </a:ln>
        </p:spPr>
      </p:sp>
      <p:sp>
        <p:nvSpPr>
          <p:cNvPr id="6" name="Text 4"/>
          <p:cNvSpPr txBox="1"/>
          <p:nvPr/>
        </p:nvSpPr>
        <p:spPr>
          <a:xfrm>
            <a:off x="59436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Perfiles distintos pueden dar curvas casi iguales</a:t>
            </a:r>
            <a:endParaRPr lang="en-US" sz="1800" dirty="0"/>
          </a:p>
        </p:txBody>
      </p:sp>
      <p:sp>
        <p:nvSpPr>
          <p:cNvPr id="7" name="Cabecera Resolución"/>
          <p:cNvSpPr/>
          <p:nvPr/>
        </p:nvSpPr>
        <p:spPr>
          <a:xfrm>
            <a:off x="4663440" y="1325880"/>
            <a:ext cx="4023360" cy="457200"/>
          </a:xfrm>
          <a:prstGeom prst="rect">
            <a:avLst/>
          </a:prstGeom>
          <a:solidFill>
            <a:srgbClr val="1F4E79"/>
          </a:solidFill>
          <a:ln w="12700">
            <a:solidFill>
              <a:srgbClr val="1F4E79"/>
            </a:solidFill>
            <a:prstDash val="solid"/>
          </a:ln>
        </p:spPr>
      </p:sp>
      <p:sp>
        <p:nvSpPr>
          <p:cNvPr id="8" name="Text 6"/>
          <p:cNvSpPr txBox="1"/>
          <p:nvPr/>
        </p:nvSpPr>
        <p:spPr>
          <a:xfrm>
            <a:off x="4663440" y="132588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Resolución</a:t>
            </a:r>
            <a:endParaRPr lang="en-US" sz="2000" dirty="0"/>
          </a:p>
        </p:txBody>
      </p:sp>
      <p:sp>
        <p:nvSpPr>
          <p:cNvPr id="9" name="Tarjeta Resolución"/>
          <p:cNvSpPr/>
          <p:nvPr/>
        </p:nvSpPr>
        <p:spPr>
          <a:xfrm>
            <a:off x="4663440" y="1783080"/>
            <a:ext cx="4023360" cy="914400"/>
          </a:xfrm>
          <a:prstGeom prst="rect">
            <a:avLst/>
          </a:prstGeom>
          <a:solidFill>
            <a:srgbClr val="FFFFFF"/>
          </a:solidFill>
          <a:ln w="19050">
            <a:solidFill>
              <a:srgbClr val="1F4E79"/>
            </a:solidFill>
            <a:prstDash val="solid"/>
          </a:ln>
        </p:spPr>
      </p:sp>
      <p:sp>
        <p:nvSpPr>
          <p:cNvPr id="10" name="Text 8"/>
          <p:cNvSpPr txBox="1"/>
          <p:nvPr/>
        </p:nvSpPr>
        <p:spPr>
          <a:xfrm>
            <a:off x="4800600" y="182880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Baja con la profundidad: las capas profundas se distinguen peor</a:t>
            </a:r>
            <a:endParaRPr lang="en-US" sz="1800" dirty="0"/>
          </a:p>
        </p:txBody>
      </p:sp>
      <p:sp>
        <p:nvSpPr>
          <p:cNvPr id="11" name="Cabecera Supuestos"/>
          <p:cNvSpPr/>
          <p:nvPr/>
        </p:nvSpPr>
        <p:spPr>
          <a:xfrm>
            <a:off x="457200" y="2880360"/>
            <a:ext cx="4023360" cy="457200"/>
          </a:xfrm>
          <a:prstGeom prst="rect">
            <a:avLst/>
          </a:prstGeom>
          <a:solidFill>
            <a:srgbClr val="1F4E79"/>
          </a:solidFill>
          <a:ln w="12700">
            <a:solidFill>
              <a:srgbClr val="1F4E79"/>
            </a:solidFill>
            <a:prstDash val="solid"/>
          </a:ln>
        </p:spPr>
      </p:sp>
      <p:sp>
        <p:nvSpPr>
          <p:cNvPr id="12" name="Text 10"/>
          <p:cNvSpPr txBox="1"/>
          <p:nvPr/>
        </p:nvSpPr>
        <p:spPr>
          <a:xfrm>
            <a:off x="45720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Supuestos</a:t>
            </a:r>
            <a:endParaRPr lang="en-US" sz="2000" dirty="0"/>
          </a:p>
        </p:txBody>
      </p:sp>
      <p:sp>
        <p:nvSpPr>
          <p:cNvPr id="13" name="Tarjeta Supuestos"/>
          <p:cNvSpPr/>
          <p:nvPr/>
        </p:nvSpPr>
        <p:spPr>
          <a:xfrm>
            <a:off x="457200" y="3337560"/>
            <a:ext cx="4023360" cy="914400"/>
          </a:xfrm>
          <a:prstGeom prst="rect">
            <a:avLst/>
          </a:prstGeom>
          <a:solidFill>
            <a:srgbClr val="FFFFFF"/>
          </a:solidFill>
          <a:ln w="19050">
            <a:solidFill>
              <a:srgbClr val="1F4E79"/>
            </a:solidFill>
            <a:prstDash val="solid"/>
          </a:ln>
        </p:spPr>
      </p:sp>
      <p:sp>
        <p:nvSpPr>
          <p:cNvPr id="14" name="Text 12"/>
          <p:cNvSpPr txBox="1"/>
          <p:nvPr/>
        </p:nvSpPr>
        <p:spPr>
          <a:xfrm>
            <a:off x="59436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El resultado depende del modelo inicial y del número de capas</a:t>
            </a:r>
            <a:endParaRPr lang="en-US" sz="1800" dirty="0"/>
          </a:p>
        </p:txBody>
      </p:sp>
      <p:sp>
        <p:nvSpPr>
          <p:cNvPr id="15" name="Cabecera Datos"/>
          <p:cNvSpPr/>
          <p:nvPr/>
        </p:nvSpPr>
        <p:spPr>
          <a:xfrm>
            <a:off x="4663440" y="2880360"/>
            <a:ext cx="4023360" cy="457200"/>
          </a:xfrm>
          <a:prstGeom prst="rect">
            <a:avLst/>
          </a:prstGeom>
          <a:solidFill>
            <a:srgbClr val="1F4E79"/>
          </a:solidFill>
          <a:ln w="12700">
            <a:solidFill>
              <a:srgbClr val="1F4E79"/>
            </a:solidFill>
            <a:prstDash val="solid"/>
          </a:ln>
        </p:spPr>
      </p:sp>
      <p:sp>
        <p:nvSpPr>
          <p:cNvPr id="16" name="Text 14"/>
          <p:cNvSpPr txBox="1"/>
          <p:nvPr/>
        </p:nvSpPr>
        <p:spPr>
          <a:xfrm>
            <a:off x="4663440" y="2880360"/>
            <a:ext cx="4023360" cy="457200"/>
          </a:xfrm>
          <a:prstGeom prst="rect">
            <a:avLst/>
          </a:prstGeom>
          <a:noFill/>
          <a:ln/>
        </p:spPr>
        <p:txBody>
          <a:bodyPr wrap="square" lIns="0" tIns="0" rIns="0" bIns="0" rtlCol="0" anchor="ctr"/>
          <a:lstStyle/>
          <a:p>
            <a:pPr algn="ctr" indent="0" marL="0">
              <a:buNone/>
            </a:pPr>
            <a:r>
              <a:rPr lang="en-US" sz="2000" b="1" dirty="0">
                <a:solidFill>
                  <a:srgbClr val="FFFFFF"/>
                </a:solidFill>
                <a:latin typeface="Arial" pitchFamily="34" charset="0"/>
                <a:ea typeface="Arial" pitchFamily="34" charset="-122"/>
                <a:cs typeface="Arial" pitchFamily="34" charset="-120"/>
              </a:rPr>
              <a:t>Datos</a:t>
            </a:r>
            <a:endParaRPr lang="en-US" sz="2000" dirty="0"/>
          </a:p>
        </p:txBody>
      </p:sp>
      <p:sp>
        <p:nvSpPr>
          <p:cNvPr id="17" name="Tarjeta Datos"/>
          <p:cNvSpPr/>
          <p:nvPr/>
        </p:nvSpPr>
        <p:spPr>
          <a:xfrm>
            <a:off x="4663440" y="3337560"/>
            <a:ext cx="4023360" cy="914400"/>
          </a:xfrm>
          <a:prstGeom prst="rect">
            <a:avLst/>
          </a:prstGeom>
          <a:solidFill>
            <a:srgbClr val="FFFFFF"/>
          </a:solidFill>
          <a:ln w="19050">
            <a:solidFill>
              <a:srgbClr val="1F4E79"/>
            </a:solidFill>
            <a:prstDash val="solid"/>
          </a:ln>
        </p:spPr>
      </p:sp>
      <p:sp>
        <p:nvSpPr>
          <p:cNvPr id="18" name="Text 16"/>
          <p:cNvSpPr txBox="1"/>
          <p:nvPr/>
        </p:nvSpPr>
        <p:spPr>
          <a:xfrm>
            <a:off x="4800600" y="3383280"/>
            <a:ext cx="3749040" cy="822960"/>
          </a:xfrm>
          <a:prstGeom prst="rect">
            <a:avLst/>
          </a:prstGeom>
          <a:noFill/>
          <a:ln/>
        </p:spPr>
        <p:txBody>
          <a:bodyPr wrap="square" lIns="0" tIns="0" rIns="0" bIns="0" rtlCol="0" anchor="ctr"/>
          <a:lstStyle/>
          <a:p>
            <a:pPr indent="0" marL="0">
              <a:buNone/>
            </a:pPr>
            <a:r>
              <a:rPr lang="en-US" sz="1800" dirty="0">
                <a:solidFill>
                  <a:srgbClr val="2D2D2D"/>
                </a:solidFill>
                <a:latin typeface="Arial" pitchFamily="34" charset="0"/>
                <a:ea typeface="Arial" pitchFamily="34" charset="-122"/>
                <a:cs typeface="Arial" pitchFamily="34" charset="-120"/>
              </a:rPr>
              <a:t>Hace falta la curva en un rango amplio de frecuencias</a:t>
            </a:r>
            <a:endParaRPr lang="en-US" sz="1800" dirty="0"/>
          </a:p>
        </p:txBody>
      </p:sp>
      <p:sp>
        <p:nvSpPr>
          <p:cNvPr id="19" name="Cita"/>
          <p:cNvSpPr txBox="1"/>
          <p:nvPr/>
        </p:nvSpPr>
        <p:spPr>
          <a:xfrm>
            <a:off x="457200" y="4572000"/>
            <a:ext cx="7772400" cy="411480"/>
          </a:xfrm>
          <a:prstGeom prst="rect">
            <a:avLst/>
          </a:prstGeom>
          <a:noFill/>
          <a:ln/>
        </p:spPr>
        <p:txBody>
          <a:bodyPr wrap="square" lIns="0" tIns="0" rIns="0" bIns="0" rtlCol="0" anchor="b"/>
          <a:lstStyle/>
          <a:p>
            <a:pPr indent="0" marL="0">
              <a:buNone/>
            </a:pPr>
            <a:r>
              <a:rPr lang="en-US" sz="1200" dirty="0">
                <a:solidFill>
                  <a:srgbClr val="6B6B6B"/>
                </a:solidFill>
                <a:latin typeface="Arial" pitchFamily="34" charset="0"/>
                <a:ea typeface="Arial" pitchFamily="34" charset="-122"/>
                <a:cs typeface="Arial" pitchFamily="34" charset="-120"/>
              </a:rPr>
              <a:t>Foti et al. (2014), capítulo de inversión (a confirmar); Socco y Strobbia (2004).</a:t>
            </a:r>
            <a:endParaRPr lang="en-US" sz="1200" dirty="0"/>
          </a:p>
        </p:txBody>
      </p:sp>
      <p:sp>
        <p:nvSpPr>
          <p:cNvPr id="25" name="Slide Number Placeholder 0"/>
          <p:cNvSpPr>
            <a:spLocks noGrp="1"/>
          </p:cNvSpPr>
          <p:nvPr>
            <p:ph type="sldNum" sz="quarter" idx="4294967295"/>
          </p:nvPr>
        </p:nvSpPr>
        <p:spPr>
          <a:xfrm>
            <a:off x="8321040" y="47548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B6B6B"/>
                </a:solidFill>
                <a:latin typeface="Arial"/>
                <a:ea typeface="Arial"/>
                <a:cs typeface="Arial"/>
              </a:defRPr>
            </a:lvl1pPr>
          </a:lstStyle>
          <a:p>
            <a:pPr algn="r"/>
            <a:fld id="{F7021451-1387-4CA6-816F-3879F97B5CBC}" type="slidenum">
              <a:rPr b="0" lang="en-US"/>
              <a:t>43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43</Slides>
  <Notes>43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43</vt:i4>
      </vt:variant>
    </vt:vector>
  </HeadingPairs>
  <TitlesOfParts>
    <vt:vector size="4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Primera presentación de tesis</dc:title>
  <dc:subject>PptxGenJS Presentation</dc:subject>
  <dc:creator>Elías David Álvarez Martínez</dc:creator>
  <cp:lastModifiedBy>Elías David Álvarez Martínez</cp:lastModifiedBy>
  <cp:revision>1</cp:revision>
  <dcterms:created xsi:type="dcterms:W3CDTF">2026-10-13T03:31:06Z</dcterms:created>
  <dcterms:modified xsi:type="dcterms:W3CDTF">2026-10-13T03:31:06Z</dcterms:modified>
</cp:coreProperties>
</file>