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6.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f</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fs</a:t>
                </a:r>
              </mc:Fallback>
            </mc:AlternateContent>
            <a:r>
              <a:rPr lang="en-US" sz="2000" dirty="0">
                <a:solidFill>
                  <a:srgbClr val="2D2D2D"/>
                </a:solidFill>
                <a:latin typeface="Arial" pitchFamily="34" charset="0"/>
                <a:ea typeface="Arial" pitchFamily="34" charset="-122"/>
                <a:cs typeface="Arial" pitchFamily="34" charset="-120"/>
              </a:rPr>
              <a:t>)</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μ</m:t>
                    </m:r>
                  </m:oMath>
                </a14:m>
              </mc:Choice>
              <mc:Fallback>
                <a:r>
                  <a:rPr lang="en-US" sz="1600" dirty="0">
                    <a:solidFill>
                      <a:srgbClr val="2D2D2D"/>
                    </a:solidFill>
                    <a:latin typeface="Arial" pitchFamily="34" charset="0"/>
                    <a:ea typeface="Arial" pitchFamily="34" charset="-122"/>
                    <a:cs typeface="Arial" pitchFamily="34" charset="-120"/>
                  </a:rPr>
                  <a:t>μ</a:t>
                </a:r>
              </mc:Fallback>
            </mc:AlternateContent>
            <a:r>
              <a:rPr lang="en-US" sz="1600" dirty="0">
                <a:solidFill>
                  <a:srgbClr val="2D2D2D"/>
                </a:solidFill>
                <a:latin typeface="Arial" pitchFamily="34" charset="0"/>
                <a:ea typeface="Arial" pitchFamily="34" charset="-122"/>
                <a:cs typeface="Arial" pitchFamily="34" charset="-120"/>
              </a:rPr>
              <a:t>: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r>
              <a:rPr lang="en-US" sz="160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μ</m:t>
                    </m:r>
                  </m:oMath>
                </a14:m>
              </mc:Choice>
              <mc:Fallback>
                <a:r>
                  <a:rPr lang="en-US" sz="1800" dirty="0">
                    <a:solidFill>
                      <a:srgbClr val="2D2D2D"/>
                    </a:solidFill>
                    <a:latin typeface="Arial" pitchFamily="34" charset="0"/>
                    <a:ea typeface="Arial" pitchFamily="34" charset="-122"/>
                    <a:cs typeface="Arial" pitchFamily="34" charset="-120"/>
                  </a:rPr>
                  <a:t>μ</a:t>
                </a:r>
              </mc:Fallback>
            </mc:AlternateContent>
            <a:r>
              <a:rPr lang="en-US" sz="1800" dirty="0">
                <a:solidFill>
                  <a:srgbClr val="2D2D2D"/>
                </a:solidFill>
                <a:latin typeface="Arial" pitchFamily="34" charset="0"/>
                <a:ea typeface="Arial" pitchFamily="34" charset="-122"/>
                <a:cs typeface="Arial" pitchFamily="34" charset="-120"/>
              </a:rPr>
              <a:t>: módulo de corte (también G), la rigidez al corte</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λ</m:t>
                    </m:r>
                  </m:oMath>
                </a14:m>
              </mc:Choice>
              <mc:Fallback>
                <a:r>
                  <a:rPr lang="en-US" sz="1800" dirty="0">
                    <a:solidFill>
                      <a:srgbClr val="2D2D2D"/>
                    </a:solidFill>
                    <a:latin typeface="Arial" pitchFamily="34" charset="0"/>
                    <a:ea typeface="Arial" pitchFamily="34" charset="-122"/>
                    <a:cs typeface="Arial" pitchFamily="34" charset="-120"/>
                  </a:rPr>
                  <a:t>λ</a:t>
                </a:r>
              </mc:Fallback>
            </mc:AlternateContent>
            <a:r>
              <a:rPr lang="en-US" sz="1800" dirty="0">
                <a:solidFill>
                  <a:srgbClr val="2D2D2D"/>
                </a:solidFill>
                <a:latin typeface="Arial" pitchFamily="34" charset="0"/>
                <a:ea typeface="Arial" pitchFamily="34" charset="-122"/>
                <a:cs typeface="Arial" pitchFamily="34" charset="-120"/>
              </a:rPr>
              <a:t>: constante de Lamé</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p</m:t>
                        </m:r>
                      </m:sub>
                    </m:sSub>
                    <m:r>
                      <m:rPr>
                        <m:sty m:val="p"/>
                      </m:rPr>
                      <a:rPr lang="es-ES" sz="1800">
                        <a:solidFill>
                          <a:srgbClr val="2D2D2D"/>
                        </a:solidFill>
                        <a:latin typeface="Cambria Math" panose="02040503050406030204" pitchFamily="18" charset="0"/>
                      </a:rPr>
                      <m:t xml:space="preserve">&gt;</m:t>
                    </m:r>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Vp &gt; Vs</a:t>
                </a:r>
              </mc:Fallback>
            </mc:AlternateContent>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γ</m:t>
                    </m:r>
                  </m:oMath>
                </a14:m>
              </mc:Choice>
              <mc:Fallback>
                <a:r>
                  <a:rPr lang="en-US" sz="1800" dirty="0">
                    <a:solidFill>
                      <a:srgbClr val="2D2D2D"/>
                    </a:solidFill>
                    <a:latin typeface="Arial" pitchFamily="34" charset="0"/>
                    <a:ea typeface="Arial" pitchFamily="34" charset="-122"/>
                    <a:cs typeface="Arial" pitchFamily="34" charset="-120"/>
                  </a:rPr>
                  <a:t>γ</a:t>
                </a:r>
              </mc:Fallback>
            </mc:AlternateContent>
            <a:r>
              <a:rPr lang="en-US" sz="1800"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a14:m>
              </mc:Choice>
              <mc:Fallback>
                <a:r>
                  <a:rPr lang="en-US" sz="2400" b="1" dirty="0">
                    <a:solidFill>
                      <a:srgbClr val="1F4E79"/>
                    </a:solidFill>
                    <a:latin typeface="Arial" pitchFamily="34" charset="0"/>
                    <a:ea typeface="Arial" pitchFamily="34" charset="-122"/>
                    <a:cs typeface="Arial" pitchFamily="34" charset="-120"/>
                  </a:rPr>
                  <a:t>Gmax</a:t>
                </a:r>
              </mc:Fallback>
            </mc:AlternateContent>
            <a:r>
              <a:rPr lang="en-US" sz="2400" b="1" dirty="0">
                <a:solidFill>
                  <a:srgbClr val="1F4E79"/>
                </a:solidFill>
                <a:latin typeface="Arial" pitchFamily="34" charset="0"/>
                <a:ea typeface="Arial" pitchFamily="34" charset="-122"/>
                <a:cs typeface="Arial" pitchFamily="34" charset="-120"/>
              </a:rPr>
              <a:t>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800" dirty="0"/>
          </a:p>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V</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Vs</a:t>
                </a:r>
              </mc:Fallback>
            </mc:AlternateContent>
            <a:r>
              <a:rPr lang="en-US" sz="200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x</m:t>
                    </m:r>
                  </m:oMath>
                </a14:m>
              </mc:Choice>
              <mc:Fallback>
                <a:r>
                  <a:rPr lang="en-US" sz="1800" dirty="0">
                    <a:solidFill>
                      <a:srgbClr val="2D2D2D"/>
                    </a:solidFill>
                    <a:latin typeface="Arial" pitchFamily="34" charset="0"/>
                    <a:ea typeface="Arial" pitchFamily="34" charset="-122"/>
                    <a:cs typeface="Arial" pitchFamily="34" charset="-120"/>
                  </a:rPr>
                  <a:t>Δx</a:t>
                </a:r>
              </mc:Fallback>
            </mc:AlternateContent>
            <a:r>
              <a:rPr lang="en-US" sz="1800" dirty="0">
                <a:solidFill>
                  <a:srgbClr val="2D2D2D"/>
                </a:solidFill>
                <a:latin typeface="Arial" pitchFamily="34" charset="0"/>
                <a:ea typeface="Arial" pitchFamily="34" charset="-122"/>
                <a:cs typeface="Arial" pitchFamily="34" charset="-120"/>
              </a:rPr>
              <a:t>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C55A11"/>
                            </a:solidFill>
                            <a:latin typeface="Cambria Math" panose="02040503050406030204" pitchFamily="18" charset="0"/>
                          </a:rPr>
                          <m:t xml:space="preserve">V</m:t>
                        </m:r>
                      </m:e>
                      <m:sub>
                        <m:r>
                          <a:rPr lang="es-ES" sz="1800" i="1">
                            <a:solidFill>
                              <a:srgbClr val="C55A11"/>
                            </a:solidFill>
                            <a:latin typeface="Cambria Math" panose="02040503050406030204" pitchFamily="18" charset="0"/>
                          </a:rPr>
                          <m:t xml:space="preserve">s</m:t>
                        </m:r>
                      </m:sub>
                    </m:sSub>
                  </m:oMath>
                </a14:m>
              </mc:Choice>
              <mc:Fallback>
                <a:r>
                  <a:rPr lang="en-US" sz="1800" b="1" dirty="0">
                    <a:solidFill>
                      <a:srgbClr val="C55A11"/>
                    </a:solidFill>
                    <a:latin typeface="Arial" pitchFamily="34" charset="0"/>
                    <a:ea typeface="Arial" pitchFamily="34" charset="-122"/>
                    <a:cs typeface="Arial" pitchFamily="34" charset="-120"/>
                  </a:rPr>
                  <a:t>Vs</a:t>
                </a:r>
              </mc:Fallback>
            </mc:AlternateContent>
            <a:r>
              <a:rPr lang="en-US" sz="1800" b="1" dirty="0">
                <a:solidFill>
                  <a:srgbClr val="C55A11"/>
                </a:solidFill>
                <a:latin typeface="Arial" pitchFamily="34" charset="0"/>
                <a:ea typeface="Arial" pitchFamily="34" charset="-122"/>
                <a:cs typeface="Arial" pitchFamily="34" charset="-120"/>
              </a:rPr>
              <a:t>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Vs &lt; Vp</a:t>
                </a:r>
              </mc:Fallback>
            </mc:AlternateContent>
            <a:r>
              <a:rPr lang="en-US" sz="1600" dirty="0">
                <a:solidFill>
                  <a:srgbClr val="2D2D2D"/>
                </a:solidFill>
                <a:latin typeface="Arial" pitchFamily="34" charset="0"/>
                <a:ea typeface="Arial" pitchFamily="34" charset="-122"/>
                <a:cs typeface="Arial" pitchFamily="34" charset="-120"/>
              </a:rPr>
              <a:t>,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s1</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s2</m:t>
                        </m:r>
                      </m:sub>
                    </m:sSub>
                  </m:oMath>
                </a14:m>
              </mc:Choice>
              <mc:Fallback>
                <a:r>
                  <a:rPr lang="en-US" sz="1600" dirty="0">
                    <a:solidFill>
                      <a:srgbClr val="2D2D2D"/>
                    </a:solidFill>
                    <a:latin typeface="Arial" pitchFamily="34" charset="0"/>
                    <a:ea typeface="Arial" pitchFamily="34" charset="-122"/>
                    <a:cs typeface="Arial" pitchFamily="34" charset="-120"/>
                  </a:rPr>
                  <a:t>Vs1 &lt; Vs2</a:t>
                </a:r>
              </mc:Fallback>
            </mc:AlternateContent>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600" i="1">
                        <a:solidFill>
                          <a:srgbClr val="6B6B6B"/>
                        </a:solidFill>
                        <a:latin typeface="Cambria Math" panose="02040503050406030204" pitchFamily="18" charset="0"/>
                      </a:rPr>
                      <m:t xml:space="preserve">ν</m:t>
                    </m:r>
                    <m:r>
                      <m:rPr>
                        <m:sty m:val="p"/>
                      </m:rPr>
                      <a:rPr lang="es-ES" sz="1600">
                        <a:solidFill>
                          <a:srgbClr val="6B6B6B"/>
                        </a:solidFill>
                        <a:latin typeface="Cambria Math" panose="02040503050406030204" pitchFamily="18" charset="0"/>
                      </a:rPr>
                      <m:t xml:space="preserve">=</m:t>
                    </m:r>
                    <m:r>
                      <m:rPr>
                        <m:sty m:val="p"/>
                      </m:rPr>
                      <a:rPr lang="es-ES" sz="1600">
                        <a:solidFill>
                          <a:srgbClr val="6B6B6B"/>
                        </a:solidFill>
                        <a:latin typeface="Cambria Math" panose="02040503050406030204" pitchFamily="18" charset="0"/>
                      </a:rPr>
                      <m:t xml:space="preserve">0,25</m:t>
                    </m:r>
                  </m:oMath>
                </a14:m>
              </mc:Choice>
              <mc:Fallback>
                <a:r>
                  <a:rPr lang="en-US" sz="1600" dirty="0">
                    <a:solidFill>
                      <a:srgbClr val="6B6B6B"/>
                    </a:solidFill>
                    <a:latin typeface="Arial" pitchFamily="34" charset="0"/>
                    <a:ea typeface="Arial" pitchFamily="34" charset="-122"/>
                    <a:cs typeface="Arial" pitchFamily="34" charset="-120"/>
                  </a:rPr>
                  <a:t>ν = 0,25</a:t>
                </a:r>
              </mc:Fallback>
            </mc:AlternateContent>
            <a:r>
              <a:rPr lang="en-US" sz="1600" dirty="0">
                <a:solidFill>
                  <a:srgbClr val="6B6B6B"/>
                </a:solidFill>
                <a:latin typeface="Arial" pitchFamily="34" charset="0"/>
                <a:ea typeface="Arial" pitchFamily="34" charset="-122"/>
                <a:cs typeface="Arial" pitchFamily="34" charset="-120"/>
              </a:rPr>
              <a:t>,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m:rPr>
                        <m:sty m:val="p"/>
                      </m:rPr>
                      <a:rPr lang="es-ES" sz="2400">
                        <a:solidFill>
                          <a:srgbClr val="1F4E79"/>
                        </a:solidFill>
                        <a:latin typeface="Cambria Math" panose="02040503050406030204" pitchFamily="18" charset="0"/>
                      </a:rPr>
                      <m:t xml:space="preserve">≈</m:t>
                    </m:r>
                    <m:r>
                      <m:rPr>
                        <m:sty m:val="p"/>
                      </m:rPr>
                      <a:rPr lang="es-ES" sz="2400">
                        <a:solidFill>
                          <a:srgbClr val="1F4E79"/>
                        </a:solidFill>
                        <a:latin typeface="Cambria Math" panose="02040503050406030204" pitchFamily="18" charset="0"/>
                      </a:rPr>
                      <m:t xml:space="preserve">0,9</m:t>
                    </m:r>
                    <m:r>
                      <m:rPr>
                        <m:sty m:val="p"/>
                      </m:rPr>
                      <a:rPr lang="es-ES" sz="2400">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cR ≈ 0,9·Vs</a:t>
                </a:r>
              </mc:Fallback>
            </mc:AlternateContent>
            <a:r>
              <a:rPr lang="en-US" sz="2400" b="1" dirty="0">
                <a:solidFill>
                  <a:srgbClr val="1F4E79"/>
                </a:solidFill>
                <a:latin typeface="Arial" pitchFamily="34" charset="0"/>
                <a:ea typeface="Arial" pitchFamily="34" charset="-122"/>
                <a:cs typeface="Arial" pitchFamily="34" charset="-120"/>
              </a:rPr>
              <a:t>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r>
                      <m:rPr>
                        <m:sty m:val="p"/>
                      </m:rPr>
                      <a:rPr lang="es-ES" sz="1400">
                        <a:solidFill>
                          <a:srgbClr val="2D2D2D"/>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V</m:t>
                        </m:r>
                      </m:e>
                      <m:sub>
                        <m:r>
                          <a:rPr lang="es-ES" sz="1400" i="1">
                            <a:solidFill>
                              <a:srgbClr val="2D2D2D"/>
                            </a:solidFill>
                            <a:latin typeface="Cambria Math" panose="02040503050406030204" pitchFamily="18" charset="0"/>
                          </a:rPr>
                          <m:t xml:space="preserve">s</m:t>
                        </m:r>
                      </m:sub>
                    </m:sSub>
                  </m:oMath>
                </a14:m>
              </mc:Choice>
              <mc:Fallback>
                <a:r>
                  <a:rPr lang="en-US" sz="1400" dirty="0">
                    <a:solidFill>
                      <a:srgbClr val="2D2D2D"/>
                    </a:solidFill>
                    <a:latin typeface="Arial" pitchFamily="34" charset="0"/>
                    <a:ea typeface="Arial" pitchFamily="34" charset="-122"/>
                    <a:cs typeface="Arial" pitchFamily="34" charset="-120"/>
                  </a:rPr>
                  <a:t>cR / Vs</a:t>
                </a:r>
              </mc:Fallback>
            </mc:AlternateContent>
            <a:r>
              <a:rPr lang="en-US" sz="1400"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ν</m:t>
                    </m:r>
                  </m:oMath>
                </a14:m>
              </mc:Choice>
              <mc:Fallback>
                <a:r>
                  <a:rPr lang="en-US" sz="1400" dirty="0">
                    <a:solidFill>
                      <a:srgbClr val="2D2D2D"/>
                    </a:solidFill>
                    <a:latin typeface="Arial" pitchFamily="34" charset="0"/>
                    <a:ea typeface="Arial" pitchFamily="34" charset="-122"/>
                    <a:cs typeface="Arial" pitchFamily="34" charset="-120"/>
                  </a:rPr>
                  <a:t>ν</a:t>
                </a:r>
              </mc:Fallback>
            </mc:AlternateContent>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oMath>
                </a14:m>
              </mc:Choice>
              <mc:Fallback>
                <a:r>
                  <a:rPr lang="en-US" sz="1400" dirty="0">
                    <a:solidFill>
                      <a:srgbClr val="2D2D2D"/>
                    </a:solidFill>
                    <a:latin typeface="Arial" pitchFamily="34" charset="0"/>
                    <a:ea typeface="Arial" pitchFamily="34" charset="-122"/>
                    <a:cs typeface="Arial" pitchFamily="34" charset="-120"/>
                  </a:rPr>
                  <a:t>cR</a:t>
                </a:r>
              </mc:Fallback>
            </mc:AlternateContent>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ν</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0,3</m:t>
                    </m:r>
                  </m:oMath>
                </a14:m>
              </mc:Choice>
              <mc:Fallback>
                <a:r>
                  <a:rPr lang="en-US" sz="1200" dirty="0">
                    <a:solidFill>
                      <a:srgbClr val="6B6B6B"/>
                    </a:solidFill>
                    <a:latin typeface="Arial" pitchFamily="34" charset="0"/>
                    <a:ea typeface="Arial" pitchFamily="34" charset="-122"/>
                    <a:cs typeface="Arial" pitchFamily="34" charset="-120"/>
                  </a:rPr>
                  <a:t>ν = 0,3</a:t>
                </a:r>
              </mc:Fallback>
            </mc:AlternateContent>
            <a:r>
              <a:rPr lang="en-US" sz="12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C55A11"/>
                            </a:solidFill>
                            <a:latin typeface="Cambria Math" panose="02040503050406030204" pitchFamily="18" charset="0"/>
                          </a:rPr>
                          <m:t xml:space="preserve">V</m:t>
                        </m:r>
                      </m:e>
                      <m:sub>
                        <m:r>
                          <a:rPr lang="es-ES" sz="1600" i="1">
                            <a:solidFill>
                              <a:srgbClr val="C55A11"/>
                            </a:solidFill>
                            <a:latin typeface="Cambria Math" panose="02040503050406030204" pitchFamily="18" charset="0"/>
                          </a:rPr>
                          <m:t xml:space="preserve">s</m:t>
                        </m:r>
                      </m:sub>
                    </m:sSub>
                  </m:oMath>
                </a14:m>
              </mc:Choice>
              <mc:Fallback>
                <a:r>
                  <a:rPr lang="en-US" sz="1600" b="1" dirty="0">
                    <a:solidFill>
                      <a:srgbClr val="C55A11"/>
                    </a:solidFill>
                    <a:latin typeface="Arial" pitchFamily="34" charset="0"/>
                    <a:ea typeface="Arial" pitchFamily="34" charset="-122"/>
                    <a:cs typeface="Arial" pitchFamily="34" charset="-120"/>
                  </a:rPr>
                  <a:t>Vs</a:t>
                </a:r>
              </mc:Fallback>
            </mc:AlternateContent>
            <a:r>
              <a:rPr lang="en-US" sz="1600" b="1" dirty="0">
                <a:solidFill>
                  <a:srgbClr val="C55A11"/>
                </a:solidFill>
                <a:latin typeface="Arial" pitchFamily="34" charset="0"/>
                <a:ea typeface="Arial" pitchFamily="34" charset="-122"/>
                <a:cs typeface="Arial" pitchFamily="34" charset="-120"/>
              </a:rPr>
              <a:t>(z)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c</m:t>
                        </m:r>
                      </m:e>
                      <m:sub>
                        <m:r>
                          <a:rPr lang="es-ES" sz="1600" i="1">
                            <a:solidFill>
                              <a:srgbClr val="2D2D2D"/>
                            </a:solidFill>
                            <a:latin typeface="Cambria Math" panose="02040503050406030204" pitchFamily="18" charset="0"/>
                          </a:rPr>
                          <m:t xml:space="preserve">R</m:t>
                        </m:r>
                      </m:sub>
                    </m:sSub>
                  </m:oMath>
                </a14:m>
              </mc:Choice>
              <mc:Fallback>
                <a:r>
                  <a:rPr lang="en-US" sz="1600" dirty="0">
                    <a:solidFill>
                      <a:srgbClr val="2D2D2D"/>
                    </a:solidFill>
                    <a:latin typeface="Arial" pitchFamily="34" charset="0"/>
                    <a:ea typeface="Arial" pitchFamily="34" charset="-122"/>
                    <a:cs typeface="Arial" pitchFamily="34" charset="-120"/>
                  </a:rPr>
                  <a:t>cR</a:t>
                </a:r>
              </mc:Fallback>
            </mc:AlternateContent>
            <a:r>
              <a:rPr lang="en-US" sz="1600" dirty="0">
                <a:solidFill>
                  <a:srgbClr val="2D2D2D"/>
                </a:solidFill>
                <a:latin typeface="Arial" pitchFamily="34" charset="0"/>
                <a:ea typeface="Arial" pitchFamily="34" charset="-122"/>
                <a:cs typeface="Arial" pitchFamily="34" charset="-120"/>
              </a:rPr>
              <a:t>(f)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φ</m:t>
                    </m:r>
                  </m:oMath>
                </a14:m>
              </mc:Choice>
              <mc:Fallback>
                <a:r>
                  <a:rPr lang="en-US" sz="1800" dirty="0">
                    <a:solidFill>
                      <a:srgbClr val="2D2D2D"/>
                    </a:solidFill>
                    <a:latin typeface="Arial" pitchFamily="34" charset="0"/>
                    <a:ea typeface="Arial" pitchFamily="34" charset="-122"/>
                    <a:cs typeface="Arial" pitchFamily="34" charset="-120"/>
                  </a:rPr>
                  <a:t>Δφ</a:t>
                </a:r>
              </mc:Fallback>
            </mc:AlternateContent>
            <a:r>
              <a:rPr lang="en-US" sz="1800" dirty="0">
                <a:solidFill>
                  <a:srgbClr val="2D2D2D"/>
                </a:solidFill>
                <a:latin typeface="Arial" pitchFamily="34" charset="0"/>
                <a:ea typeface="Arial" pitchFamily="34" charset="-122"/>
                <a:cs typeface="Arial" pitchFamily="34" charset="-120"/>
              </a:rPr>
              <a:t>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0,25</m:t>
                    </m:r>
                  </m:oMath>
                </a14:m>
              </mc:Choice>
              <mc:Fallback>
                <a:r>
                  <a:rPr lang="en-US" sz="1400" dirty="0">
                    <a:solidFill>
                      <a:srgbClr val="2D2D2D"/>
                    </a:solidFill>
                    <a:latin typeface="Arial" pitchFamily="34" charset="0"/>
                    <a:ea typeface="Arial" pitchFamily="34" charset="-122"/>
                    <a:cs typeface="Arial" pitchFamily="34" charset="-120"/>
                  </a:rPr>
                  <a:t>ζ ≈ 0,25</a:t>
                </a:r>
              </mc:Fallback>
            </mc:AlternateContent>
            <a:r>
              <a:rPr lang="en-US" sz="140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0,60</m:t>
                    </m:r>
                  </m:oMath>
                </a14:m>
              </mc:Choice>
              <mc:Fallback>
                <a:r>
                  <a:rPr lang="en-US" sz="1400" dirty="0">
                    <a:solidFill>
                      <a:srgbClr val="2D2D2D"/>
                    </a:solidFill>
                    <a:latin typeface="Arial" pitchFamily="34" charset="0"/>
                    <a:ea typeface="Arial" pitchFamily="34" charset="-122"/>
                    <a:cs typeface="Arial" pitchFamily="34" charset="-120"/>
                  </a:rPr>
                  <a:t>ζ = 0,60</a:t>
                </a:r>
              </mc:Fallback>
            </mc:AlternateContent>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00" i="1">
                        <a:solidFill>
                          <a:srgbClr val="6B6B6B"/>
                        </a:solidFill>
                        <a:latin typeface="Cambria Math" panose="02040503050406030204" pitchFamily="18" charset="0"/>
                      </a:rPr>
                      <m:t xml:space="preserve">ζ</m:t>
                    </m:r>
                  </m:oMath>
                </a14:m>
              </mc:Choice>
              <mc:Fallback>
                <a:r>
                  <a:rPr lang="en-US" sz="1300" dirty="0">
                    <a:solidFill>
                      <a:srgbClr val="6B6B6B"/>
                    </a:solidFill>
                    <a:latin typeface="Arial" pitchFamily="34" charset="0"/>
                    <a:ea typeface="Arial" pitchFamily="34" charset="-122"/>
                    <a:cs typeface="Arial" pitchFamily="34" charset="-120"/>
                  </a:rPr>
                  <a:t>ζ</a:t>
                </a:r>
              </mc:Fallback>
            </mc:AlternateContent>
            <a:r>
              <a:rPr lang="en-US" sz="130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i</m:t>
                        </m:r>
                      </m:sub>
                    </m:sSub>
                  </m:oMath>
                </a14:m>
              </mc:Choice>
              <mc:Fallback>
                <a:r>
                  <a:rPr lang="en-US" sz="1300" dirty="0">
                    <a:solidFill>
                      <a:srgbClr val="6B6B6B"/>
                    </a:solidFill>
                    <a:latin typeface="Arial" pitchFamily="34" charset="0"/>
                    <a:ea typeface="Arial" pitchFamily="34" charset="-122"/>
                    <a:cs typeface="Arial" pitchFamily="34" charset="-120"/>
                  </a:rPr>
                  <a:t>Ri</a:t>
                </a:r>
              </mc:Fallback>
            </mc:AlternateContent>
            <a:r>
              <a:rPr lang="en-US" sz="130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L</m:t>
                        </m:r>
                      </m:sub>
                    </m:sSub>
                  </m:oMath>
                </a14:m>
              </mc:Choice>
              <mc:Fallback>
                <a:r>
                  <a:rPr lang="en-US" sz="1300" dirty="0">
                    <a:solidFill>
                      <a:srgbClr val="6B6B6B"/>
                    </a:solidFill>
                    <a:latin typeface="Arial" pitchFamily="34" charset="0"/>
                    <a:ea typeface="Arial" pitchFamily="34" charset="-122"/>
                    <a:cs typeface="Arial" pitchFamily="34" charset="-120"/>
                  </a:rPr>
                  <a:t>RL</a:t>
                </a:r>
              </mc:Fallback>
            </mc:AlternateContent>
            <a:r>
              <a:rPr lang="en-US" sz="1300" dirty="0">
                <a:solidFill>
                  <a:srgbClr val="6B6B6B"/>
                </a:solidFill>
                <a:latin typeface="Arial" pitchFamily="34" charset="0"/>
                <a:ea typeface="Arial" pitchFamily="34" charset="-122"/>
                <a:cs typeface="Arial" pitchFamily="34" charset="-120"/>
              </a:rPr>
              <a:t>: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ζ</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0,25</m:t>
                    </m:r>
                  </m:oMath>
                </a14:m>
              </mc:Choice>
              <mc:Fallback>
                <a:r>
                  <a:rPr lang="en-US" sz="1200" dirty="0">
                    <a:solidFill>
                      <a:srgbClr val="6B6B6B"/>
                    </a:solidFill>
                    <a:latin typeface="Arial" pitchFamily="34" charset="0"/>
                    <a:ea typeface="Arial" pitchFamily="34" charset="-122"/>
                    <a:cs typeface="Arial" pitchFamily="34" charset="-120"/>
                  </a:rPr>
                  <a:t>ζ = 0,25</a:t>
                </a:r>
              </mc:Fallback>
            </mc:AlternateContent>
            <a:r>
              <a:rPr lang="en-US" sz="1200" dirty="0">
                <a:solidFill>
                  <a:srgbClr val="6B6B6B"/>
                </a:solidFill>
                <a:latin typeface="Arial" pitchFamily="34" charset="0"/>
                <a:ea typeface="Arial" pitchFamily="34" charset="-122"/>
                <a:cs typeface="Arial" pitchFamily="34" charset="-120"/>
              </a:rPr>
              <a:t>,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1</m:t>
                        </m:r>
                      </m:sub>
                    </m:sSub>
                    <m:r>
                      <m:rPr>
                        <m:sty m:val="p"/>
                      </m:rPr>
                      <a:rPr lang="es-ES" sz="1400">
                        <a:solidFill>
                          <a:srgbClr val="2D2D2D"/>
                        </a:solidFill>
                        <a:latin typeface="Cambria Math" panose="02040503050406030204" pitchFamily="18" charset="0"/>
                      </a:rPr>
                      <m:t xml:space="preserve">&gt;</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0</m:t>
                        </m:r>
                      </m:sub>
                    </m:sSub>
                  </m:oMath>
                </a14:m>
              </mc:Choice>
              <mc:Fallback>
                <a:r>
                  <a:rPr lang="en-US" sz="1400" dirty="0">
                    <a:solidFill>
                      <a:srgbClr val="2D2D2D"/>
                    </a:solidFill>
                    <a:latin typeface="Arial" pitchFamily="34" charset="0"/>
                    <a:ea typeface="Arial" pitchFamily="34" charset="-122"/>
                    <a:cs typeface="Arial" pitchFamily="34" charset="-120"/>
                  </a:rPr>
                  <a:t>ζ1 &gt; ζ0</a:t>
                </a:r>
              </mc:Fallback>
            </mc:AlternateContent>
            <a:r>
              <a:rPr lang="en-US" sz="1400" dirty="0">
                <a:solidFill>
                  <a:srgbClr val="2D2D2D"/>
                </a:solidFill>
                <a:latin typeface="Arial" pitchFamily="34" charset="0"/>
                <a:ea typeface="Arial" pitchFamily="34" charset="-122"/>
                <a:cs typeface="Arial" pitchFamily="34" charset="-120"/>
              </a:rPr>
              <a:t>,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H</m:t>
                        </m:r>
                      </m:e>
                      <m:sub>
                        <m:r>
                          <m:rPr>
                            <m:sty m:val="p"/>
                          </m:rPr>
                          <a:rPr lang="es-ES" sz="1500">
                            <a:solidFill>
                              <a:srgbClr val="2D2D2D"/>
                            </a:solidFill>
                            <a:latin typeface="Cambria Math" panose="02040503050406030204" pitchFamily="18" charset="0"/>
                          </a:rPr>
                          <m:t xml:space="preserve">BP</m:t>
                        </m:r>
                      </m:sub>
                    </m:sSub>
                  </m:oMath>
                </a14:m>
              </mc:Choice>
              <mc:Fallback>
                <a:r>
                  <a:rPr lang="en-US" sz="1500" dirty="0">
                    <a:solidFill>
                      <a:srgbClr val="2D2D2D"/>
                    </a:solidFill>
                    <a:latin typeface="Arial" pitchFamily="34" charset="0"/>
                    <a:ea typeface="Arial" pitchFamily="34" charset="-122"/>
                    <a:cs typeface="Arial" pitchFamily="34" charset="-120"/>
                  </a:rPr>
                  <a:t>HBP</a:t>
                </a:r>
              </mc:Fallback>
            </mc:AlternateContent>
            <a:r>
              <a:rPr lang="en-US" sz="1500" dirty="0">
                <a:solidFill>
                  <a:srgbClr val="2D2D2D"/>
                </a:solidFill>
                <a:latin typeface="Arial" pitchFamily="34" charset="0"/>
                <a:ea typeface="Arial" pitchFamily="34" charset="-122"/>
                <a:cs typeface="Arial" pitchFamily="34" charset="-120"/>
              </a:rPr>
              <a:t>(s):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ζ0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ζ1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a:rPr lang="es-ES" sz="1200" i="1">
                            <a:solidFill>
                              <a:srgbClr val="6B6B6B"/>
                            </a:solidFill>
                            <a:latin typeface="Cambria Math" panose="02040503050406030204" pitchFamily="18" charset="0"/>
                          </a:rPr>
                          <m:t xml:space="preserve">n</m:t>
                        </m:r>
                      </m:sub>
                    </m:sSub>
                  </m:oMath>
                </a14:m>
              </mc:Choice>
              <mc:Fallback>
                <a:r>
                  <a:rPr lang="en-US" sz="1200" dirty="0">
                    <a:solidFill>
                      <a:srgbClr val="6B6B6B"/>
                    </a:solidFill>
                    <a:latin typeface="Arial" pitchFamily="34" charset="0"/>
                    <a:ea typeface="Arial" pitchFamily="34" charset="-122"/>
                    <a:cs typeface="Arial" pitchFamily="34" charset="-120"/>
                  </a:rPr>
                  <a:t>ωn</a:t>
                </a:r>
              </mc:Fallback>
            </mc:AlternateContent>
            <a:r>
              <a:rPr lang="en-US" sz="12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γ0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γ1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ω0</a:t>
                </a:r>
              </mc:Fallback>
            </mc:AlternateContent>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ζ</m:t>
                        </m:r>
                      </m:e>
                      <m:sub>
                        <m:r>
                          <m:rPr>
                            <m:sty m:val="p"/>
                          </m:rPr>
                          <a:rPr lang="es-ES" sz="1500">
                            <a:solidFill>
                              <a:srgbClr val="2D2D2D"/>
                            </a:solidFill>
                            <a:latin typeface="Cambria Math" panose="02040503050406030204" pitchFamily="18" charset="0"/>
                          </a:rPr>
                          <m:t xml:space="preserve">1</m:t>
                        </m:r>
                      </m:sub>
                    </m:sSub>
                    <m:r>
                      <m:rPr>
                        <m:sty m:val="p"/>
                      </m:rPr>
                      <a:rPr lang="es-ES" sz="1500">
                        <a:solidFill>
                          <a:srgbClr val="2D2D2D"/>
                        </a:solidFill>
                        <a:latin typeface="Cambria Math" panose="02040503050406030204" pitchFamily="18" charset="0"/>
                      </a:rPr>
                      <m:t xml:space="preserve">≈</m:t>
                    </m:r>
                    <m:r>
                      <m:rPr>
                        <m:sty m:val="p"/>
                      </m:rPr>
                      <a:rPr lang="es-ES" sz="1500">
                        <a:solidFill>
                          <a:srgbClr val="2D2D2D"/>
                        </a:solidFill>
                        <a:latin typeface="Cambria Math" panose="02040503050406030204" pitchFamily="18" charset="0"/>
                      </a:rPr>
                      <m:t xml:space="preserve">938</m:t>
                    </m:r>
                  </m:oMath>
                </a14:m>
              </mc:Choice>
              <mc:Fallback>
                <a:r>
                  <a:rPr lang="en-US" sz="1500" dirty="0">
                    <a:solidFill>
                      <a:srgbClr val="2D2D2D"/>
                    </a:solidFill>
                    <a:latin typeface="Arial" pitchFamily="34" charset="0"/>
                    <a:ea typeface="Arial" pitchFamily="34" charset="-122"/>
                    <a:cs typeface="Arial" pitchFamily="34" charset="-120"/>
                  </a:rPr>
                  <a:t>ζ1 ≈ 938</a:t>
                </a:r>
              </mc:Fallback>
            </mc:AlternateContent>
            <a:r>
              <a:rPr lang="en-US" sz="150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C</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Cf</a:t>
                </a:r>
              </mc:Fallback>
            </mc:AlternateContent>
            <a:r>
              <a:rPr lang="en-US" sz="1300"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R</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Rf</a:t>
                </a:r>
              </mc:Fallback>
            </mc:AlternateContent>
            <a:r>
              <a:rPr lang="en-US" sz="1300" dirty="0">
                <a:solidFill>
                  <a:srgbClr val="2D2D2D"/>
                </a:solidFill>
                <a:latin typeface="Arial" pitchFamily="34" charset="0"/>
                <a:ea typeface="Arial" pitchFamily="34" charset="-122"/>
                <a:cs typeface="Arial" pitchFamily="34" charset="-120"/>
              </a:rPr>
              <a:t>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Reparto de tareas digitales entre la máquina de estados y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360</m:t>
                    </m:r>
                  </m:oMath>
                </a14:m>
              </mc:Choice>
              <mc:Fallback>
                <a:r>
                  <a:rPr lang="en-US" sz="1200" dirty="0">
                    <a:solidFill>
                      <a:srgbClr val="6B6B6B"/>
                    </a:solidFill>
                    <a:latin typeface="Arial" pitchFamily="34" charset="0"/>
                    <a:ea typeface="Arial" pitchFamily="34" charset="-122"/>
                    <a:cs typeface="Arial" pitchFamily="34" charset="-120"/>
                  </a:rPr>
                  <a:t>Δφ = 360</a:t>
                </a:r>
              </mc:Fallback>
            </mc:AlternateContent>
            <a:r>
              <a:rPr lang="en-US" sz="12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t</m:t>
                    </m:r>
                  </m:oMath>
                </a14:m>
              </mc:Choice>
              <mc:Fallback>
                <a:r>
                  <a:rPr lang="en-US" sz="1200" dirty="0">
                    <a:solidFill>
                      <a:srgbClr val="6B6B6B"/>
                    </a:solidFill>
                    <a:latin typeface="Arial" pitchFamily="34" charset="0"/>
                    <a:ea typeface="Arial" pitchFamily="34" charset="-122"/>
                    <a:cs typeface="Arial" pitchFamily="34" charset="-120"/>
                  </a:rPr>
                  <a:t>Δt</a:t>
                </a:r>
              </mc:Fallback>
            </mc:AlternateContent>
            <a:r>
              <a:rPr lang="en-US" sz="1200" dirty="0">
                <a:solidFill>
                  <a:srgbClr val="6B6B6B"/>
                </a:solidFill>
                <a:latin typeface="Arial" pitchFamily="34" charset="0"/>
                <a:ea typeface="Arial" pitchFamily="34" charset="-122"/>
                <a:cs typeface="Arial" pitchFamily="34" charset="-120"/>
              </a:rPr>
              <a: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en PSoC Creator</a:t>
            </a:r>
            <a:endParaRPr lang="en-US" sz="2400" dirty="0"/>
          </a:p>
        </p:txBody>
      </p:sp>
      <p:pic>
        <p:nvPicPr>
          <p:cNvPr id="3" name="Camino digital en PSoC Creator"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640080" y="1097280"/>
            <a:ext cx="7863840" cy="3420770"/>
          </a:xfrm>
          <a:prstGeom prst="rect">
            <a:avLst/>
          </a:prstGeom>
        </p:spPr>
      </p:pic>
      <p:sp>
        <p:nvSpPr>
          <p:cNvPr id="4" name="Text 1"/>
          <p:cNvSpPr txBox="1"/>
          <p:nvPr/>
        </p:nvSpPr>
        <p:spPr>
          <a:xfrm>
            <a:off x="5029200" y="443484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lógico de los datos y del control en el PSoC</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Selección del tipo de ADC: por qué delta-sigma</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8"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5669280" y="1234440"/>
            <a:ext cx="30175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512·30·D</m:t>
                          </m:r>
                        </m:num>
                        <m:den>
                          <m:r>
                            <a:rPr lang="es-ES" sz="2400" i="1">
                              <a:solidFill>
                                <a:srgbClr val="1F4E79"/>
                              </a:solidFill>
                              <a:latin typeface="Cambria Math" panose="02040503050406030204" pitchFamily="18" charset="0"/>
                            </a:rPr>
                            <m:t xml:space="preserve">2604 </m:t>
                          </m:r>
                          <m:r>
                            <m:rPr>
                              <m:sty m:val="p"/>
                            </m:rPr>
                            <a:rPr lang="es-ES" sz="2400">
                              <a:solidFill>
                                <a:srgbClr val="1F4E79"/>
                              </a:solidFill>
                              <a:latin typeface="Cambria Math" panose="02040503050406030204" pitchFamily="18" charset="0"/>
                            </a:rPr>
                            <m:t xml:space="preserve">Hz</m:t>
                          </m:r>
                        </m:den>
                      </m:f>
                      <m:r>
                        <a:rPr lang="es-ES" sz="2400" i="1">
                          <a:solidFill>
                            <a:srgbClr val="1F4E79"/>
                          </a:solidFill>
                          <a:latin typeface="Cambria Math" panose="02040503050406030204" pitchFamily="18" charset="0"/>
                        </a:rPr>
                        <m:t xml:space="preserve">≈5,9 </m:t>
                      </m:r>
                      <m:r>
                        <m:rPr>
                          <m:sty m:val="p"/>
                        </m:rPr>
                        <a:rPr lang="es-ES" sz="2400">
                          <a:solidFill>
                            <a:srgbClr val="1F4E79"/>
                          </a:solidFill>
                          <a:latin typeface="Cambria Math" panose="02040503050406030204" pitchFamily="18" charset="0"/>
                        </a:rPr>
                        <m:t xml:space="preserve">s</m:t>
                      </m:r>
                      <m:r>
                        <a:rPr lang="es-ES" sz="24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5669280" y="2194560"/>
            <a:ext cx="301752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f</m:t>
                        </m:r>
                      </m:e>
                      <m:sub>
                        <m:r>
                          <a:rPr lang="es-ES" sz="1200" i="1">
                            <a:solidFill>
                              <a:srgbClr val="6B6B6B"/>
                            </a:solidFill>
                            <a:latin typeface="Cambria Math" panose="02040503050406030204" pitchFamily="18" charset="0"/>
                          </a:rPr>
                          <m:t xml:space="preserve">s</m:t>
                        </m:r>
                      </m:sub>
                    </m:sSub>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2604</m:t>
                    </m:r>
                  </m:oMath>
                </a14:m>
              </mc:Choice>
              <mc:Fallback>
                <a:r>
                  <a:rPr lang="en-US" sz="1200" dirty="0">
                    <a:solidFill>
                      <a:srgbClr val="6B6B6B"/>
                    </a:solidFill>
                    <a:latin typeface="Arial" pitchFamily="34" charset="0"/>
                    <a:ea typeface="Arial" pitchFamily="34" charset="-122"/>
                    <a:cs typeface="Arial" pitchFamily="34" charset="-120"/>
                  </a:rPr>
                  <a:t>fs = 2604</a:t>
                </a:r>
              </mc:Fallback>
            </mc:AlternateContent>
            <a:r>
              <a:rPr lang="en-US" sz="1200" dirty="0">
                <a:solidFill>
                  <a:srgbClr val="6B6B6B"/>
                </a:solidFill>
                <a:latin typeface="Arial" pitchFamily="34" charset="0"/>
                <a:ea typeface="Arial" pitchFamily="34" charset="-122"/>
                <a:cs typeface="Arial" pitchFamily="34" charset="-120"/>
              </a:rPr>
              <a:t>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maestro coordina por ESP-NOW y cada nodo une su ESP32 con su PSoC</a:t>
            </a:r>
            <a:endParaRPr lang="en-US" sz="2400" dirty="0"/>
          </a:p>
        </p:txBody>
      </p:sp>
      <p:pic>
        <p:nvPicPr>
          <p:cNvPr id="3" name="Topología de red"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253163" y="1097280"/>
            <a:ext cx="6637673" cy="338328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5); resumen firmado, sec. 4.8.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ESP-NOW por costo y simplicidad, no por ser la opción más precisa</a:t>
            </a:r>
            <a:endParaRPr lang="en-US" sz="2400" dirty="0"/>
          </a:p>
        </p:txBody>
      </p:sp>
      <p:graphicFrame>
        <p:nvGraphicFramePr>
          <p:cNvPr id="85" name="Tabla de alternativa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828800"/>
                <a:gridCol w="2286000"/>
                <a:gridCol w="23774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Infraestructura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Inicio coordinado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Observación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Cable de sincronismo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Tendido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Determinista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Se usó y se retiró: es el cableado que se quiere evitar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Wi-Fi con 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Variable (ACK, reintentos, CSMA/CA)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Latencia distinta en cada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LoRa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Tiempo en el aire de decenas de ms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Tasa de datos muy baja para descargar registros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GPS / PPS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Receptor y cielo abierto por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Referencia absoluta, muy buena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Lo usan equipos comerciales; costo y cobertura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ESP-NOW (broadcast)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 200–400 µs medido con 3 nodos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Sin ACK; barato y ya integrado en el ESP32</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UWB (DWM1000)</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±4 ns reportado (Korsimaa, 2025)</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Trabajo futuro, sin implementar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08_trabajos_futuros.tex (UWB, Korsimaa 2025), 01_problema_modelado.tex (GPS). Wi-Fi, LoRa y GPS: propiedades generales, no medidas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desfase de tiempo entre nodos se convierte en un error de fase que crece con la frecuencia</a:t>
            </a:r>
            <a:endParaRPr lang="en-US" sz="2400" dirty="0"/>
          </a:p>
        </p:txBody>
      </p:sp>
      <p:pic>
        <p:nvPicPr>
          <p:cNvPr id="3" name="Error de fase vs desfasaje" descr="Error de fase en función del desfasaje temporal entre nodos para 20, 50 y 100 Hz, con el presupuesto de 5 grados y la observación preliminar de 400 microsegundos">    </p:cNvPr>
          <p:cNvPicPr>
            <a:picLocks noChangeAspect="1"/>
          </p:cNvPicPr>
          <p:nvPr/>
        </p:nvPicPr>
        <p:blipFill>
          <a:blip r:embed="rId1"/>
          <a:stretch>
            <a:fillRect/>
          </a:stretch>
        </p:blipFill>
        <p:spPr>
          <a:xfrm>
            <a:off x="365760" y="1188720"/>
            <a:ext cx="4406498" cy="3246120"/>
          </a:xfrm>
          <a:prstGeom prst="rect">
            <a:avLst/>
          </a:prstGeom>
        </p:spPr>
      </p:pic>
      <p:sp>
        <p:nvSpPr>
          <p:cNvPr id="4" name="Fondo E_dphi"/>
          <p:cNvSpPr/>
          <p:nvPr/>
        </p:nvSpPr>
        <p:spPr>
          <a:xfrm>
            <a:off x="5029200" y="1188720"/>
            <a:ext cx="36576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6" name="Cuerpo"/>
          <p:cNvSpPr txBox="1"/>
          <p:nvPr/>
        </p:nvSpPr>
        <p:spPr>
          <a:xfrm>
            <a:off x="5029200" y="2103120"/>
            <a:ext cx="3657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Para limitar el error a 5°: 278 µs a 50 Hz y 139 µs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7,2° a 50 Hz y 14,4°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los 5° se cumplen hasta unos 35 Hz (cálculo propio)</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ec. 18; documento de tesis, 04_arquitectura.tex y fig. sincronizacion_fase. Los 35 Hz: 5°/(360°·400 µs).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velocidad de fase, el error depende del espaciamiento entre receptores y no de la frecuencia</a:t>
            </a:r>
            <a:endParaRPr lang="en-US" sz="2400" dirty="0"/>
          </a:p>
        </p:txBody>
      </p:sp>
      <p:pic>
        <p:nvPicPr>
          <p:cNvPr id="3" name="Error de velocidad vs desalineamiento" descr="Error de velocidad de fase en porcentaje en función del desalineamiento temporal entre nodos, para velocidades de Rayleigh de 120, 150 y 200 m/s con receptores separados 2 m">    </p:cNvPr>
          <p:cNvPicPr>
            <a:picLocks noChangeAspect="1"/>
          </p:cNvPicPr>
          <p:nvPr/>
        </p:nvPicPr>
        <p:blipFill>
          <a:blip r:embed="rId1"/>
          <a:stretch>
            <a:fillRect/>
          </a:stretch>
        </p:blipFill>
        <p:spPr>
          <a:xfrm>
            <a:off x="365760" y="1234440"/>
            <a:ext cx="4754880" cy="2732471"/>
          </a:xfrm>
          <a:prstGeom prst="rect">
            <a:avLst/>
          </a:prstGeom>
        </p:spPr>
      </p:pic>
      <p:sp>
        <p:nvSpPr>
          <p:cNvPr id="4" name="Fondo E_dcc"/>
          <p:cNvSpPr/>
          <p:nvPr/>
        </p:nvSpPr>
        <p:spPr>
          <a:xfrm>
            <a:off x="5303520" y="1234440"/>
            <a:ext cx="33832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c·Δt</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c·Δt / Δx</a:t>
                </a:r>
                <a:endParaRPr lang="en-US" sz="2400" dirty="0"/>
              </a:p>
            </p:txBody>
          </p:sp>
        </mc:Fallback>
      </mc:AlternateContent>
      <p:sp>
        <p:nvSpPr>
          <p:cNvPr id="6" name="Cuerpo"/>
          <p:cNvSpPr txBox="1"/>
          <p:nvPr/>
        </p:nvSpPr>
        <p:spPr>
          <a:xfrm>
            <a:off x="5303520" y="22860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r>
                      <m:rPr>
                        <m:sty m:val="p"/>
                      </m:rPr>
                      <a:rPr lang="es-ES" sz="1300">
                        <a:solidFill>
                          <a:srgbClr val="2D2D2D"/>
                        </a:solidFill>
                        <a:latin typeface="Cambria Math" panose="02040503050406030204" pitchFamily="18" charset="0"/>
                      </a:rPr>
                      <m:t xml:space="preserve">=</m:t>
                    </m:r>
                    <m:r>
                      <m:rPr>
                        <m:sty m:val="p"/>
                      </m:rPr>
                      <a:rPr lang="es-ES" sz="1300">
                        <a:solidFill>
                          <a:srgbClr val="2D2D2D"/>
                        </a:solidFill>
                        <a:latin typeface="Cambria Math" panose="02040503050406030204" pitchFamily="18" charset="0"/>
                      </a:rPr>
                      <m:t xml:space="preserve">2</m:t>
                    </m:r>
                  </m:oMath>
                </a14:m>
              </mc:Choice>
              <mc:Fallback>
                <a:r>
                  <a:rPr lang="en-US" sz="1300" dirty="0">
                    <a:solidFill>
                      <a:srgbClr val="2D2D2D"/>
                    </a:solidFill>
                    <a:latin typeface="Arial" pitchFamily="34" charset="0"/>
                    <a:ea typeface="Arial" pitchFamily="34" charset="-122"/>
                    <a:cs typeface="Arial" pitchFamily="34" charset="-120"/>
                  </a:rPr>
                  <a:t>Δx = 2</a:t>
                </a:r>
              </mc:Fallback>
            </mc:AlternateContent>
            <a:r>
              <a:rPr lang="en-US" sz="1300" dirty="0">
                <a:solidFill>
                  <a:srgbClr val="2D2D2D"/>
                </a:solidFill>
                <a:latin typeface="Arial" pitchFamily="34" charset="0"/>
                <a:ea typeface="Arial" pitchFamily="34" charset="-122"/>
                <a:cs typeface="Arial" pitchFamily="34" charset="-120"/>
              </a:rPr>
              <a:t> m y c = 150 m/s, 5 % de error llega a 667 µs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400 µs el error sería de 3 %</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oMath>
                </a14:m>
              </mc:Choice>
              <mc:Fallback>
                <a:r>
                  <a:rPr lang="en-US" sz="1300" dirty="0">
                    <a:solidFill>
                      <a:srgbClr val="2D2D2D"/>
                    </a:solidFill>
                    <a:latin typeface="Arial" pitchFamily="34" charset="0"/>
                    <a:ea typeface="Arial" pitchFamily="34" charset="-122"/>
                    <a:cs typeface="Arial" pitchFamily="34" charset="-120"/>
                  </a:rPr>
                  <a:t>Δx</a:t>
                </a:r>
              </mc:Fallback>
            </mc:AlternateContent>
            <a:r>
              <a:rPr lang="en-US" sz="1300"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t</m:t>
                    </m:r>
                  </m:oMath>
                </a14:m>
              </mc:Choice>
              <mc:Fallback>
                <a:r>
                  <a:rPr lang="en-US" sz="1300" dirty="0">
                    <a:solidFill>
                      <a:srgbClr val="2D2D2D"/>
                    </a:solidFill>
                    <a:latin typeface="Arial" pitchFamily="34" charset="0"/>
                    <a:ea typeface="Arial" pitchFamily="34" charset="-122"/>
                    <a:cs typeface="Arial" pitchFamily="34" charset="-120"/>
                  </a:rPr>
                  <a:t>Δt</a:t>
                </a:r>
              </mc:Fallback>
            </mc:AlternateContent>
            <a:r>
              <a:rPr lang="en-US" sz="1300" dirty="0">
                <a:solidFill>
                  <a:srgbClr val="2D2D2D"/>
                </a:solidFill>
                <a:latin typeface="Arial" pitchFamily="34" charset="0"/>
                <a:ea typeface="Arial" pitchFamily="34" charset="-122"/>
                <a:cs typeface="Arial" pitchFamily="34" charset="-120"/>
              </a:rPr>
              <a:t> pese más</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r>
                      <m:rPr>
                        <m:sty m:val="p"/>
                      </m:rPr>
                      <a:rPr lang="es-ES" sz="1200">
                        <a:solidFill>
                          <a:srgbClr val="6B6B6B"/>
                        </a:solidFill>
                        <a:latin typeface="Cambria Math" panose="02040503050406030204" pitchFamily="18" charset="0"/>
                      </a:rPr>
                      <m:t xml:space="preserve">/</m:t>
                    </m:r>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oMath>
                </a14:m>
              </mc:Choice>
              <mc:Fallback>
                <a:r>
                  <a:rPr lang="en-US" sz="1200" dirty="0">
                    <a:solidFill>
                      <a:srgbClr val="6B6B6B"/>
                    </a:solidFill>
                    <a:latin typeface="Arial" pitchFamily="34" charset="0"/>
                    <a:ea typeface="Arial" pitchFamily="34" charset="-122"/>
                    <a:cs typeface="Arial" pitchFamily="34" charset="-120"/>
                  </a:rPr>
                  <a:t>Δx/Δφ</a:t>
                </a:r>
              </mc:Fallback>
            </mc:AlternateContent>
            <a:r>
              <a:rPr lang="en-US" sz="1200" dirty="0">
                <a:solidFill>
                  <a:srgbClr val="6B6B6B"/>
                </a:solidFill>
                <a:latin typeface="Arial" pitchFamily="34" charset="0"/>
                <a:ea typeface="Arial" pitchFamily="34" charset="-122"/>
                <a:cs typeface="Arial" pitchFamily="34" charset="-120"/>
              </a:rPr>
              <a:t>: inferencia propia, no tomada de una fuente.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se prepara en dos pasos y se ejecuta con una sola orden por broadcast</a:t>
            </a:r>
            <a:endParaRPr lang="en-US" sz="2400" dirty="0"/>
          </a:p>
        </p:txBody>
      </p:sp>
      <p:pic>
        <p:nvPicPr>
          <p:cNvPr id="3" name="Secuencia de disparo"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548640" y="1188720"/>
            <a:ext cx="8046720" cy="3259233"/>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10); resumen firmado, sec. 4.8 y fig. 12.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va por broadcast: el unicast agrega retransmisiones distintas en cada nodo</a:t>
            </a:r>
            <a:endParaRPr lang="en-US" sz="2400" dirty="0"/>
          </a:p>
        </p:txBody>
      </p:sp>
      <p:sp>
        <p:nvSpPr>
          <p:cNvPr id="3" name="Cabecera Sin ACK ni reintentos"/>
          <p:cNvSpPr/>
          <p:nvPr/>
        </p:nvSpPr>
        <p:spPr>
          <a:xfrm>
            <a:off x="457200" y="1188720"/>
            <a:ext cx="2560320" cy="45720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ACK ni reintentos</a:t>
            </a:r>
            <a:endParaRPr lang="en-US" sz="1500" dirty="0"/>
          </a:p>
        </p:txBody>
      </p:sp>
      <p:sp>
        <p:nvSpPr>
          <p:cNvPr id="5" name="Tarjeta Sin ACK ni reintentos"/>
          <p:cNvSpPr/>
          <p:nvPr/>
        </p:nvSpPr>
        <p:spPr>
          <a:xfrm>
            <a:off x="457200" y="1645920"/>
            <a:ext cx="2560320" cy="1920240"/>
          </a:xfrm>
          <a:prstGeom prst="rect">
            <a:avLst/>
          </a:prstGeom>
          <a:solidFill>
            <a:srgbClr val="FFFFFF"/>
          </a:solidFill>
          <a:ln w="19050">
            <a:solidFill>
              <a:srgbClr val="1F4E79"/>
            </a:solidFill>
            <a:prstDash val="solid"/>
          </a:ln>
        </p:spPr>
      </p:sp>
      <p:sp>
        <p:nvSpPr>
          <p:cNvPr id="6" name="Text 4"/>
          <p:cNvSpPr txBox="1"/>
          <p:nvPr/>
        </p:nvSpPr>
        <p:spPr>
          <a:xfrm>
            <a:off x="56692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300" dirty="0"/>
          </a:p>
        </p:txBody>
      </p:sp>
      <p:sp>
        <p:nvSpPr>
          <p:cNvPr id="7" name="Cabecera Una emisión, no N"/>
          <p:cNvSpPr/>
          <p:nvPr/>
        </p:nvSpPr>
        <p:spPr>
          <a:xfrm>
            <a:off x="3291840" y="1188720"/>
            <a:ext cx="2560320" cy="45720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Una emisión, no N</a:t>
            </a:r>
            <a:endParaRPr lang="en-US" sz="1500" dirty="0"/>
          </a:p>
        </p:txBody>
      </p:sp>
      <p:sp>
        <p:nvSpPr>
          <p:cNvPr id="9" name="Tarjeta Una emisión, no N"/>
          <p:cNvSpPr/>
          <p:nvPr/>
        </p:nvSpPr>
        <p:spPr>
          <a:xfrm>
            <a:off x="3291840" y="1645920"/>
            <a:ext cx="2560320" cy="1920240"/>
          </a:xfrm>
          <a:prstGeom prst="rect">
            <a:avLst/>
          </a:prstGeom>
          <a:solidFill>
            <a:srgbClr val="FFFFFF"/>
          </a:solidFill>
          <a:ln w="19050">
            <a:solidFill>
              <a:srgbClr val="2E75B6"/>
            </a:solidFill>
            <a:prstDash val="solid"/>
          </a:ln>
        </p:spPr>
      </p:sp>
      <p:sp>
        <p:nvSpPr>
          <p:cNvPr id="10" name="Text 8"/>
          <p:cNvSpPr txBox="1"/>
          <p:nvPr/>
        </p:nvSpPr>
        <p:spPr>
          <a:xfrm>
            <a:off x="340156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300" dirty="0"/>
          </a:p>
        </p:txBody>
      </p:sp>
      <p:sp>
        <p:nvSpPr>
          <p:cNvPr id="11" name="Cabecera Retardo común"/>
          <p:cNvSpPr/>
          <p:nvPr/>
        </p:nvSpPr>
        <p:spPr>
          <a:xfrm>
            <a:off x="6126480" y="1188720"/>
            <a:ext cx="2560320" cy="45720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Retardo común</a:t>
            </a:r>
            <a:endParaRPr lang="en-US" sz="1500" dirty="0"/>
          </a:p>
        </p:txBody>
      </p:sp>
      <p:sp>
        <p:nvSpPr>
          <p:cNvPr id="13" name="Tarjeta Retardo común"/>
          <p:cNvSpPr/>
          <p:nvPr/>
        </p:nvSpPr>
        <p:spPr>
          <a:xfrm>
            <a:off x="6126480" y="1645920"/>
            <a:ext cx="2560320" cy="1920240"/>
          </a:xfrm>
          <a:prstGeom prst="rect">
            <a:avLst/>
          </a:prstGeom>
          <a:solidFill>
            <a:srgbClr val="FFFFFF"/>
          </a:solidFill>
          <a:ln w="19050">
            <a:solidFill>
              <a:srgbClr val="C55A11"/>
            </a:solidFill>
            <a:prstDash val="solid"/>
          </a:ln>
        </p:spPr>
      </p:sp>
      <p:sp>
        <p:nvSpPr>
          <p:cNvPr id="14" name="Text 12"/>
          <p:cNvSpPr txBox="1"/>
          <p:nvPr/>
        </p:nvSpPr>
        <p:spPr>
          <a:xfrm>
            <a:off x="623620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300" dirty="0"/>
          </a:p>
        </p:txBody>
      </p:sp>
      <p:sp>
        <p:nvSpPr>
          <p:cNvPr id="15" name="Text 13"/>
          <p:cNvSpPr txBox="1"/>
          <p:nvPr/>
        </p:nvSpPr>
        <p:spPr>
          <a:xfrm>
            <a:off x="457200" y="3703320"/>
            <a:ext cx="8229600" cy="5029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400" dirty="0"/>
          </a:p>
        </p:txBody>
      </p:sp>
      <p:sp>
        <p:nvSpPr>
          <p:cNvPr id="16" name="Text 14"/>
          <p:cNvSpPr txBox="1"/>
          <p:nvPr/>
        </p:nvSpPr>
        <p:spPr>
          <a:xfrm>
            <a:off x="457200" y="4251960"/>
            <a:ext cx="8229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10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(sec. broadcast vs unicast); comportamiento de ACK en unicast: estándar 802.11.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jitter se mide con un disparo falso y un osciloscopio: 128 órdenes, 200 a 400 µs</a:t>
            </a:r>
            <a:endParaRPr lang="en-US" sz="2400" dirty="0"/>
          </a:p>
        </p:txBody>
      </p:sp>
      <p:sp>
        <p:nvSpPr>
          <p:cNvPr id="3" name="Cabecera Método"/>
          <p:cNvSpPr/>
          <p:nvPr/>
        </p:nvSpPr>
        <p:spPr>
          <a:xfrm>
            <a:off x="457200" y="1188720"/>
            <a:ext cx="475488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46634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p>
        </p:txBody>
      </p:sp>
      <p:sp>
        <p:nvSpPr>
          <p:cNvPr id="5" name="Tarjeta Método"/>
          <p:cNvSpPr/>
          <p:nvPr/>
        </p:nvSpPr>
        <p:spPr>
          <a:xfrm>
            <a:off x="457200" y="1600200"/>
            <a:ext cx="4754880" cy="2377440"/>
          </a:xfrm>
          <a:prstGeom prst="rect">
            <a:avLst/>
          </a:prstGeom>
          <a:solidFill>
            <a:srgbClr val="FFFFFF"/>
          </a:solidFill>
          <a:ln w="19050">
            <a:solidFill>
              <a:srgbClr val="1F4E79"/>
            </a:solidFill>
            <a:prstDash val="solid"/>
          </a:ln>
        </p:spPr>
      </p:sp>
      <p:sp>
        <p:nvSpPr>
          <p:cNvPr id="6" name="Text 4"/>
          <p:cNvSpPr txBox="1"/>
          <p:nvPr/>
        </p:nvSpPr>
        <p:spPr>
          <a:xfrm>
            <a:off x="566928" y="1673352"/>
            <a:ext cx="4535424" cy="223113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SCOPE_MULTI repite el disparo 128 veces, separado 1 s</a:t>
            </a:r>
            <a:endParaRPr lang="en-US" sz="1300" dirty="0"/>
          </a:p>
        </p:txBody>
      </p:sp>
      <p:sp>
        <p:nvSpPr>
          <p:cNvPr id="7" name="Fondo resultado"/>
          <p:cNvSpPr/>
          <p:nvPr/>
        </p:nvSpPr>
        <p:spPr>
          <a:xfrm>
            <a:off x="5486400" y="1188720"/>
            <a:ext cx="3200400" cy="2788920"/>
          </a:xfrm>
          <a:prstGeom prst="rect">
            <a:avLst/>
          </a:prstGeom>
          <a:solidFill>
            <a:srgbClr val="EAF1F8"/>
          </a:solidFill>
          <a:ln w="12700">
            <a:solidFill>
              <a:srgbClr val="EAF1F8"/>
            </a:solidFill>
            <a:prstDash val="solid"/>
          </a:ln>
        </p:spPr>
      </p:sp>
      <p:sp>
        <p:nvSpPr>
          <p:cNvPr id="8" name="Text 6"/>
          <p:cNvSpPr txBox="1"/>
          <p:nvPr/>
        </p:nvSpPr>
        <p:spPr>
          <a:xfrm>
            <a:off x="5486400" y="1371600"/>
            <a:ext cx="3200400" cy="73152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200–400 µs</a:t>
            </a:r>
            <a:endParaRPr lang="en-US" sz="3600" dirty="0"/>
          </a:p>
        </p:txBody>
      </p:sp>
      <p:sp>
        <p:nvSpPr>
          <p:cNvPr id="9" name="Text 7"/>
          <p:cNvSpPr txBox="1"/>
          <p:nvPr/>
        </p:nvSpPr>
        <p:spPr>
          <a:xfrm>
            <a:off x="5623560" y="2194560"/>
            <a:ext cx="2926080" cy="82296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300" dirty="0"/>
          </a:p>
        </p:txBody>
      </p:sp>
      <p:sp>
        <p:nvSpPr>
          <p:cNvPr id="10" name="Text 8"/>
          <p:cNvSpPr txBox="1"/>
          <p:nvPr/>
        </p:nvSpPr>
        <p:spPr>
          <a:xfrm>
            <a:off x="5623560" y="3063240"/>
            <a:ext cx="2926080" cy="82296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200" dirty="0"/>
          </a:p>
        </p:txBody>
      </p:sp>
      <p:sp>
        <p:nvSpPr>
          <p:cNvPr id="11" name="Text 9"/>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400" b="1" dirty="0">
                <a:solidFill>
                  <a:srgbClr val="C55A11"/>
                </a:solidFill>
                <a:latin typeface="Arial" pitchFamily="34" charset="0"/>
                <a:ea typeface="Arial" pitchFamily="34" charset="-122"/>
                <a:cs typeface="Arial" pitchFamily="34" charset="-120"/>
              </a:rPr>
              <a:t>Resultado preliminar: no es una especificación garantizada.</a:t>
            </a:r>
            <a:endParaRPr lang="en-US" sz="14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documento de tesis, 04_arquitectura.tex (método, resultado y límites).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Esta medición no incluye el inicio real del ADC ni la deriva posterior</a:t>
            </a:r>
            <a:endParaRPr lang="en-US" sz="2400" dirty="0"/>
          </a:p>
        </p:txBody>
      </p:sp>
      <p:sp>
        <p:nvSpPr>
          <p:cNvPr id="3" name="Cabecera Qué mid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mide</a:t>
            </a:r>
            <a:endParaRPr lang="en-US" sz="1400" dirty="0"/>
          </a:p>
        </p:txBody>
      </p:sp>
      <p:sp>
        <p:nvSpPr>
          <p:cNvPr id="5" name="Tarjeta Qué mide"/>
          <p:cNvSpPr/>
          <p:nvPr/>
        </p:nvSpPr>
        <p:spPr>
          <a:xfrm>
            <a:off x="457200" y="1600200"/>
            <a:ext cx="2560320" cy="25146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Llegada de la orden y flanco GPIO en cada ESP32</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los nodos juntos, por el alcance de las puntas</a:t>
            </a:r>
            <a:endParaRPr lang="en-US" sz="1250" dirty="0"/>
          </a:p>
        </p:txBody>
      </p:sp>
      <p:sp>
        <p:nvSpPr>
          <p:cNvPr id="7" name="Cabecera Qué fal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falta</a:t>
            </a:r>
            <a:endParaRPr lang="en-US" sz="1400" dirty="0"/>
          </a:p>
        </p:txBody>
      </p:sp>
      <p:sp>
        <p:nvSpPr>
          <p:cNvPr id="9" name="Tarjeta Qué falta"/>
          <p:cNvSpPr/>
          <p:nvPr/>
        </p:nvSpPr>
        <p:spPr>
          <a:xfrm>
            <a:off x="3291840" y="1600200"/>
            <a:ext cx="2560320" cy="251460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Deriva relativa de los relojes durante la captura</a:t>
            </a:r>
            <a:endParaRPr lang="en-US" sz="1250" dirty="0"/>
          </a:p>
        </p:txBody>
      </p:sp>
      <p:sp>
        <p:nvSpPr>
          <p:cNvPr id="11" name="Cabecera Experimentos pendientes"/>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Experimentos pendientes</a:t>
            </a:r>
            <a:endParaRPr lang="en-US" sz="1400" dirty="0"/>
          </a:p>
        </p:txBody>
      </p:sp>
      <p:sp>
        <p:nvSpPr>
          <p:cNvPr id="13" name="Tarjeta Experimentos pendientes"/>
          <p:cNvSpPr/>
          <p:nvPr/>
        </p:nvSpPr>
        <p:spPr>
          <a:xfrm>
            <a:off x="6126480" y="1600200"/>
            <a:ext cx="2560320" cy="251460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Nodos separados decenas de metros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Repetibilidad, nº de nodos, temperatura, canal Wi-Fi</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y 5; documento de tesis, 04_arquitectura.tex (limitaciones). La señal de referencia común es propuesta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Tras el disparo, cada nodo muestrea con su reloj local y la deriva se acumula</a:t>
            </a:r>
            <a:endParaRPr lang="en-US" sz="2400" dirty="0"/>
          </a:p>
        </p:txBody>
      </p:sp>
      <p:sp>
        <p:nvSpPr>
          <p:cNvPr id="3" name="Fondo E_fsi"/>
          <p:cNvSpPr/>
          <p:nvPr/>
        </p:nvSpPr>
        <p:spPr>
          <a:xfrm>
            <a:off x="45720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s,i</m:t>
                          </m:r>
                        </m:sub>
                      </m:sSub>
                      <m:r>
                        <a:rPr lang="es-ES" sz="2800" i="1">
                          <a:solidFill>
                            <a:srgbClr val="1F4E79"/>
                          </a:solidFill>
                          <a:latin typeface="Cambria Math" panose="02040503050406030204" pitchFamily="18" charset="0"/>
                        </a:rPr>
                        <m:t xml:space="preserve">=</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oMath>
                  </m:oMathPara>
                </a14:m>
                <a:endParaRPr lang="es-ES"/>
              </a:p>
            </p:txBody>
          </p:sp>
        </mc:Choice>
        <mc:Fallback>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fs,i = fs(1 + εi)</a:t>
                </a:r>
                <a:endParaRPr lang="en-US" sz="2400" dirty="0"/>
              </a:p>
            </p:txBody>
          </p:sp>
        </mc:Fallback>
      </mc:AlternateContent>
      <p:sp>
        <p:nvSpPr>
          <p:cNvPr id="5" name="Fondo E_tin"/>
          <p:cNvSpPr/>
          <p:nvPr/>
        </p:nvSpPr>
        <p:spPr>
          <a:xfrm>
            <a:off x="466344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[n]=</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0,i</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n</m:t>
                          </m:r>
                        </m:num>
                        <m:den>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den>
                      </m:f>
                    </m:oMath>
                  </m:oMathPara>
                </a14:m>
                <a:endParaRPr lang="es-ES"/>
              </a:p>
            </p:txBody>
          </p:sp>
        </mc:Choice>
        <mc:Fallback>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ti[n] = t0,i + n / (fs(1 + εi))</a:t>
                </a:r>
                <a:endParaRPr lang="en-US" sz="2400" dirty="0"/>
              </a:p>
            </p:txBody>
          </p:sp>
        </mc:Fallback>
      </mc:AlternateContent>
      <p:sp>
        <p:nvSpPr>
          <p:cNvPr id="7" name="Fondo E_drift"/>
          <p:cNvSpPr/>
          <p:nvPr/>
        </p:nvSpPr>
        <p:spPr>
          <a:xfrm>
            <a:off x="457200" y="21031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Δt=</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m:rPr>
                              <m:sty m:val="p"/>
                            </m:rPr>
                            <a:rPr lang="es-ES" sz="2800">
                              <a:solidFill>
                                <a:srgbClr val="1F4E79"/>
                              </a:solidFill>
                              <a:latin typeface="Cambria Math" panose="02040503050406030204" pitchFamily="18" charset="0"/>
                            </a:rPr>
                            <m:t xml:space="preserve">rel</m:t>
                          </m:r>
                        </m:sub>
                      </m:sSub>
                      <m:r>
                        <a:rPr lang="es-ES" sz="2800" i="1">
                          <a:solidFill>
                            <a:srgbClr val="1F4E79"/>
                          </a:solidFill>
                          <a:latin typeface="Cambria Math" panose="02040503050406030204" pitchFamily="18" charset="0"/>
                        </a:rPr>
                        <m:t xml:space="preserve">·T</m:t>
                      </m:r>
                    </m:oMath>
                  </m:oMathPara>
                </a14:m>
                <a:endParaRPr lang="es-ES"/>
              </a:p>
            </p:txBody>
          </p:sp>
        </mc:Choice>
        <mc:Fallback>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Δt = ε_rel · T</a:t>
                </a:r>
                <a:endParaRPr lang="en-US" sz="2400" dirty="0"/>
              </a:p>
            </p:txBody>
          </p:sp>
        </mc:Fallback>
      </mc:AlternateContent>
      <p:graphicFrame>
        <p:nvGraphicFramePr>
          <p:cNvPr id="92" name="Tabla de deriva"/>
          <p:cNvGraphicFramePr>
            <a:graphicFrameLocks noGrp="1"/>
          </p:cNvGraphicFramePr>
          <p:nvPr>
            <p:extLst>
              <p:ext uri="{D42A27DB-BD31-4B8C-83A1-F6EECF244321}">
                <p14:modId xmlns:p14="http://schemas.microsoft.com/office/powerpoint/2010/main" val="1579011935"/>
              </p:ext>
            </p:extLst>
          </p:nvPr>
        </p:nvGraphicFramePr>
        <p:xfrm>
          <a:off x="4663440" y="2103120"/>
          <a:ext cx="4023360" cy="914400"/>
        </p:xfrm>
        <a:graphic>
          <a:graphicData uri="http://schemas.openxmlformats.org/drawingml/2006/table">
            <a:tbl>
              <a:tblPr/>
              <a:tblGrid>
                <a:gridCol w="1280160"/>
                <a:gridCol w="1371600"/>
                <a:gridCol w="1371600"/>
              </a:tblGrid>
              <a:tr h="274320">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FFFFFF"/>
                                  </a:solidFill>
                                  <a:latin typeface="Cambria Math" panose="02040503050406030204" pitchFamily="18" charset="0"/>
                                </a:rPr>
                                <m:t xml:space="preserve">ε</m:t>
                              </m:r>
                            </m:oMath>
                          </a14:m>
                        </mc:Choice>
                        <mc:Fallback>
                          <a:r>
                            <a:rPr lang="en-US" sz="1200" b="1" dirty="0">
                              <a:solidFill>
                                <a:srgbClr val="FFFFFF"/>
                              </a:solidFill>
                              <a:latin typeface="Arial" pitchFamily="34" charset="0"/>
                              <a:ea typeface="Arial" pitchFamily="34" charset="-122"/>
                              <a:cs typeface="Arial" pitchFamily="34" charset="-120"/>
                            </a:rPr>
                            <a:t>ε</a:t>
                          </a:r>
                        </mc:Fallback>
                      </mc:AlternateContent>
                      <a:r>
                        <a:rPr lang="en-US" sz="1200" b="1" dirty="0">
                          <a:solidFill>
                            <a:srgbClr val="FFFFFF"/>
                          </a:solidFill>
                          <a:latin typeface="Arial" pitchFamily="34" charset="0"/>
                          <a:ea typeface="Arial" pitchFamily="34" charset="-122"/>
                          <a:cs typeface="Arial" pitchFamily="34" charset="-120"/>
                        </a:rPr>
                        <a:t> relativo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10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uerpo"/>
          <p:cNvSpPr txBox="1"/>
          <p:nvPr/>
        </p:nvSpPr>
        <p:spPr>
          <a:xfrm>
            <a:off x="457200" y="338328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·T al cabo de 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Con 50 ppm y 10 s, la deriva (500 µs) supera al jitter de inicio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400" dirty="0"/>
          </a:p>
        </p:txBody>
      </p:sp>
      <p:sp>
        <p:nvSpPr>
          <p:cNvPr id="11" name="Text 8"/>
          <p:cNvSpPr txBox="1"/>
          <p:nvPr/>
        </p:nvSpPr>
        <p:spPr>
          <a:xfrm>
            <a:off x="4663440" y="3017520"/>
            <a:ext cx="402336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1000" i="1">
                        <a:solidFill>
                          <a:srgbClr val="C55A11"/>
                        </a:solidFill>
                        <a:latin typeface="Cambria Math" panose="02040503050406030204" pitchFamily="18" charset="0"/>
                      </a:rPr>
                      <m:t xml:space="preserve">ε</m:t>
                    </m:r>
                  </m:oMath>
                </a14:m>
              </mc:Choice>
              <mc:Fallback>
                <a:r>
                  <a:rPr lang="en-US" sz="1000" b="1" dirty="0">
                    <a:solidFill>
                      <a:srgbClr val="C55A11"/>
                    </a:solidFill>
                    <a:latin typeface="Arial" pitchFamily="34" charset="0"/>
                    <a:ea typeface="Arial" pitchFamily="34" charset="-122"/>
                    <a:cs typeface="Arial" pitchFamily="34" charset="-120"/>
                  </a:rPr>
                  <a:t>ε</a:t>
                </a:r>
              </mc:Fallback>
            </mc:AlternateContent>
            <a:r>
              <a:rPr lang="en-US" sz="1000" b="1" dirty="0">
                <a:solidFill>
                  <a:srgbClr val="C55A11"/>
                </a:solidFill>
                <a:latin typeface="Arial" pitchFamily="34" charset="0"/>
                <a:ea typeface="Arial" pitchFamily="34" charset="-122"/>
                <a:cs typeface="Arial" pitchFamily="34" charset="-120"/>
              </a:rPr>
              <a:t> NO MEDIDO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ε</m:t>
                    </m:r>
                  </m:oMath>
                </a14:m>
              </mc:Choice>
              <mc:Fallback>
                <a:r>
                  <a:rPr lang="en-US" sz="1200" dirty="0">
                    <a:solidFill>
                      <a:srgbClr val="6B6B6B"/>
                    </a:solidFill>
                    <a:latin typeface="Arial" pitchFamily="34" charset="0"/>
                    <a:ea typeface="Arial" pitchFamily="34" charset="-122"/>
                    <a:cs typeface="Arial" pitchFamily="34" charset="-120"/>
                  </a:rPr>
                  <a:t>ε</a:t>
                </a:r>
              </mc:Fallback>
            </mc:AlternateContent>
            <a:r>
              <a:rPr lang="en-US" sz="12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registros se descargan en lotes numerados, con CRC y reintento si algo falla</a:t>
            </a:r>
            <a:endParaRPr lang="en-US" sz="2400" dirty="0"/>
          </a:p>
        </p:txBody>
      </p:sp>
      <p:pic>
        <p:nvPicPr>
          <p:cNvPr id="3" name="Descarga de lotes"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548640" y="1188720"/>
            <a:ext cx="8046720" cy="324018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12); resumen firmado, sec. 4.8;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número de nodos está limitado por los pares de ESP-NOW y por la descarga secuencial</a:t>
            </a:r>
            <a:endParaRPr lang="en-US" sz="2400" dirty="0"/>
          </a:p>
        </p:txBody>
      </p:sp>
      <p:sp>
        <p:nvSpPr>
          <p:cNvPr id="3" name="Cabecera Verificado"/>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Verificado</a:t>
            </a:r>
            <a:endParaRPr lang="en-US" sz="1500" dirty="0"/>
          </a:p>
        </p:txBody>
      </p:sp>
      <p:sp>
        <p:nvSpPr>
          <p:cNvPr id="5" name="Tarjeta Verificado"/>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ESP-IDF v5.5: hasta 20 pares; cifrados: hasta 17, 7 por defecto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Carga útil por trama: 250 B (v1.0) o 1470 B (v2.0)</a:t>
            </a:r>
            <a:endParaRPr lang="en-US" sz="1250" dirty="0"/>
          </a:p>
        </p:txBody>
      </p:sp>
      <p:sp>
        <p:nvSpPr>
          <p:cNvPr id="7" name="Cabecera Inferencia"/>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Inferencia</a:t>
            </a:r>
            <a:endParaRPr lang="en-US" sz="1500" dirty="0"/>
          </a:p>
        </p:txBody>
      </p:sp>
      <p:sp>
        <p:nvSpPr>
          <p:cNvPr id="9" name="Tarjeta Inferencia"/>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La descarga recorre un nodo por vez: el tiempo crece con N</a:t>
            </a:r>
            <a:endParaRPr lang="en-US" sz="1250" dirty="0"/>
          </a:p>
        </p:txBody>
      </p:sp>
      <p:sp>
        <p:nvSpPr>
          <p:cNvPr id="11" name="Cabecera Sin medir"/>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medir</a:t>
            </a:r>
            <a:endParaRPr lang="en-US" sz="1500" dirty="0"/>
          </a:p>
        </p:txBody>
      </p:sp>
      <p:sp>
        <p:nvSpPr>
          <p:cNvPr id="13" name="Tarjeta Sin medir"/>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Jitter y descarga con más de 3 nodos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Efecto de la ocupación del canal Wi-Fi</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Qué versión de ESP-NOW usa el firmware</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Espressif, ESP-IDF v5.5, API de ESP-NOW (docs.espressif.com); documento de tesis, 04_arquitectura.tex (experimentos pendientes). Inferencias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nodo HAMMER registra el impacto con un sensor ICP y el mismo firmware que los nodos GEO</a:t>
            </a:r>
            <a:endParaRPr lang="en-US" sz="2400" dirty="0"/>
          </a:p>
        </p:txBody>
      </p:sp>
      <p:pic>
        <p:nvPicPr>
          <p:cNvPr id="3" name="Principio ICP" descr="Principio de alimentación ICP: sensor de cuarzo con amplificador interno, cable, fuente de corriente constante y capacitor de desacople">    </p:cNvPr>
          <p:cNvPicPr>
            <a:picLocks noChangeAspect="1"/>
          </p:cNvPicPr>
          <p:nvPr/>
        </p:nvPicPr>
        <p:blipFill>
          <a:blip r:embed="rId1"/>
          <a:stretch>
            <a:fillRect/>
          </a:stretch>
        </p:blipFill>
        <p:spPr>
          <a:xfrm>
            <a:off x="365760" y="1234440"/>
            <a:ext cx="2011680" cy="1704899"/>
          </a:xfrm>
          <a:prstGeom prst="rect">
            <a:avLst/>
          </a:prstGeom>
        </p:spPr>
      </p:pic>
      <p:pic>
        <p:nvPicPr>
          <p:cNvPr id="4" name="Acondicionamiento del martillo" descr="Acondicionamiento del martillo en PSoC Creator: fuente de corriente con LM7805, desacople y protección, PGA, pasa-bajos y ADC delta-sigma">    </p:cNvPr>
          <p:cNvPicPr>
            <a:picLocks noChangeAspect="1"/>
          </p:cNvPicPr>
          <p:nvPr/>
        </p:nvPicPr>
        <p:blipFill>
          <a:blip r:embed="rId2"/>
          <a:stretch>
            <a:fillRect/>
          </a:stretch>
        </p:blipFill>
        <p:spPr>
          <a:xfrm>
            <a:off x="2926080" y="1234440"/>
            <a:ext cx="5669280" cy="2146767"/>
          </a:xfrm>
          <a:prstGeom prst="rect">
            <a:avLst/>
          </a:prstGeom>
        </p:spPr>
      </p:pic>
      <p:sp>
        <p:nvSpPr>
          <p:cNvPr id="5" name="Text 1"/>
          <p:cNvSpPr txBox="1"/>
          <p:nvPr/>
        </p:nvSpPr>
        <p:spPr>
          <a:xfrm>
            <a:off x="2926080" y="3401568"/>
            <a:ext cx="566928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ETIQUETAS EN INGLÉS (figuras originales)</a:t>
            </a:r>
            <a:endParaRPr lang="en-US" sz="1000" dirty="0"/>
          </a:p>
        </p:txBody>
      </p:sp>
      <p:sp>
        <p:nvSpPr>
          <p:cNvPr id="6"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4.7 y fig. 13; PCB Piezotronics (2025); documento de tesis, 03_excitacion.tex (principio ICP, esquema en PSoC Creator).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2026-10-13T07:02:41Z</dcterms:created>
  <dcterms:modified xsi:type="dcterms:W3CDTF">2026-10-13T07:02:41Z</dcterms:modified>
</cp:coreProperties>
</file>