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charts/chart5.xml" ContentType="application/vnd.openxmlformats-officedocument.drawingml.chart+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 calibrar</c:v>
                </c:pt>
              </c:strCache>
            </c:strRef>
          </c:tx>
          <c:spPr>
            <a:solidFill>
              <a:srgbClr val="C55A11"/>
            </a:solidFill>
            <a:effectLst/>
          </c:spPr>
          <c:invertIfNegative val="0"/>
          <c:dLbls>
            <c:numFmt formatCode="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Sheet1!$B$2:$B$9</c:f>
              <c:numCache>
                <c:formatCode>General</c:formatCode>
                <c:ptCount val="8"/>
                <c:pt idx="0">
                  <c:v>45.8</c:v>
                </c:pt>
                <c:pt idx="1">
                  <c:v>42.6</c:v>
                </c:pt>
                <c:pt idx="2">
                  <c:v>29.6</c:v>
                </c:pt>
                <c:pt idx="3">
                  <c:v>12.4</c:v>
                </c:pt>
                <c:pt idx="4">
                  <c:v>4.1</c:v>
                </c:pt>
                <c:pt idx="5">
                  <c:v>3</c:v>
                </c:pt>
                <c:pt idx="6">
                  <c:v>2.9</c:v>
                </c:pt>
                <c:pt idx="7">
                  <c:v>2.9</c:v>
                </c:pt>
              </c:numCache>
            </c:numRef>
          </c:val>
        </c:ser>
        <c:ser>
          <c:idx val="1"/>
          <c:order val="1"/>
          <c:tx>
            <c:strRef>
              <c:f>Sheet1!$C$1</c:f>
              <c:strCache>
                <c:ptCount val="1"/>
                <c:pt idx="0">
                  <c:v>Calibrado</c:v>
                </c:pt>
              </c:strCache>
            </c:strRef>
          </c:tx>
          <c:spPr>
            <a:solidFill>
              <a:srgbClr val="1F4E79"/>
            </a:solidFill>
            <a:effectLst/>
          </c:spPr>
          <c:invertIfNegative val="0"/>
          <c:dLbls>
            <c:numFmt formatCode="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Sheet1!$C$2:$C$9</c:f>
              <c:numCache>
                <c:formatCode>General</c:formatCode>
                <c:ptCount val="8"/>
                <c:pt idx="0">
                  <c:v>3.2</c:v>
                </c:pt>
                <c:pt idx="1">
                  <c:v>3.9</c:v>
                </c:pt>
                <c:pt idx="2">
                  <c:v>2.3</c:v>
                </c:pt>
                <c:pt idx="3">
                  <c:v>1.7</c:v>
                </c:pt>
                <c:pt idx="4">
                  <c:v>1.2</c:v>
                </c:pt>
                <c:pt idx="5">
                  <c:v>0.7</c:v>
                </c:pt>
                <c:pt idx="6">
                  <c:v>0.4</c:v>
                </c:pt>
                <c:pt idx="7">
                  <c:v>0.7</c:v>
                </c:pt>
              </c:numCache>
            </c:numRef>
          </c:val>
        </c:ser>
        <c:dLbls>
          <c:numFmt formatCode="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6B6B6B"/>
                    </a:solidFill>
                    <a:latin typeface="Arial"/>
                  </a:defRPr>
                </a:pPr>
                <a:r>
                  <a:rPr sz="1100" b="0" i="0" u="none" strike="noStrike">
                    <a:solidFill>
                      <a:srgbClr val="6B6B6B"/>
                    </a:solidFill>
                    <a:latin typeface="Arial"/>
                  </a:rPr>
                  <a:t>Placa y ganancia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0E0E0"/>
              </a:solidFill>
              <a:prstDash val="solid"/>
              <a:round/>
            </a:ln>
          </c:spPr>
        </c:majorGridlines>
        <c:title>
          <c:tx>
            <c:rich>
              <a:bodyPr/>
              <a:lstStyle/>
              <a:p>
                <a:pPr>
                  <a:defRPr sz="1100" b="0" i="0" u="none" strike="noStrike">
                    <a:solidFill>
                      <a:srgbClr val="6B6B6B"/>
                    </a:solidFill>
                    <a:latin typeface="Arial"/>
                  </a:defRPr>
                </a:pPr>
                <a:r>
                  <a:rPr sz="1100" b="0" i="0" u="none" strike="noStrike">
                    <a:solidFill>
                      <a:srgbClr val="6B6B6B"/>
                    </a:solidFill>
                    <a:latin typeface="Arial"/>
                  </a:rPr>
                  <a:t>% del fondo de escala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sensor es un SM-24, un geófono vertical pasivo. Por dentro tiene un imán y una bobina suspendidos con resortes: cuando el suelo se mueve, la masa queda rezagada y la bobina corta líneas de campo, lo que genera una tensión. Su frecuencia natural nominal es de 10 hertz, con una tolerancia de más menos 2,5 por ciento, y su sensibilidad de 28,8 volts por metro por segundo. El amortiguamiento en circuito abierto es de unos 0,25, y con una carga de 1339 ohms sube a 0,60. La ecuación muestra por qué: hay un término mecánico y otro eléctrico que depende de la resistencia de carga. Entonces la entrada de nuestro frente, al ser parte de esa carga, cambia la respuesta del sensor; por eso se diseñó con impedancia alta y simétrica. Nota para mí: pedir la fuente del corte interno.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nominal del SM-24, a circuito abierto. A la izquierda, referido a la velocidad del terreno: por encima de los 10 hertz la respuesta es plana, y por debajo cae; a 1 hertz está unos 40 decibeles por debajo de la zona plana. A la derecha, referido a la aceleración, que es la forma pasabanda de la ecuación de abajo. Es un modelo, no una medición del geófono.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mejorar su respuesta en baja frecuencia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Dado un geófono, hay varias maneras de mejorar su respuesta por debajo de la frecuencia natural. Se puede modificar el sensor o su carga, realimentar el movimiento de la masa, corregir de forma digital, o compensar con un filtro analógico en serie entre el sensor y el ADC. Cada una tiene costos distintos. Nota para mí: esta clasificación sigue la introducción de Ma y colaboradores; las descripciones de cada técnica son mías y conviene contrastarlas con el artículo.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Elegimos el método de Ma y colaboradores por tres razones. Primero, no puede ser inestable: en lugar de invertir la respuesta del sensor, resta una rama pasabanda, y sus polos son los de ese filtro. Segundo, es bastante simple. Tercero, no amplifica el ruido de baja frecuencia como lo haría una inversión directa. Su única desventaja es que se pierde ganancia, y eso se palía con más ganancia. Hay que decir con honestidad que ese costo no desaparece: la ganancia agresiva en cada etapa es lo que genera el problema de offset que viene en unas slides. Nota para mí: la ganancia extra consume margen dinámico; tener la cifra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implementar el método, el compensador que propone Ma define la función de transferencia uno menos H B P de s: el camino directo menos una rama pasabanda sintonizada sobre la resonancia del sensor. Al restar esa rama se desintoniza el pico, y la respuesta queda más plana a costa de ganancia. En el diagrama, el camino directo va de la ganancia al sumador, y la rama pasabanda vuelve al sumador con signo negativo. Nota para mí: confirmar en el artículo cómo se sintoniza la 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implementación. La señal entra en forma diferencial, pasa por una etapa de ganancia programable y se reparte en dos caminos: el directo, que va al sumador, y la rama pasabanda. Como el pasabanda que usamos es un amplificador inversor, la rama ya llega con la fase invertida, y entonces alcanza con un sumador de tensión en lugar de un amplificador diferencial. Después viene el filtro antialias y el ADC.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Respecto del trabajo de Ma, incorporamos cinco decisiones. Entrada diferencial, para reducir el ruido de red, que está muy presente en el geófono. Un PGA a la entrada, para ganar distinto en cada nodo. Un pasabanda de tipo amplificador inversor, menos Z f sobre Z in, en lugar de Sallen-Key: desacopla las frecuencias f bajo y f alto, y en los experimentos resultó menos sensible a las tolerancias de lo que se muestra en el artículo. Un sumador en lugar de un restador, porque el pasabanda ya invierte la fase, con menos componentes. Y un antialias antes del ADC. Atención: lo de la sensibilidad a tolerancias es una observación experimental; si preguntan, hay que tener a mano los datos o un análisis de sensibilidad, porque Vicente y Enrique van a preguntar por 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frente analógico tal como quedó en el PSoC Creator: entrada diferencial, ganancia programable, la rama pasabanda, el sumador, el pasa-bajos antialias y el ADC. Las referencias VDAC que se ven en la parte inferior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ganancia amplifica también el offset de continua de las etapas, y esos offsets se acumulan hacia el ADC, incluido el camino directo desde el PGA hasta el sumador. Lo más natural sería acoplar en alterna entre etapas, pero no podemos desacoplar en continua, porque de la continua depende la arquitectura del compensador. Además, el problema es consecuencia de las ganancias agresivas que aplicamos en cada etapa para recuperar lo que el método de Ma atenúa. Entonces la única solución es recuperar el rango perdido con un ajuste digital previo a la captura. Un servo de continua activo durante la captura impondría un compromiso entre tiempo de establecimiento y ancho de banda, justo en baja frecuencia.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dibujo ilustrativo de lo que pasa. A la izquierda, una etapa con offset: la señal oscila alrededor de un nivel alto, y los picos superan el límite de la etapa, así que se recortan. Lo que se recorta no se puede recuperar después. A la derecha, la misma señal con el offset ajustado previamente: entra completa en el rango. En las mediciones sin calibrar, el offset llegó al 21,8 por ciento del fondo de escala en la etapa de suma. Nota: el dibujo es esquemático, no son datos medidos.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es sencillo. La continua a la salida de la etapa i es la suma de lo que le llega de las etapas anteriores, ponderado por la ganancia de continua entre ellas, más su offset propio, más la corrección que aplica su VDAC. Como cada etapa recibe el residuo de las anteriores, el ajuste debe hacerse en orden: PGA, pasabanda, suma y pasa-bajos. Nota para mí: verificar la notación contra el artículo de URUCON.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procedimiento recorre las etapas en orden. Un multiplexor lleva la salida de cada etapa al ADC y un filtro FIR de 128 coeficientes estima la continua. Ese error se convierte en códigos del VDAC y un controlador proporcional integral, con banda muerta y protección antiwindup, actualiza el código. La banda muerta importa porque el paso del VDAC, de 16 milivolts, es mucho mayor que el del ADC, de unos 19 microvolts: sin ella el código oscilaría entre valores vecinos. Los códigos se guardan en EEPROM con CRC, indexados por ganancia, y se cargan antes de la captura. Toda la calibración tarda entre 7 y 10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resultado en la salida del pasa-bajos, que es la entrada del ADC. Sin calibrar, el offset residual iba de 2,9 a 45,8 por ciento del fondo de escala según la configuración; con la calibración, de 0,4 a 3,9. Se probó en ocho configuraciones de placa y ganancia, con diez reinicios pareados y un test del signo con p del orden de diez a la menos tres. Hay que ser claros con el alcance: son dos placas, es una prueba de factibilidad. Nota para mí: las cifras salen del artículo y del documento de tesis, no del resumen firmado; verificar los valores contra la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ruta completa, del PGA al ADC, se midió con barridos senoidales en bandas superpuestas, entre 10 milihertz y 200 kilohertz. La transferencia se estima como el cociente espectral entre salida y entrada, en magnitud y fase, y la coherencia marca las regiones interpretables. Se comparó con el modelo, sus tolerancias y el rango del potenciómetro. Del lado del geófono, en la facultad no tenemos un excitador que le imponga un movimiento conocido, así que se usó el modelo nominal. Es una aproximación razonable con los equipos disponibles, pero hay que decir que no es una validación extremo a extremo.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(fs)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291840" cy="274320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Figura propagación" descr="Ondas Rayleigh generadas por una fuente en superficie, con campo cercano y órbita de partícula">    </p:cNvPr>
          <p:cNvPicPr>
            <a:picLocks noChangeAspect="1"/>
          </p:cNvPicPr>
          <p:nvPr/>
        </p:nvPicPr>
        <p:blipFill>
          <a:blip r:embed="rId1"/>
          <a:stretch>
            <a:fillRect/>
          </a:stretch>
        </p:blipFill>
        <p:spPr>
          <a:xfrm>
            <a:off x="3931920" y="1234440"/>
            <a:ext cx="4754880" cy="3015143"/>
          </a:xfrm>
          <a:prstGeom prst="rect">
            <a:avLst/>
          </a:prstGeom>
        </p:spPr>
      </p:pic>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Foti et al. (2014), fig. 1.1 (cap. 1; por confirmar),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800" i="1">
                          <a:solidFill>
                            <a:srgbClr val="1F4E79"/>
                          </a:solidFill>
                          <a:latin typeface="Cambria Math" panose="02040503050406030204" pitchFamily="18" charset="0"/>
                        </a:rPr>
                        <m:t xml:space="preserve">ρ</m:t>
                      </m:r>
                      <m:f>
                        <m:fPr>
                          <m:ctrlPr>
                            <a:rPr lang="es-ES" sz="1800" i="1">
                              <a:latin typeface="Cambria Math" panose="02040503050406030204" pitchFamily="18" charset="0"/>
                            </a:rPr>
                          </m:ctrlPr>
                        </m:fPr>
                        <m:num>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num>
                        <m:den>
                          <m:r>
                            <a:rPr lang="es-ES" sz="1800" i="1">
                              <a:solidFill>
                                <a:srgbClr val="1F4E79"/>
                              </a:solidFill>
                              <a:latin typeface="Cambria Math" panose="02040503050406030204" pitchFamily="18" charset="0"/>
                            </a:rPr>
                            <m:t xml:space="preserve">∂</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t</m:t>
                              </m:r>
                            </m:e>
                            <m:sup>
                              <m:r>
                                <a:rPr lang="es-ES" sz="1800" i="1">
                                  <a:solidFill>
                                    <a:srgbClr val="1F4E79"/>
                                  </a:solidFill>
                                  <a:latin typeface="Cambria Math" panose="02040503050406030204" pitchFamily="18" charset="0"/>
                                </a:rPr>
                                <m:t xml:space="preserve">2</m:t>
                              </m:r>
                            </m:sup>
                          </m:sSup>
                        </m:den>
                      </m:f>
                      <m:r>
                        <a:rPr lang="es-ES" sz="1800" i="1">
                          <a:solidFill>
                            <a:srgbClr val="1F4E79"/>
                          </a:solidFill>
                          <a:latin typeface="Cambria Math" panose="02040503050406030204" pitchFamily="18" charset="0"/>
                        </a:rPr>
                        <m:t xml:space="preserve">=(λ+μ)∇(∇·u)+μ</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oMath>
                  </m:oMathPara>
                </a14:m>
                <a:endParaRPr lang="es-ES"/>
              </a:p>
            </p:txBody>
          </p:sp>
        </mc:Choice>
        <mc:Fallback>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mc:Fallback>
      </mc:AlternateContent>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u=∇φ+∇×ψ</m:t>
                      </m:r>
                    </m:oMath>
                  </m:oMathPara>
                </a14:m>
                <a:endParaRPr lang="es-ES"/>
              </a:p>
            </p:txBody>
          </p:sp>
        </mc:Choice>
        <mc:Fallback>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mc:Fallback>
      </mc:AlternateContent>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φ y uno vectorial ψ</a:t>
            </a:r>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oMath>
                  </m:oMathPara>
                </a14:m>
                <a:endParaRPr lang="es-ES"/>
              </a:p>
            </p:txBody>
          </p:sp>
        </mc:Choice>
        <mc:Fallback>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mc:Fallback>
      </mc:AlternateContent>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φ: compresión, viaja a Vp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oMath>
                  </m:oMathPara>
                </a14:m>
                <a:endParaRPr lang="es-ES"/>
              </a:p>
            </p:txBody>
          </p:sp>
        </mc:Choice>
        <mc:Fallback>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mc:Fallback>
      </mc:AlternateContent>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ψ: corte, viaja a Vs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p</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λ+2μ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mc:Fallback>
      </mc:AlternateContent>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μ: módulo de corte (también G), la rigidez al corte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λ: constante de Lamé</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ρ: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Vp &gt; Vs</a:t>
            </a:r>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τ=G·γ</m:t>
                      </m:r>
                    </m:oMath>
                  </m:oMathPara>
                </a14:m>
                <a:endParaRPr lang="es-ES"/>
              </a:p>
            </p:txBody>
          </p:sp>
        </mc:Choice>
        <mc:Fallback>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mc:Fallback>
      </mc:AlternateContent>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γ del orden de 10⁻⁵ o menos, G es casi constante: Gmax</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μ=</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G</m:t>
                          </m:r>
                        </m:e>
                        <m:sub>
                          <m:r>
                            <m:rPr>
                              <m:sty m:val="p"/>
                            </m:rPr>
                            <a:rPr lang="es-ES" sz="2800">
                              <a:solidFill>
                                <a:srgbClr val="1F4E79"/>
                              </a:solidFill>
                              <a:latin typeface="Cambria Math" panose="02040503050406030204" pitchFamily="18" charset="0"/>
                            </a:rPr>
                            <m:t xml:space="preserve">max</m:t>
                          </m:r>
                        </m:sub>
                      </m:sSub>
                    </m:oMath>
                  </m:oMathPara>
                </a14:m>
                <a:endParaRPr lang="es-ES"/>
              </a:p>
            </p:txBody>
          </p:sp>
        </mc:Choice>
        <mc:Fallback>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mc:Fallback>
      </mc:AlternateContent>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Gmax</a:t>
            </a:r>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mc:AlternateContent xmlns:mc="http://schemas.openxmlformats.org/markup-compatibility/2006">
        <mc:Choice xmlns:a14="http://schemas.microsoft.com/office/drawing/2010/main" Requires="a14">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G</m:t>
                          </m:r>
                        </m:e>
                        <m:sub>
                          <m:r>
                            <m:rPr>
                              <m:sty m:val="p"/>
                            </m:rPr>
                            <a:rPr lang="es-ES" sz="2800">
                              <a:solidFill>
                                <a:srgbClr val="FFFFFF"/>
                              </a:solidFill>
                              <a:latin typeface="Cambria Math" panose="02040503050406030204" pitchFamily="18" charset="0"/>
                            </a:rPr>
                            <m:t xml:space="preserve">max</m:t>
                          </m:r>
                        </m:sub>
                      </m:sSub>
                      <m:r>
                        <a:rPr lang="es-ES" sz="2800" i="1">
                          <a:solidFill>
                            <a:srgbClr val="FFFFFF"/>
                          </a:solidFill>
                          <a:latin typeface="Cambria Math" panose="02040503050406030204" pitchFamily="18" charset="0"/>
                        </a:rPr>
                        <m:t xml:space="preserve">=ρ</m:t>
                      </m:r>
                      <m:sSup>
                        <m:sSupPr>
                          <m:ctrlPr>
                            <a:rPr lang="es-ES" sz="2800" i="1">
                              <a:latin typeface="Cambria Math" panose="02040503050406030204" pitchFamily="18" charset="0"/>
                            </a:rPr>
                          </m:ctrlPr>
                        </m:sSupPr>
                        <m:e>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V</m:t>
                              </m:r>
                            </m:e>
                            <m:sub>
                              <m:r>
                                <a:rPr lang="es-ES" sz="2800" i="1">
                                  <a:solidFill>
                                    <a:srgbClr val="FFFFFF"/>
                                  </a:solidFill>
                                  <a:latin typeface="Cambria Math" panose="02040503050406030204" pitchFamily="18" charset="0"/>
                                </a:rPr>
                                <m:t xml:space="preserve">s</m:t>
                              </m:r>
                            </m:sub>
                          </m:sSub>
                        </m:e>
                        <m:sup>
                          <m:r>
                            <a:rPr lang="es-ES" sz="2800" i="1">
                              <a:solidFill>
                                <a:srgbClr val="FFFFFF"/>
                              </a:solidFill>
                              <a:latin typeface="Cambria Math" panose="02040503050406030204" pitchFamily="18" charset="0"/>
                            </a:rPr>
                            <m:t xml:space="preserve">2</m:t>
                          </m:r>
                        </m:sup>
                      </m:sSup>
                    </m:oMath>
                  </m:oMathPara>
                </a14:m>
                <a:endParaRPr lang="es-ES"/>
              </a:p>
            </p:txBody>
          </p:sp>
        </mc:Choice>
        <mc:Fallback>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mc:Fallback>
      </mc:AlternateContent>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Vs, podemos estimar Gmax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ΔG</m:t>
                          </m:r>
                        </m:num>
                        <m:den>
                          <m:r>
                            <a:rPr lang="es-ES" sz="2400" i="1">
                              <a:solidFill>
                                <a:srgbClr val="1F4E79"/>
                              </a:solidFill>
                              <a:latin typeface="Cambria Math" panose="02040503050406030204" pitchFamily="18" charset="0"/>
                            </a:rPr>
                            <m:t xml:space="preserve">G</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Δρ</m:t>
                          </m:r>
                        </m:num>
                        <m:den>
                          <m:r>
                            <a:rPr lang="es-ES" sz="2400" i="1">
                              <a:solidFill>
                                <a:srgbClr val="1F4E79"/>
                              </a:solidFill>
                              <a:latin typeface="Cambria Math" panose="02040503050406030204" pitchFamily="18" charset="0"/>
                            </a:rPr>
                            <m:t xml:space="preserve">ρ</m:t>
                          </m:r>
                        </m:den>
                      </m:f>
                      <m:r>
                        <a:rPr lang="es-ES" sz="2400" i="1">
                          <a:solidFill>
                            <a:srgbClr val="1F4E79"/>
                          </a:solidFill>
                          <a:latin typeface="Cambria Math" panose="02040503050406030204" pitchFamily="18" charset="0"/>
                        </a:rPr>
                        <m:t xml:space="preserve">+2</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mc:Fallback>
      </mc:AlternateContent>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Vs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Vs pesa el doble que uno en ρ</a:t>
            </a:r>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Δx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Vs = Δx / Δt</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Vs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Vs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Vs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Vs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en dos capas: energía directa, reflejada y refractada (onda de cabeza), con ángulo crítico">    </p:cNvPr>
          <p:cNvPicPr>
            <a:picLocks noChangeAspect="1"/>
          </p:cNvPicPr>
          <p:nvPr/>
        </p:nvPicPr>
        <p:blipFill>
          <a:blip r:embed="rId1"/>
          <a:stretch>
            <a:fillRect/>
          </a:stretch>
        </p:blipFill>
        <p:spPr>
          <a:xfrm>
            <a:off x="457200" y="1234440"/>
            <a:ext cx="5120640" cy="3058925"/>
          </a:xfrm>
          <a:prstGeom prst="rect">
            <a:avLst/>
          </a:prstGeom>
        </p:spPr>
      </p:pic>
      <p:sp>
        <p:nvSpPr>
          <p:cNvPr id="4" name="Cuerpo"/>
          <p:cNvSpPr txBox="1"/>
          <p:nvPr/>
        </p:nvSpPr>
        <p:spPr>
          <a:xfrm>
            <a:off x="5760720" y="1371600"/>
            <a:ext cx="292608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USGS (1987), Open-File Report 87-0103-A, recreada y traducida (fuente exacta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Dromocrónica" descr="Dromocrónica: rectas de onda directa y refractada con tiempo de intercepto y distancia de cruce">    </p:cNvPr>
          <p:cNvPicPr>
            <a:picLocks noChangeAspect="1"/>
          </p:cNvPicPr>
          <p:nvPr/>
        </p:nvPicPr>
        <p:blipFill>
          <a:blip r:embed="rId1"/>
          <a:stretch>
            <a:fillRect/>
          </a:stretch>
        </p:blipFill>
        <p:spPr>
          <a:xfrm>
            <a:off x="457200" y="1188720"/>
            <a:ext cx="8229600" cy="3131507"/>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recreación a partir de Wikimedia Commons, «Refraction dia.jpg» (L. Antiga, 2010); fidelidad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de cuerpo, al llegar a una interfaz, se reflejan y se transmiten</a:t>
            </a:r>
            <a:endParaRPr lang="en-US" sz="2400" dirty="0"/>
          </a:p>
        </p:txBody>
      </p:sp>
      <p:pic>
        <p:nvPicPr>
          <p:cNvPr id="3" name="Figura interfaz" descr="Interfaz entre dos medios con onda incidente, reflejada y transmitida">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577840" y="1280160"/>
            <a:ext cx="3108960" cy="32004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ondas de cuerpo (P y S) viajan por el interior del terreno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Un modelo en capas es más realista: en cada interfaz cambian ρ, Vp y Vs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Parte de la energía se refleja y parte se transmite</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el caso de una superficie libre, la energía vuelve al terreno</a:t>
            </a:r>
            <a:endParaRPr lang="en-US" sz="2400" dirty="0"/>
          </a:p>
        </p:txBody>
      </p:sp>
      <p:pic>
        <p:nvPicPr>
          <p:cNvPr id="3" name="Figura superficie libre" descr="Superficie libre: la onda incidente se refleja de vuelta al terreno">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669280" y="1371600"/>
            <a:ext cx="301752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superficie libre es el contacto entre el terreno y el aire</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Prácticamente toda la energía se refleja hacia el terreno</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Respecto a la superficie libre, la onda S se clasifica en SV y SH</a:t>
            </a:r>
            <a:endParaRPr lang="en-US" sz="2400" dirty="0"/>
          </a:p>
        </p:txBody>
      </p:sp>
      <p:pic>
        <p:nvPicPr>
          <p:cNvPr id="3" name="Figura SV y SH" descr="Onda SV con movimiento en el plano de incidencia y onda SH con movimiento perpendicular a ese plano">    </p:cNvPr>
          <p:cNvPicPr>
            <a:picLocks noChangeAspect="1"/>
          </p:cNvPicPr>
          <p:nvPr/>
        </p:nvPicPr>
        <p:blipFill>
          <a:blip r:embed="rId1"/>
          <a:stretch>
            <a:fillRect/>
          </a:stretch>
        </p:blipFill>
        <p:spPr>
          <a:xfrm>
            <a:off x="457200" y="1234440"/>
            <a:ext cx="5486400" cy="3108960"/>
          </a:xfrm>
          <a:prstGeom prst="rect">
            <a:avLst/>
          </a:prstGeom>
        </p:spPr>
      </p:pic>
      <p:sp>
        <p:nvSpPr>
          <p:cNvPr id="4" name="Cuerpo"/>
          <p:cNvSpPr txBox="1"/>
          <p:nvPr/>
        </p:nvSpPr>
        <p:spPr>
          <a:xfrm>
            <a:off x="6126480" y="128016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Referencia: el plano de la superficie libre</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La onda S puede moverse de dos formas respecto a él</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SV: oscila en el plano vertical que contiene el rayo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SH: oscila en horizontal, perpendicular a ese plano</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polarización de la onda 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Los ángulos de las ondas generadas se relacionan con la ley de Snell</a:t>
            </a:r>
            <a:endParaRPr lang="en-US" sz="2400" dirty="0"/>
          </a:p>
        </p:txBody>
      </p:sp>
      <p:pic>
        <p:nvPicPr>
          <p:cNvPr id="3" name="Figura Snell" descr="Onda P incidente en una interfaz: ondas P y S reflejadas y transmitidas con sus ángulos">    </p:cNvPr>
          <p:cNvPicPr>
            <a:picLocks noChangeAspect="1"/>
          </p:cNvPicPr>
          <p:nvPr/>
        </p:nvPicPr>
        <p:blipFill>
          <a:blip r:embed="rId1"/>
          <a:stretch>
            <a:fillRect/>
          </a:stretch>
        </p:blipFill>
        <p:spPr>
          <a:xfrm>
            <a:off x="457200" y="1234440"/>
            <a:ext cx="2880360" cy="3200400"/>
          </a:xfrm>
          <a:prstGeom prst="rect">
            <a:avLst/>
          </a:prstGeom>
        </p:spPr>
      </p:pic>
      <p:sp>
        <p:nvSpPr>
          <p:cNvPr id="4" name="Fondo Snell"/>
          <p:cNvSpPr/>
          <p:nvPr/>
        </p:nvSpPr>
        <p:spPr>
          <a:xfrm>
            <a:off x="3931920" y="1280160"/>
            <a:ext cx="475488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1</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1</m:t>
                              </m:r>
                            </m:sub>
                          </m:sSub>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2</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2</m:t>
                              </m:r>
                            </m:sub>
                          </m:sSub>
                        </m:den>
                      </m:f>
                      <m:r>
                        <a:rPr lang="es-ES" sz="2400" i="1">
                          <a:solidFill>
                            <a:srgbClr val="1F4E79"/>
                          </a:solidFill>
                          <a:latin typeface="Cambria Math" panose="02040503050406030204" pitchFamily="18" charset="0"/>
                        </a:rPr>
                        <m:t xml:space="preserve">=p</m:t>
                      </m:r>
                    </m:oMath>
                  </m:oMathPara>
                </a14:m>
                <a:endParaRPr lang="es-ES"/>
              </a:p>
            </p:txBody>
          </p:sp>
        </mc:Choice>
        <mc:Fallback>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sin θ₁ / V₁ = sin θ₂ / V₂ = p</a:t>
                </a:r>
                <a:endParaRPr lang="en-US" sz="2400" dirty="0"/>
              </a:p>
            </p:txBody>
          </p:sp>
        </mc:Fallback>
      </mc:AlternateContent>
      <p:sp>
        <p:nvSpPr>
          <p:cNvPr id="6" name="Cuerpo"/>
          <p:cNvSpPr txBox="1"/>
          <p:nvPr/>
        </p:nvSpPr>
        <p:spPr>
          <a:xfrm>
            <a:off x="3931920" y="2377440"/>
            <a:ext cx="475488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Vale para P, SV y SH: V es Vp para P y Vs para SV y SH</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Como Vs &lt; Vp, la S sale con un ángulo menor que la P</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SLB (s. f.), The Defining Series: Beginner's Guide to Seismic Surveying,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la superficie libre, P y SV se convierten entre sí; SH queda aparte</a:t>
            </a:r>
            <a:endParaRPr lang="en-US" sz="2400" dirty="0"/>
          </a:p>
        </p:txBody>
      </p:sp>
      <p:sp>
        <p:nvSpPr>
          <p:cNvPr id="3" name="Caja P"/>
          <p:cNvSpPr/>
          <p:nvPr/>
        </p:nvSpPr>
        <p:spPr>
          <a:xfrm>
            <a:off x="457200" y="1371600"/>
            <a:ext cx="1371600" cy="777240"/>
          </a:xfrm>
          <a:prstGeom prst="roundRect">
            <a:avLst>
              <a:gd name="adj" fmla="val 9412"/>
            </a:avLst>
          </a:prstGeom>
          <a:solidFill>
            <a:srgbClr val="2E75B6"/>
          </a:solidFill>
          <a:ln w="12700">
            <a:solidFill>
              <a:srgbClr val="2E75B6"/>
            </a:solidFill>
            <a:prstDash val="solid"/>
          </a:ln>
        </p:spPr>
      </p:sp>
      <p:sp>
        <p:nvSpPr>
          <p:cNvPr id="4" name="Text 2"/>
          <p:cNvSpPr txBox="1"/>
          <p:nvPr/>
        </p:nvSpPr>
        <p:spPr>
          <a:xfrm>
            <a:off x="45720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a:t>
            </a:r>
            <a:endParaRPr lang="en-US" sz="2000" dirty="0"/>
          </a:p>
        </p:txBody>
      </p:sp>
      <p:sp>
        <p:nvSpPr>
          <p:cNvPr id="5" name="Caja SV"/>
          <p:cNvSpPr/>
          <p:nvPr/>
        </p:nvSpPr>
        <p:spPr>
          <a:xfrm>
            <a:off x="3017520" y="1371600"/>
            <a:ext cx="1371600" cy="777240"/>
          </a:xfrm>
          <a:prstGeom prst="roundRect">
            <a:avLst>
              <a:gd name="adj" fmla="val 9412"/>
            </a:avLst>
          </a:prstGeom>
          <a:solidFill>
            <a:srgbClr val="2E75B6"/>
          </a:solidFill>
          <a:ln w="12700">
            <a:solidFill>
              <a:srgbClr val="2E75B6"/>
            </a:solidFill>
            <a:prstDash val="solid"/>
          </a:ln>
        </p:spPr>
      </p:sp>
      <p:sp>
        <p:nvSpPr>
          <p:cNvPr id="6" name="Text 4"/>
          <p:cNvSpPr txBox="1"/>
          <p:nvPr/>
        </p:nvSpPr>
        <p:spPr>
          <a:xfrm>
            <a:off x="301752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SV</a:t>
            </a:r>
            <a:endParaRPr lang="en-US" sz="2000" dirty="0"/>
          </a:p>
        </p:txBody>
      </p:sp>
      <p:sp>
        <p:nvSpPr>
          <p:cNvPr id="7" name="Shape 5"/>
          <p:cNvSpPr/>
          <p:nvPr/>
        </p:nvSpPr>
        <p:spPr>
          <a:xfrm>
            <a:off x="1874520" y="1760220"/>
            <a:ext cx="1097280" cy="0"/>
          </a:xfrm>
          <a:prstGeom prst="line">
            <a:avLst/>
          </a:prstGeom>
          <a:noFill/>
          <a:ln w="38100">
            <a:solidFill>
              <a:srgbClr val="1F4E79"/>
            </a:solidFill>
            <a:prstDash val="solid"/>
            <a:headEnd type="triangle"/>
            <a:tailEnd type="triangle"/>
          </a:ln>
        </p:spPr>
      </p:sp>
      <p:sp>
        <p:nvSpPr>
          <p:cNvPr id="8" name="Text 6"/>
          <p:cNvSpPr txBox="1"/>
          <p:nvPr/>
        </p:nvSpPr>
        <p:spPr>
          <a:xfrm>
            <a:off x="1783080" y="1828800"/>
            <a:ext cx="1280160" cy="365760"/>
          </a:xfrm>
          <a:prstGeom prst="rect">
            <a:avLst/>
          </a:prstGeom>
          <a:noFill/>
          <a:ln/>
        </p:spPr>
        <p:txBody>
          <a:bodyPr wrap="square" lIns="0" tIns="0" rIns="0" bIns="0" rtlCol="0" anchor="t"/>
          <a:lstStyle/>
          <a:p>
            <a:pPr algn="ctr" indent="0" marL="0">
              <a:buNone/>
            </a:pPr>
            <a:r>
              <a:rPr lang="en-US" sz="1600" dirty="0">
                <a:solidFill>
                  <a:srgbClr val="1F4E79"/>
                </a:solidFill>
                <a:latin typeface="Arial" pitchFamily="34" charset="0"/>
                <a:ea typeface="Arial" pitchFamily="34" charset="-122"/>
                <a:cs typeface="Arial" pitchFamily="34" charset="-120"/>
              </a:rPr>
              <a:t>se acoplan</a:t>
            </a:r>
            <a:endParaRPr lang="en-US" sz="1600" dirty="0"/>
          </a:p>
        </p:txBody>
      </p:sp>
      <p:sp>
        <p:nvSpPr>
          <p:cNvPr id="9" name="Caja SH"/>
          <p:cNvSpPr/>
          <p:nvPr/>
        </p:nvSpPr>
        <p:spPr>
          <a:xfrm>
            <a:off x="5760720" y="1371600"/>
            <a:ext cx="1828800" cy="777240"/>
          </a:xfrm>
          <a:prstGeom prst="roundRect">
            <a:avLst>
              <a:gd name="adj" fmla="val 9412"/>
            </a:avLst>
          </a:prstGeom>
          <a:solidFill>
            <a:srgbClr val="C55A11"/>
          </a:solidFill>
          <a:ln w="12700">
            <a:solidFill>
              <a:srgbClr val="C55A11"/>
            </a:solidFill>
            <a:prstDash val="solid"/>
          </a:ln>
        </p:spPr>
      </p:sp>
      <p:sp>
        <p:nvSpPr>
          <p:cNvPr id="10" name="Text 8"/>
          <p:cNvSpPr txBox="1"/>
          <p:nvPr/>
        </p:nvSpPr>
        <p:spPr>
          <a:xfrm>
            <a:off x="5760720" y="1371600"/>
            <a:ext cx="18288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SH</a:t>
            </a:r>
            <a:endParaRPr lang="en-US" sz="2000" dirty="0"/>
          </a:p>
        </p:txBody>
      </p:sp>
      <p:sp>
        <p:nvSpPr>
          <p:cNvPr id="11" name="Text 9"/>
          <p:cNvSpPr txBox="1"/>
          <p:nvPr/>
        </p:nvSpPr>
        <p:spPr>
          <a:xfrm>
            <a:off x="5486400" y="2194560"/>
            <a:ext cx="2377440" cy="365760"/>
          </a:xfrm>
          <a:prstGeom prst="rect">
            <a:avLst/>
          </a:prstGeom>
          <a:noFill/>
          <a:ln/>
        </p:spPr>
        <p:txBody>
          <a:bodyPr wrap="square" lIns="0" tIns="0" rIns="0" bIns="0" rtlCol="0" anchor="t"/>
          <a:lstStyle/>
          <a:p>
            <a:pPr algn="ctr" indent="0" marL="0">
              <a:buNone/>
            </a:pPr>
            <a:r>
              <a:rPr lang="en-US" sz="1600" dirty="0">
                <a:solidFill>
                  <a:srgbClr val="C55A11"/>
                </a:solidFill>
                <a:latin typeface="Arial" pitchFamily="34" charset="0"/>
                <a:ea typeface="Arial" pitchFamily="34" charset="-122"/>
                <a:cs typeface="Arial" pitchFamily="34" charset="-120"/>
              </a:rPr>
              <a:t>solo genera SH</a:t>
            </a:r>
            <a:endParaRPr lang="en-US" sz="1600" dirty="0"/>
          </a:p>
        </p:txBody>
      </p:sp>
      <p:sp>
        <p:nvSpPr>
          <p:cNvPr id="12" name="Shape 10"/>
          <p:cNvSpPr/>
          <p:nvPr/>
        </p:nvSpPr>
        <p:spPr>
          <a:xfrm>
            <a:off x="2423160" y="2286000"/>
            <a:ext cx="0" cy="685800"/>
          </a:xfrm>
          <a:prstGeom prst="line">
            <a:avLst/>
          </a:prstGeom>
          <a:noFill/>
          <a:ln w="38100">
            <a:solidFill>
              <a:srgbClr val="1F4E79"/>
            </a:solidFill>
            <a:prstDash val="solid"/>
            <a:tailEnd type="triangle"/>
          </a:ln>
        </p:spPr>
      </p:sp>
      <p:sp>
        <p:nvSpPr>
          <p:cNvPr id="13" name="Shape 11"/>
          <p:cNvSpPr/>
          <p:nvPr/>
        </p:nvSpPr>
        <p:spPr>
          <a:xfrm>
            <a:off x="6675120" y="2606040"/>
            <a:ext cx="0" cy="365760"/>
          </a:xfrm>
          <a:prstGeom prst="line">
            <a:avLst/>
          </a:prstGeom>
          <a:noFill/>
          <a:ln w="38100">
            <a:solidFill>
              <a:srgbClr val="C55A11"/>
            </a:solidFill>
            <a:prstDash val="solid"/>
            <a:tailEnd type="triangle"/>
          </a:ln>
        </p:spPr>
      </p:sp>
      <p:sp>
        <p:nvSpPr>
          <p:cNvPr id="14" name="Resultado Rayleigh"/>
          <p:cNvSpPr/>
          <p:nvPr/>
        </p:nvSpPr>
        <p:spPr>
          <a:xfrm>
            <a:off x="457200" y="3017520"/>
            <a:ext cx="3931920" cy="822960"/>
          </a:xfrm>
          <a:prstGeom prst="roundRect">
            <a:avLst>
              <a:gd name="adj" fmla="val 8889"/>
            </a:avLst>
          </a:prstGeom>
          <a:solidFill>
            <a:srgbClr val="1F4E79"/>
          </a:solidFill>
          <a:ln w="12700">
            <a:solidFill>
              <a:srgbClr val="1F4E79"/>
            </a:solidFill>
            <a:prstDash val="solid"/>
          </a:ln>
        </p:spPr>
      </p:sp>
      <p:sp>
        <p:nvSpPr>
          <p:cNvPr id="15" name="Text 13"/>
          <p:cNvSpPr txBox="1"/>
          <p:nvPr/>
        </p:nvSpPr>
        <p:spPr>
          <a:xfrm>
            <a:off x="457200" y="3017520"/>
            <a:ext cx="393192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Rayleigh</a:t>
            </a:r>
            <a:endParaRPr lang="en-US" sz="2000" dirty="0"/>
          </a:p>
        </p:txBody>
      </p:sp>
      <p:sp>
        <p:nvSpPr>
          <p:cNvPr id="16" name="Resultado Love"/>
          <p:cNvSpPr/>
          <p:nvPr/>
        </p:nvSpPr>
        <p:spPr>
          <a:xfrm>
            <a:off x="5120640" y="3017520"/>
            <a:ext cx="3291840" cy="822960"/>
          </a:xfrm>
          <a:prstGeom prst="roundRect">
            <a:avLst>
              <a:gd name="adj" fmla="val 8889"/>
            </a:avLst>
          </a:prstGeom>
          <a:solidFill>
            <a:srgbClr val="C55A11"/>
          </a:solidFill>
          <a:ln w="12700">
            <a:solidFill>
              <a:srgbClr val="C55A11"/>
            </a:solidFill>
            <a:prstDash val="solid"/>
          </a:ln>
        </p:spPr>
      </p:sp>
      <p:sp>
        <p:nvSpPr>
          <p:cNvPr id="17" name="Text 15"/>
          <p:cNvSpPr txBox="1"/>
          <p:nvPr/>
        </p:nvSpPr>
        <p:spPr>
          <a:xfrm>
            <a:off x="5120640" y="3017520"/>
            <a:ext cx="329184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Love</a:t>
            </a:r>
            <a:endParaRPr lang="en-US" sz="2000" dirty="0"/>
          </a:p>
        </p:txBody>
      </p:sp>
      <p:sp>
        <p:nvSpPr>
          <p:cNvPr id="18" name="Text 16"/>
          <p:cNvSpPr txBox="1"/>
          <p:nvPr/>
        </p:nvSpPr>
        <p:spPr>
          <a:xfrm>
            <a:off x="457200" y="3931920"/>
            <a:ext cx="393192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Movimiento en el plano vertical</a:t>
            </a:r>
            <a:endParaRPr lang="en-US" sz="1600" dirty="0"/>
          </a:p>
        </p:txBody>
      </p:sp>
      <p:sp>
        <p:nvSpPr>
          <p:cNvPr id="19" name="Text 17"/>
          <p:cNvSpPr txBox="1"/>
          <p:nvPr/>
        </p:nvSpPr>
        <p:spPr>
          <a:xfrm>
            <a:off x="4937760" y="3931920"/>
            <a:ext cx="365760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Solo con capa blanda sobre medio rápido</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Love solo existen si una capa blanda cubre un medio más rápido</a:t>
            </a:r>
            <a:endParaRPr lang="en-US" sz="2400" dirty="0"/>
          </a:p>
        </p:txBody>
      </p:sp>
      <p:pic>
        <p:nvPicPr>
          <p:cNvPr id="3" name="Figura condición Love" descr="Onda SH atrapada en una capa blanda por reflexión total en la interfaz y reflexión en la superficie libre">    </p:cNvPr>
          <p:cNvPicPr>
            <a:picLocks noChangeAspect="1"/>
          </p:cNvPicPr>
          <p:nvPr/>
        </p:nvPicPr>
        <p:blipFill>
          <a:blip r:embed="rId1"/>
          <a:stretch>
            <a:fillRect/>
          </a:stretch>
        </p:blipFill>
        <p:spPr>
          <a:xfrm>
            <a:off x="457200" y="1234440"/>
            <a:ext cx="5120640" cy="3108960"/>
          </a:xfrm>
          <a:prstGeom prst="rect">
            <a:avLst/>
          </a:prstGeom>
        </p:spPr>
      </p:pic>
      <p:sp>
        <p:nvSpPr>
          <p:cNvPr id="4" name="Fondo thc"/>
          <p:cNvSpPr/>
          <p:nvPr/>
        </p:nvSpPr>
        <p:spPr>
          <a:xfrm>
            <a:off x="5760720" y="1280160"/>
            <a:ext cx="292608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θ</m:t>
                          </m:r>
                        </m:e>
                        <m:sub>
                          <m:r>
                            <m:rPr>
                              <m:sty m:val="p"/>
                            </m:rPr>
                            <a:rPr lang="es-ES" sz="2000">
                              <a:solidFill>
                                <a:srgbClr val="1F4E79"/>
                              </a:solidFill>
                              <a:latin typeface="Cambria Math" panose="02040503050406030204" pitchFamily="18" charset="0"/>
                            </a:rPr>
                            <m:t xml:space="preserve">c</m:t>
                          </m:r>
                        </m:sub>
                      </m:sSub>
                      <m:r>
                        <a:rPr lang="es-ES" sz="2000" i="1">
                          <a:solidFill>
                            <a:srgbClr val="1F4E79"/>
                          </a:solidFill>
                          <a:latin typeface="Cambria Math" panose="02040503050406030204" pitchFamily="18" charset="0"/>
                        </a:rPr>
                        <m:t xml:space="preserve">=arcsin</m:t>
                      </m:r>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s1</m:t>
                              </m:r>
                            </m:sub>
                          </m:sSub>
                        </m:num>
                        <m:den>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s2</m:t>
                              </m:r>
                            </m:sub>
                          </m:sSub>
                        </m:den>
                      </m:f>
                      <m:r>
                        <a:rPr lang="es-ES" sz="2000" i="1">
                          <a:solidFill>
                            <a:srgbClr val="1F4E79"/>
                          </a:solidFill>
                          <a:latin typeface="Cambria Math" panose="02040503050406030204" pitchFamily="18" charset="0"/>
                        </a:rPr>
                        <m:t xml:space="preserve">)</m:t>
                      </m:r>
                    </m:oMath>
                  </m:oMathPara>
                </a14:m>
                <a:endParaRPr lang="es-ES"/>
              </a:p>
            </p:txBody>
          </p:sp>
        </mc:Choice>
        <mc:Fallback>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θc = arcsin(Vs1 / Vs2)</a:t>
                </a:r>
                <a:endParaRPr lang="en-US" sz="2400" dirty="0"/>
              </a:p>
            </p:txBody>
          </p:sp>
        </mc:Fallback>
      </mc:AlternateContent>
      <p:sp>
        <p:nvSpPr>
          <p:cNvPr id="6" name="Cuerpo"/>
          <p:cNvSpPr txBox="1"/>
          <p:nvPr/>
        </p:nvSpPr>
        <p:spPr>
          <a:xfrm>
            <a:off x="5760720" y="2286000"/>
            <a:ext cx="292608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Queda atrapada entre la superficie libre y la interfaz</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Exige Vs1 &lt; Vs2</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ver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Love: movimiento horizontal, perpendicular a la propagación</a:t>
            </a:r>
            <a:endParaRPr lang="en-US" sz="2400" dirty="0"/>
          </a:p>
        </p:txBody>
      </p:sp>
      <p:pic>
        <p:nvPicPr>
          <p:cNvPr id="3" name="Onda Love" descr="Onda Love: movimiento horizontal transversal a la propagación">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Resulta de la interferencia constructiva de las SH atrapadas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Sin componente vertical: un geófono vertical no la registra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Rayleigh: P y SV acopladas en la superficie libre, con órbita elíptica</a:t>
            </a:r>
            <a:endParaRPr lang="en-US" sz="2400" dirty="0"/>
          </a:p>
        </p:txBody>
      </p:sp>
      <p:pic>
        <p:nvPicPr>
          <p:cNvPr id="3" name="Onda Rayleigh" descr="Onda Rayleigh: movimiento elíptico retrógrado en el plano vertical">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Acopla P y SV en la superficie libre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Movimiento elíptico retrógrado en el plano vertical</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Existe incluso en un semiespacio homogéneo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Tiene componente vertical: la registra el geófono vertical</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Una fuente en superficie envía dos tercios de su energía en ondas Rayleigh</a:t>
            </a:r>
            <a:endParaRPr lang="en-US" sz="2400" dirty="0"/>
          </a:p>
        </p:txBody>
      </p:sp>
      <p:graphicFrame>
        <p:nvGraphicFramePr>
          <p:cNvPr id="3" name="Chart 0" descr=""/>
          <p:cNvGraphicFramePr/>
          <p:nvPr/>
        </p:nvGraphicFramePr>
        <p:xfrm>
          <a:off x="457200" y="118872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303520" y="1371600"/>
            <a:ext cx="3383280" cy="15544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Rayleigh 67 %, S 26 %, P 7 %</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Las Rayleigh dominan el registro en superficie</a:t>
            </a:r>
            <a:endParaRPr lang="en-US" sz="2000" dirty="0"/>
          </a:p>
        </p:txBody>
      </p:sp>
      <p:sp>
        <p:nvSpPr>
          <p:cNvPr id="5" name="Supuestos"/>
          <p:cNvSpPr txBox="1"/>
          <p:nvPr/>
        </p:nvSpPr>
        <p:spPr>
          <a:xfrm>
            <a:off x="5303520" y="3108960"/>
            <a:ext cx="3383280" cy="914400"/>
          </a:xfrm>
          <a:prstGeom prst="rect">
            <a:avLst/>
          </a:prstGeom>
          <a:noFill/>
          <a:ln/>
        </p:spPr>
        <p:txBody>
          <a:bodyPr wrap="square" lIns="0" tIns="0" rIns="0" bIns="0" rtlCol="0" anchor="t"/>
          <a:lstStyle/>
          <a:p>
            <a:pPr indent="0" marL="0">
              <a:buNone/>
            </a:pPr>
            <a:r>
              <a:rPr lang="en-US" sz="1600" dirty="0">
                <a:solidFill>
                  <a:srgbClr val="6B6B6B"/>
                </a:solidFill>
                <a:latin typeface="Arial" pitchFamily="34" charset="0"/>
                <a:ea typeface="Arial" pitchFamily="34" charset="-122"/>
                <a:cs typeface="Arial" pitchFamily="34" charset="-120"/>
              </a:rPr>
              <a:t>Supone ν = 0,25, fuente vertical circular y semiespacio homogéneo e isótropo</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Miller y Pursey (1955); reproducido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Además, las Rayleigh se atenúan menos con la distancia que las de cuerpo</a:t>
            </a:r>
            <a:endParaRPr lang="en-US" sz="2400" dirty="0"/>
          </a:p>
        </p:txBody>
      </p:sp>
      <p:graphicFrame>
        <p:nvGraphicFramePr>
          <p:cNvPr id="3" name="Chart 0" descr=""/>
          <p:cNvGraphicFramePr/>
          <p:nvPr/>
        </p:nvGraphicFramePr>
        <p:xfrm>
          <a:off x="457200" y="118872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Rayleigh: amplitud ∝ 1/√r</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Cuerpo: 1/r en el interior, 1/r² a lo largo de la superficie</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Lejos de la fuente, domina la Rayleigh</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Richart, Hall y Woods (1970);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semiespacio homogéneo, Rayleigh viaja a cR ≈ 0,9·Vs y no depende de la frecuencia</a:t>
            </a:r>
            <a:endParaRPr lang="en-US" sz="2400" dirty="0"/>
          </a:p>
        </p:txBody>
      </p:sp>
      <p:graphicFrame>
        <p:nvGraphicFramePr>
          <p:cNvPr id="3" name="Chart 0" descr=""/>
          <p:cNvGraphicFramePr/>
          <p:nvPr/>
        </p:nvGraphicFramePr>
        <p:xfrm>
          <a:off x="457200" y="118872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4" name="Fondo cR"/>
          <p:cNvSpPr/>
          <p:nvPr/>
        </p:nvSpPr>
        <p:spPr>
          <a:xfrm>
            <a:off x="4937760" y="1234440"/>
            <a:ext cx="37490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r>
                        <a:rPr lang="es-ES" sz="2800" i="1">
                          <a:solidFill>
                            <a:srgbClr val="1F4E79"/>
                          </a:solidFill>
                          <a:latin typeface="Cambria Math" panose="02040503050406030204" pitchFamily="18" charset="0"/>
                        </a:rPr>
                        <m:t xml:space="preserve">≈0,9·</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oMath>
                  </m:oMathPara>
                </a14:m>
                <a:endParaRPr lang="es-ES"/>
              </a:p>
            </p:txBody>
          </p:sp>
        </mc:Choice>
        <mc:Fallback>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0,9 · Vs</a:t>
                </a:r>
                <a:endParaRPr lang="en-US" sz="2400" dirty="0"/>
              </a:p>
            </p:txBody>
          </p:sp>
        </mc:Fallback>
      </mc:AlternateContent>
      <p:sp>
        <p:nvSpPr>
          <p:cNvPr id="6" name="Fondo cR nu"/>
          <p:cNvSpPr/>
          <p:nvPr/>
        </p:nvSpPr>
        <p:spPr>
          <a:xfrm>
            <a:off x="4937760" y="2103120"/>
            <a:ext cx="374904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0,862+1,14ν</m:t>
                          </m:r>
                        </m:num>
                        <m:den>
                          <m:r>
                            <a:rPr lang="es-ES" sz="2400" i="1">
                              <a:solidFill>
                                <a:srgbClr val="1F4E79"/>
                              </a:solidFill>
                              <a:latin typeface="Cambria Math" panose="02040503050406030204" pitchFamily="18" charset="0"/>
                            </a:rPr>
                            <m:t xml:space="preserve">1+ν</m:t>
                          </m:r>
                        </m:den>
                      </m:f>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(0,862 + 1,14ν)/(1 + ν) · Vs</a:t>
                </a:r>
                <a:endParaRPr lang="en-US" sz="2400" dirty="0"/>
              </a:p>
            </p:txBody>
          </p:sp>
        </mc:Fallback>
      </mc:AlternateContent>
      <p:sp>
        <p:nvSpPr>
          <p:cNvPr id="8" name="Cuerpo"/>
          <p:cNvSpPr txBox="1"/>
          <p:nvPr/>
        </p:nvSpPr>
        <p:spPr>
          <a:xfrm>
            <a:off x="4937760" y="3154680"/>
            <a:ext cx="374904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cR / Vs va de 0,86 a 0,95 según ν</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No hay dispersión: todas las frecuencias van a la misma cR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Vs ≈ cR / 0,9</a:t>
            </a:r>
            <a:endParaRPr lang="en-US" sz="16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Aproximación de Viktorov (1967),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terreno estratificado, la rigidez y la velocidad de corte cambian con la profundidad</a:t>
            </a:r>
            <a:endParaRPr lang="en-US" sz="2400" dirty="0"/>
          </a:p>
        </p:txBody>
      </p:sp>
      <p:pic>
        <p:nvPicPr>
          <p:cNvPr id="3" name="Perfil Vs" descr="Perfil de Vs en escalones: 150, 250 y 450 m/s con la profundidad">    </p:cNvPr>
          <p:cNvPicPr>
            <a:picLocks noChangeAspect="1"/>
          </p:cNvPicPr>
          <p:nvPr/>
        </p:nvPicPr>
        <p:blipFill>
          <a:blip r:embed="rId1"/>
          <a:stretch>
            <a:fillRect/>
          </a:stretch>
        </p:blipFill>
        <p:spPr>
          <a:xfrm>
            <a:off x="457200" y="1280160"/>
            <a:ext cx="4023360" cy="3108960"/>
          </a:xfrm>
          <a:prstGeom prst="rect">
            <a:avLst/>
          </a:prstGeom>
        </p:spPr>
      </p:pic>
      <p:sp>
        <p:nvSpPr>
          <p:cNvPr id="4" name="Cuerpo"/>
          <p:cNvSpPr txBox="1"/>
          <p:nvPr/>
        </p:nvSpPr>
        <p:spPr>
          <a:xfrm>
            <a:off x="4754880" y="1234440"/>
            <a:ext cx="39319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rigidez cambia con la profundidad, y con ella la velocidad Vs</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Es común que Vs aumente (terreno más rocoso), pero no siempre ocurre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densidad ρ suele variar poco en comparación con Vs</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Si conocemos Vs(z), estimamos el módulo de corte máximo:</a:t>
            </a:r>
            <a:endParaRPr lang="en-US" sz="1600" dirty="0"/>
          </a:p>
        </p:txBody>
      </p:sp>
      <p:sp>
        <p:nvSpPr>
          <p:cNvPr id="5" name="Fondo Gmax"/>
          <p:cNvSpPr/>
          <p:nvPr/>
        </p:nvSpPr>
        <p:spPr>
          <a:xfrm>
            <a:off x="4754880" y="3840480"/>
            <a:ext cx="393192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r>
                        <a:rPr lang="es-ES" sz="2400" i="1">
                          <a:solidFill>
                            <a:srgbClr val="1F4E79"/>
                          </a:solidFill>
                          <a:latin typeface="Cambria Math" panose="02040503050406030204" pitchFamily="18" charset="0"/>
                        </a:rPr>
                        <m:t xml:space="preserve">(z)=ρ(z)·</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(z)</m:t>
                      </m:r>
                    </m:oMath>
                  </m:oMathPara>
                </a14:m>
                <a:endParaRPr lang="es-ES"/>
              </a:p>
            </p:txBody>
          </p:sp>
        </mc:Choice>
        <mc:Fallback>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Gmax(z) = ρ(z) · Vs²(z)</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de ejemplo propio (ilustrativo): 3 capas, ν = 0,3. Variación de ρ: Kramer (1996), por confirmar página.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longitud de onda «ve» una profundidad distinta del terreno</a:t>
            </a:r>
            <a:endParaRPr lang="en-US" sz="2400" dirty="0"/>
          </a:p>
        </p:txBody>
      </p:sp>
      <p:pic>
        <p:nvPicPr>
          <p:cNvPr id="3" name="Desplazamiento vs profundidad" descr="Desplazamiento vertical de la onda Rayleigh en función de la profundidad: a 15 Hz queda en la capa superior; a 9,5 Hz llega hasta unos 25 m">    </p:cNvPr>
          <p:cNvPicPr>
            <a:picLocks noChangeAspect="1"/>
          </p:cNvPicPr>
          <p:nvPr/>
        </p:nvPicPr>
        <p:blipFill>
          <a:blip r:embed="rId1"/>
          <a:stretch>
            <a:fillRect/>
          </a:stretch>
        </p:blipFill>
        <p:spPr>
          <a:xfrm>
            <a:off x="365760" y="1234440"/>
            <a:ext cx="5120640" cy="3319272"/>
          </a:xfrm>
          <a:prstGeom prst="rect">
            <a:avLst/>
          </a:prstGeom>
        </p:spPr>
      </p:pic>
      <p:sp>
        <p:nvSpPr>
          <p:cNvPr id="4" name="Fondo lambda"/>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λ=</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c</m:t>
                          </m:r>
                        </m:num>
                        <m:den>
                          <m:r>
                            <a:rPr lang="es-ES" sz="2800" i="1">
                              <a:solidFill>
                                <a:srgbClr val="1F4E79"/>
                              </a:solidFill>
                              <a:latin typeface="Cambria Math" panose="02040503050406030204" pitchFamily="18" charset="0"/>
                            </a:rPr>
                            <m:t xml:space="preserve">f</m:t>
                          </m:r>
                        </m:den>
                      </m:f>
                    </m:oMath>
                  </m:oMathPara>
                </a14:m>
                <a:endParaRPr lang="es-ES"/>
              </a:p>
            </p:txBody>
          </p:sp>
        </mc:Choice>
        <mc:Fallback>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λ = c / f</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Alta frecuencia: λ corta, el movimiento queda en las capas superiores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Baja frecuencia: λ larga, el movimiento llega a capas más profundas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 Idea: Foti et al. (2014), fig. 2.13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2400" dirty="0"/>
          </a:p>
        </p:txBody>
      </p:sp>
      <p:graphicFrame>
        <p:nvGraphicFramePr>
          <p:cNvPr id="3" name="Chart 0" descr=""/>
          <p:cNvGraphicFramePr/>
          <p:nvPr/>
        </p:nvGraphicFramePr>
        <p:xfrm>
          <a:off x="457200" y="1280160"/>
          <a:ext cx="5212080" cy="320040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Este fenómeno se llama dispersión</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dispersión permite reconstruir un modelo estratificado compatible con las mediciones de campo</a:t>
            </a:r>
            <a:endParaRPr lang="en-US" sz="2400" dirty="0"/>
          </a:p>
        </p:txBody>
      </p:sp>
      <p:sp>
        <p:nvSpPr>
          <p:cNvPr id="3" name="Registros"/>
          <p:cNvSpPr/>
          <p:nvPr/>
        </p:nvSpPr>
        <p:spPr>
          <a:xfrm>
            <a:off x="457200" y="1371600"/>
            <a:ext cx="1828800" cy="868680"/>
          </a:xfrm>
          <a:prstGeom prst="roundRect">
            <a:avLst>
              <a:gd name="adj" fmla="val 8421"/>
            </a:avLst>
          </a:prstGeom>
          <a:solidFill>
            <a:srgbClr val="2E75B6"/>
          </a:solidFill>
          <a:ln w="12700">
            <a:solidFill>
              <a:srgbClr val="2E75B6"/>
            </a:solidFill>
            <a:prstDash val="solid"/>
          </a:ln>
        </p:spPr>
      </p:sp>
      <p:sp>
        <p:nvSpPr>
          <p:cNvPr id="4" name="Text 2"/>
          <p:cNvSpPr txBox="1"/>
          <p:nvPr/>
        </p:nvSpPr>
        <p:spPr>
          <a:xfrm>
            <a:off x="457200" y="13716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Registros de campo</a:t>
            </a:r>
            <a:endParaRPr lang="en-US" sz="1600" dirty="0"/>
          </a:p>
        </p:txBody>
      </p:sp>
      <p:sp>
        <p:nvSpPr>
          <p:cNvPr id="5" name="Curva experimental"/>
          <p:cNvSpPr/>
          <p:nvPr/>
        </p:nvSpPr>
        <p:spPr>
          <a:xfrm>
            <a:off x="2743200" y="1371600"/>
            <a:ext cx="2194560" cy="868680"/>
          </a:xfrm>
          <a:prstGeom prst="roundRect">
            <a:avLst>
              <a:gd name="adj" fmla="val 8421"/>
            </a:avLst>
          </a:prstGeom>
          <a:solidFill>
            <a:srgbClr val="2E75B6"/>
          </a:solidFill>
          <a:ln w="12700">
            <a:solidFill>
              <a:srgbClr val="2E75B6"/>
            </a:solidFill>
            <a:prstDash val="solid"/>
          </a:ln>
        </p:spPr>
      </p:sp>
      <p:sp>
        <p:nvSpPr>
          <p:cNvPr id="6" name="Text 4"/>
          <p:cNvSpPr txBox="1"/>
          <p:nvPr/>
        </p:nvSpPr>
        <p:spPr>
          <a:xfrm>
            <a:off x="2743200" y="13716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de dispersión experimental</a:t>
            </a:r>
            <a:endParaRPr lang="en-US" sz="1600" dirty="0"/>
          </a:p>
        </p:txBody>
      </p:sp>
      <p:sp>
        <p:nvSpPr>
          <p:cNvPr id="7" name="Comparar"/>
          <p:cNvSpPr/>
          <p:nvPr/>
        </p:nvSpPr>
        <p:spPr>
          <a:xfrm>
            <a:off x="5394960" y="1371600"/>
            <a:ext cx="1554480" cy="868680"/>
          </a:xfrm>
          <a:prstGeom prst="roundRect">
            <a:avLst>
              <a:gd name="adj" fmla="val 8421"/>
            </a:avLst>
          </a:prstGeom>
          <a:solidFill>
            <a:srgbClr val="1F4E79"/>
          </a:solidFill>
          <a:ln w="12700">
            <a:solidFill>
              <a:srgbClr val="1F4E79"/>
            </a:solidFill>
            <a:prstDash val="solid"/>
          </a:ln>
        </p:spPr>
      </p:sp>
      <p:sp>
        <p:nvSpPr>
          <p:cNvPr id="8" name="Text 6"/>
          <p:cNvSpPr txBox="1"/>
          <p:nvPr/>
        </p:nvSpPr>
        <p:spPr>
          <a:xfrm>
            <a:off x="5394960" y="1371600"/>
            <a:ext cx="15544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Comparar</a:t>
            </a:r>
            <a:endParaRPr lang="en-US" sz="1600" dirty="0"/>
          </a:p>
        </p:txBody>
      </p:sp>
      <p:sp>
        <p:nvSpPr>
          <p:cNvPr id="9" name="Perfil final"/>
          <p:cNvSpPr/>
          <p:nvPr/>
        </p:nvSpPr>
        <p:spPr>
          <a:xfrm>
            <a:off x="7315200" y="1371600"/>
            <a:ext cx="1371600" cy="868680"/>
          </a:xfrm>
          <a:prstGeom prst="roundRect">
            <a:avLst>
              <a:gd name="adj" fmla="val 8421"/>
            </a:avLst>
          </a:prstGeom>
          <a:solidFill>
            <a:srgbClr val="C55A11"/>
          </a:solidFill>
          <a:ln w="12700">
            <a:solidFill>
              <a:srgbClr val="C55A11"/>
            </a:solidFill>
            <a:prstDash val="solid"/>
          </a:ln>
        </p:spPr>
      </p:sp>
      <p:sp>
        <p:nvSpPr>
          <p:cNvPr id="10" name="Text 8"/>
          <p:cNvSpPr txBox="1"/>
          <p:nvPr/>
        </p:nvSpPr>
        <p:spPr>
          <a:xfrm>
            <a:off x="7315200" y="1371600"/>
            <a:ext cx="13716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Perfil Vs(z)</a:t>
            </a:r>
            <a:endParaRPr lang="en-US" sz="1600" dirty="0"/>
          </a:p>
        </p:txBody>
      </p:sp>
      <p:sp>
        <p:nvSpPr>
          <p:cNvPr id="11" name="Shape 9"/>
          <p:cNvSpPr/>
          <p:nvPr/>
        </p:nvSpPr>
        <p:spPr>
          <a:xfrm>
            <a:off x="2286000" y="1805940"/>
            <a:ext cx="457200" cy="0"/>
          </a:xfrm>
          <a:prstGeom prst="line">
            <a:avLst/>
          </a:prstGeom>
          <a:noFill/>
          <a:ln w="31750">
            <a:solidFill>
              <a:srgbClr val="1F4E79"/>
            </a:solidFill>
            <a:prstDash val="solid"/>
            <a:tailEnd type="triangle"/>
          </a:ln>
        </p:spPr>
      </p:sp>
      <p:sp>
        <p:nvSpPr>
          <p:cNvPr id="12" name="Shape 10"/>
          <p:cNvSpPr/>
          <p:nvPr/>
        </p:nvSpPr>
        <p:spPr>
          <a:xfrm>
            <a:off x="4937760" y="1805940"/>
            <a:ext cx="457200" cy="0"/>
          </a:xfrm>
          <a:prstGeom prst="line">
            <a:avLst/>
          </a:prstGeom>
          <a:noFill/>
          <a:ln w="31750">
            <a:solidFill>
              <a:srgbClr val="1F4E79"/>
            </a:solidFill>
            <a:prstDash val="solid"/>
            <a:tailEnd type="triangle"/>
          </a:ln>
        </p:spPr>
      </p:sp>
      <p:sp>
        <p:nvSpPr>
          <p:cNvPr id="13" name="Shape 11"/>
          <p:cNvSpPr/>
          <p:nvPr/>
        </p:nvSpPr>
        <p:spPr>
          <a:xfrm>
            <a:off x="6949440" y="1805940"/>
            <a:ext cx="365760" cy="0"/>
          </a:xfrm>
          <a:prstGeom prst="line">
            <a:avLst/>
          </a:prstGeom>
          <a:noFill/>
          <a:ln w="31750">
            <a:solidFill>
              <a:srgbClr val="C55A11"/>
            </a:solidFill>
            <a:prstDash val="solid"/>
            <a:tailEnd type="triangle"/>
          </a:ln>
        </p:spPr>
      </p:sp>
      <p:sp>
        <p:nvSpPr>
          <p:cNvPr id="14" name="Text 12"/>
          <p:cNvSpPr txBox="1"/>
          <p:nvPr/>
        </p:nvSpPr>
        <p:spPr>
          <a:xfrm>
            <a:off x="6812280" y="1051560"/>
            <a:ext cx="1097280" cy="274320"/>
          </a:xfrm>
          <a:prstGeom prst="rect">
            <a:avLst/>
          </a:prstGeom>
          <a:noFill/>
          <a:ln/>
        </p:spPr>
        <p:txBody>
          <a:bodyPr wrap="square" lIns="0" tIns="0" rIns="0" bIns="0" rtlCol="0" anchor="t"/>
          <a:lstStyle/>
          <a:p>
            <a:pPr algn="ctr" indent="0" marL="0">
              <a:buNone/>
            </a:pPr>
            <a:r>
              <a:rPr lang="en-US" sz="1400" dirty="0">
                <a:solidFill>
                  <a:srgbClr val="C55A11"/>
                </a:solidFill>
                <a:latin typeface="Arial" pitchFamily="34" charset="0"/>
                <a:ea typeface="Arial" pitchFamily="34" charset="-122"/>
                <a:cs typeface="Arial" pitchFamily="34" charset="-120"/>
              </a:rPr>
              <a:t>coinciden</a:t>
            </a:r>
            <a:endParaRPr lang="en-US" sz="1400" dirty="0"/>
          </a:p>
        </p:txBody>
      </p:sp>
      <p:sp>
        <p:nvSpPr>
          <p:cNvPr id="15" name="Modelo"/>
          <p:cNvSpPr/>
          <p:nvPr/>
        </p:nvSpPr>
        <p:spPr>
          <a:xfrm>
            <a:off x="457200" y="2971800"/>
            <a:ext cx="1828800" cy="868680"/>
          </a:xfrm>
          <a:prstGeom prst="roundRect">
            <a:avLst>
              <a:gd name="adj" fmla="val 8421"/>
            </a:avLst>
          </a:prstGeom>
          <a:solidFill>
            <a:srgbClr val="6B6B6B"/>
          </a:solidFill>
          <a:ln w="12700">
            <a:solidFill>
              <a:srgbClr val="6B6B6B"/>
            </a:solidFill>
            <a:prstDash val="solid"/>
          </a:ln>
        </p:spPr>
      </p:sp>
      <p:sp>
        <p:nvSpPr>
          <p:cNvPr id="16" name="Text 14"/>
          <p:cNvSpPr txBox="1"/>
          <p:nvPr/>
        </p:nvSpPr>
        <p:spPr>
          <a:xfrm>
            <a:off x="457200" y="29718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Modelo Vs(z) propuesto</a:t>
            </a:r>
            <a:endParaRPr lang="en-US" sz="1600" dirty="0"/>
          </a:p>
        </p:txBody>
      </p:sp>
      <p:sp>
        <p:nvSpPr>
          <p:cNvPr id="17" name="Curva teórica"/>
          <p:cNvSpPr/>
          <p:nvPr/>
        </p:nvSpPr>
        <p:spPr>
          <a:xfrm>
            <a:off x="2743200" y="2971800"/>
            <a:ext cx="2194560" cy="868680"/>
          </a:xfrm>
          <a:prstGeom prst="roundRect">
            <a:avLst>
              <a:gd name="adj" fmla="val 8421"/>
            </a:avLst>
          </a:prstGeom>
          <a:solidFill>
            <a:srgbClr val="6B6B6B"/>
          </a:solidFill>
          <a:ln w="12700">
            <a:solidFill>
              <a:srgbClr val="6B6B6B"/>
            </a:solidFill>
            <a:prstDash val="solid"/>
          </a:ln>
        </p:spPr>
      </p:sp>
      <p:sp>
        <p:nvSpPr>
          <p:cNvPr id="18" name="Text 16"/>
          <p:cNvSpPr txBox="1"/>
          <p:nvPr/>
        </p:nvSpPr>
        <p:spPr>
          <a:xfrm>
            <a:off x="2743200" y="29718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teórica del modelo</a:t>
            </a:r>
            <a:endParaRPr lang="en-US" sz="1600" dirty="0"/>
          </a:p>
        </p:txBody>
      </p:sp>
      <p:sp>
        <p:nvSpPr>
          <p:cNvPr id="19" name="Shape 17"/>
          <p:cNvSpPr/>
          <p:nvPr/>
        </p:nvSpPr>
        <p:spPr>
          <a:xfrm>
            <a:off x="2286000" y="3406140"/>
            <a:ext cx="457200" cy="0"/>
          </a:xfrm>
          <a:prstGeom prst="line">
            <a:avLst/>
          </a:prstGeom>
          <a:noFill/>
          <a:ln w="31750">
            <a:solidFill>
              <a:srgbClr val="6B6B6B"/>
            </a:solidFill>
            <a:prstDash val="solid"/>
            <a:tailEnd type="triangle"/>
          </a:ln>
        </p:spPr>
      </p:sp>
      <p:sp>
        <p:nvSpPr>
          <p:cNvPr id="20" name="Shape 18"/>
          <p:cNvSpPr/>
          <p:nvPr/>
        </p:nvSpPr>
        <p:spPr>
          <a:xfrm>
            <a:off x="4937760" y="3406140"/>
            <a:ext cx="640080" cy="0"/>
          </a:xfrm>
          <a:prstGeom prst="line">
            <a:avLst/>
          </a:prstGeom>
          <a:noFill/>
          <a:ln w="31750">
            <a:solidFill>
              <a:srgbClr val="6B6B6B"/>
            </a:solidFill>
            <a:prstDash val="solid"/>
          </a:ln>
        </p:spPr>
      </p:sp>
      <p:sp>
        <p:nvSpPr>
          <p:cNvPr id="21" name="Shape 19"/>
          <p:cNvSpPr/>
          <p:nvPr/>
        </p:nvSpPr>
        <p:spPr>
          <a:xfrm flipV="1">
            <a:off x="5577840" y="2240280"/>
            <a:ext cx="0" cy="1165860"/>
          </a:xfrm>
          <a:prstGeom prst="line">
            <a:avLst/>
          </a:prstGeom>
          <a:noFill/>
          <a:ln w="31750">
            <a:solidFill>
              <a:srgbClr val="6B6B6B"/>
            </a:solidFill>
            <a:prstDash val="solid"/>
            <a:tailEnd type="triangle"/>
          </a:ln>
        </p:spPr>
      </p:sp>
      <p:sp>
        <p:nvSpPr>
          <p:cNvPr id="22" name="Text 20"/>
          <p:cNvSpPr txBox="1"/>
          <p:nvPr/>
        </p:nvSpPr>
        <p:spPr>
          <a:xfrm>
            <a:off x="1371600" y="4297680"/>
            <a:ext cx="5303520" cy="27432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No coinciden: se modifica Vs(z)</a:t>
            </a:r>
            <a:endParaRPr lang="en-US" sz="1600" dirty="0"/>
          </a:p>
        </p:txBody>
      </p:sp>
      <p:sp>
        <p:nvSpPr>
          <p:cNvPr id="23" name="Shape 21"/>
          <p:cNvSpPr/>
          <p:nvPr/>
        </p:nvSpPr>
        <p:spPr>
          <a:xfrm>
            <a:off x="6675120" y="2240280"/>
            <a:ext cx="0" cy="2011680"/>
          </a:xfrm>
          <a:prstGeom prst="line">
            <a:avLst/>
          </a:prstGeom>
          <a:noFill/>
          <a:ln w="31750">
            <a:solidFill>
              <a:srgbClr val="C55A11"/>
            </a:solidFill>
            <a:prstDash val="solid"/>
          </a:ln>
        </p:spPr>
      </p:sp>
      <p:sp>
        <p:nvSpPr>
          <p:cNvPr id="24" name="Shape 22"/>
          <p:cNvSpPr/>
          <p:nvPr/>
        </p:nvSpPr>
        <p:spPr>
          <a:xfrm>
            <a:off x="1371600" y="4251960"/>
            <a:ext cx="5303520" cy="0"/>
          </a:xfrm>
          <a:prstGeom prst="line">
            <a:avLst/>
          </a:prstGeom>
          <a:noFill/>
          <a:ln w="31750">
            <a:solidFill>
              <a:srgbClr val="C55A11"/>
            </a:solidFill>
            <a:prstDash val="solid"/>
          </a:ln>
        </p:spPr>
      </p:sp>
      <p:sp>
        <p:nvSpPr>
          <p:cNvPr id="25" name="Shape 23"/>
          <p:cNvSpPr/>
          <p:nvPr/>
        </p:nvSpPr>
        <p:spPr>
          <a:xfrm>
            <a:off x="1371600" y="3840480"/>
            <a:ext cx="0" cy="411480"/>
          </a:xfrm>
          <a:prstGeom prst="line">
            <a:avLst/>
          </a:prstGeom>
          <a:noFill/>
          <a:ln w="31750">
            <a:solidFill>
              <a:srgbClr val="C55A11"/>
            </a:solidFill>
            <a:prstDash val="solid"/>
            <a:headEnd type="triangle"/>
          </a:ln>
        </p:spPr>
      </p:sp>
      <p:sp>
        <p:nvSpPr>
          <p:cNvPr id="2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el procedimiento general de inversión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inversión tiene límites: depende de supuestos y se apoya en otras mediciones</a:t>
            </a:r>
            <a:endParaRPr lang="en-US" sz="2400" dirty="0"/>
          </a:p>
        </p:txBody>
      </p:sp>
      <p:sp>
        <p:nvSpPr>
          <p:cNvPr id="3" name="Cabecera Capas profundas"/>
          <p:cNvSpPr/>
          <p:nvPr/>
        </p:nvSpPr>
        <p:spPr>
          <a:xfrm>
            <a:off x="457200" y="1325880"/>
            <a:ext cx="4023360" cy="457200"/>
          </a:xfrm>
          <a:prstGeom prst="rect">
            <a:avLst/>
          </a:prstGeom>
          <a:solidFill>
            <a:srgbClr val="1F4E79"/>
          </a:solidFill>
          <a:ln w="12700">
            <a:solidFill>
              <a:srgbClr val="1F4E79"/>
            </a:solidFill>
            <a:prstDash val="solid"/>
          </a:ln>
        </p:spPr>
      </p:sp>
      <p:sp>
        <p:nvSpPr>
          <p:cNvPr id="4" name="Text 2"/>
          <p:cNvSpPr txBox="1"/>
          <p:nvPr/>
        </p:nvSpPr>
        <p:spPr>
          <a:xfrm>
            <a:off x="45720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Capas profundas</a:t>
            </a:r>
            <a:endParaRPr lang="en-US" sz="2000" dirty="0"/>
          </a:p>
        </p:txBody>
      </p:sp>
      <p:sp>
        <p:nvSpPr>
          <p:cNvPr id="5" name="Tarjeta Capas profundas"/>
          <p:cNvSpPr/>
          <p:nvPr/>
        </p:nvSpPr>
        <p:spPr>
          <a:xfrm>
            <a:off x="457200" y="1783080"/>
            <a:ext cx="4023360" cy="914400"/>
          </a:xfrm>
          <a:prstGeom prst="rect">
            <a:avLst/>
          </a:prstGeom>
          <a:solidFill>
            <a:srgbClr val="FFFFFF"/>
          </a:solidFill>
          <a:ln w="19050">
            <a:solidFill>
              <a:srgbClr val="1F4E79"/>
            </a:solidFill>
            <a:prstDash val="solid"/>
          </a:ln>
        </p:spPr>
      </p:sp>
      <p:sp>
        <p:nvSpPr>
          <p:cNvPr id="6" name="Text 4"/>
          <p:cNvSpPr txBox="1"/>
          <p:nvPr/>
        </p:nvSpPr>
        <p:spPr>
          <a:xfrm>
            <a:off x="59436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Dependen de las bajas frecuencias y se resuelven peor</a:t>
            </a:r>
            <a:endParaRPr lang="en-US" sz="1800" dirty="0"/>
          </a:p>
        </p:txBody>
      </p:sp>
      <p:sp>
        <p:nvSpPr>
          <p:cNvPr id="7" name="Cabecera Supuestos"/>
          <p:cNvSpPr/>
          <p:nvPr/>
        </p:nvSpPr>
        <p:spPr>
          <a:xfrm>
            <a:off x="4663440" y="1325880"/>
            <a:ext cx="4023360" cy="457200"/>
          </a:xfrm>
          <a:prstGeom prst="rect">
            <a:avLst/>
          </a:prstGeom>
          <a:solidFill>
            <a:srgbClr val="1F4E79"/>
          </a:solidFill>
          <a:ln w="12700">
            <a:solidFill>
              <a:srgbClr val="1F4E79"/>
            </a:solidFill>
            <a:prstDash val="solid"/>
          </a:ln>
        </p:spPr>
      </p:sp>
      <p:sp>
        <p:nvSpPr>
          <p:cNvPr id="8" name="Text 6"/>
          <p:cNvSpPr txBox="1"/>
          <p:nvPr/>
        </p:nvSpPr>
        <p:spPr>
          <a:xfrm>
            <a:off x="466344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Supuestos</a:t>
            </a:r>
            <a:endParaRPr lang="en-US" sz="2000" dirty="0"/>
          </a:p>
        </p:txBody>
      </p:sp>
      <p:sp>
        <p:nvSpPr>
          <p:cNvPr id="9" name="Tarjeta Supuestos"/>
          <p:cNvSpPr/>
          <p:nvPr/>
        </p:nvSpPr>
        <p:spPr>
          <a:xfrm>
            <a:off x="4663440" y="1783080"/>
            <a:ext cx="4023360" cy="914400"/>
          </a:xfrm>
          <a:prstGeom prst="rect">
            <a:avLst/>
          </a:prstGeom>
          <a:solidFill>
            <a:srgbClr val="FFFFFF"/>
          </a:solidFill>
          <a:ln w="19050">
            <a:solidFill>
              <a:srgbClr val="1F4E79"/>
            </a:solidFill>
            <a:prstDash val="solid"/>
          </a:ln>
        </p:spPr>
      </p:sp>
      <p:sp>
        <p:nvSpPr>
          <p:cNvPr id="10" name="Text 8"/>
          <p:cNvSpPr txBox="1"/>
          <p:nvPr/>
        </p:nvSpPr>
        <p:spPr>
          <a:xfrm>
            <a:off x="480060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Densidad ρ, número de capas y modelo inicial se suponen</a:t>
            </a:r>
            <a:endParaRPr lang="en-US" sz="1800" dirty="0"/>
          </a:p>
        </p:txBody>
      </p:sp>
      <p:sp>
        <p:nvSpPr>
          <p:cNvPr id="11" name="Cabecera No unicidad"/>
          <p:cNvSpPr/>
          <p:nvPr/>
        </p:nvSpPr>
        <p:spPr>
          <a:xfrm>
            <a:off x="457200" y="2880360"/>
            <a:ext cx="4023360" cy="457200"/>
          </a:xfrm>
          <a:prstGeom prst="rect">
            <a:avLst/>
          </a:prstGeom>
          <a:solidFill>
            <a:srgbClr val="1F4E79"/>
          </a:solidFill>
          <a:ln w="12700">
            <a:solidFill>
              <a:srgbClr val="1F4E79"/>
            </a:solidFill>
            <a:prstDash val="solid"/>
          </a:ln>
        </p:spPr>
      </p:sp>
      <p:sp>
        <p:nvSpPr>
          <p:cNvPr id="12" name="Text 10"/>
          <p:cNvSpPr txBox="1"/>
          <p:nvPr/>
        </p:nvSpPr>
        <p:spPr>
          <a:xfrm>
            <a:off x="45720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No unicidad</a:t>
            </a:r>
            <a:endParaRPr lang="en-US" sz="2000" dirty="0"/>
          </a:p>
        </p:txBody>
      </p:sp>
      <p:sp>
        <p:nvSpPr>
          <p:cNvPr id="13" name="Tarjeta No unicidad"/>
          <p:cNvSpPr/>
          <p:nvPr/>
        </p:nvSpPr>
        <p:spPr>
          <a:xfrm>
            <a:off x="457200" y="3337560"/>
            <a:ext cx="4023360" cy="914400"/>
          </a:xfrm>
          <a:prstGeom prst="rect">
            <a:avLst/>
          </a:prstGeom>
          <a:solidFill>
            <a:srgbClr val="FFFFFF"/>
          </a:solidFill>
          <a:ln w="19050">
            <a:solidFill>
              <a:srgbClr val="1F4E79"/>
            </a:solidFill>
            <a:prstDash val="solid"/>
          </a:ln>
        </p:spPr>
      </p:sp>
      <p:sp>
        <p:nvSpPr>
          <p:cNvPr id="14" name="Text 12"/>
          <p:cNvSpPr txBox="1"/>
          <p:nvPr/>
        </p:nvSpPr>
        <p:spPr>
          <a:xfrm>
            <a:off x="59436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Perfiles distintos pueden dar curvas casi iguales</a:t>
            </a:r>
            <a:endParaRPr lang="en-US" sz="1800" dirty="0"/>
          </a:p>
        </p:txBody>
      </p:sp>
      <p:sp>
        <p:nvSpPr>
          <p:cNvPr id="15" name="Cabecera Otras mediciones"/>
          <p:cNvSpPr/>
          <p:nvPr/>
        </p:nvSpPr>
        <p:spPr>
          <a:xfrm>
            <a:off x="4663440" y="2880360"/>
            <a:ext cx="4023360" cy="457200"/>
          </a:xfrm>
          <a:prstGeom prst="rect">
            <a:avLst/>
          </a:prstGeom>
          <a:solidFill>
            <a:srgbClr val="C55A11"/>
          </a:solidFill>
          <a:ln w="12700">
            <a:solidFill>
              <a:srgbClr val="C55A11"/>
            </a:solidFill>
            <a:prstDash val="solid"/>
          </a:ln>
        </p:spPr>
      </p:sp>
      <p:sp>
        <p:nvSpPr>
          <p:cNvPr id="16" name="Text 14"/>
          <p:cNvSpPr txBox="1"/>
          <p:nvPr/>
        </p:nvSpPr>
        <p:spPr>
          <a:xfrm>
            <a:off x="466344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Otras mediciones</a:t>
            </a:r>
            <a:endParaRPr lang="en-US" sz="2000" dirty="0"/>
          </a:p>
        </p:txBody>
      </p:sp>
      <p:sp>
        <p:nvSpPr>
          <p:cNvPr id="17" name="Tarjeta Otras mediciones"/>
          <p:cNvSpPr/>
          <p:nvPr/>
        </p:nvSpPr>
        <p:spPr>
          <a:xfrm>
            <a:off x="4663440" y="3337560"/>
            <a:ext cx="4023360" cy="914400"/>
          </a:xfrm>
          <a:prstGeom prst="rect">
            <a:avLst/>
          </a:prstGeom>
          <a:solidFill>
            <a:srgbClr val="FFFFFF"/>
          </a:solidFill>
          <a:ln w="19050">
            <a:solidFill>
              <a:srgbClr val="C55A11"/>
            </a:solidFill>
            <a:prstDash val="solid"/>
          </a:ln>
        </p:spPr>
      </p:sp>
      <p:sp>
        <p:nvSpPr>
          <p:cNvPr id="18" name="Text 16"/>
          <p:cNvSpPr txBox="1"/>
          <p:nvPr/>
        </p:nvSpPr>
        <p:spPr>
          <a:xfrm>
            <a:off x="480060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8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capítulo de inversión (a confirmar); Socco y Strobbia (2004); Xia et al. (1999), p. 694 (ρ supuesta conocida).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la diferencia de fase entre dos receptores da la velocidad de fase</a:t>
            </a:r>
            <a:endParaRPr lang="en-US" sz="2400" dirty="0"/>
          </a:p>
        </p:txBody>
      </p:sp>
      <p:pic>
        <p:nvPicPr>
          <p:cNvPr id="3" name="Figura SASW" descr="Arreglo SASW: fuente vertical y dos receptores separados una distancia d">    </p:cNvPr>
          <p:cNvPicPr>
            <a:picLocks noChangeAspect="1"/>
          </p:cNvPicPr>
          <p:nvPr/>
        </p:nvPicPr>
        <p:blipFill>
          <a:blip r:embed="rId1"/>
          <a:stretch>
            <a:fillRect/>
          </a:stretch>
        </p:blipFill>
        <p:spPr>
          <a:xfrm>
            <a:off x="457200" y="1234440"/>
            <a:ext cx="5120640" cy="2255151"/>
          </a:xfrm>
          <a:prstGeom prst="rect">
            <a:avLst/>
          </a:prstGeom>
        </p:spPr>
      </p:pic>
      <p:sp>
        <p:nvSpPr>
          <p:cNvPr id="4" name="Fondo SASW"/>
          <p:cNvSpPr/>
          <p:nvPr/>
        </p:nvSpPr>
        <p:spPr>
          <a:xfrm>
            <a:off x="457200" y="3657600"/>
            <a:ext cx="51206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(f)=</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2πf·d</m:t>
                          </m:r>
                        </m:num>
                        <m:den>
                          <m:r>
                            <a:rPr lang="es-ES" sz="2400" i="1">
                              <a:solidFill>
                                <a:srgbClr val="1F4E79"/>
                              </a:solidFill>
                              <a:latin typeface="Cambria Math" panose="02040503050406030204" pitchFamily="18" charset="0"/>
                            </a:rPr>
                            <m:t xml:space="preserve">Δφ(f)</m:t>
                          </m:r>
                        </m:den>
                      </m:f>
                    </m:oMath>
                  </m:oMathPara>
                </a14:m>
                <a:endParaRPr lang="es-ES"/>
              </a:p>
            </p:txBody>
          </p:sp>
        </mc:Choice>
        <mc:Fallback>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cR(f) = 2π·f·d / Δφ(f)</a:t>
                </a:r>
                <a:endParaRPr lang="en-US" sz="2400" dirty="0"/>
              </a:p>
            </p:txBody>
          </p:sp>
        </mc:Fallback>
      </mc:AlternateContent>
      <p:sp>
        <p:nvSpPr>
          <p:cNvPr id="6"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Fuente vertical y dos receptores separados una distancia d</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mide la diferencia de fase Δφ entre ambos, para cada frecuencia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De Δφ(f) sale la velocidad de fase cR(f)</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Resumen firmado, sec. 4;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es simple, pero deja ambigüedades y poca redundancia espacial</a:t>
            </a:r>
            <a:endParaRPr lang="en-US" sz="2400" dirty="0"/>
          </a:p>
        </p:txBody>
      </p:sp>
      <p:sp>
        <p:nvSpPr>
          <p:cNvPr id="3" name="Cabecera Ventaja"/>
          <p:cNvSpPr/>
          <p:nvPr/>
        </p:nvSpPr>
        <p:spPr>
          <a:xfrm>
            <a:off x="457200" y="132588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a:t>
            </a:r>
            <a:endParaRPr lang="en-US" sz="2000" dirty="0"/>
          </a:p>
        </p:txBody>
      </p:sp>
      <p:sp>
        <p:nvSpPr>
          <p:cNvPr id="5" name="Tarjeta Ventaja"/>
          <p:cNvSpPr/>
          <p:nvPr/>
        </p:nvSpPr>
        <p:spPr>
          <a:xfrm>
            <a:off x="457200" y="1828800"/>
            <a:ext cx="3931920" cy="2743200"/>
          </a:xfrm>
          <a:prstGeom prst="rect">
            <a:avLst/>
          </a:prstGeom>
          <a:solidFill>
            <a:srgbClr val="FFFFFF"/>
          </a:solidFill>
          <a:ln w="19050">
            <a:solidFill>
              <a:srgbClr val="1F4E79"/>
            </a:solidFill>
            <a:prstDash val="solid"/>
          </a:ln>
        </p:spPr>
      </p:sp>
      <p:sp>
        <p:nvSpPr>
          <p:cNvPr id="6" name="Text 4"/>
          <p:cNvSpPr txBox="1"/>
          <p:nvPr/>
        </p:nvSpPr>
        <p:spPr>
          <a:xfrm>
            <a:off x="594360" y="1874520"/>
            <a:ext cx="3657600" cy="26517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Instrumentación sencilla: solo dos receptores</a:t>
            </a:r>
            <a:endParaRPr lang="en-US" sz="1800" dirty="0"/>
          </a:p>
        </p:txBody>
      </p:sp>
      <p:sp>
        <p:nvSpPr>
          <p:cNvPr id="7" name="Cabecera Limitaciones"/>
          <p:cNvSpPr/>
          <p:nvPr/>
        </p:nvSpPr>
        <p:spPr>
          <a:xfrm>
            <a:off x="4754880" y="132588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828800"/>
            <a:ext cx="3931920" cy="2743200"/>
          </a:xfrm>
          <a:prstGeom prst="rect">
            <a:avLst/>
          </a:prstGeom>
          <a:solidFill>
            <a:srgbClr val="FFFFFF"/>
          </a:solidFill>
          <a:ln w="19050">
            <a:solidFill>
              <a:srgbClr val="C55A11"/>
            </a:solidFill>
            <a:prstDash val="solid"/>
          </a:ln>
        </p:spPr>
      </p:sp>
      <p:sp>
        <p:nvSpPr>
          <p:cNvPr id="10" name="Text 8"/>
          <p:cNvSpPr txBox="1"/>
          <p:nvPr/>
        </p:nvSpPr>
        <p:spPr>
          <a:xfrm>
            <a:off x="4892040" y="1874520"/>
            <a:ext cx="3657600" cy="2651760"/>
          </a:xfrm>
          <a:prstGeom prst="rect">
            <a:avLst/>
          </a:prstGeom>
          <a:noFill/>
          <a:ln/>
        </p:spPr>
        <p:txBody>
          <a:bodyPr wrap="square" lIns="0" tIns="0" rIns="0" bIns="0" rtlCol="0" anchor="ctr"/>
          <a:lstStyle/>
          <a:p>
            <a:pPr indent="0" marL="0">
              <a:buNone/>
            </a:pPr>
            <a:endParaRPr lang="en-US" sz="1800" dirty="0"/>
          </a:p>
        </p:txBody>
      </p:sp>
      <p:sp>
        <p:nvSpPr>
          <p:cNvPr id="11" name="Cuerpo limitaciones"/>
          <p:cNvSpPr txBox="1"/>
          <p:nvPr/>
        </p:nvSpPr>
        <p:spPr>
          <a:xfrm>
            <a:off x="4937760" y="1920240"/>
            <a:ext cx="356616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fase se conoce salvo ciclos enteros: Δφ + 2πN</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redundancia para separar contribuciones superpuestas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Se repite con distintas separaciones</a:t>
            </a:r>
            <a:endParaRPr lang="en-US" sz="18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MASW extiende el principio a múltiples posiciones a lo largo del terreno</a:t>
            </a:r>
            <a:endParaRPr lang="en-US" sz="2400" dirty="0"/>
          </a:p>
        </p:txBody>
      </p:sp>
      <p:pic>
        <p:nvPicPr>
          <p:cNvPr id="3" name="Figura MASW" descr="Arreglo MASW: fuente y una línea de geófonos con espaciamiento dx">    </p:cNvPr>
          <p:cNvPicPr>
            <a:picLocks noChangeAspect="1"/>
          </p:cNvPicPr>
          <p:nvPr/>
        </p:nvPicPr>
        <p:blipFill>
          <a:blip r:embed="rId1"/>
          <a:stretch>
            <a:fillRect/>
          </a:stretch>
        </p:blipFill>
        <p:spPr>
          <a:xfrm>
            <a:off x="457200" y="1234440"/>
            <a:ext cx="5120640" cy="2399996"/>
          </a:xfrm>
          <a:prstGeom prst="rect">
            <a:avLst/>
          </a:prstGeom>
        </p:spPr>
      </p:pic>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Un transductor y un canal por posición</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La redundancia espacial permite reconocer patrones coherentes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distinguen contribuciones superpuestas</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Park et al. (1998, 1999); Foti et al. (2018).</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registro MASW es una matriz espacio–tiempo: una traza por posición</a:t>
            </a:r>
            <a:endParaRPr lang="en-US" sz="2400" dirty="0"/>
          </a:p>
        </p:txBody>
      </p:sp>
      <p:pic>
        <p:nvPicPr>
          <p:cNvPr id="3" name="Registro espacio-tiempo" descr="Registro sintético: trazas por posición, con el tiempo de llegada creciendo con la distancia">    </p:cNvPr>
          <p:cNvPicPr>
            <a:picLocks noChangeAspect="1"/>
          </p:cNvPicPr>
          <p:nvPr/>
        </p:nvPicPr>
        <p:blipFill>
          <a:blip r:embed="rId1"/>
          <a:stretch>
            <a:fillRect/>
          </a:stretch>
        </p:blipFill>
        <p:spPr>
          <a:xfrm>
            <a:off x="457200" y="1280160"/>
            <a:ext cx="4937760" cy="3108960"/>
          </a:xfrm>
          <a:prstGeom prst="rect">
            <a:avLst/>
          </a:prstGeom>
        </p:spPr>
      </p:pic>
      <p:sp>
        <p:nvSpPr>
          <p:cNvPr id="4" name="Fondo U"/>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z</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U[m, n] = uz(xm, tn)</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Cada fila es la traza de una posición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conjunto es un registro espacio–tiempo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Registro sintético propio (ilustrativo), con la curva de la slide 41. Resumen firmado, ec. (6).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dimensión espacial puede sintetizarse con adquisiciones sucesivas</a:t>
            </a:r>
            <a:endParaRPr lang="en-US" sz="2400" dirty="0"/>
          </a:p>
        </p:txBody>
      </p:sp>
      <p:pic>
        <p:nvPicPr>
          <p:cNvPr id="3" name="Figura dimensión sintetizada" descr="Arreglo convencional con un receptor por posición y arreglo sintetizado con un receptor fijo y la fuente en posiciones sucesivas">    </p:cNvPr>
          <p:cNvPicPr>
            <a:picLocks noChangeAspect="1"/>
          </p:cNvPicPr>
          <p:nvPr/>
        </p:nvPicPr>
        <p:blipFill>
          <a:blip r:embed="rId1"/>
          <a:stretch>
            <a:fillRect/>
          </a:stretch>
        </p:blipFill>
        <p:spPr>
          <a:xfrm>
            <a:off x="457200" y="1280160"/>
            <a:ext cx="5486400" cy="2914650"/>
          </a:xfrm>
          <a:prstGeom prst="rect">
            <a:avLst/>
          </a:prstGeom>
        </p:spPr>
      </p:pic>
      <p:sp>
        <p:nvSpPr>
          <p:cNvPr id="4" name="Cuerpo"/>
          <p:cNvSpPr txBox="1"/>
          <p:nvPr/>
        </p:nvSpPr>
        <p:spPr>
          <a:xfrm>
            <a:off x="6126480" y="1371600"/>
            <a:ext cx="256032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Reduce el costo instrumental: menos canales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 la configuración recíproca de mover el receptor</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Lin y Ashlock (2016), según el resumen firmado (a confirmar en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medición MASW fija tres requerimientos de adquisición</a:t>
            </a:r>
            <a:endParaRPr lang="en-US" sz="2400" dirty="0"/>
          </a:p>
        </p:txBody>
      </p:sp>
      <p:sp>
        <p:nvSpPr>
          <p:cNvPr id="3" name="Cabecera Tiempo y posición"/>
          <p:cNvSpPr/>
          <p:nvPr/>
        </p:nvSpPr>
        <p:spPr>
          <a:xfrm>
            <a:off x="457200" y="1325880"/>
            <a:ext cx="265176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Tiempo y posición</a:t>
            </a:r>
            <a:endParaRPr lang="en-US" sz="1800" dirty="0"/>
          </a:p>
        </p:txBody>
      </p:sp>
      <p:sp>
        <p:nvSpPr>
          <p:cNvPr id="5" name="Tarjeta Tiempo y posición"/>
          <p:cNvSpPr/>
          <p:nvPr/>
        </p:nvSpPr>
        <p:spPr>
          <a:xfrm>
            <a:off x="457200" y="1874520"/>
            <a:ext cx="2651760" cy="1737360"/>
          </a:xfrm>
          <a:prstGeom prst="rect">
            <a:avLst/>
          </a:prstGeom>
          <a:solidFill>
            <a:srgbClr val="FFFFFF"/>
          </a:solidFill>
          <a:ln w="19050">
            <a:solidFill>
              <a:srgbClr val="1F4E79"/>
            </a:solidFill>
            <a:prstDash val="solid"/>
          </a:ln>
        </p:spPr>
      </p:sp>
      <p:sp>
        <p:nvSpPr>
          <p:cNvPr id="6" name="Text 4"/>
          <p:cNvSpPr txBox="1"/>
          <p:nvPr/>
        </p:nvSpPr>
        <p:spPr>
          <a:xfrm>
            <a:off x="59436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Conservar la información temporal y espacial de cada traza</a:t>
            </a:r>
            <a:endParaRPr lang="en-US" sz="1700" dirty="0"/>
          </a:p>
        </p:txBody>
      </p:sp>
      <p:sp>
        <p:nvSpPr>
          <p:cNvPr id="7" name="Cabecera Referencia temporal"/>
          <p:cNvSpPr/>
          <p:nvPr/>
        </p:nvSpPr>
        <p:spPr>
          <a:xfrm>
            <a:off x="3246120" y="1325880"/>
            <a:ext cx="2651760" cy="548640"/>
          </a:xfrm>
          <a:prstGeom prst="rect">
            <a:avLst/>
          </a:prstGeom>
          <a:solidFill>
            <a:srgbClr val="1F4E79"/>
          </a:solidFill>
          <a:ln w="12700">
            <a:solidFill>
              <a:srgbClr val="1F4E79"/>
            </a:solidFill>
            <a:prstDash val="solid"/>
          </a:ln>
        </p:spPr>
      </p:sp>
      <p:sp>
        <p:nvSpPr>
          <p:cNvPr id="8" name="Text 6"/>
          <p:cNvSpPr txBox="1"/>
          <p:nvPr/>
        </p:nvSpPr>
        <p:spPr>
          <a:xfrm>
            <a:off x="324612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Referencia temporal</a:t>
            </a:r>
            <a:endParaRPr lang="en-US" sz="1800" dirty="0"/>
          </a:p>
        </p:txBody>
      </p:sp>
      <p:sp>
        <p:nvSpPr>
          <p:cNvPr id="9" name="Tarjeta Referencia temporal"/>
          <p:cNvSpPr/>
          <p:nvPr/>
        </p:nvSpPr>
        <p:spPr>
          <a:xfrm>
            <a:off x="3246120" y="1874520"/>
            <a:ext cx="2651760" cy="1737360"/>
          </a:xfrm>
          <a:prstGeom prst="rect">
            <a:avLst/>
          </a:prstGeom>
          <a:solidFill>
            <a:srgbClr val="FFFFFF"/>
          </a:solidFill>
          <a:ln w="19050">
            <a:solidFill>
              <a:srgbClr val="1F4E79"/>
            </a:solidFill>
            <a:prstDash val="solid"/>
          </a:ln>
        </p:spPr>
      </p:sp>
      <p:sp>
        <p:nvSpPr>
          <p:cNvPr id="10" name="Text 8"/>
          <p:cNvSpPr txBox="1"/>
          <p:nvPr/>
        </p:nvSpPr>
        <p:spPr>
          <a:xfrm>
            <a:off x="338328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Mantener una referencia temporal entre registros</a:t>
            </a:r>
            <a:endParaRPr lang="en-US" sz="1700" dirty="0"/>
          </a:p>
        </p:txBody>
      </p:sp>
      <p:sp>
        <p:nvSpPr>
          <p:cNvPr id="11" name="Cabecera Forma de onda"/>
          <p:cNvSpPr/>
          <p:nvPr/>
        </p:nvSpPr>
        <p:spPr>
          <a:xfrm>
            <a:off x="6035040" y="1325880"/>
            <a:ext cx="2651760" cy="548640"/>
          </a:xfrm>
          <a:prstGeom prst="rect">
            <a:avLst/>
          </a:prstGeom>
          <a:solidFill>
            <a:srgbClr val="1F4E79"/>
          </a:solidFill>
          <a:ln w="12700">
            <a:solidFill>
              <a:srgbClr val="1F4E79"/>
            </a:solidFill>
            <a:prstDash val="solid"/>
          </a:ln>
        </p:spPr>
      </p:sp>
      <p:sp>
        <p:nvSpPr>
          <p:cNvPr id="12" name="Text 10"/>
          <p:cNvSpPr txBox="1"/>
          <p:nvPr/>
        </p:nvSpPr>
        <p:spPr>
          <a:xfrm>
            <a:off x="603504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Forma de onda</a:t>
            </a:r>
            <a:endParaRPr lang="en-US" sz="1800" dirty="0"/>
          </a:p>
        </p:txBody>
      </p:sp>
      <p:sp>
        <p:nvSpPr>
          <p:cNvPr id="13" name="Tarjeta Forma de onda"/>
          <p:cNvSpPr/>
          <p:nvPr/>
        </p:nvSpPr>
        <p:spPr>
          <a:xfrm>
            <a:off x="6035040" y="1874520"/>
            <a:ext cx="2651760" cy="1737360"/>
          </a:xfrm>
          <a:prstGeom prst="rect">
            <a:avLst/>
          </a:prstGeom>
          <a:solidFill>
            <a:srgbClr val="FFFFFF"/>
          </a:solidFill>
          <a:ln w="19050">
            <a:solidFill>
              <a:srgbClr val="1F4E79"/>
            </a:solidFill>
            <a:prstDash val="solid"/>
          </a:ln>
        </p:spPr>
      </p:sp>
      <p:sp>
        <p:nvSpPr>
          <p:cNvPr id="14" name="Text 12"/>
          <p:cNvSpPr txBox="1"/>
          <p:nvPr/>
        </p:nvSpPr>
        <p:spPr>
          <a:xfrm>
            <a:off x="617220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Preservar la forma de la onda</a:t>
            </a:r>
            <a:endParaRPr lang="en-US" sz="1700" dirty="0"/>
          </a:p>
        </p:txBody>
      </p:sp>
      <p:sp>
        <p:nvSpPr>
          <p:cNvPr id="15" name="Mensaje"/>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8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Esos requerimientos se traducen en cinco condiciones de diseño del sistema</a:t>
            </a:r>
            <a:endParaRPr lang="en-US" sz="2400" dirty="0"/>
          </a:p>
        </p:txBody>
      </p:sp>
      <p:sp>
        <p:nvSpPr>
          <p:cNvPr id="3" name="Cabecera Banda y fase"/>
          <p:cNvSpPr/>
          <p:nvPr/>
        </p:nvSpPr>
        <p:spPr>
          <a:xfrm>
            <a:off x="457200" y="1234440"/>
            <a:ext cx="2651760" cy="502920"/>
          </a:xfrm>
          <a:prstGeom prst="rect">
            <a:avLst/>
          </a:prstGeom>
          <a:solidFill>
            <a:srgbClr val="1F4E79"/>
          </a:solidFill>
          <a:ln w="12700">
            <a:solidFill>
              <a:srgbClr val="1F4E79"/>
            </a:solidFill>
            <a:prstDash val="solid"/>
          </a:ln>
        </p:spPr>
      </p:sp>
      <p:sp>
        <p:nvSpPr>
          <p:cNvPr id="4" name="Text 2"/>
          <p:cNvSpPr txBox="1"/>
          <p:nvPr/>
        </p:nvSpPr>
        <p:spPr>
          <a:xfrm>
            <a:off x="45720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Banda y fase</a:t>
            </a:r>
            <a:endParaRPr lang="en-US" sz="1600" dirty="0"/>
          </a:p>
        </p:txBody>
      </p:sp>
      <p:sp>
        <p:nvSpPr>
          <p:cNvPr id="5" name="Tarjeta Banda y fase"/>
          <p:cNvSpPr/>
          <p:nvPr/>
        </p:nvSpPr>
        <p:spPr>
          <a:xfrm>
            <a:off x="457200" y="1737360"/>
            <a:ext cx="2651760" cy="1280160"/>
          </a:xfrm>
          <a:prstGeom prst="rect">
            <a:avLst/>
          </a:prstGeom>
          <a:solidFill>
            <a:srgbClr val="FFFFFF"/>
          </a:solidFill>
          <a:ln w="19050">
            <a:solidFill>
              <a:srgbClr val="1F4E79"/>
            </a:solidFill>
            <a:prstDash val="solid"/>
          </a:ln>
        </p:spPr>
      </p:sp>
      <p:sp>
        <p:nvSpPr>
          <p:cNvPr id="6" name="Text 4"/>
          <p:cNvSpPr txBox="1"/>
          <p:nvPr/>
        </p:nvSpPr>
        <p:spPr>
          <a:xfrm>
            <a:off x="59436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600" dirty="0"/>
          </a:p>
        </p:txBody>
      </p:sp>
      <p:sp>
        <p:nvSpPr>
          <p:cNvPr id="7" name="Cabecera Margen dinámico"/>
          <p:cNvSpPr/>
          <p:nvPr/>
        </p:nvSpPr>
        <p:spPr>
          <a:xfrm>
            <a:off x="3246120" y="1234440"/>
            <a:ext cx="2651760" cy="502920"/>
          </a:xfrm>
          <a:prstGeom prst="rect">
            <a:avLst/>
          </a:prstGeom>
          <a:solidFill>
            <a:srgbClr val="1F4E79"/>
          </a:solidFill>
          <a:ln w="12700">
            <a:solidFill>
              <a:srgbClr val="1F4E79"/>
            </a:solidFill>
            <a:prstDash val="solid"/>
          </a:ln>
        </p:spPr>
      </p:sp>
      <p:sp>
        <p:nvSpPr>
          <p:cNvPr id="8" name="Text 6"/>
          <p:cNvSpPr txBox="1"/>
          <p:nvPr/>
        </p:nvSpPr>
        <p:spPr>
          <a:xfrm>
            <a:off x="324612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Margen dinámico</a:t>
            </a:r>
            <a:endParaRPr lang="en-US" sz="1600" dirty="0"/>
          </a:p>
        </p:txBody>
      </p:sp>
      <p:sp>
        <p:nvSpPr>
          <p:cNvPr id="9" name="Tarjeta Margen dinámico"/>
          <p:cNvSpPr/>
          <p:nvPr/>
        </p:nvSpPr>
        <p:spPr>
          <a:xfrm>
            <a:off x="3246120" y="1737360"/>
            <a:ext cx="2651760" cy="1280160"/>
          </a:xfrm>
          <a:prstGeom prst="rect">
            <a:avLst/>
          </a:prstGeom>
          <a:solidFill>
            <a:srgbClr val="FFFFFF"/>
          </a:solidFill>
          <a:ln w="19050">
            <a:solidFill>
              <a:srgbClr val="1F4E79"/>
            </a:solidFill>
            <a:prstDash val="solid"/>
          </a:ln>
        </p:spPr>
      </p:sp>
      <p:sp>
        <p:nvSpPr>
          <p:cNvPr id="10" name="Text 8"/>
          <p:cNvSpPr txBox="1"/>
          <p:nvPr/>
        </p:nvSpPr>
        <p:spPr>
          <a:xfrm>
            <a:off x="338328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600" dirty="0"/>
          </a:p>
        </p:txBody>
      </p:sp>
      <p:sp>
        <p:nvSpPr>
          <p:cNvPr id="11" name="Cabecera Sincronización temporal"/>
          <p:cNvSpPr/>
          <p:nvPr/>
        </p:nvSpPr>
        <p:spPr>
          <a:xfrm>
            <a:off x="6035040" y="1234440"/>
            <a:ext cx="2651760" cy="502920"/>
          </a:xfrm>
          <a:prstGeom prst="rect">
            <a:avLst/>
          </a:prstGeom>
          <a:solidFill>
            <a:srgbClr val="1F4E79"/>
          </a:solidFill>
          <a:ln w="12700">
            <a:solidFill>
              <a:srgbClr val="1F4E79"/>
            </a:solidFill>
            <a:prstDash val="solid"/>
          </a:ln>
        </p:spPr>
      </p:sp>
      <p:sp>
        <p:nvSpPr>
          <p:cNvPr id="12" name="Text 10"/>
          <p:cNvSpPr txBox="1"/>
          <p:nvPr/>
        </p:nvSpPr>
        <p:spPr>
          <a:xfrm>
            <a:off x="603504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Sincronización temporal</a:t>
            </a:r>
            <a:endParaRPr lang="en-US" sz="1600" dirty="0"/>
          </a:p>
        </p:txBody>
      </p:sp>
      <p:sp>
        <p:nvSpPr>
          <p:cNvPr id="13" name="Tarjeta Sincronización temporal"/>
          <p:cNvSpPr/>
          <p:nvPr/>
        </p:nvSpPr>
        <p:spPr>
          <a:xfrm>
            <a:off x="6035040" y="1737360"/>
            <a:ext cx="2651760" cy="1280160"/>
          </a:xfrm>
          <a:prstGeom prst="rect">
            <a:avLst/>
          </a:prstGeom>
          <a:solidFill>
            <a:srgbClr val="FFFFFF"/>
          </a:solidFill>
          <a:ln w="19050">
            <a:solidFill>
              <a:srgbClr val="1F4E79"/>
            </a:solidFill>
            <a:prstDash val="solid"/>
          </a:ln>
        </p:spPr>
      </p:sp>
      <p:sp>
        <p:nvSpPr>
          <p:cNvPr id="14" name="Text 12"/>
          <p:cNvSpPr txBox="1"/>
          <p:nvPr/>
        </p:nvSpPr>
        <p:spPr>
          <a:xfrm>
            <a:off x="617220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Referencia de tiempo común entre nodos y con la excitación</a:t>
            </a:r>
            <a:endParaRPr lang="en-US" sz="1600" dirty="0"/>
          </a:p>
        </p:txBody>
      </p:sp>
      <p:sp>
        <p:nvSpPr>
          <p:cNvPr id="15" name="Cabecera Geometría"/>
          <p:cNvSpPr/>
          <p:nvPr/>
        </p:nvSpPr>
        <p:spPr>
          <a:xfrm>
            <a:off x="457200" y="3200400"/>
            <a:ext cx="4023360" cy="457200"/>
          </a:xfrm>
          <a:prstGeom prst="rect">
            <a:avLst/>
          </a:prstGeom>
          <a:solidFill>
            <a:srgbClr val="1F4E79"/>
          </a:solidFill>
          <a:ln w="12700">
            <a:solidFill>
              <a:srgbClr val="1F4E79"/>
            </a:solidFill>
            <a:prstDash val="solid"/>
          </a:ln>
        </p:spPr>
      </p:sp>
      <p:sp>
        <p:nvSpPr>
          <p:cNvPr id="16" name="Text 14"/>
          <p:cNvSpPr txBox="1"/>
          <p:nvPr/>
        </p:nvSpPr>
        <p:spPr>
          <a:xfrm>
            <a:off x="45720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Geometría</a:t>
            </a:r>
            <a:endParaRPr lang="en-US" sz="2000" dirty="0"/>
          </a:p>
        </p:txBody>
      </p:sp>
      <p:sp>
        <p:nvSpPr>
          <p:cNvPr id="17" name="Tarjeta Geometría"/>
          <p:cNvSpPr/>
          <p:nvPr/>
        </p:nvSpPr>
        <p:spPr>
          <a:xfrm>
            <a:off x="457200" y="3657600"/>
            <a:ext cx="4023360" cy="868680"/>
          </a:xfrm>
          <a:prstGeom prst="rect">
            <a:avLst/>
          </a:prstGeom>
          <a:solidFill>
            <a:srgbClr val="FFFFFF"/>
          </a:solidFill>
          <a:ln w="19050">
            <a:solidFill>
              <a:srgbClr val="1F4E79"/>
            </a:solidFill>
            <a:prstDash val="solid"/>
          </a:ln>
        </p:spPr>
      </p:sp>
      <p:sp>
        <p:nvSpPr>
          <p:cNvPr id="18" name="Text 16"/>
          <p:cNvSpPr txBox="1"/>
          <p:nvPr/>
        </p:nvSpPr>
        <p:spPr>
          <a:xfrm>
            <a:off x="59436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Posición conocida de cada traza respecto de la fuente</a:t>
            </a:r>
            <a:endParaRPr lang="en-US" sz="1800" dirty="0"/>
          </a:p>
        </p:txBody>
      </p:sp>
      <p:sp>
        <p:nvSpPr>
          <p:cNvPr id="19" name="Cabecera Operación en campo"/>
          <p:cNvSpPr/>
          <p:nvPr/>
        </p:nvSpPr>
        <p:spPr>
          <a:xfrm>
            <a:off x="4663440" y="3200400"/>
            <a:ext cx="4023360" cy="457200"/>
          </a:xfrm>
          <a:prstGeom prst="rect">
            <a:avLst/>
          </a:prstGeom>
          <a:solidFill>
            <a:srgbClr val="1F4E79"/>
          </a:solidFill>
          <a:ln w="12700">
            <a:solidFill>
              <a:srgbClr val="1F4E79"/>
            </a:solidFill>
            <a:prstDash val="solid"/>
          </a:ln>
        </p:spPr>
      </p:sp>
      <p:sp>
        <p:nvSpPr>
          <p:cNvPr id="20" name="Text 18"/>
          <p:cNvSpPr txBox="1"/>
          <p:nvPr/>
        </p:nvSpPr>
        <p:spPr>
          <a:xfrm>
            <a:off x="466344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Operación en campo</a:t>
            </a:r>
            <a:endParaRPr lang="en-US" sz="2000" dirty="0"/>
          </a:p>
        </p:txBody>
      </p:sp>
      <p:sp>
        <p:nvSpPr>
          <p:cNvPr id="21" name="Tarjeta Operación en campo"/>
          <p:cNvSpPr/>
          <p:nvPr/>
        </p:nvSpPr>
        <p:spPr>
          <a:xfrm>
            <a:off x="4663440" y="3657600"/>
            <a:ext cx="4023360" cy="868680"/>
          </a:xfrm>
          <a:prstGeom prst="rect">
            <a:avLst/>
          </a:prstGeom>
          <a:solidFill>
            <a:srgbClr val="FFFFFF"/>
          </a:solidFill>
          <a:ln w="19050">
            <a:solidFill>
              <a:srgbClr val="1F4E79"/>
            </a:solidFill>
            <a:prstDash val="solid"/>
          </a:ln>
        </p:spPr>
      </p:sp>
      <p:sp>
        <p:nvSpPr>
          <p:cNvPr id="22" name="Text 20"/>
          <p:cNvSpPr txBox="1"/>
          <p:nvPr/>
        </p:nvSpPr>
        <p:spPr>
          <a:xfrm>
            <a:off x="480060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80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plataforma consta de un maestro y de nodos independientes que se comunican por ESP-NOW</a:t>
            </a:r>
            <a:endParaRPr lang="en-US" sz="2400" dirty="0"/>
          </a:p>
        </p:txBody>
      </p:sp>
      <p:pic>
        <p:nvPicPr>
          <p:cNvPr id="3" name="Arquitectura" descr="Arquitectura del sistema: navegador, maestro ESP32, nodos GEO y nodo HAMMER, cada uno con ESP32 y PSoC 5LP">    </p:cNvPr>
          <p:cNvPicPr>
            <a:picLocks noChangeAspect="1"/>
          </p:cNvPicPr>
          <p:nvPr/>
        </p:nvPicPr>
        <p:blipFill>
          <a:blip r:embed="rId1"/>
          <a:stretch>
            <a:fillRect/>
          </a:stretch>
        </p:blipFill>
        <p:spPr>
          <a:xfrm>
            <a:off x="548640" y="1234440"/>
            <a:ext cx="8046720" cy="2951220"/>
          </a:xfrm>
          <a:prstGeom prst="rect">
            <a:avLst/>
          </a:prstGeom>
        </p:spPr>
      </p:pic>
      <p:sp>
        <p:nvSpPr>
          <p:cNvPr id="4" name="Text 1"/>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50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fig. 11 del resumen firmado (sec. 4.7).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SM-24 es un geófono vertical pasivo de bobina móvil, y su amortiguamiento depende de la carga</a:t>
            </a:r>
            <a:endParaRPr lang="en-US" sz="2400" dirty="0"/>
          </a:p>
        </p:txBody>
      </p:sp>
      <p:pic>
        <p:nvPicPr>
          <p:cNvPr id="3" name="Foto SM-24" descr="Foto del geófono SM-24 con carcasa amarilla y punta">    </p:cNvPr>
          <p:cNvPicPr>
            <a:picLocks noChangeAspect="1"/>
          </p:cNvPicPr>
          <p:nvPr/>
        </p:nvPicPr>
        <p:blipFill>
          <a:blip r:embed="rId1"/>
          <a:stretch>
            <a:fillRect/>
          </a:stretch>
        </p:blipFill>
        <p:spPr>
          <a:xfrm>
            <a:off x="457200" y="1280160"/>
            <a:ext cx="1691640" cy="1691640"/>
          </a:xfrm>
          <a:prstGeom prst="rect">
            <a:avLst/>
          </a:prstGeom>
        </p:spPr>
      </p:pic>
      <p:pic>
        <p:nvPicPr>
          <p:cNvPr id="4" name="Corte geófono" descr="Corte interno de un geófono de bobina móvil: carcasa, resortes, imán y bobinas">    </p:cNvPr>
          <p:cNvPicPr>
            <a:picLocks noChangeAspect="1"/>
          </p:cNvPicPr>
          <p:nvPr/>
        </p:nvPicPr>
        <p:blipFill>
          <a:blip r:embed="rId2"/>
          <a:stretch>
            <a:fillRect/>
          </a:stretch>
        </p:blipFill>
        <p:spPr>
          <a:xfrm>
            <a:off x="2240280" y="1280160"/>
            <a:ext cx="2240280" cy="1692242"/>
          </a:xfrm>
          <a:prstGeom prst="rect">
            <a:avLst/>
          </a:prstGeom>
        </p:spPr>
      </p:pic>
      <p:sp>
        <p:nvSpPr>
          <p:cNvPr id="5" name="Cuerpo"/>
          <p:cNvSpPr txBox="1"/>
          <p:nvPr/>
        </p:nvSpPr>
        <p:spPr>
          <a:xfrm>
            <a:off x="4754880" y="1280160"/>
            <a:ext cx="39319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Mide el movimiento vertical del suelo</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Frecuencia natural: 10 Hz ±2,5 %</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Sensibilidad: 28,8 V·s/m ±2,5 %</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En circuito abierto: ζ ≈ 0,25; con 1339 Ω de carga: ζ = 0,60</a:t>
            </a:r>
            <a:endParaRPr lang="en-US" sz="1400" dirty="0"/>
          </a:p>
        </p:txBody>
      </p:sp>
      <p:sp>
        <p:nvSpPr>
          <p:cNvPr id="6" name="Fondo E_zeta"/>
          <p:cNvSpPr/>
          <p:nvPr/>
        </p:nvSpPr>
        <p:spPr>
          <a:xfrm>
            <a:off x="457200" y="3246120"/>
            <a:ext cx="822960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zeta"/>
              <p:cNvSpPr txBox="1"/>
              <p:nvPr/>
            </p:nvSpPr>
            <p:spPr>
              <a:xfrm>
                <a:off x="457200" y="3246120"/>
                <a:ext cx="822960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c</m:t>
                          </m:r>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den>
                      </m:f>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7" name="Ecuación E_zeta"/>
              <p:cNvSpPr txBox="1"/>
              <p:nvPr/>
            </p:nvSpPr>
            <p:spPr>
              <a:xfrm>
                <a:off x="457200" y="3246120"/>
                <a:ext cx="822960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ζ = c/(2mωn) + G0²/(2mωn(Ri + RL))</a:t>
                </a:r>
                <a:endParaRPr lang="en-US" sz="2400" dirty="0"/>
              </a:p>
            </p:txBody>
          </p:sp>
        </mc:Fallback>
      </mc:AlternateContent>
      <p:sp>
        <p:nvSpPr>
          <p:cNvPr id="8" name="Text 4"/>
          <p:cNvSpPr txBox="1"/>
          <p:nvPr/>
        </p:nvSpPr>
        <p:spPr>
          <a:xfrm>
            <a:off x="457200" y="4114800"/>
            <a:ext cx="8229600" cy="41148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ζ: factor de amortiguamiento. Ri: resistencia de la bobina (375 Ω). RL: carga del frente analógico, que también amortigua al sensor.</a:t>
            </a:r>
            <a:endParaRPr lang="en-US" sz="13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Sensor Nederland B.V. (2006), hoja de datos SM-24; resumen firmado, sec. 4.2, ec. (8). Imágenes: origen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masa suspendida se mueve respecto de la carcasa, y ese movimiento relativo genera la tensión</a:t>
            </a:r>
            <a:endParaRPr lang="en-US" sz="2400" dirty="0"/>
          </a:p>
        </p:txBody>
      </p:sp>
      <p:sp>
        <p:nvSpPr>
          <p:cNvPr id="3" name="Fondo E_urel"/>
          <p:cNvSpPr/>
          <p:nvPr/>
        </p:nvSpPr>
        <p:spPr>
          <a:xfrm>
            <a:off x="457200" y="1325880"/>
            <a:ext cx="274320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xm − xg</a:t>
                </a:r>
                <a:endParaRPr lang="en-US" sz="2400" dirty="0"/>
              </a:p>
            </p:txBody>
          </p:sp>
        </mc:Fallback>
      </mc:AlternateContent>
      <p:sp>
        <p:nvSpPr>
          <p:cNvPr id="5" name="Fondo E_mech"/>
          <p:cNvSpPr/>
          <p:nvPr/>
        </p:nvSpPr>
        <p:spPr>
          <a:xfrm>
            <a:off x="3383280" y="1325880"/>
            <a:ext cx="53035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m</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+c</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+ku=−m</m:t>
                      </m:r>
                      <m:sSub>
                        <m:sSubPr>
                          <m:ctrlPr>
                            <a:rPr lang="es-ES" sz="2400" i="1">
                              <a:latin typeface="Cambria Math" panose="02040503050406030204" pitchFamily="18" charset="0"/>
                            </a:rPr>
                          </m:ctrlPr>
                        </m:sSubPr>
                        <m:e>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x</m:t>
                              </m:r>
                            </m:e>
                          </m:acc>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m ü + c u̇ + k u = −m ẍg</a:t>
                </a:r>
                <a:endParaRPr lang="en-US" sz="2400" dirty="0"/>
              </a:p>
            </p:txBody>
          </p:sp>
        </mc:Fallback>
      </mc:AlternateContent>
      <p:sp>
        <p:nvSpPr>
          <p:cNvPr id="7" name="Cuerpo"/>
          <p:cNvSpPr txBox="1"/>
          <p:nvPr/>
        </p:nvSpPr>
        <p:spPr>
          <a:xfrm>
            <a:off x="457200" y="2286000"/>
            <a:ext cx="822960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600" dirty="0"/>
          </a:p>
        </p:txBody>
      </p:sp>
      <p:sp>
        <p:nvSpPr>
          <p:cNvPr id="8" name="Fondo E_vo"/>
          <p:cNvSpPr/>
          <p:nvPr/>
        </p:nvSpPr>
        <p:spPr>
          <a:xfrm>
            <a:off x="2743200" y="3749040"/>
            <a:ext cx="365760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m:rPr>
                              <m:sty m:val="p"/>
                            </m:rPr>
                            <a:rPr lang="es-ES" sz="2400">
                              <a:solidFill>
                                <a:srgbClr val="1F4E79"/>
                              </a:solidFill>
                              <a:latin typeface="Cambria Math" panose="02040503050406030204" pitchFamily="18" charset="0"/>
                            </a:rPr>
                            <m:t xml:space="preserve">o</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oMath>
                  </m:oMathPara>
                </a14:m>
                <a:endParaRPr lang="es-ES"/>
              </a:p>
            </p:txBody>
          </p:sp>
        </mc:Choice>
        <mc:Fallback>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Vo = G0 u̇</a:t>
                </a:r>
                <a:endParaRPr lang="en-US" sz="2400" dirty="0"/>
              </a:p>
            </p:txBody>
          </p:sp>
        </mc:Fallback>
      </mc:AlternateContent>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ec. (7)–(9).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Por debajo de su frecuencia natural, la tensión del SM-24 cae rápido: a 1 Hz, unos 40 dB</a:t>
            </a:r>
            <a:endParaRPr lang="en-US" sz="2400" dirty="0"/>
          </a:p>
        </p:txBody>
      </p:sp>
      <p:pic>
        <p:nvPicPr>
          <p:cNvPr id="3" name="Respuesta SM-24" descr="Respuesta nominal del SM-24 referida a velocidad y a aceleración del terreno, con frecuencia natural de 10 Hz">    </p:cNvPr>
          <p:cNvPicPr>
            <a:picLocks noChangeAspect="1"/>
          </p:cNvPicPr>
          <p:nvPr/>
        </p:nvPicPr>
        <p:blipFill>
          <a:blip r:embed="rId1"/>
          <a:stretch>
            <a:fillRect/>
          </a:stretch>
        </p:blipFill>
        <p:spPr>
          <a:xfrm>
            <a:off x="1188720" y="1188720"/>
            <a:ext cx="6766560" cy="2470158"/>
          </a:xfrm>
          <a:prstGeom prst="rect">
            <a:avLst/>
          </a:prstGeom>
        </p:spPr>
      </p:pic>
      <p:sp>
        <p:nvSpPr>
          <p:cNvPr id="4" name="Fondo E_ha"/>
          <p:cNvSpPr/>
          <p:nvPr/>
        </p:nvSpPr>
        <p:spPr>
          <a:xfrm>
            <a:off x="2011680" y="3749040"/>
            <a:ext cx="512064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H</m:t>
                          </m:r>
                        </m:e>
                        <m:sub>
                          <m:r>
                            <a:rPr lang="es-ES" sz="2400" i="1">
                              <a:solidFill>
                                <a:srgbClr val="1F4E79"/>
                              </a:solidFill>
                              <a:latin typeface="Cambria Math" panose="02040503050406030204" pitchFamily="18" charset="0"/>
                            </a:rPr>
                            <m:t xml:space="preserve">a</m:t>
                          </m:r>
                        </m:sub>
                      </m:sSub>
                      <m:r>
                        <a:rPr lang="es-ES" sz="2400" i="1">
                          <a:solidFill>
                            <a:srgbClr val="1F4E79"/>
                          </a:solidFill>
                          <a:latin typeface="Cambria Math" panose="02040503050406030204" pitchFamily="18" charset="0"/>
                        </a:rPr>
                        <m:t xml:space="preserve">(s)=−</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s</m:t>
                          </m:r>
                        </m:num>
                        <m:den>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s</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+2ζ</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e>
                            <m:sup>
                              <m:r>
                                <a:rPr lang="es-ES" sz="2400" i="1">
                                  <a:solidFill>
                                    <a:srgbClr val="1F4E79"/>
                                  </a:solidFill>
                                  <a:latin typeface="Cambria Math" panose="02040503050406030204" pitchFamily="18" charset="0"/>
                                </a:rPr>
                                <m:t xml:space="preserve">2</m:t>
                              </m:r>
                            </m:sup>
                          </m:sSup>
                        </m:den>
                      </m:f>
                    </m:oMath>
                  </m:oMathPara>
                </a14:m>
                <a:endParaRPr lang="es-ES"/>
              </a:p>
            </p:txBody>
          </p:sp>
        </mc:Choice>
        <mc:Fallback>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Ha(s) = −G0·s / (s² + 2ζωn·s + ωn²)</a:t>
                </a:r>
                <a:endParaRPr lang="en-US" sz="2400" dirty="0"/>
              </a:p>
            </p:txBody>
          </p:sp>
        </mc:Fallback>
      </mc:AlternateContent>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propio a partir de Sensor Nederland B.V. (2006), circuito abierto; resumen firmado, fig. 4 y ec. (9).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pérdida cae justo en las bajas frecuencias, que son las que llegan más profundo</a:t>
            </a:r>
            <a:endParaRPr lang="en-US" sz="2400" dirty="0"/>
          </a:p>
        </p:txBody>
      </p:sp>
      <p:sp>
        <p:nvSpPr>
          <p:cNvPr id="3" name="Cabecera Geófono de 4,5 Hz"/>
          <p:cNvSpPr/>
          <p:nvPr/>
        </p:nvSpPr>
        <p:spPr>
          <a:xfrm>
            <a:off x="457200" y="1325880"/>
            <a:ext cx="2011680" cy="502920"/>
          </a:xfrm>
          <a:prstGeom prst="rect">
            <a:avLst/>
          </a:prstGeom>
          <a:solidFill>
            <a:srgbClr val="6B6B6B"/>
          </a:solidFill>
          <a:ln w="12700">
            <a:solidFill>
              <a:srgbClr val="6B6B6B"/>
            </a:solidFill>
            <a:prstDash val="solid"/>
          </a:ln>
        </p:spPr>
      </p:sp>
      <p:sp>
        <p:nvSpPr>
          <p:cNvPr id="4" name="Text 2"/>
          <p:cNvSpPr txBox="1"/>
          <p:nvPr/>
        </p:nvSpPr>
        <p:spPr>
          <a:xfrm>
            <a:off x="45720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Geófono de 4,5 Hz</a:t>
            </a:r>
            <a:endParaRPr lang="en-US" sz="1600" dirty="0"/>
          </a:p>
        </p:txBody>
      </p:sp>
      <p:sp>
        <p:nvSpPr>
          <p:cNvPr id="5" name="Tarjeta Geófono de 4,5 Hz"/>
          <p:cNvSpPr/>
          <p:nvPr/>
        </p:nvSpPr>
        <p:spPr>
          <a:xfrm>
            <a:off x="457200" y="1828800"/>
            <a:ext cx="2011680" cy="1097280"/>
          </a:xfrm>
          <a:prstGeom prst="rect">
            <a:avLst/>
          </a:prstGeom>
          <a:solidFill>
            <a:srgbClr val="FFFFFF"/>
          </a:solidFill>
          <a:ln w="19050">
            <a:solidFill>
              <a:srgbClr val="6B6B6B"/>
            </a:solidFill>
            <a:prstDash val="solid"/>
          </a:ln>
        </p:spPr>
      </p:sp>
      <p:sp>
        <p:nvSpPr>
          <p:cNvPr id="6" name="Text 4"/>
          <p:cNvSpPr txBox="1"/>
          <p:nvPr/>
        </p:nvSpPr>
        <p:spPr>
          <a:xfrm>
            <a:off x="54864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92 a 154 USD por canal</a:t>
            </a:r>
            <a:endParaRPr lang="en-US" sz="1800" dirty="0"/>
          </a:p>
        </p:txBody>
      </p:sp>
      <p:sp>
        <p:nvSpPr>
          <p:cNvPr id="7" name="Cabecera SM-24 de 10 Hz"/>
          <p:cNvSpPr/>
          <p:nvPr/>
        </p:nvSpPr>
        <p:spPr>
          <a:xfrm>
            <a:off x="2606040" y="1325880"/>
            <a:ext cx="2011680" cy="502920"/>
          </a:xfrm>
          <a:prstGeom prst="rect">
            <a:avLst/>
          </a:prstGeom>
          <a:solidFill>
            <a:srgbClr val="1F4E79"/>
          </a:solidFill>
          <a:ln w="12700">
            <a:solidFill>
              <a:srgbClr val="1F4E79"/>
            </a:solidFill>
            <a:prstDash val="solid"/>
          </a:ln>
        </p:spPr>
      </p:sp>
      <p:sp>
        <p:nvSpPr>
          <p:cNvPr id="8" name="Text 6"/>
          <p:cNvSpPr txBox="1"/>
          <p:nvPr/>
        </p:nvSpPr>
        <p:spPr>
          <a:xfrm>
            <a:off x="260604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SM-24 de 10 Hz</a:t>
            </a:r>
            <a:endParaRPr lang="en-US" sz="1600" dirty="0"/>
          </a:p>
        </p:txBody>
      </p:sp>
      <p:sp>
        <p:nvSpPr>
          <p:cNvPr id="9" name="Tarjeta SM-24 de 10 Hz"/>
          <p:cNvSpPr/>
          <p:nvPr/>
        </p:nvSpPr>
        <p:spPr>
          <a:xfrm>
            <a:off x="2606040" y="1828800"/>
            <a:ext cx="2011680" cy="1097280"/>
          </a:xfrm>
          <a:prstGeom prst="rect">
            <a:avLst/>
          </a:prstGeom>
          <a:solidFill>
            <a:srgbClr val="FFFFFF"/>
          </a:solidFill>
          <a:ln w="19050">
            <a:solidFill>
              <a:srgbClr val="1F4E79"/>
            </a:solidFill>
            <a:prstDash val="solid"/>
          </a:ln>
        </p:spPr>
      </p:sp>
      <p:sp>
        <p:nvSpPr>
          <p:cNvPr id="10" name="Text 8"/>
          <p:cNvSpPr txBox="1"/>
          <p:nvPr/>
        </p:nvSpPr>
        <p:spPr>
          <a:xfrm>
            <a:off x="269748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unos 70 USD por canal</a:t>
            </a:r>
            <a:endParaRPr lang="en-US" sz="1800" dirty="0"/>
          </a:p>
        </p:txBody>
      </p:sp>
      <p:sp>
        <p:nvSpPr>
          <p:cNvPr id="11" name="Cuerpo"/>
          <p:cNvSpPr txBox="1"/>
          <p:nvPr/>
        </p:nvSpPr>
        <p:spPr>
          <a:xfrm>
            <a:off x="4846320" y="1325880"/>
            <a:ext cx="384048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Menor frecuencia: mayor longitud de onda y mayor profundidad</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Usamos el SM-24 disponible y mejoramos su respuesta en baja frecuencia con electrónica</a:t>
            </a:r>
            <a:endParaRPr lang="en-US" sz="1800" dirty="0"/>
          </a:p>
        </p:txBody>
      </p:sp>
      <p:sp>
        <p:nvSpPr>
          <p:cNvPr id="12" name="Text 10"/>
          <p:cNvSpPr txBox="1"/>
          <p:nvPr/>
        </p:nvSpPr>
        <p:spPr>
          <a:xfrm>
            <a:off x="457200" y="3108960"/>
            <a:ext cx="4114800" cy="45720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Precios de referencia consultados por el autor en 2026.</a:t>
            </a:r>
            <a:endParaRPr lang="en-US" sz="1400" dirty="0"/>
          </a:p>
        </p:txBody>
      </p:sp>
      <p:sp>
        <p:nvSpPr>
          <p:cNvPr id="1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SparkFun Electronics (2026); R. T. Clark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mejorar la respuesta en baja frecuencia de un geófono dado existen cuatro técnicas</a:t>
            </a:r>
            <a:endParaRPr lang="en-US" sz="2400" dirty="0"/>
          </a:p>
        </p:txBody>
      </p:sp>
      <p:sp>
        <p:nvSpPr>
          <p:cNvPr id="3" name="Cabecera Modificación física o pasiva"/>
          <p:cNvSpPr/>
          <p:nvPr/>
        </p:nvSpPr>
        <p:spPr>
          <a:xfrm>
            <a:off x="457200" y="1325880"/>
            <a:ext cx="1965960" cy="731520"/>
          </a:xfrm>
          <a:prstGeom prst="rect">
            <a:avLst/>
          </a:prstGeom>
          <a:solidFill>
            <a:srgbClr val="6B6B6B"/>
          </a:solidFill>
          <a:ln w="12700">
            <a:solidFill>
              <a:srgbClr val="6B6B6B"/>
            </a:solidFill>
            <a:prstDash val="solid"/>
          </a:ln>
        </p:spPr>
      </p:sp>
      <p:sp>
        <p:nvSpPr>
          <p:cNvPr id="4" name="Text 2"/>
          <p:cNvSpPr txBox="1"/>
          <p:nvPr/>
        </p:nvSpPr>
        <p:spPr>
          <a:xfrm>
            <a:off x="502920" y="1325880"/>
            <a:ext cx="1874520"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Modificación física o pasiva</a:t>
            </a:r>
            <a:endParaRPr lang="en-US" sz="1400" dirty="0"/>
          </a:p>
        </p:txBody>
      </p:sp>
      <p:sp>
        <p:nvSpPr>
          <p:cNvPr id="5" name="Tarjeta Modificación física o pasiva"/>
          <p:cNvSpPr/>
          <p:nvPr/>
        </p:nvSpPr>
        <p:spPr>
          <a:xfrm>
            <a:off x="457200" y="2057400"/>
            <a:ext cx="1965960" cy="1783080"/>
          </a:xfrm>
          <a:prstGeom prst="rect">
            <a:avLst/>
          </a:prstGeom>
          <a:solidFill>
            <a:srgbClr val="FFFFFF"/>
          </a:solidFill>
          <a:ln w="19050">
            <a:solidFill>
              <a:srgbClr val="6B6B6B"/>
            </a:solidFill>
            <a:prstDash val="solid"/>
          </a:ln>
        </p:spPr>
      </p:sp>
      <p:sp>
        <p:nvSpPr>
          <p:cNvPr id="6" name="Text 4"/>
          <p:cNvSpPr txBox="1"/>
          <p:nvPr/>
        </p:nvSpPr>
        <p:spPr>
          <a:xfrm>
            <a:off x="566928" y="2130552"/>
            <a:ext cx="1746504" cy="16367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Cambiar masa, resorte o carga eléctrica del sensor. Se limita a lo que el diseño del geófono permite.</a:t>
            </a:r>
            <a:endParaRPr lang="en-US" sz="1300" dirty="0"/>
          </a:p>
        </p:txBody>
      </p:sp>
      <p:sp>
        <p:nvSpPr>
          <p:cNvPr id="7" name="Cabecera Realimentación"/>
          <p:cNvSpPr/>
          <p:nvPr/>
        </p:nvSpPr>
        <p:spPr>
          <a:xfrm>
            <a:off x="2560320" y="1325880"/>
            <a:ext cx="1965960" cy="731520"/>
          </a:xfrm>
          <a:prstGeom prst="rect">
            <a:avLst/>
          </a:prstGeom>
          <a:solidFill>
            <a:srgbClr val="6B6B6B"/>
          </a:solidFill>
          <a:ln w="12700">
            <a:solidFill>
              <a:srgbClr val="6B6B6B"/>
            </a:solidFill>
            <a:prstDash val="solid"/>
          </a:ln>
        </p:spPr>
      </p:sp>
      <p:sp>
        <p:nvSpPr>
          <p:cNvPr id="8" name="Text 6"/>
          <p:cNvSpPr txBox="1"/>
          <p:nvPr/>
        </p:nvSpPr>
        <p:spPr>
          <a:xfrm>
            <a:off x="2606040" y="1325880"/>
            <a:ext cx="1874520"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Realimentación</a:t>
            </a:r>
            <a:endParaRPr lang="en-US" sz="1400" dirty="0"/>
          </a:p>
        </p:txBody>
      </p:sp>
      <p:sp>
        <p:nvSpPr>
          <p:cNvPr id="9" name="Tarjeta Realimentación"/>
          <p:cNvSpPr/>
          <p:nvPr/>
        </p:nvSpPr>
        <p:spPr>
          <a:xfrm>
            <a:off x="2560320" y="2057400"/>
            <a:ext cx="1965960" cy="1783080"/>
          </a:xfrm>
          <a:prstGeom prst="rect">
            <a:avLst/>
          </a:prstGeom>
          <a:solidFill>
            <a:srgbClr val="FFFFFF"/>
          </a:solidFill>
          <a:ln w="19050">
            <a:solidFill>
              <a:srgbClr val="6B6B6B"/>
            </a:solidFill>
            <a:prstDash val="solid"/>
          </a:ln>
        </p:spPr>
      </p:sp>
      <p:sp>
        <p:nvSpPr>
          <p:cNvPr id="10" name="Text 8"/>
          <p:cNvSpPr txBox="1"/>
          <p:nvPr/>
        </p:nvSpPr>
        <p:spPr>
          <a:xfrm>
            <a:off x="2670048" y="2130552"/>
            <a:ext cx="1746504" cy="16367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Realimentar el movimiento de la masa para ampliar la banda. Requiere una bobina extra y más electrónica.</a:t>
            </a:r>
            <a:endParaRPr lang="en-US" sz="1300" dirty="0"/>
          </a:p>
        </p:txBody>
      </p:sp>
      <p:sp>
        <p:nvSpPr>
          <p:cNvPr id="11" name="Cabecera Compensación digital"/>
          <p:cNvSpPr/>
          <p:nvPr/>
        </p:nvSpPr>
        <p:spPr>
          <a:xfrm>
            <a:off x="4663440" y="1325880"/>
            <a:ext cx="1965960" cy="731520"/>
          </a:xfrm>
          <a:prstGeom prst="rect">
            <a:avLst/>
          </a:prstGeom>
          <a:solidFill>
            <a:srgbClr val="6B6B6B"/>
          </a:solidFill>
          <a:ln w="12700">
            <a:solidFill>
              <a:srgbClr val="6B6B6B"/>
            </a:solidFill>
            <a:prstDash val="solid"/>
          </a:ln>
        </p:spPr>
      </p:sp>
      <p:sp>
        <p:nvSpPr>
          <p:cNvPr id="12" name="Text 10"/>
          <p:cNvSpPr txBox="1"/>
          <p:nvPr/>
        </p:nvSpPr>
        <p:spPr>
          <a:xfrm>
            <a:off x="4709160" y="1325880"/>
            <a:ext cx="1874520"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Compensación digital</a:t>
            </a:r>
            <a:endParaRPr lang="en-US" sz="1400" dirty="0"/>
          </a:p>
        </p:txBody>
      </p:sp>
      <p:sp>
        <p:nvSpPr>
          <p:cNvPr id="13" name="Tarjeta Compensación digital"/>
          <p:cNvSpPr/>
          <p:nvPr/>
        </p:nvSpPr>
        <p:spPr>
          <a:xfrm>
            <a:off x="4663440" y="2057400"/>
            <a:ext cx="1965960" cy="1783080"/>
          </a:xfrm>
          <a:prstGeom prst="rect">
            <a:avLst/>
          </a:prstGeom>
          <a:solidFill>
            <a:srgbClr val="FFFFFF"/>
          </a:solidFill>
          <a:ln w="19050">
            <a:solidFill>
              <a:srgbClr val="6B6B6B"/>
            </a:solidFill>
            <a:prstDash val="solid"/>
          </a:ln>
        </p:spPr>
      </p:sp>
      <p:sp>
        <p:nvSpPr>
          <p:cNvPr id="14" name="Text 12"/>
          <p:cNvSpPr txBox="1"/>
          <p:nvPr/>
        </p:nvSpPr>
        <p:spPr>
          <a:xfrm>
            <a:off x="4773168" y="2130552"/>
            <a:ext cx="1746504" cy="16367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Corregir la respuesta tras digitalizar. No recupera lo que el ruido y la resolución ya taparon.</a:t>
            </a:r>
            <a:endParaRPr lang="en-US" sz="1300" dirty="0"/>
          </a:p>
        </p:txBody>
      </p:sp>
      <p:sp>
        <p:nvSpPr>
          <p:cNvPr id="15" name="Cabecera Compensación analógica en serie"/>
          <p:cNvSpPr/>
          <p:nvPr/>
        </p:nvSpPr>
        <p:spPr>
          <a:xfrm>
            <a:off x="6766560" y="1325880"/>
            <a:ext cx="1965960" cy="731520"/>
          </a:xfrm>
          <a:prstGeom prst="rect">
            <a:avLst/>
          </a:prstGeom>
          <a:solidFill>
            <a:srgbClr val="2E75B6"/>
          </a:solidFill>
          <a:ln w="12700">
            <a:solidFill>
              <a:srgbClr val="2E75B6"/>
            </a:solidFill>
            <a:prstDash val="solid"/>
          </a:ln>
        </p:spPr>
      </p:sp>
      <p:sp>
        <p:nvSpPr>
          <p:cNvPr id="16" name="Text 14"/>
          <p:cNvSpPr txBox="1"/>
          <p:nvPr/>
        </p:nvSpPr>
        <p:spPr>
          <a:xfrm>
            <a:off x="6812280" y="1325880"/>
            <a:ext cx="1874520"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Compensación analógica en serie</a:t>
            </a:r>
            <a:endParaRPr lang="en-US" sz="1400" dirty="0"/>
          </a:p>
        </p:txBody>
      </p:sp>
      <p:sp>
        <p:nvSpPr>
          <p:cNvPr id="17" name="Tarjeta Compensación analógica en serie"/>
          <p:cNvSpPr/>
          <p:nvPr/>
        </p:nvSpPr>
        <p:spPr>
          <a:xfrm>
            <a:off x="6766560" y="2057400"/>
            <a:ext cx="1965960" cy="1783080"/>
          </a:xfrm>
          <a:prstGeom prst="rect">
            <a:avLst/>
          </a:prstGeom>
          <a:solidFill>
            <a:srgbClr val="FFFFFF"/>
          </a:solidFill>
          <a:ln w="19050">
            <a:solidFill>
              <a:srgbClr val="2E75B6"/>
            </a:solidFill>
            <a:prstDash val="solid"/>
          </a:ln>
        </p:spPr>
      </p:sp>
      <p:sp>
        <p:nvSpPr>
          <p:cNvPr id="18" name="Text 16"/>
          <p:cNvSpPr txBox="1"/>
          <p:nvPr/>
        </p:nvSpPr>
        <p:spPr>
          <a:xfrm>
            <a:off x="6876288" y="2130552"/>
            <a:ext cx="1746504" cy="16367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Un filtro entre sensor y ADC contrarresta la caída del sensor. Según el diseño, puede ser inestable o amplificar ruido.</a:t>
            </a:r>
            <a:endParaRPr lang="en-US" sz="1300" dirty="0"/>
          </a:p>
        </p:txBody>
      </p:sp>
      <p:sp>
        <p:nvSpPr>
          <p:cNvPr id="19" name="Text 17"/>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Todas tienen un costo; la pregunta es cuál se adapta mejor a un sistema de bajo costo y de varios nodos.</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a partir de la introducción de Ma et al. (2023); descripciones propias. Por confirmar con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Elegimos el método de Ma et al. porque es estable, simple y no amplifica ruido</a:t>
            </a:r>
            <a:endParaRPr lang="en-US" sz="2400" dirty="0"/>
          </a:p>
        </p:txBody>
      </p:sp>
      <p:sp>
        <p:nvSpPr>
          <p:cNvPr id="3" name="Cabecera Estable"/>
          <p:cNvSpPr/>
          <p:nvPr/>
        </p:nvSpPr>
        <p:spPr>
          <a:xfrm>
            <a:off x="457200" y="1325880"/>
            <a:ext cx="2651760" cy="548640"/>
          </a:xfrm>
          <a:prstGeom prst="rect">
            <a:avLst/>
          </a:prstGeom>
          <a:solidFill>
            <a:srgbClr val="1F4E79"/>
          </a:solidFill>
          <a:ln w="12700">
            <a:solidFill>
              <a:srgbClr val="1F4E79"/>
            </a:solidFill>
            <a:prstDash val="solid"/>
          </a:ln>
        </p:spPr>
      </p:sp>
      <p:sp>
        <p:nvSpPr>
          <p:cNvPr id="4" name="Text 2"/>
          <p:cNvSpPr txBox="1"/>
          <p:nvPr/>
        </p:nvSpPr>
        <p:spPr>
          <a:xfrm>
            <a:off x="502920" y="1325880"/>
            <a:ext cx="256032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Estable</a:t>
            </a:r>
            <a:endParaRPr lang="en-US" sz="1700" dirty="0"/>
          </a:p>
        </p:txBody>
      </p:sp>
      <p:sp>
        <p:nvSpPr>
          <p:cNvPr id="5" name="Tarjeta Estable"/>
          <p:cNvSpPr/>
          <p:nvPr/>
        </p:nvSpPr>
        <p:spPr>
          <a:xfrm>
            <a:off x="457200" y="1874520"/>
            <a:ext cx="2651760" cy="1371600"/>
          </a:xfrm>
          <a:prstGeom prst="rect">
            <a:avLst/>
          </a:prstGeom>
          <a:solidFill>
            <a:srgbClr val="FFFFFF"/>
          </a:solidFill>
          <a:ln w="19050">
            <a:solidFill>
              <a:srgbClr val="1F4E79"/>
            </a:solidFill>
            <a:prstDash val="solid"/>
          </a:ln>
        </p:spPr>
      </p:sp>
      <p:sp>
        <p:nvSpPr>
          <p:cNvPr id="6" name="Text 4"/>
          <p:cNvSpPr txBox="1"/>
          <p:nvPr/>
        </p:nvSpPr>
        <p:spPr>
          <a:xfrm>
            <a:off x="566928" y="1947672"/>
            <a:ext cx="2432304" cy="1225296"/>
          </a:xfrm>
          <a:prstGeom prst="rect">
            <a:avLst/>
          </a:prstGeom>
          <a:noFill/>
          <a:ln/>
        </p:spPr>
        <p:txBody>
          <a:bodyPr wrap="square" lIns="0" tIns="0" rIns="0" bIns="0" rtlCol="0" anchor="ctr"/>
          <a:lstStyle/>
          <a:p>
            <a:pPr algn="l" indent="0" marL="0">
              <a:buNone/>
            </a:pPr>
            <a:r>
              <a:rPr lang="en-US" sz="1400" dirty="0">
                <a:solidFill>
                  <a:srgbClr val="2D2D2D"/>
                </a:solidFill>
                <a:latin typeface="Arial" pitchFamily="34" charset="0"/>
                <a:ea typeface="Arial" pitchFamily="34" charset="-122"/>
                <a:cs typeface="Arial" pitchFamily="34" charset="-120"/>
              </a:rPr>
              <a:t>Sus polos son los de un pasabanda, no hay una inversión de la respuesta del sensor.</a:t>
            </a:r>
            <a:endParaRPr lang="en-US" sz="1400" dirty="0"/>
          </a:p>
        </p:txBody>
      </p:sp>
      <p:sp>
        <p:nvSpPr>
          <p:cNvPr id="7" name="Cabecera Simple"/>
          <p:cNvSpPr/>
          <p:nvPr/>
        </p:nvSpPr>
        <p:spPr>
          <a:xfrm>
            <a:off x="3246120" y="1325880"/>
            <a:ext cx="265176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Simple</a:t>
            </a:r>
            <a:endParaRPr lang="en-US" sz="1700" dirty="0"/>
          </a:p>
        </p:txBody>
      </p:sp>
      <p:sp>
        <p:nvSpPr>
          <p:cNvPr id="9" name="Tarjeta Simple"/>
          <p:cNvSpPr/>
          <p:nvPr/>
        </p:nvSpPr>
        <p:spPr>
          <a:xfrm>
            <a:off x="3246120" y="1874520"/>
            <a:ext cx="2651760" cy="1371600"/>
          </a:xfrm>
          <a:prstGeom prst="rect">
            <a:avLst/>
          </a:prstGeom>
          <a:solidFill>
            <a:srgbClr val="FFFFFF"/>
          </a:solidFill>
          <a:ln w="19050">
            <a:solidFill>
              <a:srgbClr val="1F4E79"/>
            </a:solidFill>
            <a:prstDash val="solid"/>
          </a:ln>
        </p:spPr>
      </p:sp>
      <p:sp>
        <p:nvSpPr>
          <p:cNvPr id="10" name="Text 8"/>
          <p:cNvSpPr txBox="1"/>
          <p:nvPr/>
        </p:nvSpPr>
        <p:spPr>
          <a:xfrm>
            <a:off x="3355848" y="1947672"/>
            <a:ext cx="2432304" cy="1225296"/>
          </a:xfrm>
          <a:prstGeom prst="rect">
            <a:avLst/>
          </a:prstGeom>
          <a:noFill/>
          <a:ln/>
        </p:spPr>
        <p:txBody>
          <a:bodyPr wrap="square" lIns="0" tIns="0" rIns="0" bIns="0" rtlCol="0" anchor="ctr"/>
          <a:lstStyle/>
          <a:p>
            <a:pPr algn="l" indent="0" marL="0">
              <a:buNone/>
            </a:pPr>
            <a:r>
              <a:rPr lang="en-US" sz="1400" dirty="0">
                <a:solidFill>
                  <a:srgbClr val="2D2D2D"/>
                </a:solidFill>
                <a:latin typeface="Arial" pitchFamily="34" charset="0"/>
                <a:ea typeface="Arial" pitchFamily="34" charset="-122"/>
                <a:cs typeface="Arial" pitchFamily="34" charset="-120"/>
              </a:rPr>
              <a:t>Una rama pasabanda y un sumador. Pocos componentes.</a:t>
            </a:r>
            <a:endParaRPr lang="en-US" sz="1400" dirty="0"/>
          </a:p>
        </p:txBody>
      </p:sp>
      <p:sp>
        <p:nvSpPr>
          <p:cNvPr id="11" name="Cabecera No amplifica ruido"/>
          <p:cNvSpPr/>
          <p:nvPr/>
        </p:nvSpPr>
        <p:spPr>
          <a:xfrm>
            <a:off x="6035040" y="1325880"/>
            <a:ext cx="2651760" cy="548640"/>
          </a:xfrm>
          <a:prstGeom prst="rect">
            <a:avLst/>
          </a:prstGeom>
          <a:solidFill>
            <a:srgbClr val="1F4E79"/>
          </a:solidFill>
          <a:ln w="12700">
            <a:solidFill>
              <a:srgbClr val="1F4E79"/>
            </a:solidFill>
            <a:prstDash val="solid"/>
          </a:ln>
        </p:spPr>
      </p:sp>
      <p:sp>
        <p:nvSpPr>
          <p:cNvPr id="12" name="Text 10"/>
          <p:cNvSpPr txBox="1"/>
          <p:nvPr/>
        </p:nvSpPr>
        <p:spPr>
          <a:xfrm>
            <a:off x="6080760" y="1325880"/>
            <a:ext cx="256032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No amplifica ruido</a:t>
            </a:r>
            <a:endParaRPr lang="en-US" sz="1700" dirty="0"/>
          </a:p>
        </p:txBody>
      </p:sp>
      <p:sp>
        <p:nvSpPr>
          <p:cNvPr id="13" name="Tarjeta No amplifica ruido"/>
          <p:cNvSpPr/>
          <p:nvPr/>
        </p:nvSpPr>
        <p:spPr>
          <a:xfrm>
            <a:off x="6035040" y="1874520"/>
            <a:ext cx="2651760" cy="1371600"/>
          </a:xfrm>
          <a:prstGeom prst="rect">
            <a:avLst/>
          </a:prstGeom>
          <a:solidFill>
            <a:srgbClr val="FFFFFF"/>
          </a:solidFill>
          <a:ln w="19050">
            <a:solidFill>
              <a:srgbClr val="1F4E79"/>
            </a:solidFill>
            <a:prstDash val="solid"/>
          </a:ln>
        </p:spPr>
      </p:sp>
      <p:sp>
        <p:nvSpPr>
          <p:cNvPr id="14" name="Text 12"/>
          <p:cNvSpPr txBox="1"/>
          <p:nvPr/>
        </p:nvSpPr>
        <p:spPr>
          <a:xfrm>
            <a:off x="6144768" y="1947672"/>
            <a:ext cx="2432304" cy="1225296"/>
          </a:xfrm>
          <a:prstGeom prst="rect">
            <a:avLst/>
          </a:prstGeom>
          <a:noFill/>
          <a:ln/>
        </p:spPr>
        <p:txBody>
          <a:bodyPr wrap="square" lIns="0" tIns="0" rIns="0" bIns="0" rtlCol="0" anchor="ctr"/>
          <a:lstStyle/>
          <a:p>
            <a:pPr algn="l" indent="0" marL="0">
              <a:buNone/>
            </a:pPr>
            <a:r>
              <a:rPr lang="en-US" sz="1400" dirty="0">
                <a:solidFill>
                  <a:srgbClr val="2D2D2D"/>
                </a:solidFill>
                <a:latin typeface="Arial" pitchFamily="34" charset="0"/>
                <a:ea typeface="Arial" pitchFamily="34" charset="-122"/>
                <a:cs typeface="Arial" pitchFamily="34" charset="-120"/>
              </a:rPr>
              <a:t>No levanta la caída del sensor, así que no sube el ruido de baja frecuencia.</a:t>
            </a:r>
            <a:endParaRPr lang="en-US" sz="1400" dirty="0"/>
          </a:p>
        </p:txBody>
      </p:sp>
      <p:sp>
        <p:nvSpPr>
          <p:cNvPr id="15" name="Fondo desventaja"/>
          <p:cNvSpPr/>
          <p:nvPr/>
        </p:nvSpPr>
        <p:spPr>
          <a:xfrm>
            <a:off x="457200" y="3474720"/>
            <a:ext cx="8229600" cy="548640"/>
          </a:xfrm>
          <a:prstGeom prst="rect">
            <a:avLst/>
          </a:prstGeom>
          <a:solidFill>
            <a:srgbClr val="FBE9DD"/>
          </a:solidFill>
          <a:ln w="12700">
            <a:solidFill>
              <a:srgbClr val="FBE9DD"/>
            </a:solidFill>
            <a:prstDash val="solid"/>
          </a:ln>
        </p:spPr>
      </p:sp>
      <p:sp>
        <p:nvSpPr>
          <p:cNvPr id="16" name="Text 14"/>
          <p:cNvSpPr txBox="1"/>
          <p:nvPr/>
        </p:nvSpPr>
        <p:spPr>
          <a:xfrm>
            <a:off x="594360" y="3474720"/>
            <a:ext cx="7955280" cy="548640"/>
          </a:xfrm>
          <a:prstGeom prst="rect">
            <a:avLst/>
          </a:prstGeom>
          <a:noFill/>
          <a:ln/>
        </p:spPr>
        <p:txBody>
          <a:bodyPr wrap="square" lIns="0" tIns="0" rIns="0" bIns="0" rtlCol="0" anchor="ctr"/>
          <a:lstStyle/>
          <a:p>
            <a:pPr indent="0" marL="0">
              <a:buNone/>
            </a:pPr>
            <a:r>
              <a:rPr lang="en-US" sz="1700" b="1" dirty="0">
                <a:solidFill>
                  <a:srgbClr val="C55A11"/>
                </a:solidFill>
                <a:latin typeface="Arial" pitchFamily="34" charset="0"/>
                <a:ea typeface="Arial" pitchFamily="34" charset="-122"/>
                <a:cs typeface="Arial" pitchFamily="34" charset="-120"/>
              </a:rPr>
              <a:t>Su única desventaja, la pérdida de ganancia, se palía con más ganancia.</a:t>
            </a:r>
            <a:endParaRPr lang="en-US" sz="1700" dirty="0"/>
          </a:p>
        </p:txBody>
      </p:sp>
      <p:sp>
        <p:nvSpPr>
          <p:cNvPr id="17" name="Text 15"/>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Ese costo reaparece más adelante: más ganancia por etapa significa más offset acumulado.</a:t>
            </a:r>
            <a:endParaRPr lang="en-US" sz="1400" dirty="0"/>
          </a:p>
        </p:txBody>
      </p:sp>
      <p:sp>
        <p:nvSpPr>
          <p:cNvPr id="18"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estabilidad y ruido: inferencia propia a partir del esquema, por confirmar en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implementar el compensador necesitamos una rama 1 − H_BP(s)</a:t>
            </a:r>
            <a:endParaRPr lang="en-US" sz="2400" dirty="0"/>
          </a:p>
        </p:txBody>
      </p:sp>
      <p:sp>
        <p:nvSpPr>
          <p:cNvPr id="3" name="Geófono"/>
          <p:cNvSpPr/>
          <p:nvPr/>
        </p:nvSpPr>
        <p:spPr>
          <a:xfrm>
            <a:off x="457200" y="1508760"/>
            <a:ext cx="1188720" cy="640080"/>
          </a:xfrm>
          <a:prstGeom prst="roundRect">
            <a:avLst>
              <a:gd name="adj" fmla="val 11429"/>
            </a:avLst>
          </a:prstGeom>
          <a:solidFill>
            <a:srgbClr val="2E75B6"/>
          </a:solidFill>
          <a:ln w="12700">
            <a:solidFill>
              <a:srgbClr val="2E75B6"/>
            </a:solidFill>
            <a:prstDash val="solid"/>
          </a:ln>
        </p:spPr>
      </p:sp>
      <p:sp>
        <p:nvSpPr>
          <p:cNvPr id="4" name="Text 2"/>
          <p:cNvSpPr txBox="1"/>
          <p:nvPr/>
        </p:nvSpPr>
        <p:spPr>
          <a:xfrm>
            <a:off x="457200" y="1508760"/>
            <a:ext cx="118872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Geófono</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SM-24</a:t>
            </a:r>
            <a:endParaRPr lang="en-US" sz="1300" dirty="0"/>
          </a:p>
        </p:txBody>
      </p:sp>
      <p:sp>
        <p:nvSpPr>
          <p:cNvPr id="5" name="PGA"/>
          <p:cNvSpPr/>
          <p:nvPr/>
        </p:nvSpPr>
        <p:spPr>
          <a:xfrm>
            <a:off x="1920240" y="1508760"/>
            <a:ext cx="1371600" cy="640080"/>
          </a:xfrm>
          <a:prstGeom prst="roundRect">
            <a:avLst>
              <a:gd name="adj" fmla="val 11429"/>
            </a:avLst>
          </a:prstGeom>
          <a:solidFill>
            <a:srgbClr val="2E75B6"/>
          </a:solidFill>
          <a:ln w="12700">
            <a:solidFill>
              <a:srgbClr val="2E75B6"/>
            </a:solidFill>
            <a:prstDash val="solid"/>
          </a:ln>
        </p:spPr>
      </p:sp>
      <p:sp>
        <p:nvSpPr>
          <p:cNvPr id="6" name="Text 4"/>
          <p:cNvSpPr txBox="1"/>
          <p:nvPr/>
        </p:nvSpPr>
        <p:spPr>
          <a:xfrm>
            <a:off x="1920240" y="1508760"/>
            <a:ext cx="13716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Ganancia</a:t>
            </a:r>
            <a:endParaRPr lang="en-US" sz="1300" dirty="0"/>
          </a:p>
        </p:txBody>
      </p:sp>
      <p:sp>
        <p:nvSpPr>
          <p:cNvPr id="7" name="Pasabanda"/>
          <p:cNvSpPr/>
          <p:nvPr/>
        </p:nvSpPr>
        <p:spPr>
          <a:xfrm>
            <a:off x="3749040" y="2194560"/>
            <a:ext cx="1463040" cy="640080"/>
          </a:xfrm>
          <a:prstGeom prst="roundRect">
            <a:avLst>
              <a:gd name="adj" fmla="val 11429"/>
            </a:avLst>
          </a:prstGeom>
          <a:solidFill>
            <a:srgbClr val="C55A11"/>
          </a:solidFill>
          <a:ln w="12700">
            <a:solidFill>
              <a:srgbClr val="C55A11"/>
            </a:solidFill>
            <a:prstDash val="solid"/>
          </a:ln>
        </p:spPr>
      </p:sp>
      <p:sp>
        <p:nvSpPr>
          <p:cNvPr id="8" name="Text 6"/>
          <p:cNvSpPr txBox="1"/>
          <p:nvPr/>
        </p:nvSpPr>
        <p:spPr>
          <a:xfrm>
            <a:off x="3749040" y="2194560"/>
            <a:ext cx="14630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Pasabanda</a:t>
            </a:r>
            <a:endParaRPr lang="en-US" sz="1300" dirty="0"/>
          </a:p>
        </p:txBody>
      </p:sp>
      <p:sp>
        <p:nvSpPr>
          <p:cNvPr id="9" name="Sumador"/>
          <p:cNvSpPr/>
          <p:nvPr/>
        </p:nvSpPr>
        <p:spPr>
          <a:xfrm>
            <a:off x="5239512" y="1581912"/>
            <a:ext cx="493776" cy="493776"/>
          </a:xfrm>
          <a:prstGeom prst="ellipse">
            <a:avLst/>
          </a:prstGeom>
          <a:solidFill>
            <a:srgbClr val="1F4E79"/>
          </a:solidFill>
          <a:ln w="12700">
            <a:solidFill>
              <a:srgbClr val="1F4E79"/>
            </a:solidFill>
            <a:prstDash val="solid"/>
          </a:ln>
        </p:spPr>
      </p:sp>
      <p:sp>
        <p:nvSpPr>
          <p:cNvPr id="10" name="Text 8"/>
          <p:cNvSpPr txBox="1"/>
          <p:nvPr/>
        </p:nvSpPr>
        <p:spPr>
          <a:xfrm>
            <a:off x="5239512" y="15819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Σ</a:t>
            </a:r>
            <a:endParaRPr lang="en-US" sz="1800" dirty="0"/>
          </a:p>
        </p:txBody>
      </p:sp>
      <p:sp>
        <p:nvSpPr>
          <p:cNvPr id="11" name="Pasa-bajos"/>
          <p:cNvSpPr/>
          <p:nvPr/>
        </p:nvSpPr>
        <p:spPr>
          <a:xfrm>
            <a:off x="6263640" y="1508760"/>
            <a:ext cx="1143000" cy="640080"/>
          </a:xfrm>
          <a:prstGeom prst="roundRect">
            <a:avLst>
              <a:gd name="adj" fmla="val 11429"/>
            </a:avLst>
          </a:prstGeom>
          <a:solidFill>
            <a:srgbClr val="2E75B6"/>
          </a:solidFill>
          <a:ln w="12700">
            <a:solidFill>
              <a:srgbClr val="2E75B6"/>
            </a:solidFill>
            <a:prstDash val="solid"/>
          </a:ln>
        </p:spPr>
      </p:sp>
      <p:sp>
        <p:nvSpPr>
          <p:cNvPr id="12" name="Text 10"/>
          <p:cNvSpPr txBox="1"/>
          <p:nvPr/>
        </p:nvSpPr>
        <p:spPr>
          <a:xfrm>
            <a:off x="6263640" y="1508760"/>
            <a:ext cx="11430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Pasa-bajos</a:t>
            </a:r>
            <a:endParaRPr lang="en-US" sz="1300" dirty="0"/>
          </a:p>
        </p:txBody>
      </p:sp>
      <p:sp>
        <p:nvSpPr>
          <p:cNvPr id="13" name="ADC"/>
          <p:cNvSpPr/>
          <p:nvPr/>
        </p:nvSpPr>
        <p:spPr>
          <a:xfrm>
            <a:off x="7680960" y="1508760"/>
            <a:ext cx="1005840" cy="640080"/>
          </a:xfrm>
          <a:prstGeom prst="roundRect">
            <a:avLst>
              <a:gd name="adj" fmla="val 11429"/>
            </a:avLst>
          </a:prstGeom>
          <a:solidFill>
            <a:srgbClr val="1F4E79"/>
          </a:solidFill>
          <a:ln w="12700">
            <a:solidFill>
              <a:srgbClr val="1F4E79"/>
            </a:solidFill>
            <a:prstDash val="solid"/>
          </a:ln>
        </p:spPr>
      </p:sp>
      <p:sp>
        <p:nvSpPr>
          <p:cNvPr id="14" name="Text 12"/>
          <p:cNvSpPr txBox="1"/>
          <p:nvPr/>
        </p:nvSpPr>
        <p:spPr>
          <a:xfrm>
            <a:off x="7680960" y="1508760"/>
            <a:ext cx="10058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ADC</a:t>
            </a:r>
            <a:endParaRPr lang="en-US" sz="1300" dirty="0"/>
          </a:p>
        </p:txBody>
      </p:sp>
      <p:sp>
        <p:nvSpPr>
          <p:cNvPr id="15" name="Shape 13"/>
          <p:cNvSpPr/>
          <p:nvPr/>
        </p:nvSpPr>
        <p:spPr>
          <a:xfrm>
            <a:off x="1645920" y="1828800"/>
            <a:ext cx="274320" cy="0"/>
          </a:xfrm>
          <a:prstGeom prst="line">
            <a:avLst/>
          </a:prstGeom>
          <a:noFill/>
          <a:ln w="31750">
            <a:solidFill>
              <a:srgbClr val="1F4E79"/>
            </a:solidFill>
            <a:prstDash val="solid"/>
            <a:tailEnd type="triangle"/>
          </a:ln>
        </p:spPr>
      </p:sp>
      <p:sp>
        <p:nvSpPr>
          <p:cNvPr id="16" name="Shape 14"/>
          <p:cNvSpPr/>
          <p:nvPr/>
        </p:nvSpPr>
        <p:spPr>
          <a:xfrm>
            <a:off x="3291840" y="1828800"/>
            <a:ext cx="1947672" cy="0"/>
          </a:xfrm>
          <a:prstGeom prst="line">
            <a:avLst/>
          </a:prstGeom>
          <a:noFill/>
          <a:ln w="31750">
            <a:solidFill>
              <a:srgbClr val="1F4E79"/>
            </a:solidFill>
            <a:prstDash val="solid"/>
            <a:tailEnd type="triangle"/>
          </a:ln>
        </p:spPr>
      </p:sp>
      <p:sp>
        <p:nvSpPr>
          <p:cNvPr id="17" name="Nodo de derivación"/>
          <p:cNvSpPr/>
          <p:nvPr/>
        </p:nvSpPr>
        <p:spPr>
          <a:xfrm>
            <a:off x="3474720" y="1783080"/>
            <a:ext cx="91440" cy="91440"/>
          </a:xfrm>
          <a:prstGeom prst="ellipse">
            <a:avLst/>
          </a:prstGeom>
          <a:solidFill>
            <a:srgbClr val="1F4E79"/>
          </a:solidFill>
          <a:ln w="12700">
            <a:solidFill>
              <a:srgbClr val="1F4E79"/>
            </a:solidFill>
            <a:prstDash val="solid"/>
          </a:ln>
        </p:spPr>
      </p:sp>
      <p:sp>
        <p:nvSpPr>
          <p:cNvPr id="18" name="Shape 16"/>
          <p:cNvSpPr/>
          <p:nvPr/>
        </p:nvSpPr>
        <p:spPr>
          <a:xfrm>
            <a:off x="3520440" y="1828800"/>
            <a:ext cx="0" cy="685800"/>
          </a:xfrm>
          <a:prstGeom prst="line">
            <a:avLst/>
          </a:prstGeom>
          <a:noFill/>
          <a:ln w="31750">
            <a:solidFill>
              <a:srgbClr val="C55A11"/>
            </a:solidFill>
            <a:prstDash val="solid"/>
          </a:ln>
        </p:spPr>
      </p:sp>
      <p:sp>
        <p:nvSpPr>
          <p:cNvPr id="19" name="Shape 17"/>
          <p:cNvSpPr/>
          <p:nvPr/>
        </p:nvSpPr>
        <p:spPr>
          <a:xfrm>
            <a:off x="3520440" y="2514600"/>
            <a:ext cx="228600" cy="0"/>
          </a:xfrm>
          <a:prstGeom prst="line">
            <a:avLst/>
          </a:prstGeom>
          <a:noFill/>
          <a:ln w="31750">
            <a:solidFill>
              <a:srgbClr val="C55A11"/>
            </a:solidFill>
            <a:prstDash val="solid"/>
            <a:tailEnd type="triangle"/>
          </a:ln>
        </p:spPr>
      </p:sp>
      <p:sp>
        <p:nvSpPr>
          <p:cNvPr id="20" name="Shape 18"/>
          <p:cNvSpPr/>
          <p:nvPr/>
        </p:nvSpPr>
        <p:spPr>
          <a:xfrm>
            <a:off x="5212080" y="2514600"/>
            <a:ext cx="274320" cy="0"/>
          </a:xfrm>
          <a:prstGeom prst="line">
            <a:avLst/>
          </a:prstGeom>
          <a:noFill/>
          <a:ln w="31750">
            <a:solidFill>
              <a:srgbClr val="C55A11"/>
            </a:solidFill>
            <a:prstDash val="solid"/>
          </a:ln>
        </p:spPr>
      </p:sp>
      <p:sp>
        <p:nvSpPr>
          <p:cNvPr id="21" name="Shape 19"/>
          <p:cNvSpPr/>
          <p:nvPr/>
        </p:nvSpPr>
        <p:spPr>
          <a:xfrm flipV="1">
            <a:off x="5486400" y="2075688"/>
            <a:ext cx="0" cy="438912"/>
          </a:xfrm>
          <a:prstGeom prst="line">
            <a:avLst/>
          </a:prstGeom>
          <a:noFill/>
          <a:ln w="31750">
            <a:solidFill>
              <a:srgbClr val="C55A11"/>
            </a:solidFill>
            <a:prstDash val="solid"/>
            <a:tailEnd type="triangle"/>
          </a:ln>
        </p:spPr>
      </p:sp>
      <p:sp>
        <p:nvSpPr>
          <p:cNvPr id="22" name="Shape 20"/>
          <p:cNvSpPr/>
          <p:nvPr/>
        </p:nvSpPr>
        <p:spPr>
          <a:xfrm>
            <a:off x="5733288" y="1828800"/>
            <a:ext cx="530352" cy="0"/>
          </a:xfrm>
          <a:prstGeom prst="line">
            <a:avLst/>
          </a:prstGeom>
          <a:noFill/>
          <a:ln w="31750">
            <a:solidFill>
              <a:srgbClr val="1F4E79"/>
            </a:solidFill>
            <a:prstDash val="solid"/>
            <a:tailEnd type="triangle"/>
          </a:ln>
        </p:spPr>
      </p:sp>
      <p:sp>
        <p:nvSpPr>
          <p:cNvPr id="23" name="Shape 21"/>
          <p:cNvSpPr/>
          <p:nvPr/>
        </p:nvSpPr>
        <p:spPr>
          <a:xfrm>
            <a:off x="7406640" y="1828800"/>
            <a:ext cx="274320" cy="0"/>
          </a:xfrm>
          <a:prstGeom prst="line">
            <a:avLst/>
          </a:prstGeom>
          <a:noFill/>
          <a:ln w="31750">
            <a:solidFill>
              <a:srgbClr val="1F4E79"/>
            </a:solidFill>
            <a:prstDash val="solid"/>
            <a:tailEnd type="triangle"/>
          </a:ln>
        </p:spPr>
      </p:sp>
      <p:sp>
        <p:nvSpPr>
          <p:cNvPr id="24" name="Text 22"/>
          <p:cNvSpPr txBox="1"/>
          <p:nvPr/>
        </p:nvSpPr>
        <p:spPr>
          <a:xfrm>
            <a:off x="4892040" y="1444752"/>
            <a:ext cx="274320" cy="27432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a:t>
            </a:r>
            <a:endParaRPr lang="en-US" sz="1600" dirty="0"/>
          </a:p>
        </p:txBody>
      </p:sp>
      <p:sp>
        <p:nvSpPr>
          <p:cNvPr id="25" name="Text 23"/>
          <p:cNvSpPr txBox="1"/>
          <p:nvPr/>
        </p:nvSpPr>
        <p:spPr>
          <a:xfrm>
            <a:off x="5577840" y="2130552"/>
            <a:ext cx="274320" cy="274320"/>
          </a:xfrm>
          <a:prstGeom prst="rect">
            <a:avLst/>
          </a:prstGeom>
          <a:noFill/>
          <a:ln/>
        </p:spPr>
        <p:txBody>
          <a:bodyPr wrap="square" lIns="0" tIns="0" rIns="0" bIns="0" rtlCol="0" anchor="t"/>
          <a:lstStyle/>
          <a:p>
            <a:pPr algn="ctr" indent="0" marL="0">
              <a:buNone/>
            </a:pPr>
            <a:r>
              <a:rPr lang="en-US" sz="2000" b="1" dirty="0">
                <a:solidFill>
                  <a:srgbClr val="C55A11"/>
                </a:solidFill>
                <a:latin typeface="Arial" pitchFamily="34" charset="0"/>
                <a:ea typeface="Arial" pitchFamily="34" charset="-122"/>
                <a:cs typeface="Arial" pitchFamily="34" charset="-120"/>
              </a:rPr>
              <a:t>−</a:t>
            </a:r>
            <a:endParaRPr lang="en-US" sz="2000" dirty="0"/>
          </a:p>
        </p:txBody>
      </p:sp>
      <p:sp>
        <p:nvSpPr>
          <p:cNvPr id="26" name="Fondo E_hcomp"/>
          <p:cNvSpPr/>
          <p:nvPr/>
        </p:nvSpPr>
        <p:spPr>
          <a:xfrm>
            <a:off x="457200" y="3291840"/>
            <a:ext cx="384048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27" name="Ecuación E_hcomp"/>
              <p:cNvSpPr txBox="1"/>
              <p:nvPr/>
            </p:nvSpPr>
            <p:spPr>
              <a:xfrm>
                <a:off x="457200" y="3291840"/>
                <a:ext cx="384048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H</m:t>
                          </m:r>
                        </m:e>
                        <m:sub>
                          <m:r>
                            <m:rPr>
                              <m:sty m:val="p"/>
                            </m:rPr>
                            <a:rPr lang="es-ES" sz="2800">
                              <a:solidFill>
                                <a:srgbClr val="1F4E79"/>
                              </a:solidFill>
                              <a:latin typeface="Cambria Math" panose="02040503050406030204" pitchFamily="18" charset="0"/>
                            </a:rPr>
                            <m:t xml:space="preserve">comp</m:t>
                          </m:r>
                        </m:sub>
                      </m:sSub>
                      <m:r>
                        <a:rPr lang="es-ES" sz="2800" i="1">
                          <a:solidFill>
                            <a:srgbClr val="1F4E79"/>
                          </a:solidFill>
                          <a:latin typeface="Cambria Math" panose="02040503050406030204" pitchFamily="18" charset="0"/>
                        </a:rPr>
                        <m:t xml:space="preserve">(s)=1−</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H</m:t>
                          </m:r>
                        </m:e>
                        <m:sub>
                          <m:r>
                            <m:rPr>
                              <m:sty m:val="p"/>
                            </m:rPr>
                            <a:rPr lang="es-ES" sz="2800">
                              <a:solidFill>
                                <a:srgbClr val="1F4E79"/>
                              </a:solidFill>
                              <a:latin typeface="Cambria Math" panose="02040503050406030204" pitchFamily="18" charset="0"/>
                            </a:rPr>
                            <m:t xml:space="preserve">BP</m:t>
                          </m:r>
                        </m:sub>
                      </m:sSub>
                      <m:r>
                        <a:rPr lang="es-ES" sz="2800" i="1">
                          <a:solidFill>
                            <a:srgbClr val="1F4E79"/>
                          </a:solidFill>
                          <a:latin typeface="Cambria Math" panose="02040503050406030204" pitchFamily="18" charset="0"/>
                        </a:rPr>
                        <m:t xml:space="preserve">(s)</m:t>
                      </m:r>
                    </m:oMath>
                  </m:oMathPara>
                </a14:m>
                <a:endParaRPr lang="es-ES"/>
              </a:p>
            </p:txBody>
          </p:sp>
        </mc:Choice>
        <mc:Fallback>
          <p:sp>
            <p:nvSpPr>
              <p:cNvPr id="27" name="Ecuación E_hcomp"/>
              <p:cNvSpPr txBox="1"/>
              <p:nvPr/>
            </p:nvSpPr>
            <p:spPr>
              <a:xfrm>
                <a:off x="457200" y="3291840"/>
                <a:ext cx="384048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Hcomp(s) = 1 − HBP(s)</a:t>
                </a:r>
                <a:endParaRPr lang="en-US" sz="2400" dirty="0"/>
              </a:p>
            </p:txBody>
          </p:sp>
        </mc:Fallback>
      </mc:AlternateContent>
      <p:sp>
        <p:nvSpPr>
          <p:cNvPr id="28" name="Cuerpo"/>
          <p:cNvSpPr txBox="1"/>
          <p:nvPr/>
        </p:nvSpPr>
        <p:spPr>
          <a:xfrm>
            <a:off x="4572000" y="3200400"/>
            <a:ext cx="4114800" cy="12801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2D2D2D"/>
                </a:solidFill>
                <a:latin typeface="Arial" pitchFamily="34" charset="0"/>
                <a:ea typeface="Arial" pitchFamily="34" charset="-122"/>
                <a:cs typeface="Arial" pitchFamily="34" charset="-120"/>
              </a:rPr>
              <a:t>H_BP(s) es un pasabanda sintonizado sobre la resonancia del sensor</a:t>
            </a:r>
            <a:endParaRPr lang="en-US" sz="1400" dirty="0"/>
          </a:p>
          <a:p>
            <a:pPr marL="342900" indent="-342900">
              <a:spcAft>
                <a:spcPts val="500"/>
              </a:spcAft>
              <a:buSzPct val="100000"/>
              <a:buChar char="•"/>
            </a:pPr>
            <a:r>
              <a:rPr lang="en-US" sz="1400" dirty="0">
                <a:solidFill>
                  <a:srgbClr val="2D2D2D"/>
                </a:solidFill>
                <a:latin typeface="Arial" pitchFamily="34" charset="0"/>
                <a:ea typeface="Arial" pitchFamily="34" charset="-122"/>
                <a:cs typeface="Arial" pitchFamily="34" charset="-120"/>
              </a:rPr>
              <a:t>Restarlo del camino directo desintoniza el pico de resonancia</a:t>
            </a:r>
            <a:endParaRPr lang="en-US" sz="1400" dirty="0"/>
          </a:p>
          <a:p>
            <a:pPr marL="342900" indent="-342900">
              <a:spcAft>
                <a:spcPts val="500"/>
              </a:spcAft>
              <a:buSzPct val="100000"/>
              <a:buChar char="•"/>
            </a:pPr>
            <a:r>
              <a:rPr lang="en-US" sz="1400" dirty="0">
                <a:solidFill>
                  <a:srgbClr val="2D2D2D"/>
                </a:solidFill>
                <a:latin typeface="Arial" pitchFamily="34" charset="0"/>
                <a:ea typeface="Arial" pitchFamily="34" charset="-122"/>
                <a:cs typeface="Arial" pitchFamily="34" charset="-120"/>
              </a:rPr>
              <a:t>La respuesta queda más plana, con pérdida de ganancia</a:t>
            </a:r>
            <a:endParaRPr lang="en-US" sz="1400" dirty="0"/>
          </a:p>
        </p:txBody>
      </p:sp>
      <p:sp>
        <p:nvSpPr>
          <p:cNvPr id="2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Principio de Ma et al. (2023), según resumen firmado, sec. 4.3; 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Implementación: entrada diferencial, PGA, pasabanda inversor, sumador y antialias</a:t>
            </a:r>
            <a:endParaRPr lang="en-US" sz="2400" dirty="0"/>
          </a:p>
        </p:txBody>
      </p:sp>
      <p:sp>
        <p:nvSpPr>
          <p:cNvPr id="3" name="Geófono"/>
          <p:cNvSpPr/>
          <p:nvPr/>
        </p:nvSpPr>
        <p:spPr>
          <a:xfrm>
            <a:off x="457200" y="1508760"/>
            <a:ext cx="1188720" cy="640080"/>
          </a:xfrm>
          <a:prstGeom prst="roundRect">
            <a:avLst>
              <a:gd name="adj" fmla="val 11429"/>
            </a:avLst>
          </a:prstGeom>
          <a:solidFill>
            <a:srgbClr val="2E75B6"/>
          </a:solidFill>
          <a:ln w="12700">
            <a:solidFill>
              <a:srgbClr val="2E75B6"/>
            </a:solidFill>
            <a:prstDash val="solid"/>
          </a:ln>
        </p:spPr>
      </p:sp>
      <p:sp>
        <p:nvSpPr>
          <p:cNvPr id="4" name="Text 2"/>
          <p:cNvSpPr txBox="1"/>
          <p:nvPr/>
        </p:nvSpPr>
        <p:spPr>
          <a:xfrm>
            <a:off x="457200" y="1508760"/>
            <a:ext cx="118872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Geófono</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SM-24</a:t>
            </a:r>
            <a:endParaRPr lang="en-US" sz="1300" dirty="0"/>
          </a:p>
        </p:txBody>
      </p:sp>
      <p:sp>
        <p:nvSpPr>
          <p:cNvPr id="5" name="PGA"/>
          <p:cNvSpPr/>
          <p:nvPr/>
        </p:nvSpPr>
        <p:spPr>
          <a:xfrm>
            <a:off x="1920240" y="1508760"/>
            <a:ext cx="1371600" cy="640080"/>
          </a:xfrm>
          <a:prstGeom prst="roundRect">
            <a:avLst>
              <a:gd name="adj" fmla="val 11429"/>
            </a:avLst>
          </a:prstGeom>
          <a:solidFill>
            <a:srgbClr val="2E75B6"/>
          </a:solidFill>
          <a:ln w="12700">
            <a:solidFill>
              <a:srgbClr val="2E75B6"/>
            </a:solidFill>
            <a:prstDash val="solid"/>
          </a:ln>
        </p:spPr>
      </p:sp>
      <p:sp>
        <p:nvSpPr>
          <p:cNvPr id="6" name="Text 4"/>
          <p:cNvSpPr txBox="1"/>
          <p:nvPr/>
        </p:nvSpPr>
        <p:spPr>
          <a:xfrm>
            <a:off x="1920240" y="1508760"/>
            <a:ext cx="13716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Entrada dif.</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 PGA</a:t>
            </a:r>
            <a:endParaRPr lang="en-US" sz="1300" dirty="0"/>
          </a:p>
        </p:txBody>
      </p:sp>
      <p:sp>
        <p:nvSpPr>
          <p:cNvPr id="7" name="Pasabanda"/>
          <p:cNvSpPr/>
          <p:nvPr/>
        </p:nvSpPr>
        <p:spPr>
          <a:xfrm>
            <a:off x="3749040" y="2194560"/>
            <a:ext cx="1463040" cy="640080"/>
          </a:xfrm>
          <a:prstGeom prst="roundRect">
            <a:avLst>
              <a:gd name="adj" fmla="val 11429"/>
            </a:avLst>
          </a:prstGeom>
          <a:solidFill>
            <a:srgbClr val="C55A11"/>
          </a:solidFill>
          <a:ln w="12700">
            <a:solidFill>
              <a:srgbClr val="C55A11"/>
            </a:solidFill>
            <a:prstDash val="solid"/>
          </a:ln>
        </p:spPr>
      </p:sp>
      <p:sp>
        <p:nvSpPr>
          <p:cNvPr id="8" name="Text 6"/>
          <p:cNvSpPr txBox="1"/>
          <p:nvPr/>
        </p:nvSpPr>
        <p:spPr>
          <a:xfrm>
            <a:off x="3749040" y="2194560"/>
            <a:ext cx="14630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Pasabanda</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inversor</a:t>
            </a:r>
            <a:endParaRPr lang="en-US" sz="1300" dirty="0"/>
          </a:p>
        </p:txBody>
      </p:sp>
      <p:sp>
        <p:nvSpPr>
          <p:cNvPr id="9" name="Sumador"/>
          <p:cNvSpPr/>
          <p:nvPr/>
        </p:nvSpPr>
        <p:spPr>
          <a:xfrm>
            <a:off x="5239512" y="1581912"/>
            <a:ext cx="493776" cy="493776"/>
          </a:xfrm>
          <a:prstGeom prst="ellipse">
            <a:avLst/>
          </a:prstGeom>
          <a:solidFill>
            <a:srgbClr val="1F4E79"/>
          </a:solidFill>
          <a:ln w="12700">
            <a:solidFill>
              <a:srgbClr val="1F4E79"/>
            </a:solidFill>
            <a:prstDash val="solid"/>
          </a:ln>
        </p:spPr>
      </p:sp>
      <p:sp>
        <p:nvSpPr>
          <p:cNvPr id="10" name="Text 8"/>
          <p:cNvSpPr txBox="1"/>
          <p:nvPr/>
        </p:nvSpPr>
        <p:spPr>
          <a:xfrm>
            <a:off x="5239512" y="15819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Σ</a:t>
            </a:r>
            <a:endParaRPr lang="en-US" sz="1800" dirty="0"/>
          </a:p>
        </p:txBody>
      </p:sp>
      <p:sp>
        <p:nvSpPr>
          <p:cNvPr id="11" name="Pasa-bajos"/>
          <p:cNvSpPr/>
          <p:nvPr/>
        </p:nvSpPr>
        <p:spPr>
          <a:xfrm>
            <a:off x="6263640" y="1508760"/>
            <a:ext cx="1143000" cy="640080"/>
          </a:xfrm>
          <a:prstGeom prst="roundRect">
            <a:avLst>
              <a:gd name="adj" fmla="val 11429"/>
            </a:avLst>
          </a:prstGeom>
          <a:solidFill>
            <a:srgbClr val="2E75B6"/>
          </a:solidFill>
          <a:ln w="12700">
            <a:solidFill>
              <a:srgbClr val="2E75B6"/>
            </a:solidFill>
            <a:prstDash val="solid"/>
          </a:ln>
        </p:spPr>
      </p:sp>
      <p:sp>
        <p:nvSpPr>
          <p:cNvPr id="12" name="Text 10"/>
          <p:cNvSpPr txBox="1"/>
          <p:nvPr/>
        </p:nvSpPr>
        <p:spPr>
          <a:xfrm>
            <a:off x="6263640" y="1508760"/>
            <a:ext cx="11430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Antialias</a:t>
            </a:r>
            <a:endParaRPr lang="en-US" sz="1300" dirty="0"/>
          </a:p>
        </p:txBody>
      </p:sp>
      <p:sp>
        <p:nvSpPr>
          <p:cNvPr id="13" name="ADC"/>
          <p:cNvSpPr/>
          <p:nvPr/>
        </p:nvSpPr>
        <p:spPr>
          <a:xfrm>
            <a:off x="7680960" y="1508760"/>
            <a:ext cx="1005840" cy="640080"/>
          </a:xfrm>
          <a:prstGeom prst="roundRect">
            <a:avLst>
              <a:gd name="adj" fmla="val 11429"/>
            </a:avLst>
          </a:prstGeom>
          <a:solidFill>
            <a:srgbClr val="1F4E79"/>
          </a:solidFill>
          <a:ln w="12700">
            <a:solidFill>
              <a:srgbClr val="1F4E79"/>
            </a:solidFill>
            <a:prstDash val="solid"/>
          </a:ln>
        </p:spPr>
      </p:sp>
      <p:sp>
        <p:nvSpPr>
          <p:cNvPr id="14" name="Text 12"/>
          <p:cNvSpPr txBox="1"/>
          <p:nvPr/>
        </p:nvSpPr>
        <p:spPr>
          <a:xfrm>
            <a:off x="7680960" y="1508760"/>
            <a:ext cx="10058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ADC</a:t>
            </a:r>
            <a:endParaRPr lang="en-US" sz="1300" dirty="0"/>
          </a:p>
        </p:txBody>
      </p:sp>
      <p:sp>
        <p:nvSpPr>
          <p:cNvPr id="15" name="Shape 13"/>
          <p:cNvSpPr/>
          <p:nvPr/>
        </p:nvSpPr>
        <p:spPr>
          <a:xfrm>
            <a:off x="1645920" y="1828800"/>
            <a:ext cx="274320" cy="0"/>
          </a:xfrm>
          <a:prstGeom prst="line">
            <a:avLst/>
          </a:prstGeom>
          <a:noFill/>
          <a:ln w="31750">
            <a:solidFill>
              <a:srgbClr val="1F4E79"/>
            </a:solidFill>
            <a:prstDash val="solid"/>
            <a:tailEnd type="triangle"/>
          </a:ln>
        </p:spPr>
      </p:sp>
      <p:sp>
        <p:nvSpPr>
          <p:cNvPr id="16" name="Shape 14"/>
          <p:cNvSpPr/>
          <p:nvPr/>
        </p:nvSpPr>
        <p:spPr>
          <a:xfrm>
            <a:off x="3291840" y="1828800"/>
            <a:ext cx="1947672" cy="0"/>
          </a:xfrm>
          <a:prstGeom prst="line">
            <a:avLst/>
          </a:prstGeom>
          <a:noFill/>
          <a:ln w="31750">
            <a:solidFill>
              <a:srgbClr val="1F4E79"/>
            </a:solidFill>
            <a:prstDash val="solid"/>
            <a:tailEnd type="triangle"/>
          </a:ln>
        </p:spPr>
      </p:sp>
      <p:sp>
        <p:nvSpPr>
          <p:cNvPr id="17" name="Nodo de derivación"/>
          <p:cNvSpPr/>
          <p:nvPr/>
        </p:nvSpPr>
        <p:spPr>
          <a:xfrm>
            <a:off x="3474720" y="1783080"/>
            <a:ext cx="91440" cy="91440"/>
          </a:xfrm>
          <a:prstGeom prst="ellipse">
            <a:avLst/>
          </a:prstGeom>
          <a:solidFill>
            <a:srgbClr val="1F4E79"/>
          </a:solidFill>
          <a:ln w="12700">
            <a:solidFill>
              <a:srgbClr val="1F4E79"/>
            </a:solidFill>
            <a:prstDash val="solid"/>
          </a:ln>
        </p:spPr>
      </p:sp>
      <p:sp>
        <p:nvSpPr>
          <p:cNvPr id="18" name="Shape 16"/>
          <p:cNvSpPr/>
          <p:nvPr/>
        </p:nvSpPr>
        <p:spPr>
          <a:xfrm>
            <a:off x="3520440" y="1828800"/>
            <a:ext cx="0" cy="685800"/>
          </a:xfrm>
          <a:prstGeom prst="line">
            <a:avLst/>
          </a:prstGeom>
          <a:noFill/>
          <a:ln w="31750">
            <a:solidFill>
              <a:srgbClr val="C55A11"/>
            </a:solidFill>
            <a:prstDash val="solid"/>
          </a:ln>
        </p:spPr>
      </p:sp>
      <p:sp>
        <p:nvSpPr>
          <p:cNvPr id="19" name="Shape 17"/>
          <p:cNvSpPr/>
          <p:nvPr/>
        </p:nvSpPr>
        <p:spPr>
          <a:xfrm>
            <a:off x="3520440" y="2514600"/>
            <a:ext cx="228600" cy="0"/>
          </a:xfrm>
          <a:prstGeom prst="line">
            <a:avLst/>
          </a:prstGeom>
          <a:noFill/>
          <a:ln w="31750">
            <a:solidFill>
              <a:srgbClr val="C55A11"/>
            </a:solidFill>
            <a:prstDash val="solid"/>
            <a:tailEnd type="triangle"/>
          </a:ln>
        </p:spPr>
      </p:sp>
      <p:sp>
        <p:nvSpPr>
          <p:cNvPr id="20" name="Shape 18"/>
          <p:cNvSpPr/>
          <p:nvPr/>
        </p:nvSpPr>
        <p:spPr>
          <a:xfrm>
            <a:off x="5212080" y="2514600"/>
            <a:ext cx="274320" cy="0"/>
          </a:xfrm>
          <a:prstGeom prst="line">
            <a:avLst/>
          </a:prstGeom>
          <a:noFill/>
          <a:ln w="31750">
            <a:solidFill>
              <a:srgbClr val="C55A11"/>
            </a:solidFill>
            <a:prstDash val="solid"/>
          </a:ln>
        </p:spPr>
      </p:sp>
      <p:sp>
        <p:nvSpPr>
          <p:cNvPr id="21" name="Shape 19"/>
          <p:cNvSpPr/>
          <p:nvPr/>
        </p:nvSpPr>
        <p:spPr>
          <a:xfrm flipV="1">
            <a:off x="5486400" y="2075688"/>
            <a:ext cx="0" cy="438912"/>
          </a:xfrm>
          <a:prstGeom prst="line">
            <a:avLst/>
          </a:prstGeom>
          <a:noFill/>
          <a:ln w="31750">
            <a:solidFill>
              <a:srgbClr val="C55A11"/>
            </a:solidFill>
            <a:prstDash val="solid"/>
            <a:tailEnd type="triangle"/>
          </a:ln>
        </p:spPr>
      </p:sp>
      <p:sp>
        <p:nvSpPr>
          <p:cNvPr id="22" name="Shape 20"/>
          <p:cNvSpPr/>
          <p:nvPr/>
        </p:nvSpPr>
        <p:spPr>
          <a:xfrm>
            <a:off x="5733288" y="1828800"/>
            <a:ext cx="530352" cy="0"/>
          </a:xfrm>
          <a:prstGeom prst="line">
            <a:avLst/>
          </a:prstGeom>
          <a:noFill/>
          <a:ln w="31750">
            <a:solidFill>
              <a:srgbClr val="1F4E79"/>
            </a:solidFill>
            <a:prstDash val="solid"/>
            <a:tailEnd type="triangle"/>
          </a:ln>
        </p:spPr>
      </p:sp>
      <p:sp>
        <p:nvSpPr>
          <p:cNvPr id="23" name="Shape 21"/>
          <p:cNvSpPr/>
          <p:nvPr/>
        </p:nvSpPr>
        <p:spPr>
          <a:xfrm>
            <a:off x="7406640" y="1828800"/>
            <a:ext cx="274320" cy="0"/>
          </a:xfrm>
          <a:prstGeom prst="line">
            <a:avLst/>
          </a:prstGeom>
          <a:noFill/>
          <a:ln w="31750">
            <a:solidFill>
              <a:srgbClr val="1F4E79"/>
            </a:solidFill>
            <a:prstDash val="solid"/>
            <a:tailEnd type="triangle"/>
          </a:ln>
        </p:spPr>
      </p:sp>
      <p:sp>
        <p:nvSpPr>
          <p:cNvPr id="24" name="Text 22"/>
          <p:cNvSpPr txBox="1"/>
          <p:nvPr/>
        </p:nvSpPr>
        <p:spPr>
          <a:xfrm>
            <a:off x="4892040" y="1444752"/>
            <a:ext cx="274320" cy="27432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a:t>
            </a:r>
            <a:endParaRPr lang="en-US" sz="1600" dirty="0"/>
          </a:p>
        </p:txBody>
      </p:sp>
      <p:sp>
        <p:nvSpPr>
          <p:cNvPr id="25" name="Text 23"/>
          <p:cNvSpPr txBox="1"/>
          <p:nvPr/>
        </p:nvSpPr>
        <p:spPr>
          <a:xfrm>
            <a:off x="5577840" y="2130552"/>
            <a:ext cx="274320" cy="274320"/>
          </a:xfrm>
          <a:prstGeom prst="rect">
            <a:avLst/>
          </a:prstGeom>
          <a:noFill/>
          <a:ln/>
        </p:spPr>
        <p:txBody>
          <a:bodyPr wrap="square" lIns="0" tIns="0" rIns="0" bIns="0" rtlCol="0" anchor="t"/>
          <a:lstStyle/>
          <a:p>
            <a:pPr algn="ctr" indent="0" marL="0">
              <a:buNone/>
            </a:pPr>
            <a:r>
              <a:rPr lang="en-US" sz="2000" b="1" dirty="0">
                <a:solidFill>
                  <a:srgbClr val="C55A11"/>
                </a:solidFill>
                <a:latin typeface="Arial" pitchFamily="34" charset="0"/>
                <a:ea typeface="Arial" pitchFamily="34" charset="-122"/>
                <a:cs typeface="Arial" pitchFamily="34" charset="-120"/>
              </a:rPr>
              <a:t>+</a:t>
            </a:r>
            <a:endParaRPr lang="en-US" sz="2000" dirty="0"/>
          </a:p>
        </p:txBody>
      </p:sp>
      <p:sp>
        <p:nvSpPr>
          <p:cNvPr id="26" name="Cuerpo"/>
          <p:cNvSpPr txBox="1"/>
          <p:nvPr/>
        </p:nvSpPr>
        <p:spPr>
          <a:xfrm>
            <a:off x="457200" y="3246120"/>
            <a:ext cx="8229600" cy="1280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El pasabanda inversor ya entrega la rama con la fase invertida</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Entonces basta un sumador de tensión: ya no hace falta un restador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El filtro antialias limita la banda antes del ADC</a:t>
            </a:r>
            <a:endParaRPr lang="en-US" sz="1600" dirty="0"/>
          </a:p>
        </p:txBody>
      </p:sp>
      <p:sp>
        <p:nvSpPr>
          <p:cNvPr id="2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Elaboración propia a partir de Ma et al. (2023); resumen firmado, sec. 4.3.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Respecto de Ma et al., este trabajo incorpora cinco decisiones de diseño</a:t>
            </a:r>
            <a:endParaRPr lang="en-US" sz="2400" dirty="0"/>
          </a:p>
        </p:txBody>
      </p:sp>
      <p:sp>
        <p:nvSpPr>
          <p:cNvPr id="3" name="Cabecera Entrada diferencial"/>
          <p:cNvSpPr/>
          <p:nvPr/>
        </p:nvSpPr>
        <p:spPr>
          <a:xfrm>
            <a:off x="457200" y="1280160"/>
            <a:ext cx="2651760" cy="457200"/>
          </a:xfrm>
          <a:prstGeom prst="rect">
            <a:avLst/>
          </a:prstGeom>
          <a:solidFill>
            <a:srgbClr val="1F4E79"/>
          </a:solidFill>
          <a:ln w="12700">
            <a:solidFill>
              <a:srgbClr val="1F4E79"/>
            </a:solidFill>
            <a:prstDash val="solid"/>
          </a:ln>
        </p:spPr>
      </p:sp>
      <p:sp>
        <p:nvSpPr>
          <p:cNvPr id="4" name="Text 2"/>
          <p:cNvSpPr txBox="1"/>
          <p:nvPr/>
        </p:nvSpPr>
        <p:spPr>
          <a:xfrm>
            <a:off x="502920" y="1280160"/>
            <a:ext cx="25603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Entrada diferencial</a:t>
            </a:r>
            <a:endParaRPr lang="en-US" sz="1500" dirty="0"/>
          </a:p>
        </p:txBody>
      </p:sp>
      <p:sp>
        <p:nvSpPr>
          <p:cNvPr id="5" name="Tarjeta Entrada diferencial"/>
          <p:cNvSpPr/>
          <p:nvPr/>
        </p:nvSpPr>
        <p:spPr>
          <a:xfrm>
            <a:off x="457200" y="1737360"/>
            <a:ext cx="2651760" cy="914400"/>
          </a:xfrm>
          <a:prstGeom prst="rect">
            <a:avLst/>
          </a:prstGeom>
          <a:solidFill>
            <a:srgbClr val="FFFFFF"/>
          </a:solidFill>
          <a:ln w="19050">
            <a:solidFill>
              <a:srgbClr val="1F4E79"/>
            </a:solidFill>
            <a:prstDash val="solid"/>
          </a:ln>
        </p:spPr>
      </p:sp>
      <p:sp>
        <p:nvSpPr>
          <p:cNvPr id="6" name="Text 4"/>
          <p:cNvSpPr txBox="1"/>
          <p:nvPr/>
        </p:nvSpPr>
        <p:spPr>
          <a:xfrm>
            <a:off x="566928" y="1810512"/>
            <a:ext cx="2432304" cy="76809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Reduce el ruido de red, muy presente en el geófono.</a:t>
            </a:r>
            <a:endParaRPr lang="en-US" sz="1300" dirty="0"/>
          </a:p>
        </p:txBody>
      </p:sp>
      <p:sp>
        <p:nvSpPr>
          <p:cNvPr id="7" name="Cabecera PGA a la entrada"/>
          <p:cNvSpPr/>
          <p:nvPr/>
        </p:nvSpPr>
        <p:spPr>
          <a:xfrm>
            <a:off x="3246120" y="1280160"/>
            <a:ext cx="2651760" cy="457200"/>
          </a:xfrm>
          <a:prstGeom prst="rect">
            <a:avLst/>
          </a:prstGeom>
          <a:solidFill>
            <a:srgbClr val="1F4E79"/>
          </a:solidFill>
          <a:ln w="12700">
            <a:solidFill>
              <a:srgbClr val="1F4E79"/>
            </a:solidFill>
            <a:prstDash val="solid"/>
          </a:ln>
        </p:spPr>
      </p:sp>
      <p:sp>
        <p:nvSpPr>
          <p:cNvPr id="8" name="Text 6"/>
          <p:cNvSpPr txBox="1"/>
          <p:nvPr/>
        </p:nvSpPr>
        <p:spPr>
          <a:xfrm>
            <a:off x="3291840" y="1280160"/>
            <a:ext cx="25603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PGA a la entrada</a:t>
            </a:r>
            <a:endParaRPr lang="en-US" sz="1500" dirty="0"/>
          </a:p>
        </p:txBody>
      </p:sp>
      <p:sp>
        <p:nvSpPr>
          <p:cNvPr id="9" name="Tarjeta PGA a la entrada"/>
          <p:cNvSpPr/>
          <p:nvPr/>
        </p:nvSpPr>
        <p:spPr>
          <a:xfrm>
            <a:off x="3246120" y="1737360"/>
            <a:ext cx="2651760" cy="914400"/>
          </a:xfrm>
          <a:prstGeom prst="rect">
            <a:avLst/>
          </a:prstGeom>
          <a:solidFill>
            <a:srgbClr val="FFFFFF"/>
          </a:solidFill>
          <a:ln w="19050">
            <a:solidFill>
              <a:srgbClr val="1F4E79"/>
            </a:solidFill>
            <a:prstDash val="solid"/>
          </a:ln>
        </p:spPr>
      </p:sp>
      <p:sp>
        <p:nvSpPr>
          <p:cNvPr id="10" name="Text 8"/>
          <p:cNvSpPr txBox="1"/>
          <p:nvPr/>
        </p:nvSpPr>
        <p:spPr>
          <a:xfrm>
            <a:off x="3355848" y="1810512"/>
            <a:ext cx="2432304" cy="76809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Permite una ganancia distinta en cada nodo.</a:t>
            </a:r>
            <a:endParaRPr lang="en-US" sz="1300" dirty="0"/>
          </a:p>
        </p:txBody>
      </p:sp>
      <p:sp>
        <p:nvSpPr>
          <p:cNvPr id="11" name="Cabecera Pasabanda inversor"/>
          <p:cNvSpPr/>
          <p:nvPr/>
        </p:nvSpPr>
        <p:spPr>
          <a:xfrm>
            <a:off x="6035040" y="1280160"/>
            <a:ext cx="2651760" cy="457200"/>
          </a:xfrm>
          <a:prstGeom prst="rect">
            <a:avLst/>
          </a:prstGeom>
          <a:solidFill>
            <a:srgbClr val="C55A11"/>
          </a:solidFill>
          <a:ln w="12700">
            <a:solidFill>
              <a:srgbClr val="C55A11"/>
            </a:solidFill>
            <a:prstDash val="solid"/>
          </a:ln>
        </p:spPr>
      </p:sp>
      <p:sp>
        <p:nvSpPr>
          <p:cNvPr id="12" name="Text 10"/>
          <p:cNvSpPr txBox="1"/>
          <p:nvPr/>
        </p:nvSpPr>
        <p:spPr>
          <a:xfrm>
            <a:off x="6080760" y="1280160"/>
            <a:ext cx="25603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Pasabanda inversor</a:t>
            </a:r>
            <a:endParaRPr lang="en-US" sz="1500" dirty="0"/>
          </a:p>
        </p:txBody>
      </p:sp>
      <p:sp>
        <p:nvSpPr>
          <p:cNvPr id="13" name="Tarjeta Pasabanda inversor"/>
          <p:cNvSpPr/>
          <p:nvPr/>
        </p:nvSpPr>
        <p:spPr>
          <a:xfrm>
            <a:off x="6035040" y="1737360"/>
            <a:ext cx="2651760" cy="914400"/>
          </a:xfrm>
          <a:prstGeom prst="rect">
            <a:avLst/>
          </a:prstGeom>
          <a:solidFill>
            <a:srgbClr val="FFFFFF"/>
          </a:solidFill>
          <a:ln w="19050">
            <a:solidFill>
              <a:srgbClr val="C55A11"/>
            </a:solidFill>
            <a:prstDash val="solid"/>
          </a:ln>
        </p:spPr>
      </p:sp>
      <p:sp>
        <p:nvSpPr>
          <p:cNvPr id="14" name="Text 12"/>
          <p:cNvSpPr txBox="1"/>
          <p:nvPr/>
        </p:nvSpPr>
        <p:spPr>
          <a:xfrm>
            <a:off x="6144768" y="1810512"/>
            <a:ext cx="2432304" cy="76809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Con −Zf/Zin, en lugar de Sallen-Key, desacopla f_low y f_high.</a:t>
            </a:r>
            <a:endParaRPr lang="en-US" sz="1300" dirty="0"/>
          </a:p>
        </p:txBody>
      </p:sp>
      <p:sp>
        <p:nvSpPr>
          <p:cNvPr id="15" name="Cabecera Sumador de tensión"/>
          <p:cNvSpPr/>
          <p:nvPr/>
        </p:nvSpPr>
        <p:spPr>
          <a:xfrm>
            <a:off x="1828800" y="2834640"/>
            <a:ext cx="2651760" cy="457200"/>
          </a:xfrm>
          <a:prstGeom prst="rect">
            <a:avLst/>
          </a:prstGeom>
          <a:solidFill>
            <a:srgbClr val="C55A11"/>
          </a:solidFill>
          <a:ln w="12700">
            <a:solidFill>
              <a:srgbClr val="C55A11"/>
            </a:solidFill>
            <a:prstDash val="solid"/>
          </a:ln>
        </p:spPr>
      </p:sp>
      <p:sp>
        <p:nvSpPr>
          <p:cNvPr id="16" name="Text 14"/>
          <p:cNvSpPr txBox="1"/>
          <p:nvPr/>
        </p:nvSpPr>
        <p:spPr>
          <a:xfrm>
            <a:off x="1874520" y="2834640"/>
            <a:ext cx="25603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Sumador de tensión</a:t>
            </a:r>
            <a:endParaRPr lang="en-US" sz="1500" dirty="0"/>
          </a:p>
        </p:txBody>
      </p:sp>
      <p:sp>
        <p:nvSpPr>
          <p:cNvPr id="17" name="Tarjeta Sumador de tensión"/>
          <p:cNvSpPr/>
          <p:nvPr/>
        </p:nvSpPr>
        <p:spPr>
          <a:xfrm>
            <a:off x="1828800" y="3291840"/>
            <a:ext cx="2651760" cy="914400"/>
          </a:xfrm>
          <a:prstGeom prst="rect">
            <a:avLst/>
          </a:prstGeom>
          <a:solidFill>
            <a:srgbClr val="FFFFFF"/>
          </a:solidFill>
          <a:ln w="19050">
            <a:solidFill>
              <a:srgbClr val="C55A11"/>
            </a:solidFill>
            <a:prstDash val="solid"/>
          </a:ln>
        </p:spPr>
      </p:sp>
      <p:sp>
        <p:nvSpPr>
          <p:cNvPr id="18" name="Text 16"/>
          <p:cNvSpPr txBox="1"/>
          <p:nvPr/>
        </p:nvSpPr>
        <p:spPr>
          <a:xfrm>
            <a:off x="1938528" y="3364992"/>
            <a:ext cx="2432304" cy="76809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Reemplaza al restador: menos componentes y menos dependencia de tolerancias.</a:t>
            </a:r>
            <a:endParaRPr lang="en-US" sz="1300" dirty="0"/>
          </a:p>
        </p:txBody>
      </p:sp>
      <p:sp>
        <p:nvSpPr>
          <p:cNvPr id="19" name="Cabecera Filtro antialias"/>
          <p:cNvSpPr/>
          <p:nvPr/>
        </p:nvSpPr>
        <p:spPr>
          <a:xfrm>
            <a:off x="4617720" y="2834640"/>
            <a:ext cx="2651760" cy="457200"/>
          </a:xfrm>
          <a:prstGeom prst="rect">
            <a:avLst/>
          </a:prstGeom>
          <a:solidFill>
            <a:srgbClr val="1F4E79"/>
          </a:solidFill>
          <a:ln w="12700">
            <a:solidFill>
              <a:srgbClr val="1F4E79"/>
            </a:solidFill>
            <a:prstDash val="solid"/>
          </a:ln>
        </p:spPr>
      </p:sp>
      <p:sp>
        <p:nvSpPr>
          <p:cNvPr id="20" name="Text 18"/>
          <p:cNvSpPr txBox="1"/>
          <p:nvPr/>
        </p:nvSpPr>
        <p:spPr>
          <a:xfrm>
            <a:off x="4663440" y="2834640"/>
            <a:ext cx="25603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Filtro antialias</a:t>
            </a:r>
            <a:endParaRPr lang="en-US" sz="1500" dirty="0"/>
          </a:p>
        </p:txBody>
      </p:sp>
      <p:sp>
        <p:nvSpPr>
          <p:cNvPr id="21" name="Tarjeta Filtro antialias"/>
          <p:cNvSpPr/>
          <p:nvPr/>
        </p:nvSpPr>
        <p:spPr>
          <a:xfrm>
            <a:off x="4617720" y="3291840"/>
            <a:ext cx="2651760" cy="914400"/>
          </a:xfrm>
          <a:prstGeom prst="rect">
            <a:avLst/>
          </a:prstGeom>
          <a:solidFill>
            <a:srgbClr val="FFFFFF"/>
          </a:solidFill>
          <a:ln w="19050">
            <a:solidFill>
              <a:srgbClr val="1F4E79"/>
            </a:solidFill>
            <a:prstDash val="solid"/>
          </a:ln>
        </p:spPr>
      </p:sp>
      <p:sp>
        <p:nvSpPr>
          <p:cNvPr id="22" name="Text 20"/>
          <p:cNvSpPr txBox="1"/>
          <p:nvPr/>
        </p:nvSpPr>
        <p:spPr>
          <a:xfrm>
            <a:off x="4727448" y="3364992"/>
            <a:ext cx="2432304" cy="76809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Limita la banda antes del ADC.</a:t>
            </a:r>
            <a:endParaRPr lang="en-US" sz="1300" dirty="0"/>
          </a:p>
        </p:txBody>
      </p:sp>
      <p:sp>
        <p:nvSpPr>
          <p:cNvPr id="23" name="Text 21"/>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Menor sensibilidad a tolerancias: observación experimental, pendiente de cuantificar.</a:t>
            </a:r>
            <a:endParaRPr lang="en-US" sz="1300" dirty="0"/>
          </a:p>
        </p:txBody>
      </p:sp>
      <p:sp>
        <p:nvSpPr>
          <p:cNvPr id="2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decisiones de diseño propias.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Así quedó el frente analógico implementado en el PSoC 5LP</a:t>
            </a:r>
            <a:endParaRPr lang="en-US" sz="2400" dirty="0"/>
          </a:p>
        </p:txBody>
      </p:sp>
      <p:pic>
        <p:nvPicPr>
          <p:cNvPr id="3" name="Esquema AFE" descr="Esquema del frente analógico en PSoC Creator: entrada diferencial, ganancia programable, rama pasabanda, sumador, pasa-bajos, referencias VDAC y ADC">    </p:cNvPr>
          <p:cNvPicPr>
            <a:picLocks noChangeAspect="1"/>
          </p:cNvPicPr>
          <p:nvPr/>
        </p:nvPicPr>
        <p:blipFill>
          <a:blip r:embed="rId1"/>
          <a:stretch>
            <a:fillRect/>
          </a:stretch>
        </p:blipFill>
        <p:spPr>
          <a:xfrm>
            <a:off x="1097280" y="1234440"/>
            <a:ext cx="6949440" cy="3133039"/>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Elaboración propia en PSoC Creator (resumen firmado, fig. 5 y sec. 4.3).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offset se acumula a lo largo de la cadena y no se puede desacoplar en continua</a:t>
            </a:r>
            <a:endParaRPr lang="en-US" sz="2400" dirty="0"/>
          </a:p>
        </p:txBody>
      </p:sp>
      <p:sp>
        <p:nvSpPr>
          <p:cNvPr id="3" name="Geófono"/>
          <p:cNvSpPr/>
          <p:nvPr/>
        </p:nvSpPr>
        <p:spPr>
          <a:xfrm>
            <a:off x="457200" y="1645920"/>
            <a:ext cx="1188720" cy="640080"/>
          </a:xfrm>
          <a:prstGeom prst="roundRect">
            <a:avLst>
              <a:gd name="adj" fmla="val 11429"/>
            </a:avLst>
          </a:prstGeom>
          <a:solidFill>
            <a:srgbClr val="2E75B6"/>
          </a:solidFill>
          <a:ln w="12700">
            <a:solidFill>
              <a:srgbClr val="2E75B6"/>
            </a:solidFill>
            <a:prstDash val="solid"/>
          </a:ln>
        </p:spPr>
      </p:sp>
      <p:sp>
        <p:nvSpPr>
          <p:cNvPr id="4" name="Text 2"/>
          <p:cNvSpPr txBox="1"/>
          <p:nvPr/>
        </p:nvSpPr>
        <p:spPr>
          <a:xfrm>
            <a:off x="457200" y="1645920"/>
            <a:ext cx="118872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Geófono</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SM-24</a:t>
            </a:r>
            <a:endParaRPr lang="en-US" sz="1300" dirty="0"/>
          </a:p>
        </p:txBody>
      </p:sp>
      <p:sp>
        <p:nvSpPr>
          <p:cNvPr id="5" name="PGA"/>
          <p:cNvSpPr/>
          <p:nvPr/>
        </p:nvSpPr>
        <p:spPr>
          <a:xfrm>
            <a:off x="1920240" y="1645920"/>
            <a:ext cx="1371600" cy="640080"/>
          </a:xfrm>
          <a:prstGeom prst="roundRect">
            <a:avLst>
              <a:gd name="adj" fmla="val 11429"/>
            </a:avLst>
          </a:prstGeom>
          <a:solidFill>
            <a:srgbClr val="2E75B6"/>
          </a:solidFill>
          <a:ln w="12700">
            <a:solidFill>
              <a:srgbClr val="2E75B6"/>
            </a:solidFill>
            <a:prstDash val="solid"/>
          </a:ln>
        </p:spPr>
      </p:sp>
      <p:sp>
        <p:nvSpPr>
          <p:cNvPr id="6" name="Text 4"/>
          <p:cNvSpPr txBox="1"/>
          <p:nvPr/>
        </p:nvSpPr>
        <p:spPr>
          <a:xfrm>
            <a:off x="1920240" y="1645920"/>
            <a:ext cx="13716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PGA</a:t>
            </a:r>
            <a:endParaRPr lang="en-US" sz="1300" dirty="0"/>
          </a:p>
        </p:txBody>
      </p:sp>
      <p:sp>
        <p:nvSpPr>
          <p:cNvPr id="7" name="Pasabanda"/>
          <p:cNvSpPr/>
          <p:nvPr/>
        </p:nvSpPr>
        <p:spPr>
          <a:xfrm>
            <a:off x="3749040" y="2331720"/>
            <a:ext cx="1463040" cy="640080"/>
          </a:xfrm>
          <a:prstGeom prst="roundRect">
            <a:avLst>
              <a:gd name="adj" fmla="val 11429"/>
            </a:avLst>
          </a:prstGeom>
          <a:solidFill>
            <a:srgbClr val="C55A11"/>
          </a:solidFill>
          <a:ln w="12700">
            <a:solidFill>
              <a:srgbClr val="C55A11"/>
            </a:solidFill>
            <a:prstDash val="solid"/>
          </a:ln>
        </p:spPr>
      </p:sp>
      <p:sp>
        <p:nvSpPr>
          <p:cNvPr id="8" name="Text 6"/>
          <p:cNvSpPr txBox="1"/>
          <p:nvPr/>
        </p:nvSpPr>
        <p:spPr>
          <a:xfrm>
            <a:off x="3749040" y="2331720"/>
            <a:ext cx="14630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Pasabanda</a:t>
            </a:r>
            <a:endParaRPr lang="en-US" sz="1300" dirty="0"/>
          </a:p>
        </p:txBody>
      </p:sp>
      <p:sp>
        <p:nvSpPr>
          <p:cNvPr id="9" name="Sumador"/>
          <p:cNvSpPr/>
          <p:nvPr/>
        </p:nvSpPr>
        <p:spPr>
          <a:xfrm>
            <a:off x="5239512" y="1719072"/>
            <a:ext cx="493776" cy="493776"/>
          </a:xfrm>
          <a:prstGeom prst="ellipse">
            <a:avLst/>
          </a:prstGeom>
          <a:solidFill>
            <a:srgbClr val="1F4E79"/>
          </a:solidFill>
          <a:ln w="12700">
            <a:solidFill>
              <a:srgbClr val="1F4E79"/>
            </a:solidFill>
            <a:prstDash val="solid"/>
          </a:ln>
        </p:spPr>
      </p:sp>
      <p:sp>
        <p:nvSpPr>
          <p:cNvPr id="10" name="Text 8"/>
          <p:cNvSpPr txBox="1"/>
          <p:nvPr/>
        </p:nvSpPr>
        <p:spPr>
          <a:xfrm>
            <a:off x="5239512" y="171907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Σ</a:t>
            </a:r>
            <a:endParaRPr lang="en-US" sz="1800" dirty="0"/>
          </a:p>
        </p:txBody>
      </p:sp>
      <p:sp>
        <p:nvSpPr>
          <p:cNvPr id="11" name="Pasa-bajos"/>
          <p:cNvSpPr/>
          <p:nvPr/>
        </p:nvSpPr>
        <p:spPr>
          <a:xfrm>
            <a:off x="6263640" y="1645920"/>
            <a:ext cx="1143000" cy="640080"/>
          </a:xfrm>
          <a:prstGeom prst="roundRect">
            <a:avLst>
              <a:gd name="adj" fmla="val 11429"/>
            </a:avLst>
          </a:prstGeom>
          <a:solidFill>
            <a:srgbClr val="2E75B6"/>
          </a:solidFill>
          <a:ln w="12700">
            <a:solidFill>
              <a:srgbClr val="2E75B6"/>
            </a:solidFill>
            <a:prstDash val="solid"/>
          </a:ln>
        </p:spPr>
      </p:sp>
      <p:sp>
        <p:nvSpPr>
          <p:cNvPr id="12" name="Text 10"/>
          <p:cNvSpPr txBox="1"/>
          <p:nvPr/>
        </p:nvSpPr>
        <p:spPr>
          <a:xfrm>
            <a:off x="6263640" y="1645920"/>
            <a:ext cx="11430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Pasa-bajos</a:t>
            </a:r>
            <a:endParaRPr lang="en-US" sz="1300" dirty="0"/>
          </a:p>
        </p:txBody>
      </p:sp>
      <p:sp>
        <p:nvSpPr>
          <p:cNvPr id="13" name="ADC"/>
          <p:cNvSpPr/>
          <p:nvPr/>
        </p:nvSpPr>
        <p:spPr>
          <a:xfrm>
            <a:off x="7680960" y="1645920"/>
            <a:ext cx="1005840" cy="640080"/>
          </a:xfrm>
          <a:prstGeom prst="roundRect">
            <a:avLst>
              <a:gd name="adj" fmla="val 11429"/>
            </a:avLst>
          </a:prstGeom>
          <a:solidFill>
            <a:srgbClr val="1F4E79"/>
          </a:solidFill>
          <a:ln w="12700">
            <a:solidFill>
              <a:srgbClr val="1F4E79"/>
            </a:solidFill>
            <a:prstDash val="solid"/>
          </a:ln>
        </p:spPr>
      </p:sp>
      <p:sp>
        <p:nvSpPr>
          <p:cNvPr id="14" name="Text 12"/>
          <p:cNvSpPr txBox="1"/>
          <p:nvPr/>
        </p:nvSpPr>
        <p:spPr>
          <a:xfrm>
            <a:off x="7680960" y="1645920"/>
            <a:ext cx="10058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ADC</a:t>
            </a:r>
            <a:endParaRPr lang="en-US" sz="1300" dirty="0"/>
          </a:p>
        </p:txBody>
      </p:sp>
      <p:sp>
        <p:nvSpPr>
          <p:cNvPr id="15" name="Shape 13"/>
          <p:cNvSpPr/>
          <p:nvPr/>
        </p:nvSpPr>
        <p:spPr>
          <a:xfrm>
            <a:off x="1645920" y="1965960"/>
            <a:ext cx="274320" cy="0"/>
          </a:xfrm>
          <a:prstGeom prst="line">
            <a:avLst/>
          </a:prstGeom>
          <a:noFill/>
          <a:ln w="31750">
            <a:solidFill>
              <a:srgbClr val="1F4E79"/>
            </a:solidFill>
            <a:prstDash val="solid"/>
            <a:tailEnd type="triangle"/>
          </a:ln>
        </p:spPr>
      </p:sp>
      <p:sp>
        <p:nvSpPr>
          <p:cNvPr id="16" name="Shape 14"/>
          <p:cNvSpPr/>
          <p:nvPr/>
        </p:nvSpPr>
        <p:spPr>
          <a:xfrm>
            <a:off x="3291840" y="1965960"/>
            <a:ext cx="1947672" cy="0"/>
          </a:xfrm>
          <a:prstGeom prst="line">
            <a:avLst/>
          </a:prstGeom>
          <a:noFill/>
          <a:ln w="31750">
            <a:solidFill>
              <a:srgbClr val="1F4E79"/>
            </a:solidFill>
            <a:prstDash val="solid"/>
            <a:tailEnd type="triangle"/>
          </a:ln>
        </p:spPr>
      </p:sp>
      <p:sp>
        <p:nvSpPr>
          <p:cNvPr id="17" name="Nodo de derivación"/>
          <p:cNvSpPr/>
          <p:nvPr/>
        </p:nvSpPr>
        <p:spPr>
          <a:xfrm>
            <a:off x="3474720" y="1920240"/>
            <a:ext cx="91440" cy="91440"/>
          </a:xfrm>
          <a:prstGeom prst="ellipse">
            <a:avLst/>
          </a:prstGeom>
          <a:solidFill>
            <a:srgbClr val="1F4E79"/>
          </a:solidFill>
          <a:ln w="12700">
            <a:solidFill>
              <a:srgbClr val="1F4E79"/>
            </a:solidFill>
            <a:prstDash val="solid"/>
          </a:ln>
        </p:spPr>
      </p:sp>
      <p:sp>
        <p:nvSpPr>
          <p:cNvPr id="18" name="Shape 16"/>
          <p:cNvSpPr/>
          <p:nvPr/>
        </p:nvSpPr>
        <p:spPr>
          <a:xfrm>
            <a:off x="3520440" y="1965960"/>
            <a:ext cx="0" cy="685800"/>
          </a:xfrm>
          <a:prstGeom prst="line">
            <a:avLst/>
          </a:prstGeom>
          <a:noFill/>
          <a:ln w="31750">
            <a:solidFill>
              <a:srgbClr val="C55A11"/>
            </a:solidFill>
            <a:prstDash val="solid"/>
          </a:ln>
        </p:spPr>
      </p:sp>
      <p:sp>
        <p:nvSpPr>
          <p:cNvPr id="19" name="Shape 17"/>
          <p:cNvSpPr/>
          <p:nvPr/>
        </p:nvSpPr>
        <p:spPr>
          <a:xfrm>
            <a:off x="3520440" y="2651760"/>
            <a:ext cx="228600" cy="0"/>
          </a:xfrm>
          <a:prstGeom prst="line">
            <a:avLst/>
          </a:prstGeom>
          <a:noFill/>
          <a:ln w="31750">
            <a:solidFill>
              <a:srgbClr val="C55A11"/>
            </a:solidFill>
            <a:prstDash val="solid"/>
            <a:tailEnd type="triangle"/>
          </a:ln>
        </p:spPr>
      </p:sp>
      <p:sp>
        <p:nvSpPr>
          <p:cNvPr id="20" name="Shape 18"/>
          <p:cNvSpPr/>
          <p:nvPr/>
        </p:nvSpPr>
        <p:spPr>
          <a:xfrm>
            <a:off x="5212080" y="2651760"/>
            <a:ext cx="274320" cy="0"/>
          </a:xfrm>
          <a:prstGeom prst="line">
            <a:avLst/>
          </a:prstGeom>
          <a:noFill/>
          <a:ln w="31750">
            <a:solidFill>
              <a:srgbClr val="C55A11"/>
            </a:solidFill>
            <a:prstDash val="solid"/>
          </a:ln>
        </p:spPr>
      </p:sp>
      <p:sp>
        <p:nvSpPr>
          <p:cNvPr id="21" name="Shape 19"/>
          <p:cNvSpPr/>
          <p:nvPr/>
        </p:nvSpPr>
        <p:spPr>
          <a:xfrm flipV="1">
            <a:off x="5486400" y="2212848"/>
            <a:ext cx="0" cy="438912"/>
          </a:xfrm>
          <a:prstGeom prst="line">
            <a:avLst/>
          </a:prstGeom>
          <a:noFill/>
          <a:ln w="31750">
            <a:solidFill>
              <a:srgbClr val="C55A11"/>
            </a:solidFill>
            <a:prstDash val="solid"/>
            <a:tailEnd type="triangle"/>
          </a:ln>
        </p:spPr>
      </p:sp>
      <p:sp>
        <p:nvSpPr>
          <p:cNvPr id="22" name="Shape 20"/>
          <p:cNvSpPr/>
          <p:nvPr/>
        </p:nvSpPr>
        <p:spPr>
          <a:xfrm>
            <a:off x="5733288" y="1965960"/>
            <a:ext cx="530352" cy="0"/>
          </a:xfrm>
          <a:prstGeom prst="line">
            <a:avLst/>
          </a:prstGeom>
          <a:noFill/>
          <a:ln w="31750">
            <a:solidFill>
              <a:srgbClr val="1F4E79"/>
            </a:solidFill>
            <a:prstDash val="solid"/>
            <a:tailEnd type="triangle"/>
          </a:ln>
        </p:spPr>
      </p:sp>
      <p:sp>
        <p:nvSpPr>
          <p:cNvPr id="23" name="Shape 21"/>
          <p:cNvSpPr/>
          <p:nvPr/>
        </p:nvSpPr>
        <p:spPr>
          <a:xfrm>
            <a:off x="7406640" y="1965960"/>
            <a:ext cx="274320" cy="0"/>
          </a:xfrm>
          <a:prstGeom prst="line">
            <a:avLst/>
          </a:prstGeom>
          <a:noFill/>
          <a:ln w="31750">
            <a:solidFill>
              <a:srgbClr val="1F4E79"/>
            </a:solidFill>
            <a:prstDash val="solid"/>
            <a:tailEnd type="triangle"/>
          </a:ln>
        </p:spPr>
      </p:sp>
      <p:sp>
        <p:nvSpPr>
          <p:cNvPr id="24" name="Text 22"/>
          <p:cNvSpPr txBox="1"/>
          <p:nvPr/>
        </p:nvSpPr>
        <p:spPr>
          <a:xfrm>
            <a:off x="4892040" y="1581912"/>
            <a:ext cx="274320" cy="27432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a:t>
            </a:r>
            <a:endParaRPr lang="en-US" sz="1600" dirty="0"/>
          </a:p>
        </p:txBody>
      </p:sp>
      <p:sp>
        <p:nvSpPr>
          <p:cNvPr id="25" name="Text 23"/>
          <p:cNvSpPr txBox="1"/>
          <p:nvPr/>
        </p:nvSpPr>
        <p:spPr>
          <a:xfrm>
            <a:off x="5577840" y="2267712"/>
            <a:ext cx="274320" cy="274320"/>
          </a:xfrm>
          <a:prstGeom prst="rect">
            <a:avLst/>
          </a:prstGeom>
          <a:noFill/>
          <a:ln/>
        </p:spPr>
        <p:txBody>
          <a:bodyPr wrap="square" lIns="0" tIns="0" rIns="0" bIns="0" rtlCol="0" anchor="t"/>
          <a:lstStyle/>
          <a:p>
            <a:pPr algn="ctr" indent="0" marL="0">
              <a:buNone/>
            </a:pPr>
            <a:r>
              <a:rPr lang="en-US" sz="2000" b="1" dirty="0">
                <a:solidFill>
                  <a:srgbClr val="C55A11"/>
                </a:solidFill>
                <a:latin typeface="Arial" pitchFamily="34" charset="0"/>
                <a:ea typeface="Arial" pitchFamily="34" charset="-122"/>
                <a:cs typeface="Arial" pitchFamily="34" charset="-120"/>
              </a:rPr>
              <a:t>+</a:t>
            </a:r>
            <a:endParaRPr lang="en-US" sz="2000" dirty="0"/>
          </a:p>
        </p:txBody>
      </p:sp>
      <p:sp>
        <p:nvSpPr>
          <p:cNvPr id="26" name="Text 24"/>
          <p:cNvSpPr txBox="1"/>
          <p:nvPr/>
        </p:nvSpPr>
        <p:spPr>
          <a:xfrm>
            <a:off x="2057400" y="1371600"/>
            <a:ext cx="1097280" cy="228600"/>
          </a:xfrm>
          <a:prstGeom prst="rect">
            <a:avLst/>
          </a:prstGeom>
          <a:noFill/>
          <a:ln/>
        </p:spPr>
        <p:txBody>
          <a:bodyPr wrap="square" lIns="0" tIns="0" rIns="0" bIns="0" rtlCol="0" anchor="t"/>
          <a:lstStyle/>
          <a:p>
            <a:pPr algn="ctr" indent="0" marL="0">
              <a:buNone/>
            </a:pPr>
            <a:r>
              <a:rPr lang="en-US" sz="1200" b="1" dirty="0">
                <a:solidFill>
                  <a:srgbClr val="C55A11"/>
                </a:solidFill>
                <a:latin typeface="Arial" pitchFamily="34" charset="0"/>
                <a:ea typeface="Arial" pitchFamily="34" charset="-122"/>
                <a:cs typeface="Arial" pitchFamily="34" charset="-120"/>
              </a:rPr>
              <a:t>offset</a:t>
            </a:r>
            <a:endParaRPr lang="en-US" sz="1200" dirty="0"/>
          </a:p>
        </p:txBody>
      </p:sp>
      <p:sp>
        <p:nvSpPr>
          <p:cNvPr id="27" name="Text 25"/>
          <p:cNvSpPr txBox="1"/>
          <p:nvPr/>
        </p:nvSpPr>
        <p:spPr>
          <a:xfrm>
            <a:off x="3749040" y="3017520"/>
            <a:ext cx="1463040" cy="228600"/>
          </a:xfrm>
          <a:prstGeom prst="rect">
            <a:avLst/>
          </a:prstGeom>
          <a:noFill/>
          <a:ln/>
        </p:spPr>
        <p:txBody>
          <a:bodyPr wrap="square" lIns="0" tIns="0" rIns="0" bIns="0" rtlCol="0" anchor="t"/>
          <a:lstStyle/>
          <a:p>
            <a:pPr algn="ctr" indent="0" marL="0">
              <a:buNone/>
            </a:pPr>
            <a:r>
              <a:rPr lang="en-US" sz="1200" b="1" dirty="0">
                <a:solidFill>
                  <a:srgbClr val="C55A11"/>
                </a:solidFill>
                <a:latin typeface="Arial" pitchFamily="34" charset="0"/>
                <a:ea typeface="Arial" pitchFamily="34" charset="-122"/>
                <a:cs typeface="Arial" pitchFamily="34" charset="-120"/>
              </a:rPr>
              <a:t>offset</a:t>
            </a:r>
            <a:endParaRPr lang="en-US" sz="1200" dirty="0"/>
          </a:p>
        </p:txBody>
      </p:sp>
      <p:sp>
        <p:nvSpPr>
          <p:cNvPr id="28" name="Text 26"/>
          <p:cNvSpPr txBox="1"/>
          <p:nvPr/>
        </p:nvSpPr>
        <p:spPr>
          <a:xfrm>
            <a:off x="5733288" y="1371600"/>
            <a:ext cx="1097280" cy="228600"/>
          </a:xfrm>
          <a:prstGeom prst="rect">
            <a:avLst/>
          </a:prstGeom>
          <a:noFill/>
          <a:ln/>
        </p:spPr>
        <p:txBody>
          <a:bodyPr wrap="square" lIns="0" tIns="0" rIns="0" bIns="0" rtlCol="0" anchor="t"/>
          <a:lstStyle/>
          <a:p>
            <a:pPr algn="ctr" indent="0" marL="0">
              <a:buNone/>
            </a:pPr>
            <a:r>
              <a:rPr lang="en-US" sz="1200" b="1" dirty="0">
                <a:solidFill>
                  <a:srgbClr val="C55A11"/>
                </a:solidFill>
                <a:latin typeface="Arial" pitchFamily="34" charset="0"/>
                <a:ea typeface="Arial" pitchFamily="34" charset="-122"/>
                <a:cs typeface="Arial" pitchFamily="34" charset="-120"/>
              </a:rPr>
              <a:t>offset</a:t>
            </a:r>
            <a:endParaRPr lang="en-US" sz="1200" dirty="0"/>
          </a:p>
        </p:txBody>
      </p:sp>
      <p:sp>
        <p:nvSpPr>
          <p:cNvPr id="29" name="Text 27"/>
          <p:cNvSpPr txBox="1"/>
          <p:nvPr/>
        </p:nvSpPr>
        <p:spPr>
          <a:xfrm>
            <a:off x="6858000" y="1371600"/>
            <a:ext cx="1097280" cy="228600"/>
          </a:xfrm>
          <a:prstGeom prst="rect">
            <a:avLst/>
          </a:prstGeom>
          <a:noFill/>
          <a:ln/>
        </p:spPr>
        <p:txBody>
          <a:bodyPr wrap="square" lIns="0" tIns="0" rIns="0" bIns="0" rtlCol="0" anchor="t"/>
          <a:lstStyle/>
          <a:p>
            <a:pPr algn="ctr" indent="0" marL="0">
              <a:buNone/>
            </a:pPr>
            <a:r>
              <a:rPr lang="en-US" sz="1200" b="1" dirty="0">
                <a:solidFill>
                  <a:srgbClr val="C55A11"/>
                </a:solidFill>
                <a:latin typeface="Arial" pitchFamily="34" charset="0"/>
                <a:ea typeface="Arial" pitchFamily="34" charset="-122"/>
                <a:cs typeface="Arial" pitchFamily="34" charset="-120"/>
              </a:rPr>
              <a:t>offset</a:t>
            </a:r>
            <a:endParaRPr lang="en-US" sz="1200" dirty="0"/>
          </a:p>
        </p:txBody>
      </p:sp>
      <p:sp>
        <p:nvSpPr>
          <p:cNvPr id="30" name="Cuerpo"/>
          <p:cNvSpPr txBox="1"/>
          <p:nvPr/>
        </p:nvSpPr>
        <p:spPr>
          <a:xfrm>
            <a:off x="457200" y="3337560"/>
            <a:ext cx="8229600"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D2D2D"/>
                </a:solidFill>
                <a:latin typeface="Arial" pitchFamily="34" charset="0"/>
                <a:ea typeface="Arial" pitchFamily="34" charset="-122"/>
                <a:cs typeface="Arial" pitchFamily="34" charset="-120"/>
              </a:rPr>
              <a:t>No podemos desacoplar en continua: de ella depende la arquitectura del compensador</a:t>
            </a:r>
            <a:endParaRPr lang="en-US" sz="1500" dirty="0"/>
          </a:p>
          <a:p>
            <a:pPr marL="342900" indent="-342900">
              <a:spcAft>
                <a:spcPts val="600"/>
              </a:spcAft>
              <a:buSzPct val="100000"/>
              <a:buChar char="•"/>
            </a:pPr>
            <a:r>
              <a:rPr lang="en-US" sz="1500" dirty="0">
                <a:solidFill>
                  <a:srgbClr val="2D2D2D"/>
                </a:solidFill>
                <a:latin typeface="Arial" pitchFamily="34" charset="0"/>
                <a:ea typeface="Arial" pitchFamily="34" charset="-122"/>
                <a:cs typeface="Arial" pitchFamily="34" charset="-120"/>
              </a:rPr>
              <a:t>Es consecuencia de las ganancias agresivas por etapa, necesarias para recuperar lo que el método atenúa</a:t>
            </a:r>
            <a:endParaRPr lang="en-US" sz="1500" dirty="0"/>
          </a:p>
          <a:p>
            <a:pPr marL="342900" indent="-342900">
              <a:spcAft>
                <a:spcPts val="600"/>
              </a:spcAft>
              <a:buSzPct val="100000"/>
              <a:buChar char="•"/>
            </a:pPr>
            <a:r>
              <a:rPr lang="en-US" sz="1500" dirty="0">
                <a:solidFill>
                  <a:srgbClr val="2D2D2D"/>
                </a:solidFill>
                <a:latin typeface="Arial" pitchFamily="34" charset="0"/>
                <a:ea typeface="Arial" pitchFamily="34" charset="-122"/>
                <a:cs typeface="Arial" pitchFamily="34" charset="-120"/>
              </a:rPr>
              <a:t>La única solución: recuperar el rango perdido con un ajuste digital previo a la captura</a:t>
            </a:r>
            <a:endParaRPr lang="en-US" sz="1500" dirty="0"/>
          </a:p>
        </p:txBody>
      </p:sp>
      <p:sp>
        <p:nvSpPr>
          <p:cNvPr id="3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4.4; 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Con un offset grande, una etapa recorta la señal y esa parte no se puede recuperar</a:t>
            </a:r>
            <a:endParaRPr lang="en-US" sz="2400" dirty="0"/>
          </a:p>
        </p:txBody>
      </p:sp>
      <p:pic>
        <p:nvPicPr>
          <p:cNvPr id="3" name="Ilustración de recorte" descr="Ilustración: salida de una etapa con offset, recortada en el límite de alimentación, y la misma salida con ajuste previo">    </p:cNvPr>
          <p:cNvPicPr>
            <a:picLocks noChangeAspect="1"/>
          </p:cNvPicPr>
          <p:nvPr/>
        </p:nvPicPr>
        <p:blipFill>
          <a:blip r:embed="rId1"/>
          <a:stretch>
            <a:fillRect/>
          </a:stretch>
        </p:blipFill>
        <p:spPr>
          <a:xfrm>
            <a:off x="457200" y="1188720"/>
            <a:ext cx="8229600" cy="2743200"/>
          </a:xfrm>
          <a:prstGeom prst="rect">
            <a:avLst/>
          </a:prstGeom>
        </p:spPr>
      </p:pic>
      <p:sp>
        <p:nvSpPr>
          <p:cNvPr id="4" name="Text 1"/>
          <p:cNvSpPr txBox="1"/>
          <p:nvPr/>
        </p:nvSpPr>
        <p:spPr>
          <a:xfrm>
            <a:off x="457200" y="4023360"/>
            <a:ext cx="8229600" cy="36576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Sin calibrar, el offset llegó al 21,8 % del fondo de escala en la etapa de suma.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Ilustración propia, esquemática (no es una medición). 21,8 %: Álvarez, González y Vargas, DA-AFE (URUCON).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continua de cada etapa depende de las anteriores, por eso el ajuste se hace en orden</a:t>
            </a:r>
            <a:endParaRPr lang="en-US" sz="2400" dirty="0"/>
          </a:p>
        </p:txBody>
      </p:sp>
      <p:sp>
        <p:nvSpPr>
          <p:cNvPr id="3" name="Fondo E_off"/>
          <p:cNvSpPr/>
          <p:nvPr/>
        </p:nvSpPr>
        <p:spPr>
          <a:xfrm>
            <a:off x="457200" y="1325880"/>
            <a:ext cx="8229600" cy="10058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off"/>
              <p:cNvSpPr txBox="1"/>
              <p:nvPr/>
            </p:nvSpPr>
            <p:spPr>
              <a:xfrm>
                <a:off x="457200" y="1325880"/>
                <a:ext cx="8229600" cy="10058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400" i="1">
                              <a:latin typeface="Cambria Math" panose="02040503050406030204" pitchFamily="18" charset="0"/>
                            </a:rPr>
                          </m:ctrlPr>
                        </m:sSubSupPr>
                        <m:e>
                          <m:r>
                            <a:rPr lang="es-ES" sz="2400" i="1">
                              <a:solidFill>
                                <a:srgbClr val="1F4E79"/>
                              </a:solidFill>
                              <a:latin typeface="Cambria Math" panose="02040503050406030204" pitchFamily="18" charset="0"/>
                            </a:rPr>
                            <m:t xml:space="preserve">y</m:t>
                          </m:r>
                        </m:e>
                        <m:sub>
                          <m:r>
                            <a:rPr lang="es-ES" sz="2400" i="1">
                              <a:solidFill>
                                <a:srgbClr val="1F4E79"/>
                              </a:solidFill>
                              <a:latin typeface="Cambria Math" panose="02040503050406030204" pitchFamily="18" charset="0"/>
                            </a:rPr>
                            <m:t xml:space="preserve">i</m:t>
                          </m:r>
                        </m:sub>
                        <m:sup>
                          <m:r>
                            <m:rPr>
                              <m:sty m:val="p"/>
                            </m:rPr>
                            <a:rPr lang="es-ES" sz="2400">
                              <a:solidFill>
                                <a:srgbClr val="1F4E79"/>
                              </a:solidFill>
                              <a:latin typeface="Cambria Math" panose="02040503050406030204" pitchFamily="18" charset="0"/>
                            </a:rPr>
                            <m:t xml:space="preserve">DC</m:t>
                          </m:r>
                        </m:sup>
                      </m:sSubSup>
                      <m:r>
                        <a:rPr lang="es-ES" sz="2400" i="1">
                          <a:solidFill>
                            <a:srgbClr val="1F4E79"/>
                          </a:solidFill>
                          <a:latin typeface="Cambria Math" panose="02040503050406030204" pitchFamily="18" charset="0"/>
                        </a:rPr>
                        <m:t xml:space="preserve">=</m:t>
                      </m:r>
                      <m:nary>
                        <m:naryPr>
                          <m:chr m:val="∑"/>
                          <m:limLoc m:val="undOvr"/>
                          <m:supHide m:val="1"/>
                          <m:ctrlPr>
                            <a:rPr lang="es-ES" sz="2400" i="1">
                              <a:latin typeface="Cambria Math" panose="02040503050406030204" pitchFamily="18" charset="0"/>
                            </a:rPr>
                          </m:ctrlPr>
                        </m:naryPr>
                        <m:sub>
                          <m:r>
                            <a:rPr lang="es-ES" sz="2400" i="1">
                              <a:solidFill>
                                <a:srgbClr val="1F4E79"/>
                              </a:solidFill>
                              <a:latin typeface="Cambria Math" panose="02040503050406030204" pitchFamily="18" charset="0"/>
                            </a:rPr>
                            <m:t xml:space="preserve">j&lt;i</m:t>
                          </m:r>
                        </m:sub>
                        <m:sup/>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A</m:t>
                              </m:r>
                            </m:e>
                            <m:sub>
                              <m:r>
                                <a:rPr lang="es-ES" sz="2400" i="1">
                                  <a:solidFill>
                                    <a:srgbClr val="1F4E79"/>
                                  </a:solidFill>
                                  <a:latin typeface="Cambria Math" panose="02040503050406030204" pitchFamily="18" charset="0"/>
                                </a:rPr>
                                <m:t xml:space="preserve">ij</m:t>
                              </m:r>
                            </m:sub>
                          </m:sSub>
                          <m:sSubSup>
                            <m:sSubSupPr>
                              <m:ctrlPr>
                                <a:rPr lang="es-ES" sz="2400" i="1">
                                  <a:latin typeface="Cambria Math" panose="02040503050406030204" pitchFamily="18" charset="0"/>
                                </a:rPr>
                              </m:ctrlPr>
                            </m:sSubSupPr>
                            <m:e>
                              <m:r>
                                <a:rPr lang="es-ES" sz="2400" i="1">
                                  <a:solidFill>
                                    <a:srgbClr val="1F4E79"/>
                                  </a:solidFill>
                                  <a:latin typeface="Cambria Math" panose="02040503050406030204" pitchFamily="18" charset="0"/>
                                </a:rPr>
                                <m:t xml:space="preserve">y</m:t>
                              </m:r>
                            </m:e>
                            <m:sub>
                              <m:r>
                                <a:rPr lang="es-ES" sz="2400" i="1">
                                  <a:solidFill>
                                    <a:srgbClr val="1F4E79"/>
                                  </a:solidFill>
                                  <a:latin typeface="Cambria Math" panose="02040503050406030204" pitchFamily="18" charset="0"/>
                                </a:rPr>
                                <m:t xml:space="preserve">j</m:t>
                              </m:r>
                            </m:sub>
                            <m:sup>
                              <m:r>
                                <m:rPr>
                                  <m:sty m:val="p"/>
                                </m:rPr>
                                <a:rPr lang="es-ES" sz="2400">
                                  <a:solidFill>
                                    <a:srgbClr val="1F4E79"/>
                                  </a:solidFill>
                                  <a:latin typeface="Cambria Math" panose="02040503050406030204" pitchFamily="18" charset="0"/>
                                </a:rPr>
                                <m:t xml:space="preserve">DC</m:t>
                              </m:r>
                            </m:sup>
                          </m:sSubSup>
                        </m:e>
                      </m:nary>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b</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K</m:t>
                          </m:r>
                        </m:e>
                        <m:sub>
                          <m:r>
                            <a:rPr lang="es-ES" sz="2400" i="1">
                              <a:solidFill>
                                <a:srgbClr val="1F4E79"/>
                              </a:solidFill>
                              <a:latin typeface="Cambria Math" panose="02040503050406030204" pitchFamily="18" charset="0"/>
                            </a:rPr>
                            <m:t xml:space="preserve">i</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4" name="Ecuación E_off"/>
              <p:cNvSpPr txBox="1"/>
              <p:nvPr/>
            </p:nvSpPr>
            <p:spPr>
              <a:xfrm>
                <a:off x="457200" y="1325880"/>
                <a:ext cx="8229600" cy="10058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yi(DC) = Σ(j&lt;i) Aij · yj(DC) + bi + Ki · ui</a:t>
                </a:r>
                <a:endParaRPr lang="en-US" sz="2400" dirty="0"/>
              </a:p>
            </p:txBody>
          </p:sp>
        </mc:Fallback>
      </mc:AlternateContent>
      <p:sp>
        <p:nvSpPr>
          <p:cNvPr id="5" name="Cuerpo"/>
          <p:cNvSpPr txBox="1"/>
          <p:nvPr/>
        </p:nvSpPr>
        <p:spPr>
          <a:xfrm>
            <a:off x="457200" y="2560320"/>
            <a:ext cx="8229600" cy="18288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A_ij: transferencia de continua de la etapa j a la etapa i</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b_i: offset propio de la etapa i</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K_i·u_i: corrección aplicada con el VDAC de la etapa i</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Orden de ajuste: PGA, pasabanda, suma, pasa-bajos</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notación por confirmar con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calibración se hace antes de capturar, etapa por etapa, y queda fija durante la captura</a:t>
            </a:r>
            <a:endParaRPr lang="en-US" sz="2400" dirty="0"/>
          </a:p>
        </p:txBody>
      </p:sp>
      <p:sp>
        <p:nvSpPr>
          <p:cNvPr id="3" name="Paso 1"/>
          <p:cNvSpPr/>
          <p:nvPr/>
        </p:nvSpPr>
        <p:spPr>
          <a:xfrm>
            <a:off x="457200" y="1371600"/>
            <a:ext cx="1463040" cy="1371600"/>
          </a:xfrm>
          <a:prstGeom prst="roundRect">
            <a:avLst>
              <a:gd name="adj" fmla="val 5333"/>
            </a:avLst>
          </a:prstGeom>
          <a:solidFill>
            <a:srgbClr val="2E75B6"/>
          </a:solidFill>
          <a:ln w="12700">
            <a:solidFill>
              <a:srgbClr val="2E75B6"/>
            </a:solidFill>
            <a:prstDash val="solid"/>
          </a:ln>
        </p:spPr>
      </p:sp>
      <p:sp>
        <p:nvSpPr>
          <p:cNvPr id="4" name="Text 2"/>
          <p:cNvSpPr txBox="1"/>
          <p:nvPr/>
        </p:nvSpPr>
        <p:spPr>
          <a:xfrm>
            <a:off x="457200" y="1371600"/>
            <a:ext cx="1463040" cy="1371600"/>
          </a:xfrm>
          <a:prstGeom prst="rect">
            <a:avLst/>
          </a:prstGeom>
          <a:noFill/>
          <a:ln/>
        </p:spPr>
        <p:txBody>
          <a:bodyPr wrap="square" lIns="50800" tIns="50800" rIns="50800" bIns="508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Medir la continua con el ADC y un FIR de 128 coeficientes</a:t>
            </a:r>
            <a:endParaRPr lang="en-US" sz="1200" dirty="0"/>
          </a:p>
        </p:txBody>
      </p:sp>
      <p:sp>
        <p:nvSpPr>
          <p:cNvPr id="5" name="Shape 3"/>
          <p:cNvSpPr/>
          <p:nvPr/>
        </p:nvSpPr>
        <p:spPr>
          <a:xfrm>
            <a:off x="1920240" y="2057400"/>
            <a:ext cx="201168" cy="0"/>
          </a:xfrm>
          <a:prstGeom prst="line">
            <a:avLst/>
          </a:prstGeom>
          <a:noFill/>
          <a:ln w="31750">
            <a:solidFill>
              <a:srgbClr val="1F4E79"/>
            </a:solidFill>
            <a:prstDash val="solid"/>
            <a:tailEnd type="triangle"/>
          </a:ln>
        </p:spPr>
      </p:sp>
      <p:sp>
        <p:nvSpPr>
          <p:cNvPr id="6" name="Paso 2"/>
          <p:cNvSpPr/>
          <p:nvPr/>
        </p:nvSpPr>
        <p:spPr>
          <a:xfrm>
            <a:off x="2121408" y="1371600"/>
            <a:ext cx="1463040" cy="1371600"/>
          </a:xfrm>
          <a:prstGeom prst="roundRect">
            <a:avLst>
              <a:gd name="adj" fmla="val 5333"/>
            </a:avLst>
          </a:prstGeom>
          <a:solidFill>
            <a:srgbClr val="2E75B6"/>
          </a:solidFill>
          <a:ln w="12700">
            <a:solidFill>
              <a:srgbClr val="2E75B6"/>
            </a:solidFill>
            <a:prstDash val="solid"/>
          </a:ln>
        </p:spPr>
      </p:sp>
      <p:sp>
        <p:nvSpPr>
          <p:cNvPr id="7" name="Text 5"/>
          <p:cNvSpPr txBox="1"/>
          <p:nvPr/>
        </p:nvSpPr>
        <p:spPr>
          <a:xfrm>
            <a:off x="2121408" y="1371600"/>
            <a:ext cx="1463040" cy="1371600"/>
          </a:xfrm>
          <a:prstGeom prst="rect">
            <a:avLst/>
          </a:prstGeom>
          <a:noFill/>
          <a:ln/>
        </p:spPr>
        <p:txBody>
          <a:bodyPr wrap="square" lIns="50800" tIns="50800" rIns="50800" bIns="508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Convertir el error a códigos del VDAC (16 mV por código)</a:t>
            </a:r>
            <a:endParaRPr lang="en-US" sz="1200" dirty="0"/>
          </a:p>
        </p:txBody>
      </p:sp>
      <p:sp>
        <p:nvSpPr>
          <p:cNvPr id="8" name="Shape 6"/>
          <p:cNvSpPr/>
          <p:nvPr/>
        </p:nvSpPr>
        <p:spPr>
          <a:xfrm>
            <a:off x="3584448" y="2057400"/>
            <a:ext cx="201168" cy="0"/>
          </a:xfrm>
          <a:prstGeom prst="line">
            <a:avLst/>
          </a:prstGeom>
          <a:noFill/>
          <a:ln w="31750">
            <a:solidFill>
              <a:srgbClr val="1F4E79"/>
            </a:solidFill>
            <a:prstDash val="solid"/>
            <a:tailEnd type="triangle"/>
          </a:ln>
        </p:spPr>
      </p:sp>
      <p:sp>
        <p:nvSpPr>
          <p:cNvPr id="9" name="Paso 3"/>
          <p:cNvSpPr/>
          <p:nvPr/>
        </p:nvSpPr>
        <p:spPr>
          <a:xfrm>
            <a:off x="3785616" y="1371600"/>
            <a:ext cx="1463040" cy="1371600"/>
          </a:xfrm>
          <a:prstGeom prst="roundRect">
            <a:avLst>
              <a:gd name="adj" fmla="val 5333"/>
            </a:avLst>
          </a:prstGeom>
          <a:solidFill>
            <a:srgbClr val="C55A11"/>
          </a:solidFill>
          <a:ln w="12700">
            <a:solidFill>
              <a:srgbClr val="C55A11"/>
            </a:solidFill>
            <a:prstDash val="solid"/>
          </a:ln>
        </p:spPr>
      </p:sp>
      <p:sp>
        <p:nvSpPr>
          <p:cNvPr id="10" name="Text 8"/>
          <p:cNvSpPr txBox="1"/>
          <p:nvPr/>
        </p:nvSpPr>
        <p:spPr>
          <a:xfrm>
            <a:off x="3785616" y="1371600"/>
            <a:ext cx="1463040" cy="1371600"/>
          </a:xfrm>
          <a:prstGeom prst="rect">
            <a:avLst/>
          </a:prstGeom>
          <a:noFill/>
          <a:ln/>
        </p:spPr>
        <p:txBody>
          <a:bodyPr wrap="square" lIns="50800" tIns="50800" rIns="50800" bIns="508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Controlador PI con banda muerta y antiwindup</a:t>
            </a:r>
            <a:endParaRPr lang="en-US" sz="1200" dirty="0"/>
          </a:p>
        </p:txBody>
      </p:sp>
      <p:sp>
        <p:nvSpPr>
          <p:cNvPr id="11" name="Shape 9"/>
          <p:cNvSpPr/>
          <p:nvPr/>
        </p:nvSpPr>
        <p:spPr>
          <a:xfrm>
            <a:off x="5248656" y="2057400"/>
            <a:ext cx="201168" cy="0"/>
          </a:xfrm>
          <a:prstGeom prst="line">
            <a:avLst/>
          </a:prstGeom>
          <a:noFill/>
          <a:ln w="31750">
            <a:solidFill>
              <a:srgbClr val="1F4E79"/>
            </a:solidFill>
            <a:prstDash val="solid"/>
            <a:tailEnd type="triangle"/>
          </a:ln>
        </p:spPr>
      </p:sp>
      <p:sp>
        <p:nvSpPr>
          <p:cNvPr id="12" name="Paso 4"/>
          <p:cNvSpPr/>
          <p:nvPr/>
        </p:nvSpPr>
        <p:spPr>
          <a:xfrm>
            <a:off x="5449824" y="1371600"/>
            <a:ext cx="1463040" cy="1371600"/>
          </a:xfrm>
          <a:prstGeom prst="roundRect">
            <a:avLst>
              <a:gd name="adj" fmla="val 5333"/>
            </a:avLst>
          </a:prstGeom>
          <a:solidFill>
            <a:srgbClr val="2E75B6"/>
          </a:solidFill>
          <a:ln w="12700">
            <a:solidFill>
              <a:srgbClr val="2E75B6"/>
            </a:solidFill>
            <a:prstDash val="solid"/>
          </a:ln>
        </p:spPr>
      </p:sp>
      <p:sp>
        <p:nvSpPr>
          <p:cNvPr id="13" name="Text 11"/>
          <p:cNvSpPr txBox="1"/>
          <p:nvPr/>
        </p:nvSpPr>
        <p:spPr>
          <a:xfrm>
            <a:off x="5449824" y="1371600"/>
            <a:ext cx="1463040" cy="1371600"/>
          </a:xfrm>
          <a:prstGeom prst="rect">
            <a:avLst/>
          </a:prstGeom>
          <a:noFill/>
          <a:ln/>
        </p:spPr>
        <p:txBody>
          <a:bodyPr wrap="square" lIns="50800" tIns="50800" rIns="50800" bIns="508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Repetir en orden: PGA, pasabanda, suma, pasa-bajos</a:t>
            </a:r>
            <a:endParaRPr lang="en-US" sz="1200" dirty="0"/>
          </a:p>
        </p:txBody>
      </p:sp>
      <p:sp>
        <p:nvSpPr>
          <p:cNvPr id="14" name="Shape 12"/>
          <p:cNvSpPr/>
          <p:nvPr/>
        </p:nvSpPr>
        <p:spPr>
          <a:xfrm>
            <a:off x="6912864" y="2057400"/>
            <a:ext cx="201168" cy="0"/>
          </a:xfrm>
          <a:prstGeom prst="line">
            <a:avLst/>
          </a:prstGeom>
          <a:noFill/>
          <a:ln w="31750">
            <a:solidFill>
              <a:srgbClr val="1F4E79"/>
            </a:solidFill>
            <a:prstDash val="solid"/>
            <a:tailEnd type="triangle"/>
          </a:ln>
        </p:spPr>
      </p:sp>
      <p:sp>
        <p:nvSpPr>
          <p:cNvPr id="15" name="Paso 5"/>
          <p:cNvSpPr/>
          <p:nvPr/>
        </p:nvSpPr>
        <p:spPr>
          <a:xfrm>
            <a:off x="7114032" y="1371600"/>
            <a:ext cx="1463040" cy="1371600"/>
          </a:xfrm>
          <a:prstGeom prst="roundRect">
            <a:avLst>
              <a:gd name="adj" fmla="val 5333"/>
            </a:avLst>
          </a:prstGeom>
          <a:solidFill>
            <a:srgbClr val="2E75B6"/>
          </a:solidFill>
          <a:ln w="12700">
            <a:solidFill>
              <a:srgbClr val="2E75B6"/>
            </a:solidFill>
            <a:prstDash val="solid"/>
          </a:ln>
        </p:spPr>
      </p:sp>
      <p:sp>
        <p:nvSpPr>
          <p:cNvPr id="16" name="Text 14"/>
          <p:cNvSpPr txBox="1"/>
          <p:nvPr/>
        </p:nvSpPr>
        <p:spPr>
          <a:xfrm>
            <a:off x="7114032" y="1371600"/>
            <a:ext cx="1463040" cy="1371600"/>
          </a:xfrm>
          <a:prstGeom prst="rect">
            <a:avLst/>
          </a:prstGeom>
          <a:noFill/>
          <a:ln/>
        </p:spPr>
        <p:txBody>
          <a:bodyPr wrap="square" lIns="50800" tIns="50800" rIns="50800" bIns="508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Guardar los códigos en EEPROM con CRC, por ganancia</a:t>
            </a:r>
            <a:endParaRPr lang="en-US" sz="1200" dirty="0"/>
          </a:p>
        </p:txBody>
      </p:sp>
      <p:sp>
        <p:nvSpPr>
          <p:cNvPr id="17" name="Cuerpo"/>
          <p:cNvSpPr txBox="1"/>
          <p:nvPr/>
        </p:nvSpPr>
        <p:spPr>
          <a:xfrm>
            <a:off x="457200" y="3063240"/>
            <a:ext cx="82296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Paso del ADC de 18 bits: unos 19,1 µV; paso del VDAC de 8 bits: 16 mV</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La banda muerta evita oscilar entre códigos adyacentes</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Dura entre 7 y 10 s, y durante la captura el controlador está desactivado</a:t>
            </a:r>
            <a:endParaRPr lang="en-US" sz="1600" dirty="0"/>
          </a:p>
        </p:txBody>
      </p:sp>
      <p:sp>
        <p:nvSpPr>
          <p:cNvPr id="18"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4.4, ec. (10)–(14); Álvarez, González y Vargas, DA-AFE (URUCON).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calibración bajó el offset residual en el ADC de 2,9–45,8 % a 0,4–3,9 % del fondo de escala</a:t>
            </a:r>
            <a:endParaRPr lang="en-US" sz="2400" dirty="0"/>
          </a:p>
        </p:txBody>
      </p:sp>
      <p:graphicFrame>
        <p:nvGraphicFramePr>
          <p:cNvPr id="3" name="Chart 0" descr=""/>
          <p:cNvGraphicFramePr/>
          <p:nvPr/>
        </p:nvGraphicFramePr>
        <p:xfrm>
          <a:off x="365760" y="1234440"/>
          <a:ext cx="5486400" cy="324612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6035040" y="1371600"/>
            <a:ext cx="2651760" cy="31089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D2D2D"/>
                </a:solidFill>
                <a:latin typeface="Arial" pitchFamily="34" charset="0"/>
                <a:ea typeface="Arial" pitchFamily="34" charset="-122"/>
                <a:cs typeface="Arial" pitchFamily="34" charset="-120"/>
              </a:rPr>
              <a:t>8 configuraciones placa–ganancia en 2 placas</a:t>
            </a:r>
            <a:endParaRPr lang="en-US" sz="1400" dirty="0"/>
          </a:p>
          <a:p>
            <a:pPr marL="342900" indent="-342900">
              <a:spcAft>
                <a:spcPts val="1000"/>
              </a:spcAft>
              <a:buSzPct val="100000"/>
              <a:buChar char="•"/>
            </a:pPr>
            <a:r>
              <a:rPr lang="en-US" sz="1400" dirty="0">
                <a:solidFill>
                  <a:srgbClr val="2D2D2D"/>
                </a:solidFill>
                <a:latin typeface="Arial" pitchFamily="34" charset="0"/>
                <a:ea typeface="Arial" pitchFamily="34" charset="-122"/>
                <a:cs typeface="Arial" pitchFamily="34" charset="-120"/>
              </a:rPr>
              <a:t>10 reinicios pareados; test del signo, p ≈ 10⁻³</a:t>
            </a:r>
            <a:endParaRPr lang="en-US" sz="1400" dirty="0"/>
          </a:p>
          <a:p>
            <a:pPr marL="342900" indent="-342900">
              <a:spcAft>
                <a:spcPts val="1000"/>
              </a:spcAft>
              <a:buSzPct val="100000"/>
              <a:buChar char="•"/>
            </a:pPr>
            <a:r>
              <a:rPr lang="en-US" sz="1400" dirty="0">
                <a:solidFill>
                  <a:srgbClr val="2D2D2D"/>
                </a:solidFill>
                <a:latin typeface="Arial" pitchFamily="34" charset="0"/>
                <a:ea typeface="Arial" pitchFamily="34" charset="-122"/>
                <a:cs typeface="Arial" pitchFamily="34" charset="-120"/>
              </a:rPr>
              <a:t>Es una prueba de factibilidad con 2 placas, no una validación poblacional</a:t>
            </a:r>
            <a:endParaRPr lang="en-US" sz="14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documento de tesis (00_resumen.tex). No figura en el resumen firmado.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ruta PGA–ADC se midió con barridos, y el geófono se tomó con su modelo nominal</a:t>
            </a:r>
            <a:endParaRPr lang="en-US" sz="2400" dirty="0"/>
          </a:p>
        </p:txBody>
      </p:sp>
      <p:pic>
        <p:nvPicPr>
          <p:cNvPr id="3" name="Respuesta PGA-ADC" descr="Respuesta PGA–ADC medida: magnitud, fase y coherencia, junto al modelo, sus tolerancias y el rango del potenciómetro">    </p:cNvPr>
          <p:cNvPicPr>
            <a:picLocks noChangeAspect="1"/>
          </p:cNvPicPr>
          <p:nvPr/>
        </p:nvPicPr>
        <p:blipFill>
          <a:blip r:embed="rId1"/>
          <a:stretch>
            <a:fillRect/>
          </a:stretch>
        </p:blipFill>
        <p:spPr>
          <a:xfrm>
            <a:off x="365760" y="1234440"/>
            <a:ext cx="4023360" cy="3156310"/>
          </a:xfrm>
          <a:prstGeom prst="rect">
            <a:avLst/>
          </a:prstGeom>
        </p:spPr>
      </p:pic>
      <p:sp>
        <p:nvSpPr>
          <p:cNvPr id="4" name="Cuerpo"/>
          <p:cNvSpPr txBox="1"/>
          <p:nvPr/>
        </p:nvSpPr>
        <p:spPr>
          <a:xfrm>
            <a:off x="4572000" y="1280160"/>
            <a:ext cx="411480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Barridos senoidales de 10 mHz a 200 kHz; magnitud y fase como cociente espectral salida/entrada, con coherencia</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En la facultad no hay un excitador para imponer movimiento al geófono</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Por eso se usó el modelo nominal del SM-24: es razonable, pero no es una validación extremo a extremo</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Es lo que permiten los equipos disponibles</a:t>
            </a:r>
            <a:endParaRPr lang="en-US" sz="14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4.5, fig. 9; figura propia; Sensor Nederland B.V. (2006).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2026-10-13T04:58:02Z</dcterms:created>
  <dcterms:modified xsi:type="dcterms:W3CDTF">2026-10-13T04:58:02Z</dcterms:modified>
</cp:coreProperties>
</file>