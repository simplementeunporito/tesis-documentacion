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trabajo con el terreno no termina cuando se levanta la obra. Aparecen grietas y asentamientos, problemas en rutas y pavimentos, taludes que se mueven. Hay que volver a medir, y de preferencia sin dañar lo que ya está construido.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ofrecen. El SPT es sencillo, está en todas partes y entrega una muestra. El CPT da un perfil continuo y repetible, sin perforar antes, y con presión de poros distingue mejor el tipo de suelo. Los dos tienen décadas de correlaciones publicadas, y eso pesa mucho en la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escalar es la onda P. Las partículas oscilan en la misma dirección en que avanza la onda, así que el material se comprime y se dilata. No se transporta material: se transporta la perturbación. Viaja tanto en sólidos como en fluidos.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vectorial es la onda S. La oscilación es perpendicular al avance y el material no se comprime: se corta. Por eso necesita que el medio resista al corte. Un fluido no lo hace, así que la S no viaja por el agua.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miden Vs sin correlaciones: el trayecto es conocido. El downhole necesita un solo pozo y da un perfil con la profundidad. El crosshole mide capas individuales a una profundidad conocida, con mejor resolución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acá el medio era uniforme. Pero el terreno real tiene capas, y en cada interfaz cambian la densidad y las velocidades de las ondas P y S. Cuando una onda de cuerpo llega a una interfaz, una parte de la energía se refleja y otra se transmite al segundo medio. Cuánto se refleja depende del contraste entre los dos medios. Este es el caso general. Ahora veamos un caso particular que nos interesa mucho: cuando el segundo medio es el 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caso límite es cuando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hace falta distinguir dos formas de oscilar de la onda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onda S oscila perpendicular a su dirección de avance, pero hay infinitas direcciones perpendiculares. Se descompone en dos. Tomamos el plano de incidencia, que es el que contiene el rayo y la vertical. Si la partícula oscila dentro de ese plano, la onda es SV. Si oscila perpendicular a ese plano, es decir en horizontal, es SH. Esta separación importa porque en la superficie libre se comportan de forma muy distinta. Nota para mí: reemplazar esta figura por la mejorada con ChatGPT.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una interfaz, y en particular en la superficie libre, las ondas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después. Antes, la ley que gobierna los ángulos de todas estas ondas.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ley de Snell dice que el seno del ángulo dividido por la velocidad es constante a lo largo del rayo, y se cumple para todas las ondas que se generan en la interfaz: la P reflejada, la S reflejada, la P transmitida y la S transmitida. Cada una con su propia velocidad. Como la S es más lenta que la P, sale con un ángulo menor. Con esto ya se entiende cómo se reparte una P que llega a una interfaz.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Toda obra empieza por conocer el suelo que la sostiene</a:t>
            </a:r>
            <a:endParaRPr lang="en-US" sz="2400" dirty="0"/>
          </a:p>
        </p:txBody>
      </p:sp>
      <p:pic>
        <p:nvPicPr>
          <p:cNvPr id="3" name="Imagen fundación" descr="Esquema de zapata aislada: armadura, hormigón de limpieza y terreno de fundación">    </p:cNvPr>
          <p:cNvPicPr>
            <a:picLocks noChangeAspect="1"/>
          </p:cNvPicPr>
          <p:nvPr/>
        </p:nvPicPr>
        <p:blipFill>
          <a:blip r:embed="rId1"/>
          <a:stretch>
            <a:fillRect/>
          </a:stretch>
        </p:blipFill>
        <p:spPr>
          <a:xfrm>
            <a:off x="457200" y="1188720"/>
            <a:ext cx="1792224" cy="3191256"/>
          </a:xfrm>
          <a:prstGeom prst="rect">
            <a:avLst/>
          </a:prstGeom>
        </p:spPr>
      </p:pic>
      <p:sp>
        <p:nvSpPr>
          <p:cNvPr id="4" name="Cuerpo"/>
          <p:cNvSpPr txBox="1"/>
          <p:nvPr/>
        </p:nvSpPr>
        <p:spPr>
          <a:xfrm>
            <a:off x="2651760" y="1280160"/>
            <a:ext cx="6035040" cy="17373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Reconocer los materiales antes de construir</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Estimar parámetros para dimensionar la fundación</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Controlar rellenos y capas compactadas durante la obra</a:t>
            </a:r>
            <a:endParaRPr lang="en-US" sz="2000" dirty="0"/>
          </a:p>
        </p:txBody>
      </p:sp>
      <p:sp>
        <p:nvSpPr>
          <p:cNvPr id="5" name="Recuadro dato"/>
          <p:cNvSpPr/>
          <p:nvPr/>
        </p:nvSpPr>
        <p:spPr>
          <a:xfrm>
            <a:off x="2651760" y="3246120"/>
            <a:ext cx="6035040" cy="822960"/>
          </a:xfrm>
          <a:prstGeom prst="rect">
            <a:avLst/>
          </a:prstGeom>
          <a:solidFill>
            <a:srgbClr val="EAF1F8"/>
          </a:solidFill>
          <a:ln w="12700">
            <a:solidFill>
              <a:srgbClr val="EAF1F8"/>
            </a:solidFill>
            <a:prstDash val="solid"/>
          </a:ln>
        </p:spPr>
      </p:sp>
      <p:sp>
        <p:nvSpPr>
          <p:cNvPr id="6" name="Dato Paraguay"/>
          <p:cNvSpPr txBox="1"/>
          <p:nvPr/>
        </p:nvSpPr>
        <p:spPr>
          <a:xfrm>
            <a:off x="2788920" y="3246120"/>
            <a:ext cx="5760720" cy="822960"/>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La construcción creció 6,2 % en 2025 (BCP, 2026)</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Samtani y Nowatzki (2006). BCP (2026). Imagen: Instagram (s. f.).</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control del terreno no termina cuando la obra se levanta</a:t>
            </a:r>
            <a:endParaRPr lang="en-US" sz="2400" dirty="0"/>
          </a:p>
        </p:txBody>
      </p:sp>
      <p:pic>
        <p:nvPicPr>
          <p:cNvPr id="3" name="Foto grietas" descr="Grietas y asentamientos">    </p:cNvPr>
          <p:cNvPicPr>
            <a:picLocks noChangeAspect="1"/>
          </p:cNvPicPr>
          <p:nvPr/>
        </p:nvPicPr>
        <p:blipFill>
          <a:blip r:embed="rId1"/>
          <a:stretch>
            <a:fillRect/>
          </a:stretch>
        </p:blipFill>
        <p:spPr>
          <a:xfrm>
            <a:off x="457200" y="1280160"/>
            <a:ext cx="2560320" cy="1563624"/>
          </a:xfrm>
          <a:prstGeom prst="rect">
            <a:avLst/>
          </a:prstGeom>
        </p:spPr>
      </p:pic>
      <p:sp>
        <p:nvSpPr>
          <p:cNvPr id="4" name="Text 1"/>
          <p:cNvSpPr txBox="1"/>
          <p:nvPr/>
        </p:nvSpPr>
        <p:spPr>
          <a:xfrm>
            <a:off x="45720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Grietas y asentamientos</a:t>
            </a:r>
            <a:endParaRPr lang="en-US" sz="1600" dirty="0"/>
          </a:p>
        </p:txBody>
      </p:sp>
      <p:pic>
        <p:nvPicPr>
          <p:cNvPr id="5" name="Foto pavimento_relleno" descr="Pavimentos y rellenos">    </p:cNvPr>
          <p:cNvPicPr>
            <a:picLocks noChangeAspect="1"/>
          </p:cNvPicPr>
          <p:nvPr/>
        </p:nvPicPr>
        <p:blipFill>
          <a:blip r:embed="rId2"/>
          <a:stretch>
            <a:fillRect/>
          </a:stretch>
        </p:blipFill>
        <p:spPr>
          <a:xfrm>
            <a:off x="3291840" y="1280160"/>
            <a:ext cx="2560320" cy="1737360"/>
          </a:xfrm>
          <a:prstGeom prst="rect">
            <a:avLst/>
          </a:prstGeom>
        </p:spPr>
      </p:pic>
      <p:sp>
        <p:nvSpPr>
          <p:cNvPr id="6" name="Text 2"/>
          <p:cNvSpPr txBox="1"/>
          <p:nvPr/>
        </p:nvSpPr>
        <p:spPr>
          <a:xfrm>
            <a:off x="329184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Pavimentos y rellenos</a:t>
            </a:r>
            <a:endParaRPr lang="en-US" sz="1600" dirty="0"/>
          </a:p>
        </p:txBody>
      </p:sp>
      <p:pic>
        <p:nvPicPr>
          <p:cNvPr id="7" name="Foto talud" descr="Taludes">    </p:cNvPr>
          <p:cNvPicPr>
            <a:picLocks noChangeAspect="1"/>
          </p:cNvPicPr>
          <p:nvPr/>
        </p:nvPicPr>
        <p:blipFill>
          <a:blip r:embed="rId3"/>
          <a:stretch>
            <a:fillRect/>
          </a:stretch>
        </p:blipFill>
        <p:spPr>
          <a:xfrm>
            <a:off x="6126480" y="1280160"/>
            <a:ext cx="2560320" cy="1737360"/>
          </a:xfrm>
          <a:prstGeom prst="rect">
            <a:avLst/>
          </a:prstGeom>
        </p:spPr>
      </p:pic>
      <p:sp>
        <p:nvSpPr>
          <p:cNvPr id="8" name="Text 3"/>
          <p:cNvSpPr txBox="1"/>
          <p:nvPr/>
        </p:nvSpPr>
        <p:spPr>
          <a:xfrm>
            <a:off x="612648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Taludes</a:t>
            </a:r>
            <a:endParaRPr lang="en-US" sz="1600" dirty="0"/>
          </a:p>
        </p:txBody>
      </p:sp>
      <p:sp>
        <p:nvSpPr>
          <p:cNvPr id="9" name="Mensaje"/>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20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Park et al. (2018). Imágenes: UPCommons (asentamientos); 360 en Concreto (rodillo); Facebook (ilustración).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10972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2400" dirty="0"/>
          </a:p>
        </p:txBody>
      </p:sp>
      <p:sp>
        <p:nvSpPr>
          <p:cNvPr id="3" name="Marco plataforma"/>
          <p:cNvSpPr/>
          <p:nvPr/>
        </p:nvSpPr>
        <p:spPr>
          <a:xfrm>
            <a:off x="2514600" y="1463040"/>
            <a:ext cx="4114800" cy="1051560"/>
          </a:xfrm>
          <a:prstGeom prst="roundRect">
            <a:avLst>
              <a:gd name="adj" fmla="val 6957"/>
            </a:avLst>
          </a:prstGeom>
          <a:solidFill>
            <a:srgbClr val="FFFFFF">
              <a:alpha val="0"/>
            </a:srgbClr>
          </a:solidFill>
          <a:ln w="25400">
            <a:solidFill>
              <a:srgbClr val="C55A11"/>
            </a:solidFill>
            <a:prstDash val="solid"/>
          </a:ln>
        </p:spPr>
      </p:sp>
      <p:sp>
        <p:nvSpPr>
          <p:cNvPr id="4" name="Caja 1"/>
          <p:cNvSpPr/>
          <p:nvPr/>
        </p:nvSpPr>
        <p:spPr>
          <a:xfrm>
            <a:off x="457200" y="1554480"/>
            <a:ext cx="1783080" cy="868680"/>
          </a:xfrm>
          <a:prstGeom prst="rect">
            <a:avLst/>
          </a:prstGeom>
          <a:solidFill>
            <a:srgbClr val="EAF1F8"/>
          </a:solidFill>
          <a:ln w="12700">
            <a:solidFill>
              <a:srgbClr val="2E75B6"/>
            </a:solidFill>
            <a:prstDash val="solid"/>
          </a:ln>
        </p:spPr>
      </p:sp>
      <p:sp>
        <p:nvSpPr>
          <p:cNvPr id="5" name="Text 3"/>
          <p:cNvSpPr txBox="1"/>
          <p:nvPr/>
        </p:nvSpPr>
        <p:spPr>
          <a:xfrm>
            <a:off x="45720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Fenómeno físico del terreno</a:t>
            </a:r>
            <a:endParaRPr lang="en-US" sz="1600" dirty="0"/>
          </a:p>
        </p:txBody>
      </p:sp>
      <p:sp>
        <p:nvSpPr>
          <p:cNvPr id="6" name="Shape 4"/>
          <p:cNvSpPr/>
          <p:nvPr/>
        </p:nvSpPr>
        <p:spPr>
          <a:xfrm>
            <a:off x="2267712" y="1988820"/>
            <a:ext cx="310896" cy="0"/>
          </a:xfrm>
          <a:prstGeom prst="line">
            <a:avLst/>
          </a:prstGeom>
          <a:noFill/>
          <a:ln w="25400">
            <a:solidFill>
              <a:srgbClr val="1F4E79"/>
            </a:solidFill>
            <a:prstDash val="solid"/>
            <a:tailEnd type="triangle"/>
          </a:ln>
        </p:spPr>
      </p:sp>
      <p:sp>
        <p:nvSpPr>
          <p:cNvPr id="7" name="Caja 2"/>
          <p:cNvSpPr/>
          <p:nvPr/>
        </p:nvSpPr>
        <p:spPr>
          <a:xfrm>
            <a:off x="2606040" y="1554480"/>
            <a:ext cx="1783080" cy="868680"/>
          </a:xfrm>
          <a:prstGeom prst="rect">
            <a:avLst/>
          </a:prstGeom>
          <a:solidFill>
            <a:srgbClr val="EAF1F8"/>
          </a:solidFill>
          <a:ln w="12700">
            <a:solidFill>
              <a:srgbClr val="2E75B6"/>
            </a:solidFill>
            <a:prstDash val="solid"/>
          </a:ln>
        </p:spPr>
      </p:sp>
      <p:sp>
        <p:nvSpPr>
          <p:cNvPr id="8" name="Text 6"/>
          <p:cNvSpPr txBox="1"/>
          <p:nvPr/>
        </p:nvSpPr>
        <p:spPr>
          <a:xfrm>
            <a:off x="260604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Transductor</a:t>
            </a:r>
            <a:endParaRPr lang="en-US" sz="1600" dirty="0"/>
          </a:p>
        </p:txBody>
      </p:sp>
      <p:sp>
        <p:nvSpPr>
          <p:cNvPr id="9" name="Shape 7"/>
          <p:cNvSpPr/>
          <p:nvPr/>
        </p:nvSpPr>
        <p:spPr>
          <a:xfrm>
            <a:off x="4416552" y="1988820"/>
            <a:ext cx="310896" cy="0"/>
          </a:xfrm>
          <a:prstGeom prst="line">
            <a:avLst/>
          </a:prstGeom>
          <a:noFill/>
          <a:ln w="25400">
            <a:solidFill>
              <a:srgbClr val="1F4E79"/>
            </a:solidFill>
            <a:prstDash val="solid"/>
            <a:tailEnd type="triangle"/>
          </a:ln>
        </p:spPr>
      </p:sp>
      <p:sp>
        <p:nvSpPr>
          <p:cNvPr id="10" name="Caja 3"/>
          <p:cNvSpPr/>
          <p:nvPr/>
        </p:nvSpPr>
        <p:spPr>
          <a:xfrm>
            <a:off x="4754880" y="1554480"/>
            <a:ext cx="1783080" cy="868680"/>
          </a:xfrm>
          <a:prstGeom prst="rect">
            <a:avLst/>
          </a:prstGeom>
          <a:solidFill>
            <a:srgbClr val="EAF1F8"/>
          </a:solidFill>
          <a:ln w="12700">
            <a:solidFill>
              <a:srgbClr val="2E75B6"/>
            </a:solidFill>
            <a:prstDash val="solid"/>
          </a:ln>
        </p:spPr>
      </p:sp>
      <p:sp>
        <p:nvSpPr>
          <p:cNvPr id="11" name="Text 9"/>
          <p:cNvSpPr txBox="1"/>
          <p:nvPr/>
        </p:nvSpPr>
        <p:spPr>
          <a:xfrm>
            <a:off x="475488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Procesamiento</a:t>
            </a:r>
            <a:endParaRPr lang="en-US" sz="1600" dirty="0"/>
          </a:p>
        </p:txBody>
      </p:sp>
      <p:sp>
        <p:nvSpPr>
          <p:cNvPr id="12" name="Shape 10"/>
          <p:cNvSpPr/>
          <p:nvPr/>
        </p:nvSpPr>
        <p:spPr>
          <a:xfrm>
            <a:off x="6565392" y="1988820"/>
            <a:ext cx="310896" cy="0"/>
          </a:xfrm>
          <a:prstGeom prst="line">
            <a:avLst/>
          </a:prstGeom>
          <a:noFill/>
          <a:ln w="25400">
            <a:solidFill>
              <a:srgbClr val="1F4E79"/>
            </a:solidFill>
            <a:prstDash val="solid"/>
            <a:tailEnd type="triangle"/>
          </a:ln>
        </p:spPr>
      </p:sp>
      <p:sp>
        <p:nvSpPr>
          <p:cNvPr id="13" name="Caja 4"/>
          <p:cNvSpPr/>
          <p:nvPr/>
        </p:nvSpPr>
        <p:spPr>
          <a:xfrm>
            <a:off x="6903720" y="1554480"/>
            <a:ext cx="1783080" cy="868680"/>
          </a:xfrm>
          <a:prstGeom prst="rect">
            <a:avLst/>
          </a:prstGeom>
          <a:solidFill>
            <a:srgbClr val="1F4E79"/>
          </a:solidFill>
          <a:ln w="12700">
            <a:solidFill>
              <a:srgbClr val="1F4E79"/>
            </a:solidFill>
            <a:prstDash val="solid"/>
          </a:ln>
        </p:spPr>
      </p:sp>
      <p:sp>
        <p:nvSpPr>
          <p:cNvPr id="14" name="Text 12"/>
          <p:cNvSpPr txBox="1"/>
          <p:nvPr/>
        </p:nvSpPr>
        <p:spPr>
          <a:xfrm>
            <a:off x="690372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Información útil del terreno</a:t>
            </a:r>
            <a:endParaRPr lang="en-US" sz="1600" dirty="0"/>
          </a:p>
        </p:txBody>
      </p:sp>
      <p:sp>
        <p:nvSpPr>
          <p:cNvPr id="15" name="Etiqueta plataforma"/>
          <p:cNvSpPr txBox="1"/>
          <p:nvPr/>
        </p:nvSpPr>
        <p:spPr>
          <a:xfrm>
            <a:off x="2514600" y="2578608"/>
            <a:ext cx="4114800" cy="45720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600" dirty="0"/>
          </a:p>
        </p:txBody>
      </p:sp>
      <p:sp>
        <p:nvSpPr>
          <p:cNvPr id="16" name="Text 14"/>
          <p:cNvSpPr txBox="1"/>
          <p:nvPr/>
        </p:nvSpPr>
        <p:spPr>
          <a:xfrm>
            <a:off x="457200" y="3063240"/>
            <a:ext cx="2743200" cy="320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Hoja de ruta</a:t>
            </a:r>
            <a:endParaRPr lang="en-US" sz="2000" dirty="0"/>
          </a:p>
        </p:txBody>
      </p:sp>
      <p:sp>
        <p:nvSpPr>
          <p:cNvPr id="17" name="Número 1"/>
          <p:cNvSpPr/>
          <p:nvPr/>
        </p:nvSpPr>
        <p:spPr>
          <a:xfrm>
            <a:off x="457200" y="3493008"/>
            <a:ext cx="246888" cy="246888"/>
          </a:xfrm>
          <a:prstGeom prst="ellipse">
            <a:avLst/>
          </a:prstGeom>
          <a:solidFill>
            <a:srgbClr val="2E75B6"/>
          </a:solidFill>
          <a:ln w="12700">
            <a:solidFill>
              <a:srgbClr val="2E75B6"/>
            </a:solidFill>
            <a:prstDash val="solid"/>
          </a:ln>
        </p:spPr>
      </p:sp>
      <p:sp>
        <p:nvSpPr>
          <p:cNvPr id="18" name="Text 16"/>
          <p:cNvSpPr txBox="1"/>
          <p:nvPr/>
        </p:nvSpPr>
        <p:spPr>
          <a:xfrm>
            <a:off x="457200" y="3493008"/>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Hoja de ruta 1"/>
          <p:cNvSpPr txBox="1"/>
          <p:nvPr/>
        </p:nvSpPr>
        <p:spPr>
          <a:xfrm>
            <a:off x="822960" y="3474720"/>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600" dirty="0"/>
          </a:p>
        </p:txBody>
      </p:sp>
      <p:sp>
        <p:nvSpPr>
          <p:cNvPr id="20" name="Número 2"/>
          <p:cNvSpPr/>
          <p:nvPr/>
        </p:nvSpPr>
        <p:spPr>
          <a:xfrm>
            <a:off x="457200" y="3803904"/>
            <a:ext cx="246888" cy="246888"/>
          </a:xfrm>
          <a:prstGeom prst="ellipse">
            <a:avLst/>
          </a:prstGeom>
          <a:solidFill>
            <a:srgbClr val="2E75B6"/>
          </a:solidFill>
          <a:ln w="12700">
            <a:solidFill>
              <a:srgbClr val="2E75B6"/>
            </a:solidFill>
            <a:prstDash val="solid"/>
          </a:ln>
        </p:spPr>
      </p:sp>
      <p:sp>
        <p:nvSpPr>
          <p:cNvPr id="21" name="Text 19"/>
          <p:cNvSpPr txBox="1"/>
          <p:nvPr/>
        </p:nvSpPr>
        <p:spPr>
          <a:xfrm>
            <a:off x="457200" y="3803904"/>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Hoja de ruta 2"/>
          <p:cNvSpPr txBox="1"/>
          <p:nvPr/>
        </p:nvSpPr>
        <p:spPr>
          <a:xfrm>
            <a:off x="822960" y="3785616"/>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Análisis en profundidad del método seleccionado</a:t>
            </a:r>
            <a:endParaRPr lang="en-US" sz="1600" dirty="0"/>
          </a:p>
        </p:txBody>
      </p:sp>
      <p:sp>
        <p:nvSpPr>
          <p:cNvPr id="23" name="Número 3"/>
          <p:cNvSpPr/>
          <p:nvPr/>
        </p:nvSpPr>
        <p:spPr>
          <a:xfrm>
            <a:off x="457200" y="4114800"/>
            <a:ext cx="246888" cy="246888"/>
          </a:xfrm>
          <a:prstGeom prst="ellipse">
            <a:avLst/>
          </a:prstGeom>
          <a:solidFill>
            <a:srgbClr val="2E75B6"/>
          </a:solidFill>
          <a:ln w="12700">
            <a:solidFill>
              <a:srgbClr val="2E75B6"/>
            </a:solidFill>
            <a:prstDash val="solid"/>
          </a:ln>
        </p:spPr>
      </p:sp>
      <p:sp>
        <p:nvSpPr>
          <p:cNvPr id="24" name="Text 22"/>
          <p:cNvSpPr txBox="1"/>
          <p:nvPr/>
        </p:nvSpPr>
        <p:spPr>
          <a:xfrm>
            <a:off x="457200" y="4114800"/>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Hoja de ruta 3"/>
          <p:cNvSpPr txBox="1"/>
          <p:nvPr/>
        </p:nvSpPr>
        <p:spPr>
          <a:xfrm>
            <a:off x="822960" y="4096512"/>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Especificaciones y plataforma propuesta</a:t>
            </a:r>
            <a:endParaRPr lang="en-US" sz="1600" dirty="0"/>
          </a:p>
        </p:txBody>
      </p:sp>
      <p:sp>
        <p:nvSpPr>
          <p:cNvPr id="26" name="Número 4"/>
          <p:cNvSpPr/>
          <p:nvPr/>
        </p:nvSpPr>
        <p:spPr>
          <a:xfrm>
            <a:off x="457200" y="4425696"/>
            <a:ext cx="246888" cy="246888"/>
          </a:xfrm>
          <a:prstGeom prst="ellipse">
            <a:avLst/>
          </a:prstGeom>
          <a:solidFill>
            <a:srgbClr val="2E75B6"/>
          </a:solidFill>
          <a:ln w="12700">
            <a:solidFill>
              <a:srgbClr val="2E75B6"/>
            </a:solidFill>
            <a:prstDash val="solid"/>
          </a:ln>
        </p:spPr>
      </p:sp>
      <p:sp>
        <p:nvSpPr>
          <p:cNvPr id="27" name="Text 25"/>
          <p:cNvSpPr txBox="1"/>
          <p:nvPr/>
        </p:nvSpPr>
        <p:spPr>
          <a:xfrm>
            <a:off x="457200" y="4425696"/>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Hoja de ruta 4"/>
          <p:cNvSpPr txBox="1"/>
          <p:nvPr/>
        </p:nvSpPr>
        <p:spPr>
          <a:xfrm>
            <a:off x="822960" y="4407408"/>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Resultados parciales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Hay dos formas de medir el terreno: por su resistencia o por cómo transmite ondas</a:t>
            </a:r>
            <a:endParaRPr lang="en-US" sz="2400" dirty="0"/>
          </a:p>
        </p:txBody>
      </p:sp>
      <p:sp>
        <p:nvSpPr>
          <p:cNvPr id="3" name="Encabezado dentro"/>
          <p:cNvSpPr/>
          <p:nvPr/>
        </p:nvSpPr>
        <p:spPr>
          <a:xfrm>
            <a:off x="2048256" y="1188720"/>
            <a:ext cx="1737360" cy="777240"/>
          </a:xfrm>
          <a:prstGeom prst="rect">
            <a:avLst/>
          </a:prstGeom>
          <a:solidFill>
            <a:srgbClr val="1F4E79"/>
          </a:solidFill>
          <a:ln w="12700">
            <a:solidFill>
              <a:srgbClr val="1F4E79"/>
            </a:solidFill>
            <a:prstDash val="solid"/>
          </a:ln>
        </p:spPr>
      </p:sp>
      <p:sp>
        <p:nvSpPr>
          <p:cNvPr id="4" name="Text 2"/>
          <p:cNvSpPr txBox="1"/>
          <p:nvPr/>
        </p:nvSpPr>
        <p:spPr>
          <a:xfrm>
            <a:off x="2048256"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Dentro del terreno (invasivo)</a:t>
            </a:r>
            <a:endParaRPr lang="en-US" sz="1600" dirty="0"/>
          </a:p>
        </p:txBody>
      </p:sp>
      <p:sp>
        <p:nvSpPr>
          <p:cNvPr id="5" name="Encabezado superficie"/>
          <p:cNvSpPr/>
          <p:nvPr/>
        </p:nvSpPr>
        <p:spPr>
          <a:xfrm>
            <a:off x="3822192" y="1188720"/>
            <a:ext cx="1737360" cy="777240"/>
          </a:xfrm>
          <a:prstGeom prst="rect">
            <a:avLst/>
          </a:prstGeom>
          <a:solidFill>
            <a:srgbClr val="1F4E79"/>
          </a:solidFill>
          <a:ln w="12700">
            <a:solidFill>
              <a:srgbClr val="1F4E79"/>
            </a:solidFill>
            <a:prstDash val="solid"/>
          </a:ln>
        </p:spPr>
      </p:sp>
      <p:sp>
        <p:nvSpPr>
          <p:cNvPr id="6" name="Text 4"/>
          <p:cNvSpPr txBox="1"/>
          <p:nvPr/>
        </p:nvSpPr>
        <p:spPr>
          <a:xfrm>
            <a:off x="3822192"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Desde la superficie (no invasivo)</a:t>
            </a:r>
            <a:endParaRPr lang="en-US" sz="1600" dirty="0"/>
          </a:p>
        </p:txBody>
      </p:sp>
      <p:sp>
        <p:nvSpPr>
          <p:cNvPr id="7" name="Fila resistencia"/>
          <p:cNvSpPr/>
          <p:nvPr/>
        </p:nvSpPr>
        <p:spPr>
          <a:xfrm>
            <a:off x="457200" y="2002536"/>
            <a:ext cx="1554480" cy="868680"/>
          </a:xfrm>
          <a:prstGeom prst="rect">
            <a:avLst/>
          </a:prstGeom>
          <a:solidFill>
            <a:srgbClr val="2E75B6"/>
          </a:solidFill>
          <a:ln w="12700">
            <a:solidFill>
              <a:srgbClr val="2E75B6"/>
            </a:solidFill>
            <a:prstDash val="solid"/>
          </a:ln>
        </p:spPr>
      </p:sp>
      <p:sp>
        <p:nvSpPr>
          <p:cNvPr id="8" name="Text 6"/>
          <p:cNvSpPr txBox="1"/>
          <p:nvPr/>
        </p:nvSpPr>
        <p:spPr>
          <a:xfrm>
            <a:off x="457200" y="2002536"/>
            <a:ext cx="1554480" cy="86868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Resistencia a la penetración</a:t>
            </a:r>
            <a:endParaRPr lang="en-US" sz="1600" dirty="0"/>
          </a:p>
        </p:txBody>
      </p:sp>
      <p:sp>
        <p:nvSpPr>
          <p:cNvPr id="9" name="Fila ondas"/>
          <p:cNvSpPr/>
          <p:nvPr/>
        </p:nvSpPr>
        <p:spPr>
          <a:xfrm>
            <a:off x="457200" y="2907792"/>
            <a:ext cx="1554480" cy="1508760"/>
          </a:xfrm>
          <a:prstGeom prst="rect">
            <a:avLst/>
          </a:prstGeom>
          <a:solidFill>
            <a:srgbClr val="2E75B6"/>
          </a:solidFill>
          <a:ln w="12700">
            <a:solidFill>
              <a:srgbClr val="2E75B6"/>
            </a:solidFill>
            <a:prstDash val="solid"/>
          </a:ln>
        </p:spPr>
      </p:sp>
      <p:sp>
        <p:nvSpPr>
          <p:cNvPr id="10" name="Text 8"/>
          <p:cNvSpPr txBox="1"/>
          <p:nvPr/>
        </p:nvSpPr>
        <p:spPr>
          <a:xfrm>
            <a:off x="457200" y="2907792"/>
            <a:ext cx="1554480" cy="150876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Propagación de ondas</a:t>
            </a:r>
            <a:endParaRPr lang="en-US" sz="1600" dirty="0"/>
          </a:p>
        </p:txBody>
      </p:sp>
      <p:sp>
        <p:nvSpPr>
          <p:cNvPr id="11" name="Celda penetración dentro"/>
          <p:cNvSpPr/>
          <p:nvPr/>
        </p:nvSpPr>
        <p:spPr>
          <a:xfrm>
            <a:off x="2048256" y="2002536"/>
            <a:ext cx="1737360" cy="868680"/>
          </a:xfrm>
          <a:prstGeom prst="rect">
            <a:avLst/>
          </a:prstGeom>
          <a:solidFill>
            <a:srgbClr val="FFFFFF"/>
          </a:solidFill>
          <a:ln w="12700">
            <a:solidFill>
              <a:srgbClr val="6B6B6B"/>
            </a:solidFill>
            <a:prstDash val="solid"/>
          </a:ln>
        </p:spPr>
      </p:sp>
      <p:sp>
        <p:nvSpPr>
          <p:cNvPr id="12" name="Text 10"/>
          <p:cNvSpPr txBox="1"/>
          <p:nvPr/>
        </p:nvSpPr>
        <p:spPr>
          <a:xfrm>
            <a:off x="2048256" y="2002536"/>
            <a:ext cx="1737360" cy="86868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SPT</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CPT / CPTu</a:t>
            </a:r>
            <a:endParaRPr lang="en-US" sz="1600" dirty="0"/>
          </a:p>
        </p:txBody>
      </p:sp>
      <p:sp>
        <p:nvSpPr>
          <p:cNvPr id="13" name="Celda penetración superficie"/>
          <p:cNvSpPr/>
          <p:nvPr/>
        </p:nvSpPr>
        <p:spPr>
          <a:xfrm>
            <a:off x="3822192" y="2002536"/>
            <a:ext cx="1737360" cy="868680"/>
          </a:xfrm>
          <a:prstGeom prst="rect">
            <a:avLst/>
          </a:prstGeom>
          <a:solidFill>
            <a:srgbClr val="FFFFFF"/>
          </a:solidFill>
          <a:ln w="12700">
            <a:solidFill>
              <a:srgbClr val="6B6B6B"/>
            </a:solidFill>
            <a:prstDash val="solid"/>
          </a:ln>
        </p:spPr>
      </p:sp>
      <p:sp>
        <p:nvSpPr>
          <p:cNvPr id="14" name="Text 12"/>
          <p:cNvSpPr txBox="1"/>
          <p:nvPr/>
        </p:nvSpPr>
        <p:spPr>
          <a:xfrm>
            <a:off x="3822192" y="2002536"/>
            <a:ext cx="1737360" cy="868680"/>
          </a:xfrm>
          <a:prstGeom prst="rect">
            <a:avLst/>
          </a:prstGeom>
          <a:noFill/>
          <a:ln/>
        </p:spPr>
        <p:txBody>
          <a:bodyPr wrap="square" lIns="38100" tIns="38100" rIns="38100" bIns="3810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a:t>
            </a:r>
            <a:endParaRPr lang="en-US" sz="1600" dirty="0"/>
          </a:p>
        </p:txBody>
      </p:sp>
      <p:sp>
        <p:nvSpPr>
          <p:cNvPr id="15" name="Celda ondas dentro"/>
          <p:cNvSpPr/>
          <p:nvPr/>
        </p:nvSpPr>
        <p:spPr>
          <a:xfrm>
            <a:off x="2048256" y="2907792"/>
            <a:ext cx="1737360" cy="1508760"/>
          </a:xfrm>
          <a:prstGeom prst="rect">
            <a:avLst/>
          </a:prstGeom>
          <a:solidFill>
            <a:srgbClr val="FFFFFF"/>
          </a:solidFill>
          <a:ln w="12700">
            <a:solidFill>
              <a:srgbClr val="6B6B6B"/>
            </a:solidFill>
            <a:prstDash val="solid"/>
          </a:ln>
        </p:spPr>
      </p:sp>
      <p:sp>
        <p:nvSpPr>
          <p:cNvPr id="16" name="Text 14"/>
          <p:cNvSpPr txBox="1"/>
          <p:nvPr/>
        </p:nvSpPr>
        <p:spPr>
          <a:xfrm>
            <a:off x="2048256"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Downhole</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Crosshole</a:t>
            </a:r>
            <a:endParaRPr lang="en-US" sz="1600" dirty="0"/>
          </a:p>
        </p:txBody>
      </p:sp>
      <p:sp>
        <p:nvSpPr>
          <p:cNvPr id="17" name="Celda ondas superficie"/>
          <p:cNvSpPr/>
          <p:nvPr/>
        </p:nvSpPr>
        <p:spPr>
          <a:xfrm>
            <a:off x="3822192" y="2907792"/>
            <a:ext cx="1737360" cy="1508760"/>
          </a:xfrm>
          <a:prstGeom prst="rect">
            <a:avLst/>
          </a:prstGeom>
          <a:solidFill>
            <a:srgbClr val="FFFFFF"/>
          </a:solidFill>
          <a:ln w="38100">
            <a:solidFill>
              <a:srgbClr val="C55A11"/>
            </a:solidFill>
            <a:prstDash val="solid"/>
          </a:ln>
        </p:spPr>
      </p:sp>
      <p:sp>
        <p:nvSpPr>
          <p:cNvPr id="18" name="Text 16"/>
          <p:cNvSpPr txBox="1"/>
          <p:nvPr/>
        </p:nvSpPr>
        <p:spPr>
          <a:xfrm>
            <a:off x="3822192"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Refracción</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Reflexión</a:t>
            </a:r>
            <a:endParaRPr lang="en-US" sz="1600" dirty="0"/>
          </a:p>
          <a:p>
            <a:pPr algn="ctr" indent="0" marL="0">
              <a:buNone/>
            </a:pPr>
            <a:r>
              <a:rPr lang="en-US" sz="1600" b="1" dirty="0">
                <a:solidFill>
                  <a:srgbClr val="C55A11"/>
                </a:solidFill>
                <a:latin typeface="Arial" pitchFamily="34" charset="0"/>
                <a:ea typeface="Arial" pitchFamily="34" charset="-122"/>
                <a:cs typeface="Arial" pitchFamily="34" charset="-120"/>
              </a:rPr>
              <a:t>Ondas superficiales</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Love, Rayleigh</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SASW / MASW</a:t>
            </a:r>
            <a:endParaRPr lang="en-US" sz="1600" dirty="0"/>
          </a:p>
        </p:txBody>
      </p:sp>
      <p:sp>
        <p:nvSpPr>
          <p:cNvPr id="19" name="Cuerpo"/>
          <p:cNvSpPr txBox="1"/>
          <p:nvPr/>
        </p:nvSpPr>
        <p:spPr>
          <a:xfrm>
            <a:off x="5897880" y="1280160"/>
            <a:ext cx="2788920" cy="31089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Resistencia: miden cuánto cuesta penetrar el terreno</a:t>
            </a:r>
            <a:endParaRPr lang="en-US" sz="1800" dirty="0"/>
          </a:p>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8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elaborada a partir de Foti et al. (2014), cap.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SPT: se cuentan los golpes necesarios para hincar una cuchara en el suelo</a:t>
            </a:r>
            <a:endParaRPr lang="en-US" sz="2400" dirty="0"/>
          </a:p>
        </p:txBody>
      </p:sp>
      <p:pic>
        <p:nvPicPr>
          <p:cNvPr id="3" name="Figura SPT" descr="Ensayo SPT: martillo, barras, cuchara partida y tres tramos de avance">    </p:cNvPr>
          <p:cNvPicPr>
            <a:picLocks noChangeAspect="1"/>
          </p:cNvPicPr>
          <p:nvPr/>
        </p:nvPicPr>
        <p:blipFill>
          <a:blip r:embed="rId1"/>
          <a:stretch>
            <a:fillRect/>
          </a:stretch>
        </p:blipFill>
        <p:spPr>
          <a:xfrm>
            <a:off x="457200" y="1234440"/>
            <a:ext cx="4389120" cy="3291840"/>
          </a:xfrm>
          <a:prstGeom prst="rect">
            <a:avLst/>
          </a:prstGeom>
        </p:spPr>
      </p:pic>
      <p:sp>
        <p:nvSpPr>
          <p:cNvPr id="4" name="Cuerpo"/>
          <p:cNvSpPr txBox="1"/>
          <p:nvPr/>
        </p:nvSpPr>
        <p:spPr>
          <a:xfrm>
            <a:off x="5120640" y="1371600"/>
            <a:ext cx="3566160" cy="29260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martillo normalizado golpea una cuchara partida</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N: golpes para penetrar 0,304 m (N2 + N3)</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Además recupera una muestra alterada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Procedimiento según la norma ASTM D1586.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CPT/CPTu: un cono se hinca a velocidad constante y mide mientras avanza</a:t>
            </a:r>
            <a:endParaRPr lang="en-US" sz="2400" dirty="0"/>
          </a:p>
        </p:txBody>
      </p:sp>
      <p:pic>
        <p:nvPicPr>
          <p:cNvPr id="3" name="Figura CPTu" descr="Piezocono: punta, manguito de fricción y presión de poros; camión de ensayo y perfil registrado">    </p:cNvPr>
          <p:cNvPicPr>
            <a:picLocks noChangeAspect="1"/>
          </p:cNvPicPr>
          <p:nvPr/>
        </p:nvPicPr>
        <p:blipFill>
          <a:blip r:embed="rId1"/>
          <a:stretch>
            <a:fillRect/>
          </a:stretch>
        </p:blipFill>
        <p:spPr>
          <a:xfrm>
            <a:off x="457200" y="1097280"/>
            <a:ext cx="3337875" cy="3611880"/>
          </a:xfrm>
          <a:prstGeom prst="rect">
            <a:avLst/>
          </a:prstGeom>
        </p:spPr>
      </p:pic>
      <p:sp>
        <p:nvSpPr>
          <p:cNvPr id="4" name="Cuerpo"/>
          <p:cNvSpPr txBox="1"/>
          <p:nvPr/>
        </p:nvSpPr>
        <p:spPr>
          <a:xfrm>
            <a:off x="4114800" y="1280160"/>
            <a:ext cx="457200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Se hinca a unos 2 cm/s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Mide resistencia de punta (qc) y fricción lateral (fs)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El CPTu agrega la presión de poros (u₂)</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Entrega un perfil continuo con la profundidad</a:t>
            </a:r>
            <a:endParaRPr lang="en-US" sz="2000" dirty="0"/>
          </a:p>
        </p:txBody>
      </p:sp>
      <p:sp>
        <p:nvSpPr>
          <p:cNvPr id="5" name="Cita"/>
          <p:cNvSpPr txBox="1"/>
          <p:nvPr/>
        </p:nvSpPr>
        <p:spPr>
          <a:xfrm>
            <a:off x="4114800" y="4206240"/>
            <a:ext cx="4572000" cy="45720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Putt et al. (2022), Front. Environ. Sci. 9:821882, fig. 1 (CC BY),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resistencia medida directamente y con mucha experiencia acumulada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Equipo simple y muy difundido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Recupera una muestra para clasificar</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Amplia base de correlaciones</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continuo, rápido y repetible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requiere perforación previa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 presión de poros ayuda a distinguir el suelo</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puntuales, invasivos y sin medir la rigidez de forma directa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dato por profundidad, no un perfil continuo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Depende de la energía del martillo y del operador</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recupera muestra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atraviesa gravas ni suelos muy duros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Al excitar un terreno sólido, este se deforma de forma transitoria y la perturbación se propaga</a:t>
            </a:r>
            <a:endParaRPr lang="en-US" sz="2400" dirty="0"/>
          </a:p>
        </p:txBody>
      </p:sp>
      <p:sp>
        <p:nvSpPr>
          <p:cNvPr id="3" name="Cuerpo"/>
          <p:cNvSpPr txBox="1"/>
          <p:nvPr/>
        </p:nvSpPr>
        <p:spPr>
          <a:xfrm>
            <a:off x="457200" y="1371600"/>
            <a:ext cx="3291840" cy="274320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golpe aplica energía en un punto</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El material se deforma de distintas maneras</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Cada tipo de deformación viaja como una onda</a:t>
            </a:r>
            <a:endParaRPr lang="en-US" sz="2000" dirty="0"/>
          </a:p>
        </p:txBody>
      </p:sp>
      <p:pic>
        <p:nvPicPr>
          <p:cNvPr id="4" name="Figura propagación" descr="Ondas Rayleigh generadas por una fuente en superficie, con campo cercano y órbita de partícula">    </p:cNvPr>
          <p:cNvPicPr>
            <a:picLocks noChangeAspect="1"/>
          </p:cNvPicPr>
          <p:nvPr/>
        </p:nvPicPr>
        <p:blipFill>
          <a:blip r:embed="rId1"/>
          <a:stretch>
            <a:fillRect/>
          </a:stretch>
        </p:blipFill>
        <p:spPr>
          <a:xfrm>
            <a:off x="3931920" y="1234440"/>
            <a:ext cx="4754880" cy="3015143"/>
          </a:xfrm>
          <a:prstGeom prst="rect">
            <a:avLst/>
          </a:prstGeom>
        </p:spPr>
      </p:pic>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Foti et al. (2014), cap. 2 (n.º de figura por confirmar),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analizarlo, simplificamos: un medio homogéneo, isótropo y elástico lineal</a:t>
            </a:r>
            <a:endParaRPr lang="en-US" sz="2400" dirty="0"/>
          </a:p>
        </p:txBody>
      </p:sp>
      <p:sp>
        <p:nvSpPr>
          <p:cNvPr id="3" name="Cabecera Homogéneo"/>
          <p:cNvSpPr/>
          <p:nvPr/>
        </p:nvSpPr>
        <p:spPr>
          <a:xfrm>
            <a:off x="457200" y="1325880"/>
            <a:ext cx="256032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Homogéneo</a:t>
            </a:r>
            <a:endParaRPr lang="en-US" sz="2000" dirty="0"/>
          </a:p>
        </p:txBody>
      </p:sp>
      <p:sp>
        <p:nvSpPr>
          <p:cNvPr id="5" name="Tarjeta Homogéneo"/>
          <p:cNvSpPr/>
          <p:nvPr/>
        </p:nvSpPr>
        <p:spPr>
          <a:xfrm>
            <a:off x="457200" y="1874520"/>
            <a:ext cx="2560320" cy="1463040"/>
          </a:xfrm>
          <a:prstGeom prst="rect">
            <a:avLst/>
          </a:prstGeom>
          <a:solidFill>
            <a:srgbClr val="FFFFFF"/>
          </a:solidFill>
          <a:ln w="19050">
            <a:solidFill>
              <a:srgbClr val="1F4E79"/>
            </a:solidFill>
            <a:prstDash val="solid"/>
          </a:ln>
        </p:spPr>
      </p:sp>
      <p:sp>
        <p:nvSpPr>
          <p:cNvPr id="6" name="Text 4"/>
          <p:cNvSpPr txBox="1"/>
          <p:nvPr/>
        </p:nvSpPr>
        <p:spPr>
          <a:xfrm>
            <a:off x="59436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todos los puntos</a:t>
            </a:r>
            <a:endParaRPr lang="en-US" sz="1800" dirty="0"/>
          </a:p>
        </p:txBody>
      </p:sp>
      <p:sp>
        <p:nvSpPr>
          <p:cNvPr id="7" name="Cabecera Isótropo"/>
          <p:cNvSpPr/>
          <p:nvPr/>
        </p:nvSpPr>
        <p:spPr>
          <a:xfrm>
            <a:off x="3291840" y="1325880"/>
            <a:ext cx="256032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Isótropo</a:t>
            </a:r>
            <a:endParaRPr lang="en-US" sz="2000" dirty="0"/>
          </a:p>
        </p:txBody>
      </p:sp>
      <p:sp>
        <p:nvSpPr>
          <p:cNvPr id="9" name="Tarjeta Isótropo"/>
          <p:cNvSpPr/>
          <p:nvPr/>
        </p:nvSpPr>
        <p:spPr>
          <a:xfrm>
            <a:off x="3291840" y="1874520"/>
            <a:ext cx="2560320" cy="1463040"/>
          </a:xfrm>
          <a:prstGeom prst="rect">
            <a:avLst/>
          </a:prstGeom>
          <a:solidFill>
            <a:srgbClr val="FFFFFF"/>
          </a:solidFill>
          <a:ln w="19050">
            <a:solidFill>
              <a:srgbClr val="1F4E79"/>
            </a:solidFill>
            <a:prstDash val="solid"/>
          </a:ln>
        </p:spPr>
      </p:sp>
      <p:sp>
        <p:nvSpPr>
          <p:cNvPr id="10" name="Text 8"/>
          <p:cNvSpPr txBox="1"/>
          <p:nvPr/>
        </p:nvSpPr>
        <p:spPr>
          <a:xfrm>
            <a:off x="342900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todas las direcciones</a:t>
            </a:r>
            <a:endParaRPr lang="en-US" sz="1800" dirty="0"/>
          </a:p>
        </p:txBody>
      </p:sp>
      <p:sp>
        <p:nvSpPr>
          <p:cNvPr id="11" name="Cabecera Elástico lineal"/>
          <p:cNvSpPr/>
          <p:nvPr/>
        </p:nvSpPr>
        <p:spPr>
          <a:xfrm>
            <a:off x="6126480" y="1325880"/>
            <a:ext cx="2560320" cy="548640"/>
          </a:xfrm>
          <a:prstGeom prst="rect">
            <a:avLst/>
          </a:prstGeom>
          <a:solidFill>
            <a:srgbClr val="1F4E79"/>
          </a:solidFill>
          <a:ln w="12700">
            <a:solidFill>
              <a:srgbClr val="1F4E79"/>
            </a:solidFill>
            <a:prstDash val="solid"/>
          </a:ln>
        </p:spPr>
      </p:sp>
      <p:sp>
        <p:nvSpPr>
          <p:cNvPr id="12" name="Text 10"/>
          <p:cNvSpPr txBox="1"/>
          <p:nvPr/>
        </p:nvSpPr>
        <p:spPr>
          <a:xfrm>
            <a:off x="612648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Elástico lineal</a:t>
            </a:r>
            <a:endParaRPr lang="en-US" sz="2000" dirty="0"/>
          </a:p>
        </p:txBody>
      </p:sp>
      <p:sp>
        <p:nvSpPr>
          <p:cNvPr id="13" name="Tarjeta Elástico lineal"/>
          <p:cNvSpPr/>
          <p:nvPr/>
        </p:nvSpPr>
        <p:spPr>
          <a:xfrm>
            <a:off x="6126480" y="1874520"/>
            <a:ext cx="2560320" cy="1463040"/>
          </a:xfrm>
          <a:prstGeom prst="rect">
            <a:avLst/>
          </a:prstGeom>
          <a:solidFill>
            <a:srgbClr val="FFFFFF"/>
          </a:solidFill>
          <a:ln w="19050">
            <a:solidFill>
              <a:srgbClr val="1F4E79"/>
            </a:solidFill>
            <a:prstDash val="solid"/>
          </a:ln>
        </p:spPr>
      </p:sp>
      <p:sp>
        <p:nvSpPr>
          <p:cNvPr id="14" name="Text 12"/>
          <p:cNvSpPr txBox="1"/>
          <p:nvPr/>
        </p:nvSpPr>
        <p:spPr>
          <a:xfrm>
            <a:off x="626364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800" dirty="0"/>
          </a:p>
        </p:txBody>
      </p:sp>
      <p:sp>
        <p:nvSpPr>
          <p:cNvPr id="15" name="Text 13"/>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20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ese medio, la ecuación de movimiento admite solo dos tipos de onda: P y S</a:t>
            </a:r>
            <a:endParaRPr lang="en-US" sz="2400" dirty="0"/>
          </a:p>
        </p:txBody>
      </p:sp>
      <p:sp>
        <p:nvSpPr>
          <p:cNvPr id="3" name="Fondo E_navier"/>
          <p:cNvSpPr/>
          <p:nvPr/>
        </p:nvSpPr>
        <p:spPr>
          <a:xfrm>
            <a:off x="457200" y="1188720"/>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800" i="1">
                          <a:solidFill>
                            <a:srgbClr val="1F4E79"/>
                          </a:solidFill>
                          <a:latin typeface="Cambria Math" panose="02040503050406030204" pitchFamily="18" charset="0"/>
                        </a:rPr>
                        <m:t xml:space="preserve">ρ</m:t>
                      </m:r>
                      <m:f>
                        <m:fPr>
                          <m:ctrlPr>
                            <a:rPr lang="es-ES" sz="1800" i="1">
                              <a:latin typeface="Cambria Math" panose="02040503050406030204" pitchFamily="18" charset="0"/>
                            </a:rPr>
                          </m:ctrlPr>
                        </m:fPr>
                        <m:num>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num>
                        <m:den>
                          <m:r>
                            <a:rPr lang="es-ES" sz="1800" i="1">
                              <a:solidFill>
                                <a:srgbClr val="1F4E79"/>
                              </a:solidFill>
                              <a:latin typeface="Cambria Math" panose="02040503050406030204" pitchFamily="18" charset="0"/>
                            </a:rPr>
                            <m:t xml:space="preserve">∂</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t</m:t>
                              </m:r>
                            </m:e>
                            <m:sup>
                              <m:r>
                                <a:rPr lang="es-ES" sz="1800" i="1">
                                  <a:solidFill>
                                    <a:srgbClr val="1F4E79"/>
                                  </a:solidFill>
                                  <a:latin typeface="Cambria Math" panose="02040503050406030204" pitchFamily="18" charset="0"/>
                                </a:rPr>
                                <m:t xml:space="preserve">2</m:t>
                              </m:r>
                            </m:sup>
                          </m:sSup>
                        </m:den>
                      </m:f>
                      <m:r>
                        <a:rPr lang="es-ES" sz="1800" i="1">
                          <a:solidFill>
                            <a:srgbClr val="1F4E79"/>
                          </a:solidFill>
                          <a:latin typeface="Cambria Math" panose="02040503050406030204" pitchFamily="18" charset="0"/>
                        </a:rPr>
                        <m:t xml:space="preserve">=(λ+μ)∇(∇·u)+μ</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oMath>
                  </m:oMathPara>
                </a14:m>
                <a:endParaRPr lang="es-ES"/>
              </a:p>
            </p:txBody>
          </p:sp>
        </mc:Choice>
        <mc:Fallback>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ρ ∂²u/∂t² = (λ+μ)∇(∇·u) + μ∇²u</a:t>
                </a:r>
                <a:endParaRPr lang="en-US" sz="2400" dirty="0"/>
              </a:p>
            </p:txBody>
          </p:sp>
        </mc:Fallback>
      </mc:AlternateContent>
      <p:sp>
        <p:nvSpPr>
          <p:cNvPr id="5" name="Text 3"/>
          <p:cNvSpPr txBox="1"/>
          <p:nvPr/>
        </p:nvSpPr>
        <p:spPr>
          <a:xfrm>
            <a:off x="5074920" y="1188720"/>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600" dirty="0"/>
          </a:p>
        </p:txBody>
      </p:sp>
      <p:sp>
        <p:nvSpPr>
          <p:cNvPr id="6" name="Fondo E_helm"/>
          <p:cNvSpPr/>
          <p:nvPr/>
        </p:nvSpPr>
        <p:spPr>
          <a:xfrm>
            <a:off x="457200" y="1993392"/>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u=∇φ+∇×ψ</m:t>
                      </m:r>
                    </m:oMath>
                  </m:oMathPara>
                </a14:m>
                <a:endParaRPr lang="es-ES"/>
              </a:p>
            </p:txBody>
          </p:sp>
        </mc:Choice>
        <mc:Fallback>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∇φ + ∇×ψ</a:t>
                </a:r>
                <a:endParaRPr lang="en-US" sz="2400" dirty="0"/>
              </a:p>
            </p:txBody>
          </p:sp>
        </mc:Fallback>
      </mc:AlternateContent>
      <p:sp>
        <p:nvSpPr>
          <p:cNvPr id="8" name="Text 6"/>
          <p:cNvSpPr txBox="1"/>
          <p:nvPr/>
        </p:nvSpPr>
        <p:spPr>
          <a:xfrm>
            <a:off x="5074920" y="1993392"/>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Descomposición con un potencial escalar φ y uno vectorial ψ</a:t>
            </a:r>
            <a:endParaRPr lang="en-US" sz="1600" dirty="0"/>
          </a:p>
        </p:txBody>
      </p:sp>
      <p:sp>
        <p:nvSpPr>
          <p:cNvPr id="9" name="Fondo E_phi"/>
          <p:cNvSpPr/>
          <p:nvPr/>
        </p:nvSpPr>
        <p:spPr>
          <a:xfrm>
            <a:off x="457200" y="2798064"/>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oMath>
                  </m:oMathPara>
                </a14:m>
                <a:endParaRPr lang="es-ES"/>
              </a:p>
            </p:txBody>
          </p:sp>
        </mc:Choice>
        <mc:Fallback>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∂²φ/∂t² = Vp² ∇²φ</a:t>
                </a:r>
                <a:endParaRPr lang="en-US" sz="2400" dirty="0"/>
              </a:p>
            </p:txBody>
          </p:sp>
        </mc:Fallback>
      </mc:AlternateContent>
      <p:sp>
        <p:nvSpPr>
          <p:cNvPr id="11" name="Text 9"/>
          <p:cNvSpPr txBox="1"/>
          <p:nvPr/>
        </p:nvSpPr>
        <p:spPr>
          <a:xfrm>
            <a:off x="5074920" y="2798064"/>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φ: compresión, viaja a Vp (onda P)</a:t>
            </a:r>
            <a:endParaRPr lang="en-US" sz="1600" dirty="0"/>
          </a:p>
        </p:txBody>
      </p:sp>
      <p:sp>
        <p:nvSpPr>
          <p:cNvPr id="12" name="Fondo E_psi"/>
          <p:cNvSpPr/>
          <p:nvPr/>
        </p:nvSpPr>
        <p:spPr>
          <a:xfrm>
            <a:off x="457200" y="3602736"/>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oMath>
                  </m:oMathPara>
                </a14:m>
                <a:endParaRPr lang="es-ES"/>
              </a:p>
            </p:txBody>
          </p:sp>
        </mc:Choice>
        <mc:Fallback>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∂²ψ/∂t² = Vs² ∇²ψ</a:t>
                </a:r>
                <a:endParaRPr lang="en-US" sz="2400" dirty="0"/>
              </a:p>
            </p:txBody>
          </p:sp>
        </mc:Fallback>
      </mc:AlternateContent>
      <p:sp>
        <p:nvSpPr>
          <p:cNvPr id="14" name="Text 12"/>
          <p:cNvSpPr txBox="1"/>
          <p:nvPr/>
        </p:nvSpPr>
        <p:spPr>
          <a:xfrm>
            <a:off x="5074920" y="3602736"/>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ψ: corte, viaja a Vs (onda S)</a:t>
            </a:r>
            <a:endParaRPr lang="en-US" sz="16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Descomposición de Helmholtz de la ecuación de Navier.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P: el terreno se comprime y se dilata en la dirección en que avanza</a:t>
            </a:r>
            <a:endParaRPr lang="en-US" sz="2400" dirty="0"/>
          </a:p>
        </p:txBody>
      </p:sp>
      <p:pic>
        <p:nvPicPr>
          <p:cNvPr id="3" name="Onda P" descr="Onda P: compresión y dilatación,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en la dirección de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Viaja en sólidos y en fluidos</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S: el terreno se corta en la dirección perpendicular al avance</a:t>
            </a:r>
            <a:endParaRPr lang="en-US" sz="2400" dirty="0"/>
          </a:p>
        </p:txBody>
      </p:sp>
      <p:pic>
        <p:nvPicPr>
          <p:cNvPr id="3" name="Onda S" descr="Onda S: oscilación perpendicular a la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perpendicular a la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No viaja por fluidos: necesita rigidez al corte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velocidades de propagación se deducen de esas mismas ecuaciones</a:t>
            </a:r>
            <a:endParaRPr lang="en-US" sz="2400" dirty="0"/>
          </a:p>
        </p:txBody>
      </p:sp>
      <p:sp>
        <p:nvSpPr>
          <p:cNvPr id="3" name="Fondo Vp"/>
          <p:cNvSpPr/>
          <p:nvPr/>
        </p:nvSpPr>
        <p:spPr>
          <a:xfrm>
            <a:off x="457200" y="132588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p</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λ+2μ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Vp = √((λ + 2μ) / ρ)</a:t>
                </a:r>
                <a:endParaRPr lang="en-US" sz="2400" dirty="0"/>
              </a:p>
            </p:txBody>
          </p:sp>
        </mc:Fallback>
      </mc:AlternateContent>
      <p:sp>
        <p:nvSpPr>
          <p:cNvPr id="5" name="Fondo Vs"/>
          <p:cNvSpPr/>
          <p:nvPr/>
        </p:nvSpPr>
        <p:spPr>
          <a:xfrm>
            <a:off x="457200" y="237744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7" name="Cuerpo"/>
          <p:cNvSpPr txBox="1"/>
          <p:nvPr/>
        </p:nvSpPr>
        <p:spPr>
          <a:xfrm>
            <a:off x="5120640" y="1325880"/>
            <a:ext cx="3566160" cy="25603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μ: módulo de corte (también G), la rigidez al corte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λ: constante de Lamé</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ρ: densidad del medio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En el mismo medio, Vp &gt; Vs</a:t>
            </a:r>
            <a:endParaRPr lang="en-US" sz="1800" dirty="0"/>
          </a:p>
        </p:txBody>
      </p:sp>
      <p:sp>
        <p:nvSpPr>
          <p:cNvPr id="8" name="Text 6"/>
          <p:cNvSpPr txBox="1"/>
          <p:nvPr/>
        </p:nvSpPr>
        <p:spPr>
          <a:xfrm>
            <a:off x="457200" y="3611880"/>
            <a:ext cx="8229600" cy="73152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20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suelos, la relación esfuerzo-deformación solo es lineal para deformaciones pequeñas</a:t>
            </a:r>
            <a:endParaRPr lang="en-US" sz="2400" dirty="0"/>
          </a:p>
        </p:txBody>
      </p:sp>
      <p:pic>
        <p:nvPicPr>
          <p:cNvPr id="3" name="Corte simple" descr="Corte simple: esfuerzo τ y deformación γ = Δ/h">    </p:cNvPr>
          <p:cNvPicPr>
            <a:picLocks noChangeAspect="1"/>
          </p:cNvPicPr>
          <p:nvPr/>
        </p:nvPicPr>
        <p:blipFill>
          <a:blip r:embed="rId1"/>
          <a:stretch>
            <a:fillRect/>
          </a:stretch>
        </p:blipFill>
        <p:spPr>
          <a:xfrm>
            <a:off x="457200" y="1280160"/>
            <a:ext cx="4023360" cy="3017520"/>
          </a:xfrm>
          <a:prstGeom prst="rect">
            <a:avLst/>
          </a:prstGeom>
        </p:spPr>
      </p:pic>
      <p:sp>
        <p:nvSpPr>
          <p:cNvPr id="4" name="Fondo τ = Gγ"/>
          <p:cNvSpPr/>
          <p:nvPr/>
        </p:nvSpPr>
        <p:spPr>
          <a:xfrm>
            <a:off x="4754880" y="1325880"/>
            <a:ext cx="39319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τ=G·γ</m:t>
                      </m:r>
                    </m:oMath>
                  </m:oMathPara>
                </a14:m>
                <a:endParaRPr lang="es-ES"/>
              </a:p>
            </p:txBody>
          </p:sp>
        </mc:Choice>
        <mc:Fallback>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τ = G · γ</a:t>
                </a:r>
                <a:endParaRPr lang="en-US" sz="2400" dirty="0"/>
              </a:p>
            </p:txBody>
          </p:sp>
        </mc:Fallback>
      </mc:AlternateContent>
      <p:sp>
        <p:nvSpPr>
          <p:cNvPr id="6" name="Cuerpo"/>
          <p:cNvSpPr txBox="1"/>
          <p:nvPr/>
        </p:nvSpPr>
        <p:spPr>
          <a:xfrm>
            <a:off x="4754880" y="233172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Esfuerzo y deformación de corte son proporcionales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Con γ del orden de 10⁻⁵ o menos, G es casi constante: Gmax</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Umbral aproximado; depende del tipo de suelo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pequeña señal, la velocidad de corte da directamente la rigidez máxima</a:t>
            </a:r>
            <a:endParaRPr lang="en-US" sz="2400" dirty="0"/>
          </a:p>
        </p:txBody>
      </p:sp>
      <p:sp>
        <p:nvSpPr>
          <p:cNvPr id="3" name="Ecuación 1"/>
          <p:cNvSpPr/>
          <p:nvPr/>
        </p:nvSpPr>
        <p:spPr>
          <a:xfrm>
            <a:off x="457200" y="128016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5" name="Text 3"/>
          <p:cNvSpPr txBox="1"/>
          <p:nvPr/>
        </p:nvSpPr>
        <p:spPr>
          <a:xfrm>
            <a:off x="5120640" y="128016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Medio elástico lineal, homogéneo e isótropo</a:t>
            </a:r>
            <a:endParaRPr lang="en-US" sz="1800" dirty="0"/>
          </a:p>
        </p:txBody>
      </p:sp>
      <p:sp>
        <p:nvSpPr>
          <p:cNvPr id="6" name="Shape 4"/>
          <p:cNvSpPr/>
          <p:nvPr/>
        </p:nvSpPr>
        <p:spPr>
          <a:xfrm>
            <a:off x="2651760" y="2075688"/>
            <a:ext cx="0" cy="237744"/>
          </a:xfrm>
          <a:prstGeom prst="line">
            <a:avLst/>
          </a:prstGeom>
          <a:noFill/>
          <a:ln w="25400">
            <a:solidFill>
              <a:srgbClr val="1F4E79"/>
            </a:solidFill>
            <a:prstDash val="solid"/>
            <a:tailEnd type="triangle"/>
          </a:ln>
        </p:spPr>
      </p:sp>
      <p:sp>
        <p:nvSpPr>
          <p:cNvPr id="7" name="Ecuación 2"/>
          <p:cNvSpPr/>
          <p:nvPr/>
        </p:nvSpPr>
        <p:spPr>
          <a:xfrm>
            <a:off x="457200" y="233172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μ=</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G</m:t>
                          </m:r>
                        </m:e>
                        <m:sub>
                          <m:r>
                            <m:rPr>
                              <m:sty m:val="p"/>
                            </m:rPr>
                            <a:rPr lang="es-ES" sz="2800">
                              <a:solidFill>
                                <a:srgbClr val="1F4E79"/>
                              </a:solidFill>
                              <a:latin typeface="Cambria Math" panose="02040503050406030204" pitchFamily="18" charset="0"/>
                            </a:rPr>
                            <m:t xml:space="preserve">max</m:t>
                          </m:r>
                        </m:sub>
                      </m:sSub>
                    </m:oMath>
                  </m:oMathPara>
                </a14:m>
                <a:endParaRPr lang="es-ES"/>
              </a:p>
            </p:txBody>
          </p:sp>
        </mc:Choice>
        <mc:Fallback>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μ = Gmax</a:t>
                </a:r>
                <a:endParaRPr lang="en-US" sz="2400" dirty="0"/>
              </a:p>
            </p:txBody>
          </p:sp>
        </mc:Fallback>
      </mc:AlternateContent>
      <p:sp>
        <p:nvSpPr>
          <p:cNvPr id="9" name="Text 7"/>
          <p:cNvSpPr txBox="1"/>
          <p:nvPr/>
        </p:nvSpPr>
        <p:spPr>
          <a:xfrm>
            <a:off x="5120640" y="233172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Solo en pequeña señal: el módulo de corte es Gmax</a:t>
            </a:r>
            <a:endParaRPr lang="en-US" sz="1800" dirty="0"/>
          </a:p>
        </p:txBody>
      </p:sp>
      <p:sp>
        <p:nvSpPr>
          <p:cNvPr id="10" name="Shape 8"/>
          <p:cNvSpPr/>
          <p:nvPr/>
        </p:nvSpPr>
        <p:spPr>
          <a:xfrm>
            <a:off x="2651760" y="3127248"/>
            <a:ext cx="0" cy="237744"/>
          </a:xfrm>
          <a:prstGeom prst="line">
            <a:avLst/>
          </a:prstGeom>
          <a:noFill/>
          <a:ln w="25400">
            <a:solidFill>
              <a:srgbClr val="1F4E79"/>
            </a:solidFill>
            <a:prstDash val="solid"/>
            <a:tailEnd type="triangle"/>
          </a:ln>
        </p:spPr>
      </p:sp>
      <p:sp>
        <p:nvSpPr>
          <p:cNvPr id="11" name="Ecuación 3"/>
          <p:cNvSpPr/>
          <p:nvPr/>
        </p:nvSpPr>
        <p:spPr>
          <a:xfrm>
            <a:off x="457200" y="3383280"/>
            <a:ext cx="4389120" cy="777240"/>
          </a:xfrm>
          <a:prstGeom prst="rect">
            <a:avLst/>
          </a:prstGeom>
          <a:solidFill>
            <a:srgbClr val="1F4E79"/>
          </a:solidFill>
          <a:ln w="12700">
            <a:solidFill>
              <a:srgbClr val="1F4E79"/>
            </a:solidFill>
            <a:prstDash val="solid"/>
          </a:ln>
        </p:spPr>
      </p:sp>
      <mc:AlternateContent xmlns:mc="http://schemas.openxmlformats.org/markup-compatibility/2006">
        <mc:Choice xmlns:a14="http://schemas.microsoft.com/office/drawing/2010/main" Requires="a14">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G</m:t>
                          </m:r>
                        </m:e>
                        <m:sub>
                          <m:r>
                            <m:rPr>
                              <m:sty m:val="p"/>
                            </m:rPr>
                            <a:rPr lang="es-ES" sz="2800">
                              <a:solidFill>
                                <a:srgbClr val="FFFFFF"/>
                              </a:solidFill>
                              <a:latin typeface="Cambria Math" panose="02040503050406030204" pitchFamily="18" charset="0"/>
                            </a:rPr>
                            <m:t xml:space="preserve">max</m:t>
                          </m:r>
                        </m:sub>
                      </m:sSub>
                      <m:r>
                        <a:rPr lang="es-ES" sz="2800" i="1">
                          <a:solidFill>
                            <a:srgbClr val="FFFFFF"/>
                          </a:solidFill>
                          <a:latin typeface="Cambria Math" panose="02040503050406030204" pitchFamily="18" charset="0"/>
                        </a:rPr>
                        <m:t xml:space="preserve">=ρ</m:t>
                      </m:r>
                      <m:sSup>
                        <m:sSupPr>
                          <m:ctrlPr>
                            <a:rPr lang="es-ES" sz="2800" i="1">
                              <a:latin typeface="Cambria Math" panose="02040503050406030204" pitchFamily="18" charset="0"/>
                            </a:rPr>
                          </m:ctrlPr>
                        </m:sSupPr>
                        <m:e>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V</m:t>
                              </m:r>
                            </m:e>
                            <m:sub>
                              <m:r>
                                <a:rPr lang="es-ES" sz="2800" i="1">
                                  <a:solidFill>
                                    <a:srgbClr val="FFFFFF"/>
                                  </a:solidFill>
                                  <a:latin typeface="Cambria Math" panose="02040503050406030204" pitchFamily="18" charset="0"/>
                                </a:rPr>
                                <m:t xml:space="preserve">s</m:t>
                              </m:r>
                            </m:sub>
                          </m:sSub>
                        </m:e>
                        <m:sup>
                          <m:r>
                            <a:rPr lang="es-ES" sz="2800" i="1">
                              <a:solidFill>
                                <a:srgbClr val="FFFFFF"/>
                              </a:solidFill>
                              <a:latin typeface="Cambria Math" panose="02040503050406030204" pitchFamily="18" charset="0"/>
                            </a:rPr>
                            <m:t xml:space="preserve">2</m:t>
                          </m:r>
                        </m:sup>
                      </m:sSup>
                    </m:oMath>
                  </m:oMathPara>
                </a14:m>
                <a:endParaRPr lang="es-ES"/>
              </a:p>
            </p:txBody>
          </p:sp>
        </mc:Choice>
        <mc:Fallback>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r>
                  <a:rPr lang="en-US" sz="2400" dirty="0">
                    <a:solidFill>
                      <a:srgbClr val="FFFFFF"/>
                    </a:solidFill>
                    <a:latin typeface="Arial" pitchFamily="34" charset="0"/>
                    <a:ea typeface="Arial" pitchFamily="34" charset="-122"/>
                    <a:cs typeface="Arial" pitchFamily="34" charset="-120"/>
                  </a:rPr>
                  <a:t>Gmax = ρ · Vs²</a:t>
                </a:r>
                <a:endParaRPr lang="en-US" sz="2400" dirty="0"/>
              </a:p>
            </p:txBody>
          </p:sp>
        </mc:Fallback>
      </mc:AlternateContent>
      <p:sp>
        <p:nvSpPr>
          <p:cNvPr id="13" name="Text 11"/>
          <p:cNvSpPr txBox="1"/>
          <p:nvPr/>
        </p:nvSpPr>
        <p:spPr>
          <a:xfrm>
            <a:off x="5120640" y="338328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Relación buscada. Válida solo en pequeña señal</a:t>
            </a:r>
            <a:endParaRPr lang="en-US" sz="1800" dirty="0"/>
          </a:p>
        </p:txBody>
      </p:sp>
      <p:sp>
        <p:nvSpPr>
          <p:cNvPr id="1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 conocemos Vs, podemos estimar Gmax con una incertidumbre razonable</a:t>
            </a:r>
            <a:endParaRPr lang="en-US" sz="2400" dirty="0"/>
          </a:p>
        </p:txBody>
      </p:sp>
      <p:sp>
        <p:nvSpPr>
          <p:cNvPr id="3" name="Fondo error"/>
          <p:cNvSpPr/>
          <p:nvPr/>
        </p:nvSpPr>
        <p:spPr>
          <a:xfrm>
            <a:off x="457200" y="1325880"/>
            <a:ext cx="4389120" cy="10972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ΔG</m:t>
                          </m:r>
                        </m:num>
                        <m:den>
                          <m:r>
                            <a:rPr lang="es-ES" sz="2400" i="1">
                              <a:solidFill>
                                <a:srgbClr val="1F4E79"/>
                              </a:solidFill>
                              <a:latin typeface="Cambria Math" panose="02040503050406030204" pitchFamily="18" charset="0"/>
                            </a:rPr>
                            <m:t xml:space="preserve">G</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Δρ</m:t>
                          </m:r>
                        </m:num>
                        <m:den>
                          <m:r>
                            <a:rPr lang="es-ES" sz="2400" i="1">
                              <a:solidFill>
                                <a:srgbClr val="1F4E79"/>
                              </a:solidFill>
                              <a:latin typeface="Cambria Math" panose="02040503050406030204" pitchFamily="18" charset="0"/>
                            </a:rPr>
                            <m:t xml:space="preserve">ρ</m:t>
                          </m:r>
                        </m:den>
                      </m:f>
                      <m:r>
                        <a:rPr lang="es-ES" sz="2400" i="1">
                          <a:solidFill>
                            <a:srgbClr val="1F4E79"/>
                          </a:solidFill>
                          <a:latin typeface="Cambria Math" panose="02040503050406030204" pitchFamily="18" charset="0"/>
                        </a:rPr>
                        <m:t xml:space="preserve">+2</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den>
                      </m:f>
                    </m:oMath>
                  </m:oMathPara>
                </a14:m>
                <a:endParaRPr lang="es-ES"/>
              </a:p>
            </p:txBody>
          </p:sp>
        </mc:Choice>
        <mc:Fallback>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ΔG/G ≈ Δρ/ρ + 2·ΔVs/Vs</a:t>
                </a:r>
                <a:endParaRPr lang="en-US" sz="2400" dirty="0"/>
              </a:p>
            </p:txBody>
          </p:sp>
        </mc:Fallback>
      </mc:AlternateContent>
      <p:sp>
        <p:nvSpPr>
          <p:cNvPr id="5" name="Cuerpo"/>
          <p:cNvSpPr txBox="1"/>
          <p:nvPr/>
        </p:nvSpPr>
        <p:spPr>
          <a:xfrm>
            <a:off x="5120640" y="1325880"/>
            <a:ext cx="3566160" cy="27432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Vs varía mucho y se mide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 error en Vs pesa el doble que uno en ρ</a:t>
            </a:r>
            <a:endParaRPr lang="en-US" sz="1800" dirty="0"/>
          </a:p>
        </p:txBody>
      </p:sp>
      <p:sp>
        <p:nvSpPr>
          <p:cNvPr id="6" name="Text 4"/>
          <p:cNvSpPr txBox="1"/>
          <p:nvPr/>
        </p:nvSpPr>
        <p:spPr>
          <a:xfrm>
            <a:off x="457200" y="2743200"/>
            <a:ext cx="4389120" cy="10972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Propagación de errores lineal, cota superior.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Downhole: la fuente está en superficie y los geófonos dentro del pozo</a:t>
            </a:r>
            <a:endParaRPr lang="en-US" sz="2400" dirty="0"/>
          </a:p>
        </p:txBody>
      </p:sp>
      <p:pic>
        <p:nvPicPr>
          <p:cNvPr id="3" name="Figura downhole" descr="Ensayo downhole: fuente sísmica en superficie, geófonos dentro del pozo, tres capas">    </p:cNvPr>
          <p:cNvPicPr>
            <a:picLocks noChangeAspect="1"/>
          </p:cNvPicPr>
          <p:nvPr/>
        </p:nvPicPr>
        <p:blipFill>
          <a:blip r:embed="rId1"/>
          <a:stretch>
            <a:fillRect/>
          </a:stretch>
        </p:blipFill>
        <p:spPr>
          <a:xfrm>
            <a:off x="457200" y="1188720"/>
            <a:ext cx="4026263" cy="329184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 solo pozo con geófonos a distintas profundidades</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Una fuente golpea en superficie</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Crosshole: fuente y receptor a la misma profundidad, en pozos distintos</a:t>
            </a:r>
            <a:endParaRPr lang="en-US" sz="2400" dirty="0"/>
          </a:p>
        </p:txBody>
      </p:sp>
      <p:pic>
        <p:nvPicPr>
          <p:cNvPr id="3" name="Figura crosshole" descr="Ensayo crosshole: fuente en un pozo, receptor en otro, distancia Δx">    </p:cNvPr>
          <p:cNvPicPr>
            <a:picLocks noChangeAspect="1"/>
          </p:cNvPicPr>
          <p:nvPr/>
        </p:nvPicPr>
        <p:blipFill>
          <a:blip r:embed="rId1"/>
          <a:stretch>
            <a:fillRect/>
          </a:stretch>
        </p:blipFill>
        <p:spPr>
          <a:xfrm>
            <a:off x="457200" y="1234440"/>
            <a:ext cx="4937760" cy="3040493"/>
          </a:xfrm>
          <a:prstGeom prst="rect">
            <a:avLst/>
          </a:prstGeom>
        </p:spPr>
      </p:pic>
      <p:sp>
        <p:nvSpPr>
          <p:cNvPr id="4" name="Cuerpo"/>
          <p:cNvSpPr txBox="1"/>
          <p:nvPr/>
        </p:nvSpPr>
        <p:spPr>
          <a:xfrm>
            <a:off x="5669280" y="1371600"/>
            <a:ext cx="3017520" cy="292608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Dos pozos o más, a distancia Δx conocida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onda S viaja en horizontal por una sola capa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Vs = Δx / Δt</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Adaptada de 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miden Vs de forma directa, con trayectos conocidos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solo pozo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de Vs con la profundidad</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Vs de capas individuales a profundidad conocida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Mejor resolución vertical</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exigen perforar y siguen siendo ensayos puntuales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Menor resolución vertical</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Requiere perforar y entubar</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Dos o más pozos alineados y verticales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Costo y tiempo altos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Dan Vs de forma directa, pero un punto del sitio por ensayo</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a cierta distancia, la onda refractada llega antes que la directa</a:t>
            </a:r>
            <a:endParaRPr lang="en-US" sz="2400" dirty="0"/>
          </a:p>
        </p:txBody>
      </p:sp>
      <p:pic>
        <p:nvPicPr>
          <p:cNvPr id="3" name="Figura refracción" descr="Refracción sísmica en dos capas: energía directa, reflejada y refractada (onda de cabeza), con ángulo crítico">    </p:cNvPr>
          <p:cNvPicPr>
            <a:picLocks noChangeAspect="1"/>
          </p:cNvPicPr>
          <p:nvPr/>
        </p:nvPicPr>
        <p:blipFill>
          <a:blip r:embed="rId1"/>
          <a:stretch>
            <a:fillRect/>
          </a:stretch>
        </p:blipFill>
        <p:spPr>
          <a:xfrm>
            <a:off x="457200" y="1234440"/>
            <a:ext cx="5120640" cy="3058925"/>
          </a:xfrm>
          <a:prstGeom prst="rect">
            <a:avLst/>
          </a:prstGeom>
        </p:spPr>
      </p:pic>
      <p:sp>
        <p:nvSpPr>
          <p:cNvPr id="4" name="Cuerpo"/>
          <p:cNvSpPr txBox="1"/>
          <p:nvPr/>
        </p:nvSpPr>
        <p:spPr>
          <a:xfrm>
            <a:off x="5760720" y="1371600"/>
            <a:ext cx="292608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USGS (1987), Open-File Report 87-0103-A, recreada y traducida (fuente exacta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del gráfico de tiempos salen las velocidades y el espesor de la capa</a:t>
            </a:r>
            <a:endParaRPr lang="en-US" sz="2400" dirty="0"/>
          </a:p>
        </p:txBody>
      </p:sp>
      <p:pic>
        <p:nvPicPr>
          <p:cNvPr id="3" name="Dromocrónica" descr="Dromocrónica: rectas de onda directa y refractada con tiempo de intercepto y distancia de cruce">    </p:cNvPr>
          <p:cNvPicPr>
            <a:picLocks noChangeAspect="1"/>
          </p:cNvPicPr>
          <p:nvPr/>
        </p:nvPicPr>
        <p:blipFill>
          <a:blip r:embed="rId1"/>
          <a:stretch>
            <a:fillRect/>
          </a:stretch>
        </p:blipFill>
        <p:spPr>
          <a:xfrm>
            <a:off x="457200" y="1188720"/>
            <a:ext cx="8229600" cy="3131507"/>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«Refraction dia.jpg» (L. Antiga, 2010, dominio público),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simple y rápida, pero exige que la velocidad crezca con la profundidad</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Equipo y procesamiento simples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Rápida de ejecutar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Da velocidades y espesores de capa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velocidad debe aumentar con la profundidad</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Una capa blanda bajo otra rápida queda oculta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Capas delgadas pueden no verse</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se registra el tiempo de ida y vuelta de la energía reflejada</a:t>
            </a:r>
            <a:endParaRPr lang="en-US" sz="2400" dirty="0"/>
          </a:p>
        </p:txBody>
      </p:sp>
      <p:pic>
        <p:nvPicPr>
          <p:cNvPr id="3" name="Figura reflexión" descr="Reflexión sísmica: rayos desde la fuente hasta cada interfaz y de vuelta al geófono, con la traza registrada">    </p:cNvPr>
          <p:cNvPicPr>
            <a:picLocks noChangeAspect="1"/>
          </p:cNvPicPr>
          <p:nvPr/>
        </p:nvPicPr>
        <p:blipFill>
          <a:blip r:embed="rId1"/>
          <a:stretch>
            <a:fillRect/>
          </a:stretch>
        </p:blipFill>
        <p:spPr>
          <a:xfrm>
            <a:off x="457200" y="1188720"/>
            <a:ext cx="4572000" cy="3203924"/>
          </a:xfrm>
          <a:prstGeom prst="rect">
            <a:avLst/>
          </a:prstGeom>
        </p:spPr>
      </p:pic>
      <p:sp>
        <p:nvSpPr>
          <p:cNvPr id="4" name="Cuerpo"/>
          <p:cNvSpPr txBox="1"/>
          <p:nvPr/>
        </p:nvSpPr>
        <p:spPr>
          <a:xfrm>
            <a:off x="5303520" y="128016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energía se refleja en cada interfaz</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Cada geófono registra una traza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El tiempo depende de la profundidad y de la velocidad</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«Basics of Seismic Reflection» (CC BY-SA 4.0),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alcanza más profundidad, pero rinde poco en los primeros metros</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Alcanza mayores profundidades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Buena imagen de la estructura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resolución en los primeros metros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Exige fuentes de alta frecuencia y más procesamiento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Interfieren las ondas directas y superficiales</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de cuerpo, al llegar a una interfaz, se reflejan y se transmiten</a:t>
            </a:r>
            <a:endParaRPr lang="en-US" sz="2400" dirty="0"/>
          </a:p>
        </p:txBody>
      </p:sp>
      <p:pic>
        <p:nvPicPr>
          <p:cNvPr id="3" name="Figura interfaz" descr="Interfaz entre dos medios con onda incidente, reflejada y transmitida">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669280" y="1371600"/>
            <a:ext cx="301752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ondas de cuerpo (P y S) viajan por el interior del terreno</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El terreno real tiene capas: en cada interfaz cambian ρ, Vp y Vs</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Parte de la energía se refleja y parte se transmite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Caso particular: en la superficie libre, la energía vuelve al terreno</a:t>
            </a:r>
            <a:endParaRPr lang="en-US" sz="2400" dirty="0"/>
          </a:p>
        </p:txBody>
      </p:sp>
      <p:pic>
        <p:nvPicPr>
          <p:cNvPr id="3" name="Figura superficie libre" descr="Superficie libre: la onda incidente se refleja de vuelta al terreno">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669280" y="1371600"/>
            <a:ext cx="301752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superficie libre es el contacto entre el terreno y el aire</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Prácticamente toda la energía se refleja hacia el terreno</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onda S tiene dos polarizaciones: SV y SH</a:t>
            </a:r>
            <a:endParaRPr lang="en-US" sz="2400" dirty="0"/>
          </a:p>
        </p:txBody>
      </p:sp>
      <p:pic>
        <p:nvPicPr>
          <p:cNvPr id="3" name="Figura SV y SH" descr="Onda SV con movimiento en el plano de incidencia y onda SH con movimiento perpendicular a ese plano">    </p:cNvPr>
          <p:cNvPicPr>
            <a:picLocks noChangeAspect="1"/>
          </p:cNvPicPr>
          <p:nvPr/>
        </p:nvPicPr>
        <p:blipFill>
          <a:blip r:embed="rId1"/>
          <a:stretch>
            <a:fillRect/>
          </a:stretch>
        </p:blipFill>
        <p:spPr>
          <a:xfrm>
            <a:off x="457200" y="1234440"/>
            <a:ext cx="5486400" cy="3108960"/>
          </a:xfrm>
          <a:prstGeom prst="rect">
            <a:avLst/>
          </a:prstGeom>
        </p:spPr>
      </p:pic>
      <p:sp>
        <p:nvSpPr>
          <p:cNvPr id="4" name="Cuerpo"/>
          <p:cNvSpPr txBox="1"/>
          <p:nvPr/>
        </p:nvSpPr>
        <p:spPr>
          <a:xfrm>
            <a:off x="6126480" y="1371600"/>
            <a:ext cx="2560320" cy="29260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Plano de incidencia: contiene el rayo y la vertical</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SV: oscila dentro de ese plano</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SH: oscila perpendicular a ese plano, en horizontal</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polarización de la onda 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la superficie libre, P y SV se convierten entre sí; SH queda aparte</a:t>
            </a:r>
            <a:endParaRPr lang="en-US" sz="2400" dirty="0"/>
          </a:p>
        </p:txBody>
      </p:sp>
      <p:sp>
        <p:nvSpPr>
          <p:cNvPr id="3" name="Caja P"/>
          <p:cNvSpPr/>
          <p:nvPr/>
        </p:nvSpPr>
        <p:spPr>
          <a:xfrm>
            <a:off x="457200" y="1371600"/>
            <a:ext cx="1371600" cy="777240"/>
          </a:xfrm>
          <a:prstGeom prst="roundRect">
            <a:avLst>
              <a:gd name="adj" fmla="val 9412"/>
            </a:avLst>
          </a:prstGeom>
          <a:solidFill>
            <a:srgbClr val="2E75B6"/>
          </a:solidFill>
          <a:ln w="12700">
            <a:solidFill>
              <a:srgbClr val="2E75B6"/>
            </a:solidFill>
            <a:prstDash val="solid"/>
          </a:ln>
        </p:spPr>
      </p:sp>
      <p:sp>
        <p:nvSpPr>
          <p:cNvPr id="4" name="Text 2"/>
          <p:cNvSpPr txBox="1"/>
          <p:nvPr/>
        </p:nvSpPr>
        <p:spPr>
          <a:xfrm>
            <a:off x="45720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P</a:t>
            </a:r>
            <a:endParaRPr lang="en-US" sz="2000" dirty="0"/>
          </a:p>
        </p:txBody>
      </p:sp>
      <p:sp>
        <p:nvSpPr>
          <p:cNvPr id="5" name="Caja SV"/>
          <p:cNvSpPr/>
          <p:nvPr/>
        </p:nvSpPr>
        <p:spPr>
          <a:xfrm>
            <a:off x="3017520" y="1371600"/>
            <a:ext cx="1371600" cy="777240"/>
          </a:xfrm>
          <a:prstGeom prst="roundRect">
            <a:avLst>
              <a:gd name="adj" fmla="val 9412"/>
            </a:avLst>
          </a:prstGeom>
          <a:solidFill>
            <a:srgbClr val="2E75B6"/>
          </a:solidFill>
          <a:ln w="12700">
            <a:solidFill>
              <a:srgbClr val="2E75B6"/>
            </a:solidFill>
            <a:prstDash val="solid"/>
          </a:ln>
        </p:spPr>
      </p:sp>
      <p:sp>
        <p:nvSpPr>
          <p:cNvPr id="6" name="Text 4"/>
          <p:cNvSpPr txBox="1"/>
          <p:nvPr/>
        </p:nvSpPr>
        <p:spPr>
          <a:xfrm>
            <a:off x="301752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SV</a:t>
            </a:r>
            <a:endParaRPr lang="en-US" sz="2000" dirty="0"/>
          </a:p>
        </p:txBody>
      </p:sp>
      <p:sp>
        <p:nvSpPr>
          <p:cNvPr id="7" name="Shape 5"/>
          <p:cNvSpPr/>
          <p:nvPr/>
        </p:nvSpPr>
        <p:spPr>
          <a:xfrm>
            <a:off x="1874520" y="1760220"/>
            <a:ext cx="1097280" cy="0"/>
          </a:xfrm>
          <a:prstGeom prst="line">
            <a:avLst/>
          </a:prstGeom>
          <a:noFill/>
          <a:ln w="38100">
            <a:solidFill>
              <a:srgbClr val="1F4E79"/>
            </a:solidFill>
            <a:prstDash val="solid"/>
            <a:headEnd type="triangle"/>
            <a:tailEnd type="triangle"/>
          </a:ln>
        </p:spPr>
      </p:sp>
      <p:sp>
        <p:nvSpPr>
          <p:cNvPr id="8" name="Text 6"/>
          <p:cNvSpPr txBox="1"/>
          <p:nvPr/>
        </p:nvSpPr>
        <p:spPr>
          <a:xfrm>
            <a:off x="1783080" y="1828800"/>
            <a:ext cx="1280160" cy="365760"/>
          </a:xfrm>
          <a:prstGeom prst="rect">
            <a:avLst/>
          </a:prstGeom>
          <a:noFill/>
          <a:ln/>
        </p:spPr>
        <p:txBody>
          <a:bodyPr wrap="square" lIns="0" tIns="0" rIns="0" bIns="0" rtlCol="0" anchor="t"/>
          <a:lstStyle/>
          <a:p>
            <a:pPr algn="ctr" indent="0" marL="0">
              <a:buNone/>
            </a:pPr>
            <a:r>
              <a:rPr lang="en-US" sz="1600" dirty="0">
                <a:solidFill>
                  <a:srgbClr val="1F4E79"/>
                </a:solidFill>
                <a:latin typeface="Arial" pitchFamily="34" charset="0"/>
                <a:ea typeface="Arial" pitchFamily="34" charset="-122"/>
                <a:cs typeface="Arial" pitchFamily="34" charset="-120"/>
              </a:rPr>
              <a:t>se acoplan</a:t>
            </a:r>
            <a:endParaRPr lang="en-US" sz="1600" dirty="0"/>
          </a:p>
        </p:txBody>
      </p:sp>
      <p:sp>
        <p:nvSpPr>
          <p:cNvPr id="9" name="Caja SH"/>
          <p:cNvSpPr/>
          <p:nvPr/>
        </p:nvSpPr>
        <p:spPr>
          <a:xfrm>
            <a:off x="5760720" y="1371600"/>
            <a:ext cx="1828800" cy="777240"/>
          </a:xfrm>
          <a:prstGeom prst="roundRect">
            <a:avLst>
              <a:gd name="adj" fmla="val 9412"/>
            </a:avLst>
          </a:prstGeom>
          <a:solidFill>
            <a:srgbClr val="C55A11"/>
          </a:solidFill>
          <a:ln w="12700">
            <a:solidFill>
              <a:srgbClr val="C55A11"/>
            </a:solidFill>
            <a:prstDash val="solid"/>
          </a:ln>
        </p:spPr>
      </p:sp>
      <p:sp>
        <p:nvSpPr>
          <p:cNvPr id="10" name="Text 8"/>
          <p:cNvSpPr txBox="1"/>
          <p:nvPr/>
        </p:nvSpPr>
        <p:spPr>
          <a:xfrm>
            <a:off x="5760720" y="1371600"/>
            <a:ext cx="18288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SH</a:t>
            </a:r>
            <a:endParaRPr lang="en-US" sz="2000" dirty="0"/>
          </a:p>
        </p:txBody>
      </p:sp>
      <p:sp>
        <p:nvSpPr>
          <p:cNvPr id="11" name="Text 9"/>
          <p:cNvSpPr txBox="1"/>
          <p:nvPr/>
        </p:nvSpPr>
        <p:spPr>
          <a:xfrm>
            <a:off x="5486400" y="2194560"/>
            <a:ext cx="2377440" cy="365760"/>
          </a:xfrm>
          <a:prstGeom prst="rect">
            <a:avLst/>
          </a:prstGeom>
          <a:noFill/>
          <a:ln/>
        </p:spPr>
        <p:txBody>
          <a:bodyPr wrap="square" lIns="0" tIns="0" rIns="0" bIns="0" rtlCol="0" anchor="t"/>
          <a:lstStyle/>
          <a:p>
            <a:pPr algn="ctr" indent="0" marL="0">
              <a:buNone/>
            </a:pPr>
            <a:r>
              <a:rPr lang="en-US" sz="1600" dirty="0">
                <a:solidFill>
                  <a:srgbClr val="C55A11"/>
                </a:solidFill>
                <a:latin typeface="Arial" pitchFamily="34" charset="0"/>
                <a:ea typeface="Arial" pitchFamily="34" charset="-122"/>
                <a:cs typeface="Arial" pitchFamily="34" charset="-120"/>
              </a:rPr>
              <a:t>solo genera SH</a:t>
            </a:r>
            <a:endParaRPr lang="en-US" sz="1600" dirty="0"/>
          </a:p>
        </p:txBody>
      </p:sp>
      <p:sp>
        <p:nvSpPr>
          <p:cNvPr id="12" name="Shape 10"/>
          <p:cNvSpPr/>
          <p:nvPr/>
        </p:nvSpPr>
        <p:spPr>
          <a:xfrm>
            <a:off x="2423160" y="2286000"/>
            <a:ext cx="0" cy="685800"/>
          </a:xfrm>
          <a:prstGeom prst="line">
            <a:avLst/>
          </a:prstGeom>
          <a:noFill/>
          <a:ln w="38100">
            <a:solidFill>
              <a:srgbClr val="1F4E79"/>
            </a:solidFill>
            <a:prstDash val="solid"/>
            <a:tailEnd type="triangle"/>
          </a:ln>
        </p:spPr>
      </p:sp>
      <p:sp>
        <p:nvSpPr>
          <p:cNvPr id="13" name="Shape 11"/>
          <p:cNvSpPr/>
          <p:nvPr/>
        </p:nvSpPr>
        <p:spPr>
          <a:xfrm>
            <a:off x="6675120" y="2606040"/>
            <a:ext cx="0" cy="365760"/>
          </a:xfrm>
          <a:prstGeom prst="line">
            <a:avLst/>
          </a:prstGeom>
          <a:noFill/>
          <a:ln w="38100">
            <a:solidFill>
              <a:srgbClr val="C55A11"/>
            </a:solidFill>
            <a:prstDash val="solid"/>
            <a:tailEnd type="triangle"/>
          </a:ln>
        </p:spPr>
      </p:sp>
      <p:sp>
        <p:nvSpPr>
          <p:cNvPr id="14" name="Resultado Rayleigh"/>
          <p:cNvSpPr/>
          <p:nvPr/>
        </p:nvSpPr>
        <p:spPr>
          <a:xfrm>
            <a:off x="457200" y="3017520"/>
            <a:ext cx="3931920" cy="822960"/>
          </a:xfrm>
          <a:prstGeom prst="roundRect">
            <a:avLst>
              <a:gd name="adj" fmla="val 8889"/>
            </a:avLst>
          </a:prstGeom>
          <a:solidFill>
            <a:srgbClr val="1F4E79"/>
          </a:solidFill>
          <a:ln w="12700">
            <a:solidFill>
              <a:srgbClr val="1F4E79"/>
            </a:solidFill>
            <a:prstDash val="solid"/>
          </a:ln>
        </p:spPr>
      </p:sp>
      <p:sp>
        <p:nvSpPr>
          <p:cNvPr id="15" name="Text 13"/>
          <p:cNvSpPr txBox="1"/>
          <p:nvPr/>
        </p:nvSpPr>
        <p:spPr>
          <a:xfrm>
            <a:off x="457200" y="3017520"/>
            <a:ext cx="393192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Rayleigh</a:t>
            </a:r>
            <a:endParaRPr lang="en-US" sz="2000" dirty="0"/>
          </a:p>
        </p:txBody>
      </p:sp>
      <p:sp>
        <p:nvSpPr>
          <p:cNvPr id="16" name="Resultado Love"/>
          <p:cNvSpPr/>
          <p:nvPr/>
        </p:nvSpPr>
        <p:spPr>
          <a:xfrm>
            <a:off x="5120640" y="3017520"/>
            <a:ext cx="3291840" cy="822960"/>
          </a:xfrm>
          <a:prstGeom prst="roundRect">
            <a:avLst>
              <a:gd name="adj" fmla="val 8889"/>
            </a:avLst>
          </a:prstGeom>
          <a:solidFill>
            <a:srgbClr val="C55A11"/>
          </a:solidFill>
          <a:ln w="12700">
            <a:solidFill>
              <a:srgbClr val="C55A11"/>
            </a:solidFill>
            <a:prstDash val="solid"/>
          </a:ln>
        </p:spPr>
      </p:sp>
      <p:sp>
        <p:nvSpPr>
          <p:cNvPr id="17" name="Text 15"/>
          <p:cNvSpPr txBox="1"/>
          <p:nvPr/>
        </p:nvSpPr>
        <p:spPr>
          <a:xfrm>
            <a:off x="5120640" y="3017520"/>
            <a:ext cx="329184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Love</a:t>
            </a:r>
            <a:endParaRPr lang="en-US" sz="2000" dirty="0"/>
          </a:p>
        </p:txBody>
      </p:sp>
      <p:sp>
        <p:nvSpPr>
          <p:cNvPr id="18" name="Text 16"/>
          <p:cNvSpPr txBox="1"/>
          <p:nvPr/>
        </p:nvSpPr>
        <p:spPr>
          <a:xfrm>
            <a:off x="457200" y="3931920"/>
            <a:ext cx="393192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Movimiento en el plano vertical</a:t>
            </a:r>
            <a:endParaRPr lang="en-US" sz="1600" dirty="0"/>
          </a:p>
        </p:txBody>
      </p:sp>
      <p:sp>
        <p:nvSpPr>
          <p:cNvPr id="19" name="Text 17"/>
          <p:cNvSpPr txBox="1"/>
          <p:nvPr/>
        </p:nvSpPr>
        <p:spPr>
          <a:xfrm>
            <a:off x="4937760" y="3931920"/>
            <a:ext cx="365760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Solo con capa blanda sobre medio rápido</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Los ángulos de las ondas generadas se relacionan con la ley de Snell</a:t>
            </a:r>
            <a:endParaRPr lang="en-US" sz="2400" dirty="0"/>
          </a:p>
        </p:txBody>
      </p:sp>
      <p:pic>
        <p:nvPicPr>
          <p:cNvPr id="3" name="Figura Snell" descr="Onda P incidente en una interfaz: ondas P y S reflejadas y transmitidas con sus ángulos">    </p:cNvPr>
          <p:cNvPicPr>
            <a:picLocks noChangeAspect="1"/>
          </p:cNvPicPr>
          <p:nvPr/>
        </p:nvPicPr>
        <p:blipFill>
          <a:blip r:embed="rId1"/>
          <a:stretch>
            <a:fillRect/>
          </a:stretch>
        </p:blipFill>
        <p:spPr>
          <a:xfrm>
            <a:off x="457200" y="1234440"/>
            <a:ext cx="2880360" cy="3200400"/>
          </a:xfrm>
          <a:prstGeom prst="rect">
            <a:avLst/>
          </a:prstGeom>
        </p:spPr>
      </p:pic>
      <p:sp>
        <p:nvSpPr>
          <p:cNvPr id="4" name="Fondo Snell"/>
          <p:cNvSpPr/>
          <p:nvPr/>
        </p:nvSpPr>
        <p:spPr>
          <a:xfrm>
            <a:off x="3931920" y="1280160"/>
            <a:ext cx="475488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1</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1</m:t>
                              </m:r>
                            </m:sub>
                          </m:sSub>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2</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2</m:t>
                              </m:r>
                            </m:sub>
                          </m:sSub>
                        </m:den>
                      </m:f>
                      <m:r>
                        <a:rPr lang="es-ES" sz="2400" i="1">
                          <a:solidFill>
                            <a:srgbClr val="1F4E79"/>
                          </a:solidFill>
                          <a:latin typeface="Cambria Math" panose="02040503050406030204" pitchFamily="18" charset="0"/>
                        </a:rPr>
                        <m:t xml:space="preserve">=p</m:t>
                      </m:r>
                    </m:oMath>
                  </m:oMathPara>
                </a14:m>
                <a:endParaRPr lang="es-ES"/>
              </a:p>
            </p:txBody>
          </p:sp>
        </mc:Choice>
        <mc:Fallback>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sin θ₁ / V₁ = sin θ₂ / V₂ = p</a:t>
                </a:r>
                <a:endParaRPr lang="en-US" sz="2400" dirty="0"/>
              </a:p>
            </p:txBody>
          </p:sp>
        </mc:Fallback>
      </mc:AlternateContent>
      <p:sp>
        <p:nvSpPr>
          <p:cNvPr id="6" name="Cuerpo"/>
          <p:cNvSpPr txBox="1"/>
          <p:nvPr/>
        </p:nvSpPr>
        <p:spPr>
          <a:xfrm>
            <a:off x="3931920" y="2377440"/>
            <a:ext cx="475488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V es la velocidad de cada onda (Vp o Vs)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Como Vs &lt; Vp, la S sale con un ángulo menor que la P</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SLB (s. f.), The Defining Series: Beginner's Guide to Seismic Surveying,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Love solo existen si una capa blanda cubre un medio más rápido</a:t>
            </a:r>
            <a:endParaRPr lang="en-US" sz="2400" dirty="0"/>
          </a:p>
        </p:txBody>
      </p:sp>
      <p:pic>
        <p:nvPicPr>
          <p:cNvPr id="3" name="Figura condición Love" descr="Onda SH atrapada en una capa blanda por reflexión total en la interfaz y reflexión en la superficie libre">    </p:cNvPr>
          <p:cNvPicPr>
            <a:picLocks noChangeAspect="1"/>
          </p:cNvPicPr>
          <p:nvPr/>
        </p:nvPicPr>
        <p:blipFill>
          <a:blip r:embed="rId1"/>
          <a:stretch>
            <a:fillRect/>
          </a:stretch>
        </p:blipFill>
        <p:spPr>
          <a:xfrm>
            <a:off x="457200" y="1234440"/>
            <a:ext cx="5120640" cy="3108960"/>
          </a:xfrm>
          <a:prstGeom prst="rect">
            <a:avLst/>
          </a:prstGeom>
        </p:spPr>
      </p:pic>
      <p:sp>
        <p:nvSpPr>
          <p:cNvPr id="4" name="Fondo thc"/>
          <p:cNvSpPr/>
          <p:nvPr/>
        </p:nvSpPr>
        <p:spPr>
          <a:xfrm>
            <a:off x="5760720" y="1280160"/>
            <a:ext cx="292608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θ</m:t>
                          </m:r>
                        </m:e>
                        <m:sub>
                          <m:r>
                            <m:rPr>
                              <m:sty m:val="p"/>
                            </m:rPr>
                            <a:rPr lang="es-ES" sz="2000">
                              <a:solidFill>
                                <a:srgbClr val="1F4E79"/>
                              </a:solidFill>
                              <a:latin typeface="Cambria Math" panose="02040503050406030204" pitchFamily="18" charset="0"/>
                            </a:rPr>
                            <m:t xml:space="preserve">c</m:t>
                          </m:r>
                        </m:sub>
                      </m:sSub>
                      <m:r>
                        <a:rPr lang="es-ES" sz="2000" i="1">
                          <a:solidFill>
                            <a:srgbClr val="1F4E79"/>
                          </a:solidFill>
                          <a:latin typeface="Cambria Math" panose="02040503050406030204" pitchFamily="18" charset="0"/>
                        </a:rPr>
                        <m:t xml:space="preserve">=arcsin</m:t>
                      </m:r>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s1</m:t>
                              </m:r>
                            </m:sub>
                          </m:sSub>
                        </m:num>
                        <m:den>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s2</m:t>
                              </m:r>
                            </m:sub>
                          </m:sSub>
                        </m:den>
                      </m:f>
                      <m:r>
                        <a:rPr lang="es-ES" sz="2000" i="1">
                          <a:solidFill>
                            <a:srgbClr val="1F4E79"/>
                          </a:solidFill>
                          <a:latin typeface="Cambria Math" panose="02040503050406030204" pitchFamily="18" charset="0"/>
                        </a:rPr>
                        <m:t xml:space="preserve">)</m:t>
                      </m:r>
                    </m:oMath>
                  </m:oMathPara>
                </a14:m>
                <a:endParaRPr lang="es-ES"/>
              </a:p>
            </p:txBody>
          </p:sp>
        </mc:Choice>
        <mc:Fallback>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θc = arcsin(Vs1 / Vs2)</a:t>
                </a:r>
                <a:endParaRPr lang="en-US" sz="2400" dirty="0"/>
              </a:p>
            </p:txBody>
          </p:sp>
        </mc:Fallback>
      </mc:AlternateContent>
      <p:sp>
        <p:nvSpPr>
          <p:cNvPr id="6" name="Cuerpo"/>
          <p:cNvSpPr txBox="1"/>
          <p:nvPr/>
        </p:nvSpPr>
        <p:spPr>
          <a:xfrm>
            <a:off x="5760720" y="2286000"/>
            <a:ext cx="292608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Queda atrapada entre la superficie libre y la interfaz</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Exige Vs1 &lt; Vs2</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ver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Love: movimiento horizontal, perpendicular a la propagación</a:t>
            </a:r>
            <a:endParaRPr lang="en-US" sz="2400" dirty="0"/>
          </a:p>
        </p:txBody>
      </p:sp>
      <p:pic>
        <p:nvPicPr>
          <p:cNvPr id="3" name="Onda Love" descr="Onda Love: movimiento horizontal transversal a la propagación">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Resulta de la interferencia constructiva de las SH atrapadas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Sin componente vertical: un geófono vertical no la registra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Rayleigh: P y SV acopladas en la superficie libre, con órbita elíptica</a:t>
            </a:r>
            <a:endParaRPr lang="en-US" sz="2400" dirty="0"/>
          </a:p>
        </p:txBody>
      </p:sp>
      <p:pic>
        <p:nvPicPr>
          <p:cNvPr id="3" name="Onda Rayleigh" descr="Onda Rayleigh: movimiento elíptico retrógrado en el plano vertical">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Acopla P y SV en la superficie libre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Movimiento elíptico retrógrado en el plano vertical</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Existe incluso en un semiespacio homogéneo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Tiene componente vertical: la registra el geófono vertical</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Una fuente en superficie envía dos tercios de su energía en ondas Rayleigh</a:t>
            </a:r>
            <a:endParaRPr lang="en-US" sz="2400" dirty="0"/>
          </a:p>
        </p:txBody>
      </p:sp>
      <p:graphicFrame>
        <p:nvGraphicFramePr>
          <p:cNvPr id="3" name="Chart 0" descr=""/>
          <p:cNvGraphicFramePr/>
          <p:nvPr/>
        </p:nvGraphicFramePr>
        <p:xfrm>
          <a:off x="457200" y="118872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303520" y="1371600"/>
            <a:ext cx="3383280" cy="15544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Rayleigh 67 %, S 26 %, P 7 %</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Las Rayleigh dominan el registro en superficie</a:t>
            </a:r>
            <a:endParaRPr lang="en-US" sz="2000" dirty="0"/>
          </a:p>
        </p:txBody>
      </p:sp>
      <p:sp>
        <p:nvSpPr>
          <p:cNvPr id="5" name="Supuestos"/>
          <p:cNvSpPr txBox="1"/>
          <p:nvPr/>
        </p:nvSpPr>
        <p:spPr>
          <a:xfrm>
            <a:off x="5303520" y="3108960"/>
            <a:ext cx="3383280" cy="914400"/>
          </a:xfrm>
          <a:prstGeom prst="rect">
            <a:avLst/>
          </a:prstGeom>
          <a:noFill/>
          <a:ln/>
        </p:spPr>
        <p:txBody>
          <a:bodyPr wrap="square" lIns="0" tIns="0" rIns="0" bIns="0" rtlCol="0" anchor="t"/>
          <a:lstStyle/>
          <a:p>
            <a:pPr indent="0" marL="0">
              <a:buNone/>
            </a:pPr>
            <a:r>
              <a:rPr lang="en-US" sz="1600" dirty="0">
                <a:solidFill>
                  <a:srgbClr val="6B6B6B"/>
                </a:solidFill>
                <a:latin typeface="Arial" pitchFamily="34" charset="0"/>
                <a:ea typeface="Arial" pitchFamily="34" charset="-122"/>
                <a:cs typeface="Arial" pitchFamily="34" charset="-120"/>
              </a:rPr>
              <a:t>Supone ν = 0,25, fuente vertical circular y semiespacio homogéneo e isótropo</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Miller y Pursey (1955); reproducido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Además, las Rayleigh se atenúan menos con la distancia que las de cuerpo</a:t>
            </a:r>
            <a:endParaRPr lang="en-US" sz="2400" dirty="0"/>
          </a:p>
        </p:txBody>
      </p:sp>
      <p:graphicFrame>
        <p:nvGraphicFramePr>
          <p:cNvPr id="3" name="Chart 0" descr=""/>
          <p:cNvGraphicFramePr/>
          <p:nvPr/>
        </p:nvGraphicFramePr>
        <p:xfrm>
          <a:off x="457200" y="118872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Rayleigh: amplitud ∝ 1/√r</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Cuerpo: 1/r en el interior, 1/r² a lo largo de la superficie</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Lejos de la fuente, domina la Rayleigh</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Richart, Hall y Woods (1970);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semiespacio homogéneo, Rayleigh viaja a cR ≈ 0,9·Vs y no depende de la frecuencia</a:t>
            </a:r>
            <a:endParaRPr lang="en-US" sz="2400" dirty="0"/>
          </a:p>
        </p:txBody>
      </p:sp>
      <p:graphicFrame>
        <p:nvGraphicFramePr>
          <p:cNvPr id="3" name="Chart 0" descr=""/>
          <p:cNvGraphicFramePr/>
          <p:nvPr/>
        </p:nvGraphicFramePr>
        <p:xfrm>
          <a:off x="457200" y="118872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4" name="Fondo cR"/>
          <p:cNvSpPr/>
          <p:nvPr/>
        </p:nvSpPr>
        <p:spPr>
          <a:xfrm>
            <a:off x="4937760" y="1234440"/>
            <a:ext cx="37490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r>
                        <a:rPr lang="es-ES" sz="2800" i="1">
                          <a:solidFill>
                            <a:srgbClr val="1F4E79"/>
                          </a:solidFill>
                          <a:latin typeface="Cambria Math" panose="02040503050406030204" pitchFamily="18" charset="0"/>
                        </a:rPr>
                        <m:t xml:space="preserve">≈0,9·</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oMath>
                  </m:oMathPara>
                </a14:m>
                <a:endParaRPr lang="es-ES"/>
              </a:p>
            </p:txBody>
          </p:sp>
        </mc:Choice>
        <mc:Fallback>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0,9 · Vs</a:t>
                </a:r>
                <a:endParaRPr lang="en-US" sz="2400" dirty="0"/>
              </a:p>
            </p:txBody>
          </p:sp>
        </mc:Fallback>
      </mc:AlternateContent>
      <p:sp>
        <p:nvSpPr>
          <p:cNvPr id="6" name="Fondo cR nu"/>
          <p:cNvSpPr/>
          <p:nvPr/>
        </p:nvSpPr>
        <p:spPr>
          <a:xfrm>
            <a:off x="4937760" y="2103120"/>
            <a:ext cx="374904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0,862+1,14ν</m:t>
                          </m:r>
                        </m:num>
                        <m:den>
                          <m:r>
                            <a:rPr lang="es-ES" sz="2400" i="1">
                              <a:solidFill>
                                <a:srgbClr val="1F4E79"/>
                              </a:solidFill>
                              <a:latin typeface="Cambria Math" panose="02040503050406030204" pitchFamily="18" charset="0"/>
                            </a:rPr>
                            <m:t xml:space="preserve">1+ν</m:t>
                          </m:r>
                        </m:den>
                      </m:f>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(0,862 + 1,14ν)/(1 + ν) · Vs</a:t>
                </a:r>
                <a:endParaRPr lang="en-US" sz="2400" dirty="0"/>
              </a:p>
            </p:txBody>
          </p:sp>
        </mc:Fallback>
      </mc:AlternateContent>
      <p:sp>
        <p:nvSpPr>
          <p:cNvPr id="8" name="Cuerpo"/>
          <p:cNvSpPr txBox="1"/>
          <p:nvPr/>
        </p:nvSpPr>
        <p:spPr>
          <a:xfrm>
            <a:off x="4937760" y="3154680"/>
            <a:ext cx="374904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cR / Vs va de 0,86 a 0,95 según ν</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No hay dispersión: todas las frecuencias van a la misma cR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Vs ≈ cR / 0,9</a:t>
            </a:r>
            <a:endParaRPr lang="en-US" sz="16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Aproximación de Viktorov (1967),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dc:title>
  <dc:subject>PptxGenJS Presentation</dc:subject>
  <dc:creator>Elías David Álvarez Martínez</dc:creator>
  <cp:lastModifiedBy>Elías David Álvarez Martínez</cp:lastModifiedBy>
  <cp:revision>1</cp:revision>
  <dcterms:created xsi:type="dcterms:W3CDTF">2026-10-13T03:19:21Z</dcterms:created>
  <dcterms:modified xsi:type="dcterms:W3CDTF">2026-10-13T03:19:21Z</dcterms:modified>
</cp:coreProperties>
</file>