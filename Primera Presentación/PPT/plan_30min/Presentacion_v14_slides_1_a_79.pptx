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1.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charts/chart2.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charts/chart3.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charts/chart4.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charts/chart5.xml" ContentType="application/vnd.openxmlformats-officedocument.drawingml.chart+xml"/>
  <Override PartName="/ppt/slideMasters/slideMaster73.xml" ContentType="application/vnd.openxmlformats-officedocument.presentationml.slideMaster+xml"/>
  <Override PartName="/ppt/slides/slide73.xml" ContentType="application/vnd.openxmlformats-officedocument.presentationml.slide+xml"/>
  <Override PartName="/ppt/slideMasters/slideMaster74.xml" ContentType="application/vnd.openxmlformats-officedocument.presentationml.slideMaster+xml"/>
  <Override PartName="/ppt/slides/slide74.xml" ContentType="application/vnd.openxmlformats-officedocument.presentationml.slide+xml"/>
  <Override PartName="/ppt/slideMasters/slideMaster75.xml" ContentType="application/vnd.openxmlformats-officedocument.presentationml.slideMaster+xml"/>
  <Override PartName="/ppt/slides/slide75.xml" ContentType="application/vnd.openxmlformats-officedocument.presentationml.slide+xml"/>
  <Override PartName="/ppt/slideMasters/slideMaster76.xml" ContentType="application/vnd.openxmlformats-officedocument.presentationml.slideMaster+xml"/>
  <Override PartName="/ppt/slides/slide76.xml" ContentType="application/vnd.openxmlformats-officedocument.presentationml.slide+xml"/>
  <Override PartName="/ppt/slideMasters/slideMaster77.xml" ContentType="application/vnd.openxmlformats-officedocument.presentationml.slideMaster+xml"/>
  <Override PartName="/ppt/slides/slide77.xml" ContentType="application/vnd.openxmlformats-officedocument.presentationml.slide+xml"/>
  <Override PartName="/ppt/slideMasters/slideMaster78.xml" ContentType="application/vnd.openxmlformats-officedocument.presentationml.slideMaster+xml"/>
  <Override PartName="/ppt/slides/slide78.xml" ContentType="application/vnd.openxmlformats-officedocument.presentationml.slide+xml"/>
  <Override PartName="/ppt/slideMasters/slideMaster79.xml" ContentType="application/vnd.openxmlformats-officedocument.presentationml.slideMaster+xml"/>
  <Override PartName="/ppt/slides/slide7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Lst>
  <p:notesMasterIdLst>
    <p:notesMasterId r:id="rId8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notesMaster" Target="notesMasters/notesMaster1.xml"/><Relationship Id="rId82" Type="http://schemas.openxmlformats.org/officeDocument/2006/relationships/presProps" Target="presProps.xml"/><Relationship Id="rId83" Type="http://schemas.openxmlformats.org/officeDocument/2006/relationships/viewProps" Target="viewProps.xml"/><Relationship Id="rId84" Type="http://schemas.openxmlformats.org/officeDocument/2006/relationships/theme" Target="theme/theme1.xml"/><Relationship Id="rId8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Energía</c:v>
                </c:pt>
              </c:strCache>
            </c:strRef>
          </c:tx>
          <c:spPr>
            <a:solidFill>
              <a:schemeClr val="accent1"/>
            </a:solidFill>
            <a:ln w="9525" cap="flat">
              <a:solidFill>
                <a:srgbClr val="F9F9F9"/>
              </a:solidFill>
              <a:prstDash val="solid"/>
              <a:round/>
            </a:ln>
            <a:effectLst/>
          </c:spPr>
          <c:dPt>
            <c:idx val="0"/>
            <c:bubble3D val="0"/>
            <c:spPr>
              <a:solidFill>
                <a:srgbClr val="C55A11"/>
              </a:solidFill>
              <a:ln w="19050" cap="flat">
                <a:solidFill>
                  <a:srgbClr val="FFFFFF"/>
                </a:solidFill>
                <a:prstDash val="solid"/>
                <a:round/>
              </a:ln>
              <a:effectLst/>
            </c:spPr>
          </c:dPt>
          <c:dPt>
            <c:idx val="1"/>
            <c:bubble3D val="0"/>
            <c:spPr>
              <a:solidFill>
                <a:srgbClr val="2E75B6"/>
              </a:solidFill>
              <a:ln w="19050" cap="flat">
                <a:solidFill>
                  <a:srgbClr val="FFFFFF"/>
                </a:solidFill>
                <a:prstDash val="solid"/>
                <a:round/>
              </a:ln>
              <a:effectLst/>
            </c:spPr>
          </c:dPt>
          <c:dPt>
            <c:idx val="2"/>
            <c:bubble3D val="0"/>
            <c:spPr>
              <a:solidFill>
                <a:srgbClr val="9E9E9E"/>
              </a:solidFill>
              <a:ln w="19050" cap="flat">
                <a:solidFill>
                  <a:srgbClr val="FFFFFF"/>
                </a:solidFill>
                <a:prstDash val="solid"/>
                <a:round/>
              </a:ln>
              <a:effectLst/>
            </c:spPr>
          </c:dPt>
          <c:dLbls>
            <c:dLbl>
              <c:idx val="0"/>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dLbl>
              <c:idx val="1"/>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dLbl>
              <c:idx val="2"/>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numFmt formatCode="0&quot;%&quot;"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Rayleigh</c:v>
                </c:pt>
                <c:pt idx="1">
                  <c:v>S</c:v>
                </c:pt>
                <c:pt idx="2">
                  <c:v>P</c:v>
                </c:pt>
              </c:strCache>
            </c:strRef>
          </c:cat>
          <c:val>
            <c:numRef>
              <c:f>Sheet1!$B$2:$B$4</c:f>
              <c:numCache>
                <c:ptCount val="3"/>
                <c:pt idx="0">
                  <c:v>67</c:v>
                </c:pt>
                <c:pt idx="1">
                  <c:v>26</c:v>
                </c:pt>
                <c:pt idx="2">
                  <c:v>7</c:v>
                </c:pt>
              </c:numCache>
            </c:numRef>
          </c:val>
        </c:ser>
        <c:firstSliceAng val="0"/>
      </c:pieChart>
      <c:spPr>
        <a:noFill/>
        <a:ln>
          <a:noFill/>
        </a:ln>
        <a:effectLst/>
      </c:spPr>
    </c:plotArea>
    <c:legend>
      <c:legendPos val="r"/>
      <c:overlay val="0"/>
      <c:txPr>
        <a:bodyPr/>
        <a:lstStyle/>
        <a:p>
          <a:pPr>
            <a:defRPr sz="1400">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Rayleigh (1/√r)</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55A11"/>
              </a:solidFill>
              <a:ln w="9525" cap="flat">
                <a:solidFill>
                  <a:srgbClr val="C55A11"/>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1</c:v>
                </c:pt>
                <c:pt idx="1">
                  <c:v>0.707</c:v>
                </c:pt>
                <c:pt idx="2">
                  <c:v>0.577</c:v>
                </c:pt>
                <c:pt idx="3">
                  <c:v>0.5</c:v>
                </c:pt>
                <c:pt idx="4">
                  <c:v>0.447</c:v>
                </c:pt>
                <c:pt idx="5">
                  <c:v>0.408</c:v>
                </c:pt>
                <c:pt idx="6">
                  <c:v>0.378</c:v>
                </c:pt>
                <c:pt idx="7">
                  <c:v>0.354</c:v>
                </c:pt>
                <c:pt idx="8">
                  <c:v>0.333</c:v>
                </c:pt>
                <c:pt idx="9">
                  <c:v>0.316</c:v>
                </c:pt>
              </c:numCache>
            </c:numRef>
          </c:val>
          <c:smooth val="0"/>
        </c:ser>
        <c:ser>
          <c:idx val="1"/>
          <c:order val="1"/>
          <c:tx>
            <c:strRef>
              <c:f>Sheet1!$C$1</c:f>
              <c:strCache>
                <c:ptCount val="1"/>
                <c:pt idx="0">
                  <c:v>Cuerpo, en el interior (1/r)</c:v>
                </c:pt>
              </c:strCache>
            </c:strRef>
          </c:tx>
          <c:spPr>
            <a:solidFill>
              <a:srgbClr val="2E75B6"/>
            </a:solidFill>
            <a:ln w="38100" cap="flat">
              <a:solidFill>
                <a:srgbClr val="2E75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5B6"/>
              </a:solidFill>
              <a:ln w="9525" cap="flat">
                <a:solidFill>
                  <a:srgbClr val="2E75B6"/>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1</c:v>
                </c:pt>
                <c:pt idx="1">
                  <c:v>0.5</c:v>
                </c:pt>
                <c:pt idx="2">
                  <c:v>0.333</c:v>
                </c:pt>
                <c:pt idx="3">
                  <c:v>0.25</c:v>
                </c:pt>
                <c:pt idx="4">
                  <c:v>0.2</c:v>
                </c:pt>
                <c:pt idx="5">
                  <c:v>0.167</c:v>
                </c:pt>
                <c:pt idx="6">
                  <c:v>0.143</c:v>
                </c:pt>
                <c:pt idx="7">
                  <c:v>0.125</c:v>
                </c:pt>
                <c:pt idx="8">
                  <c:v>0.111</c:v>
                </c:pt>
                <c:pt idx="9">
                  <c:v>0.1</c:v>
                </c:pt>
              </c:numCache>
            </c:numRef>
          </c:val>
          <c:smooth val="0"/>
        </c:ser>
        <c:ser>
          <c:idx val="2"/>
          <c:order val="2"/>
          <c:tx>
            <c:strRef>
              <c:f>Sheet1!$D$1</c:f>
              <c:strCache>
                <c:ptCount val="1"/>
                <c:pt idx="0">
                  <c:v>Cuerpo, en la superficie (1/r²)</c:v>
                </c:pt>
              </c:strCache>
            </c:strRef>
          </c:tx>
          <c:spPr>
            <a:solidFill>
              <a:srgbClr val="7F7F7F"/>
            </a:solidFill>
            <a:ln w="38100" cap="flat">
              <a:solidFill>
                <a:srgbClr val="7F7F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F7F7F"/>
              </a:solidFill>
              <a:ln w="9525" cap="flat">
                <a:solidFill>
                  <a:srgbClr val="7F7F7F"/>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Sheet1!$D$2:$D$11</c:f>
              <c:numCache>
                <c:formatCode>General</c:formatCode>
                <c:ptCount val="10"/>
                <c:pt idx="0">
                  <c:v>1</c:v>
                </c:pt>
                <c:pt idx="1">
                  <c:v>0.25</c:v>
                </c:pt>
                <c:pt idx="2">
                  <c:v>0.111</c:v>
                </c:pt>
                <c:pt idx="3">
                  <c:v>0.063</c:v>
                </c:pt>
                <c:pt idx="4">
                  <c:v>0.04</c:v>
                </c:pt>
                <c:pt idx="5">
                  <c:v>0.028</c:v>
                </c:pt>
                <c:pt idx="6">
                  <c:v>0.02</c:v>
                </c:pt>
                <c:pt idx="7">
                  <c:v>0.016</c:v>
                </c:pt>
                <c:pt idx="8">
                  <c:v>0.012</c:v>
                </c:pt>
                <c:pt idx="9">
                  <c:v>0.01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Distancia a la fuente (r, relativa)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Amplitud relativa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cR / Vs</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55A11"/>
              </a:solidFill>
              <a:ln w="9525" cap="flat">
                <a:solidFill>
                  <a:srgbClr val="C55A11"/>
                </a:solidFill>
                <a:prstDash val="solid"/>
                <a:round/>
              </a:ln>
              <a:effectLst/>
            </c:spPr>
          </c:marker>
          <c:cat>
            <c:multiLvlStrRef>
              <c:f>Sheet1!$A$2:$A$8</c:f>
              <c:multiLvlStrCache>
                <c:ptCount val="7"/>
                <c:lvl>
                  <c:pt idx="0">
                    <c:v>0</c:v>
                  </c:pt>
                  <c:pt idx="1">
                    <c:v>0,1</c:v>
                  </c:pt>
                  <c:pt idx="2">
                    <c:v>0,2</c:v>
                  </c:pt>
                  <c:pt idx="3">
                    <c:v>0,25</c:v>
                  </c:pt>
                  <c:pt idx="4">
                    <c:v>0,3</c:v>
                  </c:pt>
                  <c:pt idx="5">
                    <c:v>0,4</c:v>
                  </c:pt>
                  <c:pt idx="6">
                    <c:v>0,5</c:v>
                  </c:pt>
                </c:lvl>
              </c:multiLvlStrCache>
            </c:multiLvlStrRef>
          </c:cat>
          <c:val>
            <c:numRef>
              <c:f>Sheet1!$B$2:$B$8</c:f>
              <c:numCache>
                <c:formatCode>General</c:formatCode>
                <c:ptCount val="7"/>
                <c:pt idx="0">
                  <c:v>0.862</c:v>
                </c:pt>
                <c:pt idx="1">
                  <c:v>0.887</c:v>
                </c:pt>
                <c:pt idx="2">
                  <c:v>0.908</c:v>
                </c:pt>
                <c:pt idx="3">
                  <c:v>0.918</c:v>
                </c:pt>
                <c:pt idx="4">
                  <c:v>0.926</c:v>
                </c:pt>
                <c:pt idx="5">
                  <c:v>0.941</c:v>
                </c:pt>
                <c:pt idx="6">
                  <c:v>0.955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Coeficiente de Poisson ν</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8"/>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cR / Vs</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Curva de dispersión (modo fundamental)</c:v>
                </c:pt>
              </c:strCache>
            </c:strRef>
          </c:tx>
          <c:spPr>
            <a:solidFill>
              <a:srgbClr val="C55A11"/>
            </a:solidFill>
            <a:ln w="38100" cap="flat">
              <a:solidFill>
                <a:srgbClr val="C55A11"/>
              </a:solidFill>
              <a:prstDash val="solid"/>
              <a:round/>
            </a:ln>
            <a:effectLst/>
          </c:spPr>
          <c:marker>
            <c:symbol val="none"/>
            <c:size val="6"/>
            <c:spPr>
              <a:solidFill>
                <a:srgbClr val="C55A11"/>
              </a:solidFill>
              <a:ln w="9525" cap="flat">
                <a:solidFill>
                  <a:srgbClr val="C55A11"/>
                </a:solidFill>
                <a:prstDash val="solid"/>
                <a:round/>
              </a:ln>
              <a:effectLst/>
            </c:spPr>
          </c:marker>
          <c:xVal>
            <c:numRef>
              <c:f>Sheet1!$A$2:$A$48</c:f>
              <c:numCache>
                <c:formatCode>General</c:formatCode>
                <c:ptCount val="47"/>
                <c:pt idx="0">
                  <c:v>2</c:v>
                </c:pt>
                <c:pt idx="1">
                  <c:v>2.5</c:v>
                </c:pt>
                <c:pt idx="2">
                  <c:v>3</c:v>
                </c:pt>
                <c:pt idx="3">
                  <c:v>3.5</c:v>
                </c:pt>
                <c:pt idx="4">
                  <c:v>4</c:v>
                </c:pt>
                <c:pt idx="5">
                  <c:v>4.5</c:v>
                </c:pt>
                <c:pt idx="6">
                  <c:v>5</c:v>
                </c:pt>
                <c:pt idx="7">
                  <c:v>5.5</c:v>
                </c:pt>
                <c:pt idx="8">
                  <c:v>6</c:v>
                </c:pt>
                <c:pt idx="9">
                  <c:v>6.5</c:v>
                </c:pt>
                <c:pt idx="10">
                  <c:v>7</c:v>
                </c:pt>
                <c:pt idx="11">
                  <c:v>7.5</c:v>
                </c:pt>
                <c:pt idx="12">
                  <c:v>8</c:v>
                </c:pt>
                <c:pt idx="13">
                  <c:v>8.5</c:v>
                </c:pt>
                <c:pt idx="14">
                  <c:v>9</c:v>
                </c:pt>
                <c:pt idx="15">
                  <c:v>9.5</c:v>
                </c:pt>
                <c:pt idx="16">
                  <c:v>10</c:v>
                </c:pt>
                <c:pt idx="17">
                  <c:v>11</c:v>
                </c:pt>
                <c:pt idx="18">
                  <c:v>12</c:v>
                </c:pt>
                <c:pt idx="19">
                  <c:v>13</c:v>
                </c:pt>
                <c:pt idx="20">
                  <c:v>14</c:v>
                </c:pt>
                <c:pt idx="21">
                  <c:v>15</c:v>
                </c:pt>
                <c:pt idx="22">
                  <c:v>16</c:v>
                </c:pt>
                <c:pt idx="23">
                  <c:v>17</c:v>
                </c:pt>
                <c:pt idx="24">
                  <c:v>18</c:v>
                </c:pt>
                <c:pt idx="25">
                  <c:v>19</c:v>
                </c:pt>
                <c:pt idx="26">
                  <c:v>20</c:v>
                </c:pt>
                <c:pt idx="27">
                  <c:v>21</c:v>
                </c:pt>
                <c:pt idx="28">
                  <c:v>22</c:v>
                </c:pt>
                <c:pt idx="29">
                  <c:v>23</c:v>
                </c:pt>
                <c:pt idx="30">
                  <c:v>24</c:v>
                </c:pt>
                <c:pt idx="31">
                  <c:v>25</c:v>
                </c:pt>
                <c:pt idx="32">
                  <c:v>26</c:v>
                </c:pt>
                <c:pt idx="33">
                  <c:v>27</c:v>
                </c:pt>
                <c:pt idx="34">
                  <c:v>28</c:v>
                </c:pt>
                <c:pt idx="35">
                  <c:v>29</c:v>
                </c:pt>
                <c:pt idx="36">
                  <c:v>30</c:v>
                </c:pt>
                <c:pt idx="37">
                  <c:v>33</c:v>
                </c:pt>
                <c:pt idx="38">
                  <c:v>36</c:v>
                </c:pt>
                <c:pt idx="39">
                  <c:v>39</c:v>
                </c:pt>
                <c:pt idx="40">
                  <c:v>42</c:v>
                </c:pt>
                <c:pt idx="41">
                  <c:v>45</c:v>
                </c:pt>
                <c:pt idx="42">
                  <c:v>48</c:v>
                </c:pt>
                <c:pt idx="43">
                  <c:v>51</c:v>
                </c:pt>
                <c:pt idx="44">
                  <c:v>54</c:v>
                </c:pt>
                <c:pt idx="45">
                  <c:v>57</c:v>
                </c:pt>
                <c:pt idx="46">
                  <c:v>60</c:v>
                </c:pt>
              </c:numCache>
            </c:numRef>
          </c:xVal>
          <c:yVal>
            <c:numRef>
              <c:f>Sheet1!$B$2:$B$48</c:f>
              <c:numCache>
                <c:formatCode>General</c:formatCode>
                <c:ptCount val="47"/>
                <c:pt idx="0">
                  <c:v>393.4</c:v>
                </c:pt>
                <c:pt idx="1">
                  <c:v>386.8</c:v>
                </c:pt>
                <c:pt idx="2">
                  <c:v>380</c:v>
                </c:pt>
                <c:pt idx="3">
                  <c:v>372.9</c:v>
                </c:pt>
                <c:pt idx="4">
                  <c:v>365.6</c:v>
                </c:pt>
                <c:pt idx="5">
                  <c:v>358</c:v>
                </c:pt>
                <c:pt idx="6">
                  <c:v>350</c:v>
                </c:pt>
                <c:pt idx="7">
                  <c:v>341.5</c:v>
                </c:pt>
                <c:pt idx="8">
                  <c:v>332.2</c:v>
                </c:pt>
                <c:pt idx="9">
                  <c:v>321.7</c:v>
                </c:pt>
                <c:pt idx="10">
                  <c:v>309.5</c:v>
                </c:pt>
                <c:pt idx="11">
                  <c:v>295.5</c:v>
                </c:pt>
                <c:pt idx="12">
                  <c:v>280.1</c:v>
                </c:pt>
                <c:pt idx="13">
                  <c:v>264.7</c:v>
                </c:pt>
                <c:pt idx="14">
                  <c:v>250.7</c:v>
                </c:pt>
                <c:pt idx="15">
                  <c:v>238.9</c:v>
                </c:pt>
                <c:pt idx="16">
                  <c:v>229</c:v>
                </c:pt>
                <c:pt idx="17">
                  <c:v>213.9</c:v>
                </c:pt>
                <c:pt idx="18">
                  <c:v>202.5</c:v>
                </c:pt>
                <c:pt idx="19">
                  <c:v>193</c:v>
                </c:pt>
                <c:pt idx="20">
                  <c:v>184.6</c:v>
                </c:pt>
                <c:pt idx="21">
                  <c:v>177</c:v>
                </c:pt>
                <c:pt idx="22">
                  <c:v>170.3</c:v>
                </c:pt>
                <c:pt idx="23">
                  <c:v>164.6</c:v>
                </c:pt>
                <c:pt idx="24">
                  <c:v>159.9</c:v>
                </c:pt>
                <c:pt idx="25">
                  <c:v>156.1</c:v>
                </c:pt>
                <c:pt idx="26">
                  <c:v>153</c:v>
                </c:pt>
                <c:pt idx="27">
                  <c:v>150.6</c:v>
                </c:pt>
                <c:pt idx="28">
                  <c:v>148.7</c:v>
                </c:pt>
                <c:pt idx="29">
                  <c:v>147.1</c:v>
                </c:pt>
                <c:pt idx="30">
                  <c:v>145.8</c:v>
                </c:pt>
                <c:pt idx="31">
                  <c:v>144.7</c:v>
                </c:pt>
                <c:pt idx="32">
                  <c:v>143.9</c:v>
                </c:pt>
                <c:pt idx="33">
                  <c:v>143.1</c:v>
                </c:pt>
                <c:pt idx="34">
                  <c:v>142.5</c:v>
                </c:pt>
                <c:pt idx="35">
                  <c:v>142</c:v>
                </c:pt>
                <c:pt idx="36">
                  <c:v>141.6</c:v>
                </c:pt>
                <c:pt idx="37">
                  <c:v>140.7</c:v>
                </c:pt>
                <c:pt idx="38">
                  <c:v>140.1</c:v>
                </c:pt>
                <c:pt idx="39">
                  <c:v>139.8</c:v>
                </c:pt>
                <c:pt idx="40">
                  <c:v>139.5</c:v>
                </c:pt>
                <c:pt idx="41">
                  <c:v>139.4</c:v>
                </c:pt>
                <c:pt idx="42">
                  <c:v>139.3</c:v>
                </c:pt>
                <c:pt idx="43">
                  <c:v>139.2</c:v>
                </c:pt>
                <c:pt idx="44">
                  <c:v>139.2</c:v>
                </c:pt>
                <c:pt idx="45">
                  <c:v>139.2</c:v>
                </c:pt>
                <c:pt idx="46">
                  <c:v>139.1</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0"/>
          <c:min val="0"/>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Frecuencia (Hz)</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valAx>
      <c:valAx>
        <c:axId val="2094734552"/>
        <c:scaling>
          <c:orientation val="minMax"/>
          <c:max val="450"/>
          <c:min val="100"/>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Velocidad de fase (m/s)</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midCat"/>
      </c:valAx>
      <c:spPr>
        <a:noFill/>
        <a:ln>
          <a:noFill/>
        </a:ln>
        <a:effectLst/>
      </c:spPr>
    </c:plotArea>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Sin calibrar</c:v>
                </c:pt>
              </c:strCache>
            </c:strRef>
          </c:tx>
          <c:spPr>
            <a:solidFill>
              <a:srgbClr val="C55A11"/>
            </a:solidFill>
            <a:effectLst/>
          </c:spPr>
          <c:invertIfNegative val="0"/>
          <c:dLbls>
            <c:numFmt formatCode="0.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A×1</c:v>
                  </c:pt>
                  <c:pt idx="1">
                    <c:v>A×4</c:v>
                  </c:pt>
                  <c:pt idx="2">
                    <c:v>A×16</c:v>
                  </c:pt>
                  <c:pt idx="3">
                    <c:v>A×32</c:v>
                  </c:pt>
                  <c:pt idx="4">
                    <c:v>A×50</c:v>
                  </c:pt>
                  <c:pt idx="5">
                    <c:v>B×16</c:v>
                  </c:pt>
                  <c:pt idx="6">
                    <c:v>B×32</c:v>
                  </c:pt>
                  <c:pt idx="7">
                    <c:v>B×50</c:v>
                  </c:pt>
                </c:lvl>
              </c:multiLvlStrCache>
            </c:multiLvlStrRef>
          </c:cat>
          <c:val>
            <c:numRef>
              <c:f>Sheet1!$B$2:$B$9</c:f>
              <c:numCache>
                <c:formatCode>General</c:formatCode>
                <c:ptCount val="8"/>
                <c:pt idx="0">
                  <c:v>45.8</c:v>
                </c:pt>
                <c:pt idx="1">
                  <c:v>42.6</c:v>
                </c:pt>
                <c:pt idx="2">
                  <c:v>29.6</c:v>
                </c:pt>
                <c:pt idx="3">
                  <c:v>12.4</c:v>
                </c:pt>
                <c:pt idx="4">
                  <c:v>4.1</c:v>
                </c:pt>
                <c:pt idx="5">
                  <c:v>3</c:v>
                </c:pt>
                <c:pt idx="6">
                  <c:v>2.9</c:v>
                </c:pt>
                <c:pt idx="7">
                  <c:v>2.9</c:v>
                </c:pt>
              </c:numCache>
            </c:numRef>
          </c:val>
        </c:ser>
        <c:ser>
          <c:idx val="1"/>
          <c:order val="1"/>
          <c:tx>
            <c:strRef>
              <c:f>Sheet1!$C$1</c:f>
              <c:strCache>
                <c:ptCount val="1"/>
                <c:pt idx="0">
                  <c:v>Calibrado</c:v>
                </c:pt>
              </c:strCache>
            </c:strRef>
          </c:tx>
          <c:spPr>
            <a:solidFill>
              <a:srgbClr val="1F4E79"/>
            </a:solidFill>
            <a:effectLst/>
          </c:spPr>
          <c:invertIfNegative val="0"/>
          <c:dLbls>
            <c:numFmt formatCode="0.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cat>
            <c:multiLvlStrRef>
              <c:f>Sheet1!$A$2:$A$9</c:f>
              <c:multiLvlStrCache>
                <c:ptCount val="8"/>
                <c:lvl>
                  <c:pt idx="0">
                    <c:v>A×1</c:v>
                  </c:pt>
                  <c:pt idx="1">
                    <c:v>A×4</c:v>
                  </c:pt>
                  <c:pt idx="2">
                    <c:v>A×16</c:v>
                  </c:pt>
                  <c:pt idx="3">
                    <c:v>A×32</c:v>
                  </c:pt>
                  <c:pt idx="4">
                    <c:v>A×50</c:v>
                  </c:pt>
                  <c:pt idx="5">
                    <c:v>B×16</c:v>
                  </c:pt>
                  <c:pt idx="6">
                    <c:v>B×32</c:v>
                  </c:pt>
                  <c:pt idx="7">
                    <c:v>B×50</c:v>
                  </c:pt>
                </c:lvl>
              </c:multiLvlStrCache>
            </c:multiLvlStrRef>
          </c:cat>
          <c:val>
            <c:numRef>
              <c:f>Sheet1!$C$2:$C$9</c:f>
              <c:numCache>
                <c:formatCode>General</c:formatCode>
                <c:ptCount val="8"/>
                <c:pt idx="0">
                  <c:v>3.2</c:v>
                </c:pt>
                <c:pt idx="1">
                  <c:v>3.9</c:v>
                </c:pt>
                <c:pt idx="2">
                  <c:v>2.3</c:v>
                </c:pt>
                <c:pt idx="3">
                  <c:v>1.7</c:v>
                </c:pt>
                <c:pt idx="4">
                  <c:v>1.2</c:v>
                </c:pt>
                <c:pt idx="5">
                  <c:v>0.7</c:v>
                </c:pt>
                <c:pt idx="6">
                  <c:v>0.4</c:v>
                </c:pt>
                <c:pt idx="7">
                  <c:v>0.7</c:v>
                </c:pt>
              </c:numCache>
            </c:numRef>
          </c:val>
        </c:ser>
        <c:dLbls>
          <c:numFmt formatCode="0.0" sourceLinked="0"/>
          <c:txPr>
            <a:bodyPr/>
            <a:lstStyle/>
            <a:p>
              <a:pPr>
                <a:defRPr b="0" i="0" strike="noStrike" sz="800" u="none">
                  <a:solidFill>
                    <a:srgbClr val="000000"/>
                  </a:solidFill>
                  <a:latin typeface="Arial"/>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title>
          <c:tx>
            <c:rich>
              <a:bodyPr/>
              <a:lstStyle/>
              <a:p>
                <a:pPr>
                  <a:defRPr sz="1000" b="0" i="0" u="none" strike="noStrike">
                    <a:solidFill>
                      <a:srgbClr val="6B6B6B"/>
                    </a:solidFill>
                    <a:latin typeface="Arial"/>
                  </a:defRPr>
                </a:pPr>
                <a:r>
                  <a:rPr sz="1000" b="0" i="0" u="none" strike="noStrike">
                    <a:solidFill>
                      <a:srgbClr val="6B6B6B"/>
                    </a:solidFill>
                    <a:latin typeface="Arial"/>
                  </a:rPr>
                  <a:t>Placa y ganancia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50"/>
          <c:min val="0"/>
        </c:scaling>
        <c:delete val="0"/>
        <c:axPos val="l"/>
        <c:majorGridlines>
          <c:spPr>
            <a:ln w="6350" cap="flat">
              <a:solidFill>
                <a:srgbClr val="E0E0E0"/>
              </a:solidFill>
              <a:prstDash val="solid"/>
              <a:round/>
            </a:ln>
          </c:spPr>
        </c:majorGridlines>
        <c:title>
          <c:tx>
            <c:rich>
              <a:bodyPr/>
              <a:lstStyle/>
              <a:p>
                <a:pPr>
                  <a:defRPr sz="1000" b="0" i="0" u="none" strike="noStrike">
                    <a:solidFill>
                      <a:srgbClr val="6B6B6B"/>
                    </a:solidFill>
                    <a:latin typeface="Arial"/>
                  </a:defRPr>
                </a:pPr>
                <a:r>
                  <a:rPr sz="1000" b="0" i="0" u="none" strike="noStrike">
                    <a:solidFill>
                      <a:srgbClr val="6B6B6B"/>
                    </a:solidFill>
                    <a:latin typeface="Arial"/>
                  </a:rPr>
                  <a:t>% del fondo de escala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latin typeface="Arial"/>
              <a:cs typeface="Aria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_rels/notesSlide7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4.xml"/>
		</Relationships>
</file>

<file path=ppt/notesSlides/_rels/notesSlide7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5.xml"/>
		</Relationships>
</file>

<file path=ppt/notesSlides/_rels/notesSlide7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6.xml"/>
		</Relationships>
</file>

<file path=ppt/notesSlides/_rels/notesSlide7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7.xml"/>
		</Relationships>
</file>

<file path=ppt/notesSlides/_rels/notesSlide7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8.xml"/>
		</Relationships>
</file>

<file path=ppt/notesSlides/_rels/notesSlide7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Soy Elías Álvarez y les voy a mostrar cómo avanza mi proyecto final de carrera: una plataforma electrónica para medir el suelo con ondas sísmicas. En la imagen está la idea completa: un golpe en la superficie, una línea de geófonos y los registros que llegan a cada uno. Es la primera de dos presentaciones. Hoy me concentro en el estado del arte, la idea general y los resultados parciales; la validación completa queda para diciembre.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construir hay que saber sobre qué se apoya la obra. Se reconoce qué materiales hay y se estiman parámetros para dimensionar la fundación. Y durante la ejecución se controla que los rellenos y las capas compactadas sean uniformes. Esto importa acá: la construcción paraguaya creció 6,2 % en 2025 según el Banco Central. Hablo de un sector en expansión, no de un auge sin matices: venía de dos años de caída.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Pero el trabajo con el terreno no termina cuando se levanta la obra. Aparecen grietas y asentamientos, problemas en rutas y pavimentos, taludes que se mueven. Hay que volver a medir, y de preferencia sin dañar lo que ya está construido.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Entonces la pregunta es cómo medir. Necesitamos un método que capte algo del terreno y que, procesando lo sensado, nos dé información que sirva. Ese recorrido, del transductor al procesamiento, es lo que construye este trabajo: la plataforma de medición. Todavía no definimos qué fenómeno medir. Ese es el primer punto de la hoja de ruta: explorar los fenómenos candidatos y sus técnicas, analizar a fondo el que elijamos, ver las especificaciones y la plataforma propuesta, y cerrar con los resultados parciales.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medir el terreno hay dos grandes caminos. Uno mide cuánto cuesta penetrarlo: resistencia. El otro usa ondas: aprovecha alguna propiedad de la onda, como la velocidad o el tiempo de llegada, y cómo el terreno la modifica. Además, cada camino puede hacerse desde dentro del terreno, con perforaciones o hincas, o desde la superficie. Vamos a recorrer las celdas una por una. La naranja es hacia donde vamos.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por el SPT. Se baja una cuchara partida al fondo de una perforación y se hinca golpeándola con un martillo de 63,5 kilos que cae 76 centímetros. El primer tramo de 15 centímetros asienta la cuchara y no cuenta. N es el número de golpes para los siguientes 30 centímetros. Además de ese número, la cuchara trae una muestra de suelo, alterada pero útil para clasificarlo.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CPT es distinto: en vez de golpear, se empuja un cono de forma continua, a unos 2 centímetros por segundo. Sensores en la punta y en el manguito miden la resistencia de punta y la fricción lateral. Si además tiene un sensor de presión de poros, se llama CPTu o piezocono. El resultado es un perfil continuo, y de ahí se interpreta el tipo de suelo, como se ve a la derecha de la figura.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ofrecen. El SPT es sencillo, está en todas partes y entrega una muestra. El CPT da un perfil continuo y repetible, sin perforar antes, y con presión de poros distingue mejor el tipo de suelo. Los dos tienen décadas de correlaciones publicadas, y eso pesa mucho en la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qué no ofrecen. El SPT da un dato por profundidad y depende de la energía del martillo y de quién lo opera. El CPT no trae muestra y no atraviesa gravas ni suelos muy duros. Y en los dos, la rigidez, que es lo que nos interesa, se obtiene por correlaciones, no se mide. Esa es la pregunta que dejo abierta: cómo medir la rigidez directamente.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hablar de métodos basados en ondas, conviene ver de dónde salen las ondas. Si excitamos un terreno sólido, por ejemplo con un golpe, el material experimenta deformaciones transitorias fruto de esa energía: se deforma y vuelve, y esa deformación se transmite de punto a punto. Según cómo se deforme el material, aparecen distintos tipos de onda. Hay dos que viajan por dentro, las P y las S, y dos que viajan pegadas a la superficie, Love y Rayleigh. Empezamos por las de 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poder analizar el problema, lo simplificamos hasta el absurdo. Suponemos un cuerpo homogéneo, es decir, con las mismas propiedades en todos los puntos; isótropo, con las mismas propiedades en todas las direcciones; y elástico lineal, que significa que la deformación es proporcional a la fuerza y desaparece cuando la fuerza cesa. Un suelo real no cumple ninguna de las tres, y lo vamos a ver más adelante cuando aparezca la estratificación. Pero con esta simplificación el problema tiene solución cerrada.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esas hipótesis, la ecuación de movimiento es la de Navier: la inercia, rho por la aceleración, es igual a las fuerzas elásticas, escritas con las constantes de Lamé, lambda y mu. Se puede descomponer el desplazamiento en una parte irrotacional, con un potencial escalar phi, y otra sin divergencia, con un potencial vectorial psi. Cada potencial cumple su propia ecuación de onda. Es decir, el medio tiene dos modos de vibración: uno de compresión, que viaja a Vp, y uno de corte, que viaja a Vs. Son las ondas P y S. Es matemática estándar de elastodinámica; la cita exacta la confirmo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del potencial escalar es la onda P. Las partículas oscilan en la misma dirección en que avanza la onda, así que el material se comprime y se dilata. No se transporta material: se transporta la perturbación. Viaja tanto en sólidos como en fluidos.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del potencial vectorial es la onda S. La oscilación es perpendicular al avance y el material no se comprime: se corta. Por eso necesita que el medio resista al corte. Un fluido no lo hace, así que la S no viaja por el agua.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las ecuaciones de onda se leen las velocidades. La P depende de lambda más dos mu, sobre la densidad; la S depende solo de mu sobre la densidad. Mu es lo que en geotecnia se llama G, el módulo de corte, la rigidez al corte. En el mismo medio la P siempre es más rápida que la S. Lo importante es esto: si medimos velocidades de onda, accedemos a parámetros elásticos del terreno.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hipótesis de elasticidad lineal en un suelo real solo se sostiene para deformaciones pequeñas. En ese rango, el esfuerzo de corte tau es proporcional a la deformación gamma, y la constante es el módulo de corte G, que ahí es casi constante y se llama Gmax. El umbral, del orden de 10 a la menos 5, depende del tipo de suelo. Las ondas de prospección producen deformaciones de ese orden o menores. Fuera de ese rango, G baja con la deformación. Nota para mí: confirmar el umbral en Foti, cap. 1 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juntamos todo. Del modelo elástico lineal sale que Vs es raíz de mu sobre rho. Cuando el suelo se deforma poco, mu es el módulo de corte máximo, Gmax. Entonces Gmax es la densidad por Vs al cuadrado. Esa relación solo vale en pequeña señal: no sirve para describir al suelo con deformaciones grandes.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es lo que hace útil a Vs. Gmax depende de la densidad y de Vs al cuadrado. Derivando, el error relativo en Gmax es, como cota, el error en la densidad más el doble del error en Vs. La densidad varía poco y se estima razonablemente; Vs varía mucho y es lo que medimos. Por eso, conocer Vs permite estimar Gmax razonablemente. Con la advertencia de siempre: es válido a pequeñas deformaciones.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Vs ya definida, vemos los métodos que la miden de forma directa. En el downhole se deja una cadena de geófonos dentro de un pozo y se golpea en superficie. Cada geófono recibe la onda en un tiempo distinto, y la diferencia de tiempos entre dos profundidades, junto con la distancia que las separa, da la velocidad de ese tramo.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crosshole usa al menos dos pozos. La fuente baja a una profundidad en un pozo y el receptor a la misma profundidad en el otro. Como la onda viaja en horizontal por una sola capa, Vs es la distancia entre pozos dividida por el tiempo de viaje. Nota para mí: confirmar el número de figura y el crédito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dos miden Vs sin correlaciones: el trayecto es conocido. El downhole necesita un solo pozo y da un perfil con la profundidad. El crosshole mide capas individuales a una profundidad conocida, con mejor resolución vertical.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cuestan. Hay que perforar y entubar, lo que lleva tiempo y dinero. El crosshole además pide pozos alineados y verticales. Y cada ensayo describe un punto del sitio. Si queremos cubrir una línea larga sin perforar, hay que buscar otra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a los métodos desde la superficie. En refracción, la onda incide en la interfaz con el ángulo crítico y viaja por la capa rápida, justo por debajo de la interfaz. Desde ahí sale hacia los geófonos. Más allá de cierta distancia, esa onda llega antes que la directa, aunque haya recorrido más camino, porque lo hizo en material más rápido.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grafica el tiempo de llegada contra la distancia fuente-geófono. La onda directa da una recta con pendiente uno sobre V1. La refractada da otra recta, menos inclinada, con pendiente uno sobre V2, que corta el eje del tiempo en el intercepto ti. De ahí se obtienen las dos velocidades, y con el intercepto, el espesor de la primera capa.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Ventajas y límites de la refracción. Es simple, rápida y da velocidades y espesores. Pero supone que la velocidad aumenta con la profundidad: una capa blanda debajo de otra rápida no se ve, y las capas delgadas pueden pasar desapercibidas. Nota para mí: confirmar estas limitaciones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reflexión no importa el camino por el contenido de la capa, sino el eco. La energía baja, se refleja en cada interfaz y vuelve al geófono. Cada geófono produce una traza que registra el tiempo de ida y vuelta, y ese tiempo es función de la profundidad de la interfaz y de la velocidad de la onda.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reflexión llega más profundo y da una buena imagen de la estructura, pero para los primeros metros, que son los que nos interesan en ingeniería, rinde poco: exige alta frecuencia, más procesamiento y compite con las ondas directas y superficiales. Y esas ondas superficiales, que aquí estorban, son justo las que vamos a usar. Nota para mí: confirmar estas limitaciones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acá el medio era uniforme. Pero el terreno real tampoco es homogéneo: tiene variaciones continuas y discontinuidades. Aun así, pasar de un modelo homogéneo a uno en capas es un paso más realista, y en cada interfaz cambian la densidad y las velocidades de las ondas P y S. Cuando una onda de cuerpo llega a una interfaz, una parte de la energía se refleja y otra se transmite al segundo medio. Cuánto se refleja depende del contraste entre los dos medios. Ese es el caso general. Ahora el caso que más nos interesa: cuando el segundo medio es el 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Tomemos el caso en que el segundo medio es el aire. El aire casi no ofrece resistencia, así que en la superficie el esfuerzo es nulo, y eso se llama condición de superficie libre. La energía no puede salir: vuelve al terreno. Esta condición es la que va a acoplar las ondas P y S y dar origen a las ondas superficiales. Para ver cómo, primero hay que darle una polaridad a la onda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tomamos como referencia el plano de la superficie libre, hay que darle una polaridad a la forma en que puede moverse una onda S: oscila perpendicular a su avance, pero hay infinitas direcciones perpendiculares. Desde acá las clasificamos en dos. SV oscila en el plano vertical que contiene el rayo. SH oscila en horizontal, perpendicular a ese plano. Esta separación importa porque en la superficie libre se comportan de forma muy distinta. Nota para mí: reemplazar la figura por la mejorada con ChatGPT.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que tenemos P, SV y SH, la ley de Snell relaciona los ángulos de todas las ondas que se generan en una interfaz: el seno del ángulo dividido por la velocidad es constante, y ese valor se llama parámetro del rayo. Cada onda entra con su propia velocidad: Vp para la P y Vs para SV y SH. Como la S es más lenta que la P, sale con un ángulo menor. Con esto queda claro cómo se reparte una P que llega a una interfaz, y falta ver qué ondas se acoplan entre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la ley de Snell ya podemos concluir cómo se relacionan las tres. En una interfaz, y en particular en la superficie libre, P y SV están acopladas: una P incidente genera P y SV reflejadas, y una SV genera SV y P. Es la conversión de modo. La SH, en cambio, no se mezcla con nada: solo genera SH. De la combinación de P y SV en la superficie libre salen las ondas Rayleigh. De la SH salen las ondas Love, pero solo en una condición especial, que vemos a continuación.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SH sola no genera ondas superficiales en un semiespacio homogéneo. Necesita una capa blanda sobre un medio más rápido. Si la SH incide en la interfaz con un ángulo mayor que el crítico, que es el arcoseno de Vs1 sobre Vs2, se refleja totalmente. En la superficie libre también se refleja, así que queda atrapada en la capa rebotando entre las dos. Por eso la condición es que Vs1 sea menor que Vs2. Matiz para mí: más en general basta que la velocidad aumente con la profundidad, no hace falta una capa nítida.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SH atrapadas en la capa interfieren de forma constructiva a ciertas frecuencias, y ese patrón que avanza por la superficie es la onda Love. El movimiento es horizontal y perpendicular a la propagación. Para nosotros importa que no tiene componente vertical: un geófono vertical como el SM-24 no la registra.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onda Rayleigh es la combinación de P y SV en la superficie libre. Las partículas describen una elipse en el plano vertical, en sentido retrógrado en la superficie. A diferencia de la Love, no necesita capas: aparece ya en un semiespacio homogéneo. Y tiene componente vertical, que es justo lo que mide el geófono vertical.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se golpea la superficie, la energía se reparte entre los tres tipos de onda. Con las hipótesis clásicas, que son un semiespacio homogéneo e isótropo, coeficiente de Poisson de 0,25 y una fuente vertical circular, las Rayleigh se llevan el 67 por ciento, las S el 26 y las P el 7. Es un caso idealizado, pero explica por qué en superficie se ve sobre todo Rayleigh. Nota para mí: mis apuntes citan a Lamb 1904; la referencia habitual para este reparto es Miller y Pursey 1955.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otra razón es la atenuación geométrica. La Rayleigh se reparte sobre un frente cilíndrico y su amplitud cae con uno sobre raíz de r. Las ondas de cuerpo se reparten sobre una esfera: caen con uno sobre r en el interior del medio, y con uno sobre r al cuadrado si las medimos a lo largo de la superficie. Aviso para mí: en el resumen firmado dice 1/r para las de cuerpo, que es correcto en el interior pero no sobre la superficie; hay que matizarlo ahí.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un semiespacio homogéneo la velocidad de la Rayleigh es una fracción fija de la velocidad de la S. Con la aproximación de Viktorov, esa fracción va de 0,86 a 0,95 según el coeficiente de Poisson, y para ν igual a 0,25 vale unos 0,92. De ahí sale la regla práctica cR igual a 0,9 por Vs. Importante: en este caso ideal no hay dispersión, todas las frecuencias viajan a la misma velocidad. La dispersión aparece cuando el terreno tiene capas, y es lo que vamos a ver ahora. Nota para mí: confirmar la fórmula y su referencia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ahora el medio era uniforme. En un terreno estratificado la rigidez cambia con la profundidad, y por eso cambia la velocidad de corte Vs. Lo más común es que Vs aumente con la profundidad, porque el terreno tiende a ser más rocoso, pero no es una regla: puede haber capas blandas bajo capas duras. La densidad, en cambio, suele variar poco en comparación con Vs: en suelos habituales ronda entre 1,4 y 2,2 toneladas por metro cúbico, mientras que Vs recorre más de un orden de magnitud. Nota para mí: la referencia por ahora es Kramer; falta la página. Como ejemplo, el gráfico muestra tres capas. Lo que queremos conocer es el perfil Vs de z, porque con él y la densidad estimamos el módulo Gmax en función de la profundidad.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longitud de onda es la velocidad dividida por la frecuencia. El gráfico muestra cuánto se mueve el terreno en vertical a cada profundidad, para dos frecuencias, calculado con nuestro modelo de tres capas. A 15 hertz la longitud de onda es de unos 12 metros y el movimiento se concentra en la capa superior. A 9,5 hertz es de unos 25 metros y el movimiento se extingue recién cerca de los 25 metros de profundidad, es decir, a una profundidad del orden de la longitud de onda. Es la misma idea que muestra Foti en su figura de profundidad de penetración: cada longitud de onda ve una profundidad distinta del terreno. Ojo: no es una equivalencia exacta entre frecuencia y profundidad. Nota para mí: confirmar la figura en Foti y la regla empírica de lambda sobre tres a lambda sobre dos, que dejé fuera.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curva está calculada para el modelo de tres capas con disba, un código de dispersión de ondas superficiales. Como cada frecuencia ve profundidades distintas, la velocidad de las altas frecuencias depende sobre todo de los estratos superiores, y la de las bajas frecuencias está influida por más terreno. A 60 hertz la velocidad es de unos 139 metros por segundo, cerca de 0,93 veces la Vs de la capa superior; a 2 hertz sube a unos 393, hacia el valor del medio inferior, que sería 417 en el límite. Ese fenómeno, la dependencia de la velocidad con la frecuencia, se llama dispersión. El 0,93 sale de ν igual a 0,3 con la aproximación de Viktorov.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dispersión permite reconstruir un modelo del terreno estratificado que sea compatible con las mediciones, a partir de los registros de campo. El procedimiento es este. Medimos la curva de dispersión experimental. Proponemos un perfil Vs de z, calculamos su curva teórica y la comparamos con la medida. Si no coinciden, modificamos el perfil y repetimos. Cuando coinciden dentro de la incertidumbre, ese perfil es el resultado. Es un problema de optimización, y por eso conviene entender sus límites en la siguiente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puntos para ser honestos con los límites. Las capas profundas dependen de las bajas frecuencias, donde la información es más escasa y la resolución cae. Dependemos de muchos supuestos: la densidad, el número de capas, el modelo inicial. La solución no es única: perfiles distintos pueden producir curvas casi idénticas. Y todo esto se puede apoyar en otros tipos de medición, que dan información inicial y localizada del terreno; extrapolarla permite reducir la incertidumbre. Nota para mí: confirmar estos puntos y el capítulo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análisis espectral de ondas superficiales, SASW, usa dos receptores. Se impacta en la superficie y se mide, para cada frecuencia, la diferencia de fase entre los dos registros. Si conocemos la distancia entre receptores, esa diferencia de fase nos da la velocidad de fase de la Rayleigh a esa frecuencia: la velocidad es dos pi por f por d, dividido por el desfase. Repetido para todas las frecuencias, obtenemos la curva de dispersión. Nota para mí: confirmar la fuente original del esquema.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ventaja de SASW es la sencillez: dos receptores. El costo es que la fase solo se conoce salvo ciclos enteros, lo que genera ambigüedades al calcular la velocidad. Además, con solo dos puntos hay poca redundancia espacial para separar contribuciones superpuestas, como modos superiores u ondas de cuerpo. Por eso el ensayo se repite con distintas separaciones entre receptores.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MASW extiende el mismo principio a muchas posiciones. El arreglo convencional tiene un geófono y un canal por posición, y registra todo al mismo tiempo. La redundancia espacial permite reconocer los patrones que se mantienen coherentes entre receptores y separar contribuciones que en SASW quedaban mezcladas. Luego esos registros se procesan para obtener la dispersión de la Rayleigh.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analizar la dispersión necesitamos conservar el tiempo y la posición. Si x sub m es la posición del receptor y t sub n el instante de muestreo, el registro de la componente vertical es una matriz U de m, n. Cada fila es una traza. En la figura, un registro sintético calculado con la dispersión del modelo de tres capas: las trazas lejanas llegan más tarde y el tren de ondas se ensancha, porque cada frecuencia viaja a distinta velocidad. Es una figura ilustrativa, no un dato medido.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arreglo convencional necesita un canal por posición, y eso encarece el equipo. Una alternativa es sintetizar la dimensión espacial con adquisiciones sucesivas. Lin y Ashlock, en 2016, validaron una configuración con receptor fijo y la fuente en posiciones sucesivas, que es la recíproca de la que mueve el receptor. Nota para mí: confirmar en el artículo la validación y qué comparó.</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lo anterior salen tres requerimientos para la adquisición. Conservar la información temporal y espacial de cada traza. Mantener una referencia temporal entre registros. Y preservar la forma de la onda. MASW trabaja con la velocidad de fase, que sale de las diferencias de fase entre trazas, así que importa la forma y no la amplitud absoluta. Si además sintetizamos el arreglo con adquisiciones sucesivas, la fuente tiene que ser repetible, porque si no confundimos variaciones del terreno con diferencias entre impactos.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Estos son los requerimientos que llevamos al diseño electrónico. Primero, la banda y la respuesta de fase: la cadena debe cubrir las frecuencias de interés. No hace falta que sea perfecta: si todos los canales distorsionan igual, la distorsión común se cancela en la diferencia de fase entre trazas y MASW sigue funcionando. Lo que arruina la medición son las distorsiones dispares entre trazas. Segundo, el margen dinámico: la amplitud cambia mucho con la distancia, así que hace falta ganancia ajustable y resolución para no saturar cerca de la fuente ni perder la señal lejos. Tercero, la sincronización temporal: una referencia de tiempo común entre los nodos y con la excitación. Cuarto, la geometría: conocer la posición de cada traza. Quinto, operar en campo con infraestructura mínima, con registro local y transmisión fiable.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entrar en el detalle, el panorama del sistema. Hay un maestro, un ESP32 que aloja la interfaz web y coordina la captura, y nodos que se comunican con él por ESP-NOW, sin necesidad de un punto de acceso. Los nodos GEO registran el movimiento del terreno con un geófono SM-24. El nodo HAMMER registra el impacto del martillo. Cada nodo acondiciona, digitaliza y guarda sus propias muestras, así que para sumar canales se suman nodos GEO. Las próximas slides siguen la cadena de un nodo GEO, empezando por el sensor.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sensor es un SM-24, un geófono vertical pasivo. Por dentro tiene un imán y una bobina suspendidos con resortes: cuando el suelo se mueve, la masa queda rezagada y la bobina corta líneas de campo, lo que genera una tensión. Su frecuencia natural nominal es de 10 hertz, con una tolerancia de más menos 2,5 por ciento, y su sensibilidad de 28,8 volts por metro por segundo. El amortiguamiento en circuito abierto es de unos 0,25, y con una carga de 1339 ohms sube a 0,60. La ecuación muestra por qué: hay un término mecánico y otro eléctrico que depende de la resistencia de carga. Entonces la entrada de nuestro frente, al ser parte de esa carga, cambia la respuesta del sensor; por eso se diseñó con impedancia alta y simétrica. Nota para mí: el corte interno es de Breslin (2020), que lo acredita a DESY; falta el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Llamamos u al desplazamiento de la masa respecto de la carcasa, que está pegada al suelo. La ecuación de equilibrio es la de un sistema masa, resorte y amortiguador, excitado por la aceleración del terreno. Como la bobina se mueve dentro de un campo magnético, la tensión que se induce es proporcional a la velocidad relativa u punto, con la sensibilidad G cero como constante. Nota para mí: el equilibrio mecánico es la ecuación 7 del resumen.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modelo nominal del SM-24, a circuito abierto. A la izquierda, referido a la velocidad del terreno: por encima de los 10 hertz la respuesta es plana, y por debajo cae; a 1 hertz está unos 40 decibeles por debajo de la zona plana. A la derecha, referido a la aceleración, que es la forma pasabanda de la ecuación de abajo. Es un modelo, no una medición del geófono.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está el problema de fondo. Las componentes de menor frecuencia tienen mayor longitud de onda y sensan más profundo, y justamente ahí el SM-24 entrega menos tensión. Una opción es un geófono de menor frecuencia natural, por ejemplo de 4,5 hertz, pero cuesta entre 92 y 154 dólares por canal, contra unos 70 del SM-24. El proyecto busca aprovechar el SM-24 que tenemos y mejorar su respuesta en baja frecuencia con acondicionamiento. Nota para mí: los precios son de las referencias del resumen; revisar si siguen vigentes.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Hay cuatro familias de técnicas para mejorar la respuesta de un geófono por debajo de su frecuencia natural. Primera: modificar la carga del sensor; Pazos usa un capacitor en serie con la resistencia de carga para correr la frecuencia de esquina. Es barato y simple, pero limitado. Segunda: compensación inversa, o cero polo, que integra o cancela la dinámica original; Hakimitoroghi lo hace con un integrador y un integrador con pérdidas. Tercera: resistencia negativa o balance de fuerza, que hace circular corriente por la bobina para cambiar el amortiguamiento efectivo. Y cuarta: la idea de Ma, que no invierte el sensor sino que baja el pico dominante. Nota para mí: de Pazos verifiqué el artículo y la técnica, que Ma describe como un capacitor en serie con la resistencia de derivación; no pude confirmar un factor de extensión, así que no lo pongo. Hakimitoroghi y Zhang salen de mis notas; confirmar año y página.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Por qué no hacemos una inversión directa. Para recuperar un hertz habría que aplicar unos cuarenta decibeles de ganancia respecto de la zona plana, y esa ganancia enorme cerca de continua trae varios problemas: los offsets y el bias pueden llevarla a saturación; amplifica el ruido de baja frecuencia que está fuera de la banda del sensor; y aun integrando de forma digital datos ruidosos se deteriora la relación señal ruido y la resolución. Zhang lo plantea con claridad. Hakimitoroghi consigue ver contenido de baja frecuencia con compensación inversa, pero sus mediciones muestran lo importante que es el piso de ruido. Nota para mí: el valor de cuarenta decibeles sale del modelo de la slide 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Segunda alternativa: modificar el amortiguamiento con resistencia negativa o balance de fuerza. La idea es elegante, porque el amortiguamiento total depende de la resistencia de carga, así que cambiándola cambia el amortiguamiento electromecánico. Pero implica un lazo activo que interactúa directamente con el transductor, y hay que resolver estabilidad, ganancia, ruido de modo común, tolerancias y consistencia entre unidades. El trabajo de 2025 dedica un circuito bastante elaborado a eso. No decimos que sea un mal método: funciona. Decimos que para un nodo multicanal barato y replicable el costo de complejidad es importante.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idea de Ma es distinta: no intentar recuperar un hertz con un inversor de cuarenta decibeles, sino atenuar de forma selectiva la región dominante alrededor de la resonancia y después recuperar el nivel global con ganancia. En la figura, la curva naranja es el geófono, con su pico cerca de diez hertz. La gris punteada es el compensador ideal sin ganancia, mucho más baja pero con una banda mucho más ancha. Y la azul es esa misma respuesta con la ganancia aplicada. El pasabanda se ensancha, pero sigue siendo un pasabanda: a un hertz pasamos de menos veinte decibeles a cero. Ma y colaboradores reportan 17,52 decibeles más de SNR a diez hertz que el método cero polo, con su geófono JF-20DX; el documento de tesis cita además 1,51 decibeles a un hertz y 21,28 a veinte hertz. Nota para mí: los dos últimos valores salen del documento de tesis; en la versión abierta del paper solo pude confirmar el de 17,52. Curvas propias, regenerables desde el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Elegimos el método de Ma por tres razones. Primero, no puede ser inestable: es un filtro en serie, sin ningún lazo sobre el sensor. Segundo, es simple: su implementación requiere pocos componentes. Tercero, no amplifica el ruido de baja frecuencia, porque no invierte la caída del sensor. Es más complejo que la solución de Pazos, pero de complejidad razonable, porque tiene un manejo mucho más simple de hasta dónde podemos compensar, lo que permite ser más agresivos, algo bueno cuando el geófono está tan lejos de donde queremos que esté. Su única desventaja es la pérdida de ganancia, que requiere más ganancia en la cadena, y la vamos a redistribuir entre las etapas de la mejor manera posible. Nota para mí: lo de estabilidad y ruido es una inferencia mía a partir del esquema.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se llega a la forma que se implementa. Queremos que sensor y compensador juntos tengan un amortiguamiento zeta uno, mayor que el zeta cero del sensor, conservando la frecuencia natural. Eso se logra con un compensador cuyo numerador tiene el amortiguamiento del sensor y cuyo denominador tiene el deseado. Si separamos el término constante, queda uno menos un pasabanda: el camino directo menos una rama pasabanda centrada en la frecuencia natural. Al multiplicar por la respuesta del geófono, el numerador se cancela y queda un sistema con amortiguamiento zeta uno. Nota: en el paper de Ma las variables se llaman gamma cero, gamma uno y omega cero; aquí usamos zeta y omega n para ser coherentes con el resto de la presentación. Verifiqué el álgebra: el denominador menos el numerador del pasabanda devuelve el numerador original.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implementación en bloques. La señal entra en forma diferencial, pasa por una etapa de ganancia programable y se reparte en el camino directo y la rama pasabanda, que se combinan en un sumador; después viene el pasa-bajos antialias y el ADC. Con el zeta uno que elegimos, cerca de 938, la compensación atenúa unas 1876 veces la zona central, y la ganancia se repartió para recuperar ese nivel sin concentrar todo el margen en un solo bloque: dos en la entrada instrumental, de uno a cincuenta en el PGA, tres coma seis en el sumador y cinco en el pasa-bajos. A máxima ganancia el producto es de unas 1800 veces. Nota para mí: los valores salen del documento de tesis; verificar contra la placa.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con una entrada diferencial, porque el ruido de red está muy presente en el geófono y una entrada de este tipo lo rechaza como modo común. Es un amplificador instrumental de dos operacionales, que aporta una ganancia de dos. Nota para mí: la imagen es genérica; confirmar la topología exacta y su fuente.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 usa un pasabanda Sallen-Key. Nosotros usamos un amplificador inversor, con Z f sobre Z in: un polo en la entrada, formado por R in y C in, y otro en la realimentación, formado por R f y C f. Cada quiebre depende de un solo par RC, así que f bajo y f alto quedan desacoplados, y como los quiebres están muy separados el factor de calidad requerido es bajo. Un Sallen-Key no aporta nada en ese régimen y reparte cada polo entre más componentes, una desventaja frente a las tolerancias. En los experimentos esto dio mejores resultados. Atención: la menor sensibilidad a tolerancias es un argumento analítico y una observación experimental; si preguntan, tener a mano un análisis de sensibilidad o un barrido Monte Carlo.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segundo cambio. Como el pasabanda inversor ya invierte la fase, no hace falta un amplificador diferencial para restar: alcanza con un sumador inversor, con menos componentes y menos dependencia de tolerancias, porque no se necesita parear resistencias. Además ponemos un capacitor en paralelo con R f en el sumador, que agrega un polo pasa-bajos real, sin sumar etapas. Nota para mí: el polo está en unos 393 hertz según el documento de tesis, pero no lo mostramos.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el antialias se decidió un filtro Bessel, que tiene fase casi lineal. El polo real del sumador se aprovecha para completar un Bessel de tercer orden con un filtro MFB de segundo orden. Y elegimos MFB porque aprovecha mejor el ancho de banda, ya limitado, del operacional del PSoC: permite ganar más en esta etapa sin perder rendimiento. Nota para mí: los valores de frecuencia y amortiguamiento del MFB están en el documento de tesis; no los mostramos.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frente analógico final tal como quedó en el PSoC Creator: entrada diferencial, ganancia programable, la rama pasabanda, el sumador, el pasa-bajos antialias y el ADC. Las referencias VDAC que se ven en la parte inferior son las que usamos para ajustar el offset de cada etapa, que es el siguiente tema.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ruta completa, del PGA al ADC, se midió con barridos senoidales en bandas superpuestas, entre 10 milihertz y 200 kilohertz. La transferencia se estima como el cociente espectral entre salida y entrada, en magnitud y fase, y la coherencia marca las regiones interpretables. Se comparó con el modelo, sus tolerancias y el rango del potenciómetro. Del lado del geófono no se dispuso de un actuador capaz de imponerle movimiento en el rango de frecuencias deseado, así que se usó el modelo nominal del SM-24 convolucionado con el AFE. No es una validación extremo a extremo, pero sí una validación de todo el frente eléctrico.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el problema que generamos con estas ganancias. Cada ganancia amplifica también el offset de continua, y esos offsets se acumulan. Si una etapa intermedia queda con offset, la señal se recorta contra el límite de la etapa, y lo que se recorta no se recupera. No podemos desacoplar en continua, porque de la continua depende la arquitectura del compensador. Un servo de continua activo durante la captura tampoco sirve: impondría un compromiso entre tiempo de establecimiento y ancho de banda, justo en la baja frecuencia que queremos preservar. Todo esto es consecuencia de las ganancias agresivas que ponemos en cada etapa para recuperar lo que atenúa el método de Ma. Sin calibrar, el offset llegó al 21,8 por ciento del fondo de escala. La única solución es recuperar el rango perdido con un ajuste digital previo a la captura, que es lo que muestra el panel derecho. Animación pendiente: combinar con la slide de la solución. El dibujo es esquemático, no son datos medidos.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es sencillo. La continua a la salida de la etapa i es la suma de lo que le llega de las etapas anteriores, ponderado por la ganancia de continua entre ellas, más su offset propio, más la corrección que aplica su VDAC. Como cada etapa recibe el residuo de las anteriores, el ajuste se hace en orden: PGA, pasabanda, suma y pasa-bajos. Y como cada paso del VDAC se amplifica en las etapas siguientes, subir la ganancia hace perder resolución de ajuste; por eso las ganancias se mantuvieron conservadoras. Nota para mí: verificar la notación contra el artículo.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algoritmo. Al arrancar, al cambiar la ganancia del PGA o al recibir el comando, se carga el registro de la EEPROM para esa ganancia. Si el registro y su CRC son válidos, se aplican los cuatro códigos guardados; si no, se aplican semillas nominales seguras. Luego se verifica rápidamente el offset. Si el punto de operación guardado se acepta, se salta la calibración. Si no, se calibra en orden PGA, pasabanda, suma y pasa-bajos: se mide la etapa, se estima el nivel de continua, se actualiza con el controlador PI y se escribe el DAC, hasta quedar dentro de la banda muerta y estable, o hasta el tiempo límite. Si todas las etapas son válidas, se guardan códigos y CRC; si no, se conserva el registro anterior. Por último se restaura el ruteo de adquisición, se congelan los códigos del DAC y se adquiere la señal con la realimentación de calibración inactiva. Pendiente: figura en inglés, traducir desde el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la izquierda, un ejemplo representativo de la calibración con ganancia por dieciséis, o treinta y dos de ganancia diferencial total. Las curvas grises punteadas son mediciones con osciloscopio, y las de color son reconstrucciones con el FIR de 128 coeficientes, no registros internos del procesador. Cada etapa converge hacia su punto de operación. El residuo de 0,24 volts del PGA corresponde a la banda muerta elegida, no a inestabilidad. A la derecha, el resultado en la entrada del ADC: sin calibrar, el offset residual iba de 2,9 a 45,8 por ciento del fondo de escala según la configuración; con la calibración, de 0,4 a 3,9. Se probó en dos placas y ocho configuraciones. Si preguntan por el alcance: es una prueba de factibilidad con dos placas, con diez reinicios pareados y un test del signo, y los detalles están en el resumen. Nota para mí: las cifras salen del artículo y del documento de tesis, no del resumen firmado. Pendiente: eje en inglés de la figura de la izquierda.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de la parte analógica a la digital. Esta es la captura del proyecto en PSoC Creator. Arriba está el hardware digital: el SignalController, que es una máquina de estados en lógica programable; los tres canales DMA; el filtro digital; los temporizadores y la EEPROM. Abajo a la izquierda, lo auxiliar, que incluye el SPI de la tarjeta SD. Abajo a la derecha, la interfaz con el ESP32 y la entrada SYNC_IN. La idea central de las próximas slides es que lo que depende del tiempo se decide en hardware, y el procesador se queda con lo que es lento pero complejo. Nota para mí: las etiquetas de la imagen están en inglés porque son los nombres de los componentes del propio PSoC Creator; no las traduzco.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conversor es un delta sigma de 18 bits, configurado a 2604 muestras por segundo. Priorizamos resolución sobre velocidad, y la tasa sale de la configuración del reloj del PSoC. Admite cuatro rangos bipolares, de más menos 2,5 volts a más menos 0,512, y el LSB nominal baja de 19 a casi 4 microvolts. Pasar al rango más estrecho da unos 13,8 decibeles de rango útil sobre señales pequeñas sin agregar ninguna etapa analógica, o sea sin ruido ni offset adicionales. El costo es que el margen antes de saturar se divide por cinco, y nuestro diseño trabaja cerca del fondo de escala, así que rango y ganancia del PGA se eligen en conjunto. Además, cambiar de rango invalida la calibración de offset, y se verificó que las transiciones de rango se conserven coherentes: 49 de 49 correctas en la auditoría previa a campo. Cuidado con lo que no podemos afirmar: el LSB es nominal. Todavía no medimos el ruido referido a la entrada ni los bits efectivos, y hasta que lo hagamos, 18 bits es el dato de la hoja, no una resolución demostrada. Nota para mí: el repositorio habla de unos 13,7 dB y yo recalculo 13,8; es redondeo. Además, el repositorio indexa la EEPROM por ganancia y rango y el resumen solo por ganancia; revisar cuál vale.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Además del ADC, la señal se puede promediar y diezmar por un factor entero D, y la frecuencia efectiva baja a 2604 sobre D. Esto adapta la tasa a la banda y a la duración del registro, y promediar mejora la relación señal ruido para el ruido incorrelado. Pero hay que ser honestos con lo que es: un filtro peine con respuesta sinc, no un antialias ideal. En la figura, con D igual a 13, la frecuencia efectiva es de unos 200 hertz; a 50 hertz el promedio atenúa menos de 1 decibel, pero en la frecuencia de Nyquist apenas 3,9. Con D igual a 26 ya hay 3,9 decibeles de atenuación a 50 hertz. Lo que está por encima de Nyquist se pliega con poca atenuación. Mi cálculo: una componente de 150 hertz con D igual a 13 se pliega sobre 50 hertz atenuada solo unos 10 decibeles. Ahí ayuda el filtro Bessel analógico, pero no lo medimos en esta configuración. Por eso el rango de D de 1 a 100 describe lo que el sistema permite configurar, no que todo valor sea adecuado para MASW; el repositorio lo advierte igual. Para el trabajo final, el rechazo de alias hay que verificarlo para las configuraciones de campo. Nota para mí: los 10 dB son una inferencia mía, no un resultado medido.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aporte de diseño aquí es el criterio de reparto, más que la lista. Va a hardware toda decisión cuyo timing entre en el presupuesto de jitter: qué pedido de DMA pasa, el arranque con el flanco de SYNC_IN, el conteo de lotes de 30 muestras, qué interrupciones llegan al procesador, y el filtro FIR por DMA. Queda en software lo que es lento pero complejo: el lazo PI de calibración, la persistencia en EEPROM con CRC, los comandos, la memoria y la supervisión. El hardware define cuándo ocurren las cosas y el software define qué valores toman. Eso permite sostener que el error temporal residual no depende del código C. Es una afirmación del repositorio y tiene que sostenerse con la medición de jitter, que viene en la parte de sincronización. Coordinación, ESP-NOW y la interfaz web viven en el ESP32.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máquina de estados tiene cinco estados: IDLE, ARMED, SAMPLING, DONE y ERROR. Con la orden de armado pasa a ARMED, y ahí el filtro FIR sigue alimentado para que su historia esté caliente cuando llegue el disparo. El flanco de SYNC_IN inicia el muestreo directamente, sin intervención del procesador. Durante SAMPLING la única fuente normal de interrupción es el DMA de muestra, los lotes de 30 muestras se cuentan en hardware, y el software recibe un único evento de fin cuando termina. Una vez iniciada, la posición temporal de las muestras la define el reloj local de cada nodo, y eso conecta con la parte de sincronización. Nota para mí: no detallé qué condiciones llevan al estado ERROR ni la transición de DONE a IDLE; no están en el resumen y hay que confirmarlas en el código antes de dibujarlas.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capturas largas hay tres niveles. Primero, la RAM del ESP32, con una arena paginada de 512 lotes: es el camino rápido y alcanza para unos 5,9 segundos a 2604 hertz. Segundo, el encadenado en RAM del PSoC: al pasar de 512 lotes la máquina se re-arma sola sin reiniciar la captura. Y tercero, la tarjeta SD en el PSoC, con FatFs sobre el SPI, hasta 60 mil lotes, unos 11,5 minutos. Los tiempos son lotes por 30 muestras sobre la frecuencia de muestreo. Que la SD esté en el PSoC y no en el ESP32 mantiene el almacenamiento del lado determinista de la cadena. Nota para mí: la regla de que más de 512 lotes exige SD habilitada sale del repositorio, línea 602 de 04_arquitectura; verificar si sigue vigente. Mi inferencia: para MASW activo, con registros de unos segundos, alcanza la RAM; la SD sirve para registros largos, como ruido ambiental, que es un posible trabajo futuro.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registro se guarda en el nodo con sus metadatos: identificador y posición, frecuencia efectiva y factor de diezmado, rango del ADC, ganancia, ruta de señal, número de muestras y estado del ajuste de offset. Con eso se reconstruye el eje temporal sin depender de la interfaz de descarga. La integridad la dan la versión, el CRC, el número de muestras y los indicadores de desbordamiento o de cierre incompleto. El registro se transmite después de la captura, en lotes numerados que pueden pedirse de nuevo ante pérdidas, y el original permanece en el nodo, así que una pérdida o demora en el enlace no modifica las muestras adquiridas. El servidor valida y preserva los originales, y el procesamiento se hace sobre copias. El detalle del enlace viene en la sección de comunicación.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1.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1.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image" Target="../media/image-52-2.png"/><Relationship Id="rId3" Type="http://schemas.openxmlformats.org/officeDocument/2006/relationships/slideLayout" Target="../slideLayouts/slideLayout1.xml"/><Relationship Id="rId4"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1.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image" Target="../media/image-59-1.png"/><Relationship Id="rId2" Type="http://schemas.openxmlformats.org/officeDocument/2006/relationships/slideLayout" Target="../slideLayouts/slideLayout1.xml"/><Relationship Id="rId3"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image" Target="../media/image-63-1.png"/><Relationship Id="rId2" Type="http://schemas.openxmlformats.org/officeDocument/2006/relationships/slideLayout" Target="../slideLayouts/slideLayout1.xml"/><Relationship Id="rId3"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image" Target="../media/image-64-1.png"/><Relationship Id="rId2" Type="http://schemas.openxmlformats.org/officeDocument/2006/relationships/image" Target="../media/image-64-2.png"/><Relationship Id="rId3" Type="http://schemas.openxmlformats.org/officeDocument/2006/relationships/slideLayout" Target="../slideLayouts/slideLayout1.xml"/><Relationship Id="rId4"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image" Target="../media/image-65-1.png"/><Relationship Id="rId2" Type="http://schemas.openxmlformats.org/officeDocument/2006/relationships/image" Target="../media/image-65-2.png"/><Relationship Id="rId3" Type="http://schemas.openxmlformats.org/officeDocument/2006/relationships/slideLayout" Target="../slideLayouts/slideLayout1.xml"/><Relationship Id="rId4"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image" Target="../media/image-66-1.png"/><Relationship Id="rId2" Type="http://schemas.openxmlformats.org/officeDocument/2006/relationships/slideLayout" Target="../slideLayouts/slideLayout1.xml"/><Relationship Id="rId3"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image" Target="../media/image-67-1.png"/><Relationship Id="rId2" Type="http://schemas.openxmlformats.org/officeDocument/2006/relationships/slideLayout" Target="../slideLayouts/slideLayout1.xml"/><Relationship Id="rId3"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image" Target="../media/image-68-1.png"/><Relationship Id="rId2" Type="http://schemas.openxmlformats.org/officeDocument/2006/relationships/slideLayout" Target="../slideLayouts/slideLayout1.xml"/><Relationship Id="rId3"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image" Target="../media/image-69-1.png"/><Relationship Id="rId2" Type="http://schemas.openxmlformats.org/officeDocument/2006/relationships/slideLayout" Target="../slideLayouts/slideLayout1.xml"/><Relationship Id="rId3"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image" Target="../media/image-71-1.png"/><Relationship Id="rId2" Type="http://schemas.openxmlformats.org/officeDocument/2006/relationships/slideLayout" Target="../slideLayouts/slideLayout1.xml"/><Relationship Id="rId3"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2" Type="http://schemas.openxmlformats.org/officeDocument/2006/relationships/chart" Target="/ppt/charts/chart5.xml"/><Relationship Id="rId1" Type="http://schemas.openxmlformats.org/officeDocument/2006/relationships/image" Target="../media/image-72-1.png"/><Relationship Id="rId3" Type="http://schemas.openxmlformats.org/officeDocument/2006/relationships/slideLayout" Target="../slideLayouts/slideLayout1.xml"/><Relationship Id="rId4"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image" Target="../media/image-73-1.png"/><Relationship Id="rId2" Type="http://schemas.openxmlformats.org/officeDocument/2006/relationships/slideLayout" Target="../slideLayouts/slideLayout1.xml"/><Relationship Id="rId3"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image" Target="../media/image-75-1.png"/><Relationship Id="rId2" Type="http://schemas.openxmlformats.org/officeDocument/2006/relationships/slideLayout" Target="../slideLayouts/slideLayout1.xml"/><Relationship Id="rId3"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p:bgPr>
    </p:bg>
    <p:spTree>
      <p:nvGrpSpPr>
        <p:cNvPr id="1" name=""/>
        <p:cNvGrpSpPr/>
        <p:nvPr/>
      </p:nvGrpSpPr>
      <p:grpSpPr>
        <a:xfrm>
          <a:off x="0" y="0"/>
          <a:ext cx="0" cy="0"/>
          <a:chOff x="0" y="0"/>
          <a:chExt cx="0" cy="0"/>
        </a:xfrm>
      </p:grpSpPr>
      <p:sp>
        <p:nvSpPr>
          <p:cNvPr id="2" name="Título"/>
          <p:cNvSpPr txBox="1"/>
          <p:nvPr/>
        </p:nvSpPr>
        <p:spPr>
          <a:xfrm>
            <a:off x="457200" y="274320"/>
            <a:ext cx="8229600" cy="12344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Diseño e implementación de un sistema electrónico multicanal del tipo IoT para caracterización geotécnica del suelo mediante ondas sísmicas</a:t>
            </a:r>
            <a:endParaRPr lang="en-US" sz="2400" dirty="0"/>
          </a:p>
        </p:txBody>
      </p:sp>
      <p:sp>
        <p:nvSpPr>
          <p:cNvPr id="3" name="Text 1"/>
          <p:cNvSpPr txBox="1"/>
          <p:nvPr/>
        </p:nvSpPr>
        <p:spPr>
          <a:xfrm>
            <a:off x="457200" y="1600200"/>
            <a:ext cx="8229600" cy="320040"/>
          </a:xfrm>
          <a:prstGeom prst="rect">
            <a:avLst/>
          </a:prstGeom>
          <a:noFill/>
          <a:ln/>
        </p:spPr>
        <p:txBody>
          <a:bodyPr wrap="square" lIns="0" tIns="0" rIns="0" bIns="0" rtlCol="0" anchor="ctr"/>
          <a:lstStyle/>
          <a:p>
            <a:pPr indent="0" marL="0">
              <a:buNone/>
            </a:pPr>
            <a:r>
              <a:rPr lang="en-US" sz="1800" dirty="0">
                <a:solidFill>
                  <a:srgbClr val="CADCFC"/>
                </a:solidFill>
                <a:latin typeface="Arial" pitchFamily="34" charset="0"/>
                <a:ea typeface="Arial" pitchFamily="34" charset="-122"/>
                <a:cs typeface="Arial" pitchFamily="34" charset="-120"/>
              </a:rPr>
              <a:t>Proyecto final de carrera · Primera presentación</a:t>
            </a:r>
            <a:endParaRPr lang="en-US" sz="1800" dirty="0"/>
          </a:p>
        </p:txBody>
      </p:sp>
      <p:sp>
        <p:nvSpPr>
          <p:cNvPr id="4" name="Autoría"/>
          <p:cNvSpPr txBox="1"/>
          <p:nvPr/>
        </p:nvSpPr>
        <p:spPr>
          <a:xfrm>
            <a:off x="457200" y="2286000"/>
            <a:ext cx="3566160" cy="2377440"/>
          </a:xfrm>
          <a:prstGeom prst="rect">
            <a:avLst/>
          </a:prstGeom>
          <a:noFill/>
          <a:ln/>
        </p:spPr>
        <p:txBody>
          <a:bodyPr wrap="square" lIns="0" tIns="0" rIns="0" bIns="0" rtlCol="0" anchor="t"/>
          <a:lstStyle/>
          <a:p>
            <a:pPr indent="0" marL="0">
              <a:spcAft>
                <a:spcPts val="600"/>
              </a:spcAft>
              <a:buNone/>
            </a:pPr>
            <a:r>
              <a:rPr lang="en-US" sz="1600" b="1" dirty="0">
                <a:solidFill>
                  <a:srgbClr val="FFFFFF"/>
                </a:solidFill>
                <a:latin typeface="Arial" pitchFamily="34" charset="0"/>
                <a:ea typeface="Arial" pitchFamily="34" charset="-122"/>
                <a:cs typeface="Arial" pitchFamily="34" charset="-120"/>
              </a:rPr>
              <a:t>Elías David Álvarez Martínez</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Matrícula Y24127 · Ingeniería Electrónica</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Tutor: Enrique A. Vargas Cabral, Ph.D.</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Universidad Católica «Nuestra Señora de la Asunción»</a:t>
            </a:r>
            <a:endParaRPr lang="en-US" sz="1600" dirty="0"/>
          </a:p>
        </p:txBody>
      </p:sp>
      <p:sp>
        <p:nvSpPr>
          <p:cNvPr id="5" name="Marco imagen"/>
          <p:cNvSpPr/>
          <p:nvPr/>
        </p:nvSpPr>
        <p:spPr>
          <a:xfrm>
            <a:off x="4206240" y="2240280"/>
            <a:ext cx="4480560" cy="2240280"/>
          </a:xfrm>
          <a:prstGeom prst="rect">
            <a:avLst/>
          </a:prstGeom>
          <a:solidFill>
            <a:srgbClr val="FFFFFF"/>
          </a:solidFill>
          <a:ln w="12700">
            <a:solidFill>
              <a:srgbClr val="FFFFFF"/>
            </a:solidFill>
            <a:prstDash val="solid"/>
          </a:ln>
        </p:spPr>
      </p:sp>
      <p:pic>
        <p:nvPicPr>
          <p:cNvPr id="6" name="Esquema MASW" descr="Esquema de adquisición MASW: martillo, línea de geófonos y registros en el tiempo">    </p:cNvPr>
          <p:cNvPicPr>
            <a:picLocks noChangeAspect="1"/>
          </p:cNvPicPr>
          <p:nvPr/>
        </p:nvPicPr>
        <p:blipFill>
          <a:blip r:embed="rId1"/>
          <a:stretch>
            <a:fillRect/>
          </a:stretch>
        </p:blipFill>
        <p:spPr>
          <a:xfrm>
            <a:off x="4251960" y="2286000"/>
            <a:ext cx="4389120" cy="2194560"/>
          </a:xfrm>
          <a:prstGeom prst="rect">
            <a:avLst/>
          </a:prstGeom>
        </p:spPr>
      </p:pic>
      <p:sp>
        <p:nvSpPr>
          <p:cNvPr id="7" name="Crédito imagen"/>
          <p:cNvSpPr txBox="1"/>
          <p:nvPr/>
        </p:nvSpPr>
        <p:spPr>
          <a:xfrm>
            <a:off x="4206240" y="4526280"/>
            <a:ext cx="4480560" cy="274320"/>
          </a:xfrm>
          <a:prstGeom prst="rect">
            <a:avLst/>
          </a:prstGeom>
          <a:noFill/>
          <a:ln/>
        </p:spPr>
        <p:txBody>
          <a:bodyPr wrap="square" lIns="0" tIns="0" rIns="0" bIns="0" rtlCol="0" anchor="ctr"/>
          <a:lstStyle/>
          <a:p>
            <a:pPr indent="0" marL="0">
              <a:buNone/>
            </a:pPr>
            <a:r>
              <a:rPr lang="en-US" sz="1100" dirty="0">
                <a:solidFill>
                  <a:srgbClr val="CADCFC"/>
                </a:solidFill>
                <a:latin typeface="Arial" pitchFamily="34" charset="0"/>
                <a:ea typeface="Arial" pitchFamily="34" charset="-122"/>
                <a:cs typeface="Arial" pitchFamily="34" charset="-120"/>
              </a:rPr>
              <a:t>Esquema MASW: GeoStru (2019), original de M. Bandini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Toda obra empieza por conocer el suelo que la sostiene</a:t>
            </a:r>
            <a:endParaRPr lang="en-US" sz="2400" dirty="0"/>
          </a:p>
        </p:txBody>
      </p:sp>
      <p:pic>
        <p:nvPicPr>
          <p:cNvPr id="3" name="Imagen fundación" descr="Esquema de zapata aislada: armadura, hormigón de limpieza y terreno de fundación">    </p:cNvPr>
          <p:cNvPicPr>
            <a:picLocks noChangeAspect="1"/>
          </p:cNvPicPr>
          <p:nvPr/>
        </p:nvPicPr>
        <p:blipFill>
          <a:blip r:embed="rId1"/>
          <a:stretch>
            <a:fillRect/>
          </a:stretch>
        </p:blipFill>
        <p:spPr>
          <a:xfrm>
            <a:off x="457200" y="1188720"/>
            <a:ext cx="1792224" cy="3191256"/>
          </a:xfrm>
          <a:prstGeom prst="rect">
            <a:avLst/>
          </a:prstGeom>
        </p:spPr>
      </p:pic>
      <p:sp>
        <p:nvSpPr>
          <p:cNvPr id="4" name="Cuerpo"/>
          <p:cNvSpPr txBox="1"/>
          <p:nvPr/>
        </p:nvSpPr>
        <p:spPr>
          <a:xfrm>
            <a:off x="2651760" y="1280160"/>
            <a:ext cx="6035040" cy="173736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Reconocer los materiales antes de construir</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Estimar parámetros para dimensionar la fundación</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Controlar rellenos y capas compactadas durante la obra</a:t>
            </a:r>
            <a:endParaRPr lang="en-US" sz="2000" dirty="0"/>
          </a:p>
        </p:txBody>
      </p:sp>
      <p:sp>
        <p:nvSpPr>
          <p:cNvPr id="5" name="Recuadro dato"/>
          <p:cNvSpPr/>
          <p:nvPr/>
        </p:nvSpPr>
        <p:spPr>
          <a:xfrm>
            <a:off x="2651760" y="3246120"/>
            <a:ext cx="6035040" cy="822960"/>
          </a:xfrm>
          <a:prstGeom prst="rect">
            <a:avLst/>
          </a:prstGeom>
          <a:solidFill>
            <a:srgbClr val="EAF1F8"/>
          </a:solidFill>
          <a:ln w="12700">
            <a:solidFill>
              <a:srgbClr val="EAF1F8"/>
            </a:solidFill>
            <a:prstDash val="solid"/>
          </a:ln>
        </p:spPr>
      </p:sp>
      <p:sp>
        <p:nvSpPr>
          <p:cNvPr id="6" name="Dato Paraguay"/>
          <p:cNvSpPr txBox="1"/>
          <p:nvPr/>
        </p:nvSpPr>
        <p:spPr>
          <a:xfrm>
            <a:off x="2788920" y="3246120"/>
            <a:ext cx="5760720" cy="822960"/>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La construcción creció 6,2 % en 2025 (BCP, 2026)</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Samtani y Nowatzki (2006). BCP (2026). Imagen: Instagram (s. f.).</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control del terreno no termina cuando la obra se levanta</a:t>
            </a:r>
            <a:endParaRPr lang="en-US" sz="2400" dirty="0"/>
          </a:p>
        </p:txBody>
      </p:sp>
      <p:pic>
        <p:nvPicPr>
          <p:cNvPr id="3" name="Foto grietas" descr="Grietas y asentamientos">    </p:cNvPr>
          <p:cNvPicPr>
            <a:picLocks noChangeAspect="1"/>
          </p:cNvPicPr>
          <p:nvPr/>
        </p:nvPicPr>
        <p:blipFill>
          <a:blip r:embed="rId1"/>
          <a:stretch>
            <a:fillRect/>
          </a:stretch>
        </p:blipFill>
        <p:spPr>
          <a:xfrm>
            <a:off x="457200" y="1280160"/>
            <a:ext cx="2560320" cy="1563624"/>
          </a:xfrm>
          <a:prstGeom prst="rect">
            <a:avLst/>
          </a:prstGeom>
        </p:spPr>
      </p:pic>
      <p:sp>
        <p:nvSpPr>
          <p:cNvPr id="4" name="Text 1"/>
          <p:cNvSpPr txBox="1"/>
          <p:nvPr/>
        </p:nvSpPr>
        <p:spPr>
          <a:xfrm>
            <a:off x="45720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Grietas y asentamientos</a:t>
            </a:r>
            <a:endParaRPr lang="en-US" sz="1600" dirty="0"/>
          </a:p>
        </p:txBody>
      </p:sp>
      <p:pic>
        <p:nvPicPr>
          <p:cNvPr id="5" name="Foto pavimento_relleno" descr="Pavimentos y rellenos">    </p:cNvPr>
          <p:cNvPicPr>
            <a:picLocks noChangeAspect="1"/>
          </p:cNvPicPr>
          <p:nvPr/>
        </p:nvPicPr>
        <p:blipFill>
          <a:blip r:embed="rId2"/>
          <a:stretch>
            <a:fillRect/>
          </a:stretch>
        </p:blipFill>
        <p:spPr>
          <a:xfrm>
            <a:off x="3291840" y="1280160"/>
            <a:ext cx="2560320" cy="1737360"/>
          </a:xfrm>
          <a:prstGeom prst="rect">
            <a:avLst/>
          </a:prstGeom>
        </p:spPr>
      </p:pic>
      <p:sp>
        <p:nvSpPr>
          <p:cNvPr id="6" name="Text 2"/>
          <p:cNvSpPr txBox="1"/>
          <p:nvPr/>
        </p:nvSpPr>
        <p:spPr>
          <a:xfrm>
            <a:off x="329184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Pavimentos y rellenos</a:t>
            </a:r>
            <a:endParaRPr lang="en-US" sz="1600" dirty="0"/>
          </a:p>
        </p:txBody>
      </p:sp>
      <p:pic>
        <p:nvPicPr>
          <p:cNvPr id="7" name="Foto talud" descr="Taludes">    </p:cNvPr>
          <p:cNvPicPr>
            <a:picLocks noChangeAspect="1"/>
          </p:cNvPicPr>
          <p:nvPr/>
        </p:nvPicPr>
        <p:blipFill>
          <a:blip r:embed="rId3"/>
          <a:stretch>
            <a:fillRect/>
          </a:stretch>
        </p:blipFill>
        <p:spPr>
          <a:xfrm>
            <a:off x="6126480" y="1280160"/>
            <a:ext cx="2560320" cy="1737360"/>
          </a:xfrm>
          <a:prstGeom prst="rect">
            <a:avLst/>
          </a:prstGeom>
        </p:spPr>
      </p:pic>
      <p:sp>
        <p:nvSpPr>
          <p:cNvPr id="8" name="Text 3"/>
          <p:cNvSpPr txBox="1"/>
          <p:nvPr/>
        </p:nvSpPr>
        <p:spPr>
          <a:xfrm>
            <a:off x="612648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Taludes</a:t>
            </a:r>
            <a:endParaRPr lang="en-US" sz="1600" dirty="0"/>
          </a:p>
        </p:txBody>
      </p:sp>
      <p:sp>
        <p:nvSpPr>
          <p:cNvPr id="9" name="Mensaje"/>
          <p:cNvSpPr txBox="1"/>
          <p:nvPr/>
        </p:nvSpPr>
        <p:spPr>
          <a:xfrm>
            <a:off x="457200" y="3657600"/>
            <a:ext cx="8229600" cy="731520"/>
          </a:xfrm>
          <a:prstGeom prst="rect">
            <a:avLst/>
          </a:prstGeom>
          <a:noFill/>
          <a:ln/>
        </p:spPr>
        <p:txBody>
          <a:bodyPr wrap="square" lIns="0" tIns="0" rIns="0" bIns="0" rtlCol="0" anchor="t"/>
          <a:lstStyle/>
          <a:p>
            <a:pPr indent="0" marL="0">
              <a:buNone/>
            </a:pPr>
            <a:r>
              <a:rPr lang="en-US" sz="2000" dirty="0">
                <a:solidFill>
                  <a:srgbClr val="2D2D2D"/>
                </a:solidFill>
                <a:latin typeface="Arial" pitchFamily="34" charset="0"/>
                <a:ea typeface="Arial" pitchFamily="34" charset="-122"/>
                <a:cs typeface="Arial" pitchFamily="34" charset="-120"/>
              </a:rPr>
              <a:t>Evaluar durante y después de la obra: cambios, daños y mantenimiento, sin alterar lo construido</a:t>
            </a:r>
            <a:endParaRPr lang="en-US" sz="20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Park et al. (2018). Imágenes: UPCommons (asentamientos); 360 en Concreto (rodillo); Facebook (ilustración).</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ítulo"/>
          <p:cNvSpPr txBox="1"/>
          <p:nvPr/>
        </p:nvSpPr>
        <p:spPr>
          <a:xfrm>
            <a:off x="457200" y="274320"/>
            <a:ext cx="8229600" cy="10972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Nos proponemos definir un método de medición del terreno que, mediante el procesamiento de lo sensado, permita obtener información útil</a:t>
            </a:r>
            <a:endParaRPr lang="en-US" sz="2400" dirty="0"/>
          </a:p>
        </p:txBody>
      </p:sp>
      <p:sp>
        <p:nvSpPr>
          <p:cNvPr id="3" name="Marco plataforma"/>
          <p:cNvSpPr/>
          <p:nvPr/>
        </p:nvSpPr>
        <p:spPr>
          <a:xfrm>
            <a:off x="2514600" y="1463040"/>
            <a:ext cx="4114800" cy="1051560"/>
          </a:xfrm>
          <a:prstGeom prst="roundRect">
            <a:avLst>
              <a:gd name="adj" fmla="val 6957"/>
            </a:avLst>
          </a:prstGeom>
          <a:solidFill>
            <a:srgbClr val="FFFFFF">
              <a:alpha val="0"/>
            </a:srgbClr>
          </a:solidFill>
          <a:ln w="25400">
            <a:solidFill>
              <a:srgbClr val="C55A11"/>
            </a:solidFill>
            <a:prstDash val="solid"/>
          </a:ln>
        </p:spPr>
      </p:sp>
      <p:sp>
        <p:nvSpPr>
          <p:cNvPr id="4" name="Caja 1"/>
          <p:cNvSpPr/>
          <p:nvPr/>
        </p:nvSpPr>
        <p:spPr>
          <a:xfrm>
            <a:off x="457200" y="1554480"/>
            <a:ext cx="1783080" cy="868680"/>
          </a:xfrm>
          <a:prstGeom prst="rect">
            <a:avLst/>
          </a:prstGeom>
          <a:solidFill>
            <a:srgbClr val="EAF1F8"/>
          </a:solidFill>
          <a:ln w="12700">
            <a:solidFill>
              <a:srgbClr val="2E75B6"/>
            </a:solidFill>
            <a:prstDash val="solid"/>
          </a:ln>
        </p:spPr>
      </p:sp>
      <p:sp>
        <p:nvSpPr>
          <p:cNvPr id="5" name="Text 3"/>
          <p:cNvSpPr txBox="1"/>
          <p:nvPr/>
        </p:nvSpPr>
        <p:spPr>
          <a:xfrm>
            <a:off x="45720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Fenómeno físico del terreno</a:t>
            </a:r>
            <a:endParaRPr lang="en-US" sz="1600" dirty="0"/>
          </a:p>
        </p:txBody>
      </p:sp>
      <p:sp>
        <p:nvSpPr>
          <p:cNvPr id="6" name="Shape 4"/>
          <p:cNvSpPr/>
          <p:nvPr/>
        </p:nvSpPr>
        <p:spPr>
          <a:xfrm>
            <a:off x="2267712" y="1988820"/>
            <a:ext cx="310896" cy="0"/>
          </a:xfrm>
          <a:prstGeom prst="line">
            <a:avLst/>
          </a:prstGeom>
          <a:noFill/>
          <a:ln w="25400">
            <a:solidFill>
              <a:srgbClr val="1F4E79"/>
            </a:solidFill>
            <a:prstDash val="solid"/>
            <a:tailEnd type="triangle"/>
          </a:ln>
        </p:spPr>
      </p:sp>
      <p:sp>
        <p:nvSpPr>
          <p:cNvPr id="7" name="Caja 2"/>
          <p:cNvSpPr/>
          <p:nvPr/>
        </p:nvSpPr>
        <p:spPr>
          <a:xfrm>
            <a:off x="2606040" y="1554480"/>
            <a:ext cx="1783080" cy="868680"/>
          </a:xfrm>
          <a:prstGeom prst="rect">
            <a:avLst/>
          </a:prstGeom>
          <a:solidFill>
            <a:srgbClr val="EAF1F8"/>
          </a:solidFill>
          <a:ln w="12700">
            <a:solidFill>
              <a:srgbClr val="2E75B6"/>
            </a:solidFill>
            <a:prstDash val="solid"/>
          </a:ln>
        </p:spPr>
      </p:sp>
      <p:sp>
        <p:nvSpPr>
          <p:cNvPr id="8" name="Text 6"/>
          <p:cNvSpPr txBox="1"/>
          <p:nvPr/>
        </p:nvSpPr>
        <p:spPr>
          <a:xfrm>
            <a:off x="260604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Transductor</a:t>
            </a:r>
            <a:endParaRPr lang="en-US" sz="1600" dirty="0"/>
          </a:p>
        </p:txBody>
      </p:sp>
      <p:sp>
        <p:nvSpPr>
          <p:cNvPr id="9" name="Shape 7"/>
          <p:cNvSpPr/>
          <p:nvPr/>
        </p:nvSpPr>
        <p:spPr>
          <a:xfrm>
            <a:off x="4416552" y="1988820"/>
            <a:ext cx="310896" cy="0"/>
          </a:xfrm>
          <a:prstGeom prst="line">
            <a:avLst/>
          </a:prstGeom>
          <a:noFill/>
          <a:ln w="25400">
            <a:solidFill>
              <a:srgbClr val="1F4E79"/>
            </a:solidFill>
            <a:prstDash val="solid"/>
            <a:tailEnd type="triangle"/>
          </a:ln>
        </p:spPr>
      </p:sp>
      <p:sp>
        <p:nvSpPr>
          <p:cNvPr id="10" name="Caja 3"/>
          <p:cNvSpPr/>
          <p:nvPr/>
        </p:nvSpPr>
        <p:spPr>
          <a:xfrm>
            <a:off x="4754880" y="1554480"/>
            <a:ext cx="1783080" cy="868680"/>
          </a:xfrm>
          <a:prstGeom prst="rect">
            <a:avLst/>
          </a:prstGeom>
          <a:solidFill>
            <a:srgbClr val="EAF1F8"/>
          </a:solidFill>
          <a:ln w="12700">
            <a:solidFill>
              <a:srgbClr val="2E75B6"/>
            </a:solidFill>
            <a:prstDash val="solid"/>
          </a:ln>
        </p:spPr>
      </p:sp>
      <p:sp>
        <p:nvSpPr>
          <p:cNvPr id="11" name="Text 9"/>
          <p:cNvSpPr txBox="1"/>
          <p:nvPr/>
        </p:nvSpPr>
        <p:spPr>
          <a:xfrm>
            <a:off x="475488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Procesamiento</a:t>
            </a:r>
            <a:endParaRPr lang="en-US" sz="1600" dirty="0"/>
          </a:p>
        </p:txBody>
      </p:sp>
      <p:sp>
        <p:nvSpPr>
          <p:cNvPr id="12" name="Shape 10"/>
          <p:cNvSpPr/>
          <p:nvPr/>
        </p:nvSpPr>
        <p:spPr>
          <a:xfrm>
            <a:off x="6565392" y="1988820"/>
            <a:ext cx="310896" cy="0"/>
          </a:xfrm>
          <a:prstGeom prst="line">
            <a:avLst/>
          </a:prstGeom>
          <a:noFill/>
          <a:ln w="25400">
            <a:solidFill>
              <a:srgbClr val="1F4E79"/>
            </a:solidFill>
            <a:prstDash val="solid"/>
            <a:tailEnd type="triangle"/>
          </a:ln>
        </p:spPr>
      </p:sp>
      <p:sp>
        <p:nvSpPr>
          <p:cNvPr id="13" name="Caja 4"/>
          <p:cNvSpPr/>
          <p:nvPr/>
        </p:nvSpPr>
        <p:spPr>
          <a:xfrm>
            <a:off x="6903720" y="1554480"/>
            <a:ext cx="1783080" cy="868680"/>
          </a:xfrm>
          <a:prstGeom prst="rect">
            <a:avLst/>
          </a:prstGeom>
          <a:solidFill>
            <a:srgbClr val="1F4E79"/>
          </a:solidFill>
          <a:ln w="12700">
            <a:solidFill>
              <a:srgbClr val="1F4E79"/>
            </a:solidFill>
            <a:prstDash val="solid"/>
          </a:ln>
        </p:spPr>
      </p:sp>
      <p:sp>
        <p:nvSpPr>
          <p:cNvPr id="14" name="Text 12"/>
          <p:cNvSpPr txBox="1"/>
          <p:nvPr/>
        </p:nvSpPr>
        <p:spPr>
          <a:xfrm>
            <a:off x="690372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Información útil del terreno</a:t>
            </a:r>
            <a:endParaRPr lang="en-US" sz="1600" dirty="0"/>
          </a:p>
        </p:txBody>
      </p:sp>
      <p:sp>
        <p:nvSpPr>
          <p:cNvPr id="15" name="Etiqueta plataforma"/>
          <p:cNvSpPr txBox="1"/>
          <p:nvPr/>
        </p:nvSpPr>
        <p:spPr>
          <a:xfrm>
            <a:off x="2514600" y="2578608"/>
            <a:ext cx="4114800" cy="457200"/>
          </a:xfrm>
          <a:prstGeom prst="rect">
            <a:avLst/>
          </a:prstGeom>
          <a:noFill/>
          <a:ln/>
        </p:spPr>
        <p:txBody>
          <a:bodyPr wrap="square" lIns="0" tIns="0" rIns="0" bIns="0" rtlCol="0" anchor="t"/>
          <a:lstStyle/>
          <a:p>
            <a:pPr algn="ctr" indent="0" marL="0">
              <a:buNone/>
            </a:pPr>
            <a:r>
              <a:rPr lang="en-US" sz="1600" b="1" dirty="0">
                <a:solidFill>
                  <a:srgbClr val="C55A11"/>
                </a:solidFill>
                <a:latin typeface="Arial" pitchFamily="34" charset="0"/>
                <a:ea typeface="Arial" pitchFamily="34" charset="-122"/>
                <a:cs typeface="Arial" pitchFamily="34" charset="-120"/>
              </a:rPr>
              <a:t>Lo que construye este trabajo: la plataforma que realiza la medición</a:t>
            </a:r>
            <a:endParaRPr lang="en-US" sz="1600" dirty="0"/>
          </a:p>
        </p:txBody>
      </p:sp>
      <p:sp>
        <p:nvSpPr>
          <p:cNvPr id="16" name="Text 14"/>
          <p:cNvSpPr txBox="1"/>
          <p:nvPr/>
        </p:nvSpPr>
        <p:spPr>
          <a:xfrm>
            <a:off x="457200" y="3063240"/>
            <a:ext cx="2743200" cy="320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Hoja de ruta</a:t>
            </a:r>
            <a:endParaRPr lang="en-US" sz="2000" dirty="0"/>
          </a:p>
        </p:txBody>
      </p:sp>
      <p:sp>
        <p:nvSpPr>
          <p:cNvPr id="17" name="Número 1"/>
          <p:cNvSpPr/>
          <p:nvPr/>
        </p:nvSpPr>
        <p:spPr>
          <a:xfrm>
            <a:off x="457200" y="3493008"/>
            <a:ext cx="246888" cy="246888"/>
          </a:xfrm>
          <a:prstGeom prst="ellipse">
            <a:avLst/>
          </a:prstGeom>
          <a:solidFill>
            <a:srgbClr val="2E75B6"/>
          </a:solidFill>
          <a:ln w="12700">
            <a:solidFill>
              <a:srgbClr val="2E75B6"/>
            </a:solidFill>
            <a:prstDash val="solid"/>
          </a:ln>
        </p:spPr>
      </p:sp>
      <p:sp>
        <p:nvSpPr>
          <p:cNvPr id="18" name="Text 16"/>
          <p:cNvSpPr txBox="1"/>
          <p:nvPr/>
        </p:nvSpPr>
        <p:spPr>
          <a:xfrm>
            <a:off x="457200" y="3493008"/>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9" name="Hoja de ruta 1"/>
          <p:cNvSpPr txBox="1"/>
          <p:nvPr/>
        </p:nvSpPr>
        <p:spPr>
          <a:xfrm>
            <a:off x="822960" y="3474720"/>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Exploración de los fenómenos físicos candidatos a medir y las técnicas asociadas</a:t>
            </a:r>
            <a:endParaRPr lang="en-US" sz="1600" dirty="0"/>
          </a:p>
        </p:txBody>
      </p:sp>
      <p:sp>
        <p:nvSpPr>
          <p:cNvPr id="20" name="Número 2"/>
          <p:cNvSpPr/>
          <p:nvPr/>
        </p:nvSpPr>
        <p:spPr>
          <a:xfrm>
            <a:off x="457200" y="3803904"/>
            <a:ext cx="246888" cy="246888"/>
          </a:xfrm>
          <a:prstGeom prst="ellipse">
            <a:avLst/>
          </a:prstGeom>
          <a:solidFill>
            <a:srgbClr val="2E75B6"/>
          </a:solidFill>
          <a:ln w="12700">
            <a:solidFill>
              <a:srgbClr val="2E75B6"/>
            </a:solidFill>
            <a:prstDash val="solid"/>
          </a:ln>
        </p:spPr>
      </p:sp>
      <p:sp>
        <p:nvSpPr>
          <p:cNvPr id="21" name="Text 19"/>
          <p:cNvSpPr txBox="1"/>
          <p:nvPr/>
        </p:nvSpPr>
        <p:spPr>
          <a:xfrm>
            <a:off x="457200" y="3803904"/>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2" name="Hoja de ruta 2"/>
          <p:cNvSpPr txBox="1"/>
          <p:nvPr/>
        </p:nvSpPr>
        <p:spPr>
          <a:xfrm>
            <a:off x="822960" y="3785616"/>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Análisis en profundidad del método seleccionado</a:t>
            </a:r>
            <a:endParaRPr lang="en-US" sz="1600" dirty="0"/>
          </a:p>
        </p:txBody>
      </p:sp>
      <p:sp>
        <p:nvSpPr>
          <p:cNvPr id="23" name="Número 3"/>
          <p:cNvSpPr/>
          <p:nvPr/>
        </p:nvSpPr>
        <p:spPr>
          <a:xfrm>
            <a:off x="457200" y="4114800"/>
            <a:ext cx="246888" cy="246888"/>
          </a:xfrm>
          <a:prstGeom prst="ellipse">
            <a:avLst/>
          </a:prstGeom>
          <a:solidFill>
            <a:srgbClr val="2E75B6"/>
          </a:solidFill>
          <a:ln w="12700">
            <a:solidFill>
              <a:srgbClr val="2E75B6"/>
            </a:solidFill>
            <a:prstDash val="solid"/>
          </a:ln>
        </p:spPr>
      </p:sp>
      <p:sp>
        <p:nvSpPr>
          <p:cNvPr id="24" name="Text 22"/>
          <p:cNvSpPr txBox="1"/>
          <p:nvPr/>
        </p:nvSpPr>
        <p:spPr>
          <a:xfrm>
            <a:off x="457200" y="4114800"/>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5" name="Hoja de ruta 3"/>
          <p:cNvSpPr txBox="1"/>
          <p:nvPr/>
        </p:nvSpPr>
        <p:spPr>
          <a:xfrm>
            <a:off x="822960" y="4096512"/>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Especificaciones y plataforma propuesta</a:t>
            </a:r>
            <a:endParaRPr lang="en-US" sz="1600" dirty="0"/>
          </a:p>
        </p:txBody>
      </p:sp>
      <p:sp>
        <p:nvSpPr>
          <p:cNvPr id="26" name="Número 4"/>
          <p:cNvSpPr/>
          <p:nvPr/>
        </p:nvSpPr>
        <p:spPr>
          <a:xfrm>
            <a:off x="457200" y="4425696"/>
            <a:ext cx="246888" cy="246888"/>
          </a:xfrm>
          <a:prstGeom prst="ellipse">
            <a:avLst/>
          </a:prstGeom>
          <a:solidFill>
            <a:srgbClr val="2E75B6"/>
          </a:solidFill>
          <a:ln w="12700">
            <a:solidFill>
              <a:srgbClr val="2E75B6"/>
            </a:solidFill>
            <a:prstDash val="solid"/>
          </a:ln>
        </p:spPr>
      </p:sp>
      <p:sp>
        <p:nvSpPr>
          <p:cNvPr id="27" name="Text 25"/>
          <p:cNvSpPr txBox="1"/>
          <p:nvPr/>
        </p:nvSpPr>
        <p:spPr>
          <a:xfrm>
            <a:off x="457200" y="4425696"/>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8" name="Hoja de ruta 4"/>
          <p:cNvSpPr txBox="1"/>
          <p:nvPr/>
        </p:nvSpPr>
        <p:spPr>
          <a:xfrm>
            <a:off x="822960" y="4407408"/>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Resultados parciales</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Hay dos formas de medir el terreno: por su resistencia o por cómo transmite ondas</a:t>
            </a:r>
            <a:endParaRPr lang="en-US" sz="2400" dirty="0"/>
          </a:p>
        </p:txBody>
      </p:sp>
      <p:sp>
        <p:nvSpPr>
          <p:cNvPr id="3" name="Encabezado dentro"/>
          <p:cNvSpPr/>
          <p:nvPr/>
        </p:nvSpPr>
        <p:spPr>
          <a:xfrm>
            <a:off x="2048256" y="1188720"/>
            <a:ext cx="1737360" cy="777240"/>
          </a:xfrm>
          <a:prstGeom prst="rect">
            <a:avLst/>
          </a:prstGeom>
          <a:solidFill>
            <a:srgbClr val="1F4E79"/>
          </a:solidFill>
          <a:ln w="12700">
            <a:solidFill>
              <a:srgbClr val="1F4E79"/>
            </a:solidFill>
            <a:prstDash val="solid"/>
          </a:ln>
        </p:spPr>
      </p:sp>
      <p:sp>
        <p:nvSpPr>
          <p:cNvPr id="4" name="Text 2"/>
          <p:cNvSpPr txBox="1"/>
          <p:nvPr/>
        </p:nvSpPr>
        <p:spPr>
          <a:xfrm>
            <a:off x="2048256" y="1188720"/>
            <a:ext cx="1737360" cy="7772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Dentro del terreno (invasivo)</a:t>
            </a:r>
            <a:endParaRPr lang="en-US" sz="1600" dirty="0"/>
          </a:p>
        </p:txBody>
      </p:sp>
      <p:sp>
        <p:nvSpPr>
          <p:cNvPr id="5" name="Encabezado superficie"/>
          <p:cNvSpPr/>
          <p:nvPr/>
        </p:nvSpPr>
        <p:spPr>
          <a:xfrm>
            <a:off x="3822192" y="1188720"/>
            <a:ext cx="1737360" cy="777240"/>
          </a:xfrm>
          <a:prstGeom prst="rect">
            <a:avLst/>
          </a:prstGeom>
          <a:solidFill>
            <a:srgbClr val="1F4E79"/>
          </a:solidFill>
          <a:ln w="12700">
            <a:solidFill>
              <a:srgbClr val="1F4E79"/>
            </a:solidFill>
            <a:prstDash val="solid"/>
          </a:ln>
        </p:spPr>
      </p:sp>
      <p:sp>
        <p:nvSpPr>
          <p:cNvPr id="6" name="Text 4"/>
          <p:cNvSpPr txBox="1"/>
          <p:nvPr/>
        </p:nvSpPr>
        <p:spPr>
          <a:xfrm>
            <a:off x="3822192" y="1188720"/>
            <a:ext cx="1737360" cy="7772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Desde la superficie (no invasivo)</a:t>
            </a:r>
            <a:endParaRPr lang="en-US" sz="1600" dirty="0"/>
          </a:p>
        </p:txBody>
      </p:sp>
      <p:sp>
        <p:nvSpPr>
          <p:cNvPr id="7" name="Fila resistencia"/>
          <p:cNvSpPr/>
          <p:nvPr/>
        </p:nvSpPr>
        <p:spPr>
          <a:xfrm>
            <a:off x="457200" y="2002536"/>
            <a:ext cx="1554480" cy="868680"/>
          </a:xfrm>
          <a:prstGeom prst="rect">
            <a:avLst/>
          </a:prstGeom>
          <a:solidFill>
            <a:srgbClr val="2E75B6"/>
          </a:solidFill>
          <a:ln w="12700">
            <a:solidFill>
              <a:srgbClr val="2E75B6"/>
            </a:solidFill>
            <a:prstDash val="solid"/>
          </a:ln>
        </p:spPr>
      </p:sp>
      <p:sp>
        <p:nvSpPr>
          <p:cNvPr id="8" name="Text 6"/>
          <p:cNvSpPr txBox="1"/>
          <p:nvPr/>
        </p:nvSpPr>
        <p:spPr>
          <a:xfrm>
            <a:off x="457200" y="2002536"/>
            <a:ext cx="1554480" cy="86868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Resistencia a la penetración</a:t>
            </a:r>
            <a:endParaRPr lang="en-US" sz="1600" dirty="0"/>
          </a:p>
        </p:txBody>
      </p:sp>
      <p:sp>
        <p:nvSpPr>
          <p:cNvPr id="9" name="Fila ondas"/>
          <p:cNvSpPr/>
          <p:nvPr/>
        </p:nvSpPr>
        <p:spPr>
          <a:xfrm>
            <a:off x="457200" y="2907792"/>
            <a:ext cx="1554480" cy="1508760"/>
          </a:xfrm>
          <a:prstGeom prst="rect">
            <a:avLst/>
          </a:prstGeom>
          <a:solidFill>
            <a:srgbClr val="2E75B6"/>
          </a:solidFill>
          <a:ln w="12700">
            <a:solidFill>
              <a:srgbClr val="2E75B6"/>
            </a:solidFill>
            <a:prstDash val="solid"/>
          </a:ln>
        </p:spPr>
      </p:sp>
      <p:sp>
        <p:nvSpPr>
          <p:cNvPr id="10" name="Text 8"/>
          <p:cNvSpPr txBox="1"/>
          <p:nvPr/>
        </p:nvSpPr>
        <p:spPr>
          <a:xfrm>
            <a:off x="457200" y="2907792"/>
            <a:ext cx="1554480" cy="150876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Propagación de ondas</a:t>
            </a:r>
            <a:endParaRPr lang="en-US" sz="1600" dirty="0"/>
          </a:p>
        </p:txBody>
      </p:sp>
      <p:sp>
        <p:nvSpPr>
          <p:cNvPr id="11" name="Celda penetración dentro"/>
          <p:cNvSpPr/>
          <p:nvPr/>
        </p:nvSpPr>
        <p:spPr>
          <a:xfrm>
            <a:off x="2048256" y="2002536"/>
            <a:ext cx="1737360" cy="868680"/>
          </a:xfrm>
          <a:prstGeom prst="rect">
            <a:avLst/>
          </a:prstGeom>
          <a:solidFill>
            <a:srgbClr val="FFFFFF"/>
          </a:solidFill>
          <a:ln w="12700">
            <a:solidFill>
              <a:srgbClr val="6B6B6B"/>
            </a:solidFill>
            <a:prstDash val="solid"/>
          </a:ln>
        </p:spPr>
      </p:sp>
      <p:sp>
        <p:nvSpPr>
          <p:cNvPr id="12" name="Text 10"/>
          <p:cNvSpPr txBox="1"/>
          <p:nvPr/>
        </p:nvSpPr>
        <p:spPr>
          <a:xfrm>
            <a:off x="2048256" y="2002536"/>
            <a:ext cx="1737360" cy="86868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SPT</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CPT / CPTu</a:t>
            </a:r>
            <a:endParaRPr lang="en-US" sz="1600" dirty="0"/>
          </a:p>
        </p:txBody>
      </p:sp>
      <p:sp>
        <p:nvSpPr>
          <p:cNvPr id="13" name="Celda penetración superficie"/>
          <p:cNvSpPr/>
          <p:nvPr/>
        </p:nvSpPr>
        <p:spPr>
          <a:xfrm>
            <a:off x="3822192" y="2002536"/>
            <a:ext cx="1737360" cy="868680"/>
          </a:xfrm>
          <a:prstGeom prst="rect">
            <a:avLst/>
          </a:prstGeom>
          <a:solidFill>
            <a:srgbClr val="FFFFFF"/>
          </a:solidFill>
          <a:ln w="12700">
            <a:solidFill>
              <a:srgbClr val="6B6B6B"/>
            </a:solidFill>
            <a:prstDash val="solid"/>
          </a:ln>
        </p:spPr>
      </p:sp>
      <p:sp>
        <p:nvSpPr>
          <p:cNvPr id="14" name="Text 12"/>
          <p:cNvSpPr txBox="1"/>
          <p:nvPr/>
        </p:nvSpPr>
        <p:spPr>
          <a:xfrm>
            <a:off x="3822192" y="2002536"/>
            <a:ext cx="1737360" cy="868680"/>
          </a:xfrm>
          <a:prstGeom prst="rect">
            <a:avLst/>
          </a:prstGeom>
          <a:noFill/>
          <a:ln/>
        </p:spPr>
        <p:txBody>
          <a:bodyPr wrap="square" lIns="38100" tIns="38100" rIns="38100" bIns="38100" rtlCol="0" anchor="ctr"/>
          <a:lstStyle/>
          <a:p>
            <a:pPr algn="ctr" indent="0" marL="0">
              <a:buNone/>
            </a:pPr>
            <a:r>
              <a:rPr lang="en-US" sz="1600" dirty="0">
                <a:solidFill>
                  <a:srgbClr val="6B6B6B"/>
                </a:solidFill>
                <a:latin typeface="Arial" pitchFamily="34" charset="0"/>
                <a:ea typeface="Arial" pitchFamily="34" charset="-122"/>
                <a:cs typeface="Arial" pitchFamily="34" charset="-120"/>
              </a:rPr>
              <a:t>—</a:t>
            </a:r>
            <a:endParaRPr lang="en-US" sz="1600" dirty="0"/>
          </a:p>
        </p:txBody>
      </p:sp>
      <p:sp>
        <p:nvSpPr>
          <p:cNvPr id="15" name="Celda ondas dentro"/>
          <p:cNvSpPr/>
          <p:nvPr/>
        </p:nvSpPr>
        <p:spPr>
          <a:xfrm>
            <a:off x="2048256" y="2907792"/>
            <a:ext cx="1737360" cy="1508760"/>
          </a:xfrm>
          <a:prstGeom prst="rect">
            <a:avLst/>
          </a:prstGeom>
          <a:solidFill>
            <a:srgbClr val="FFFFFF"/>
          </a:solidFill>
          <a:ln w="12700">
            <a:solidFill>
              <a:srgbClr val="6B6B6B"/>
            </a:solidFill>
            <a:prstDash val="solid"/>
          </a:ln>
        </p:spPr>
      </p:sp>
      <p:sp>
        <p:nvSpPr>
          <p:cNvPr id="16" name="Text 14"/>
          <p:cNvSpPr txBox="1"/>
          <p:nvPr/>
        </p:nvSpPr>
        <p:spPr>
          <a:xfrm>
            <a:off x="2048256" y="2907792"/>
            <a:ext cx="1737360" cy="150876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Downhole</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Crosshole</a:t>
            </a:r>
            <a:endParaRPr lang="en-US" sz="1600" dirty="0"/>
          </a:p>
        </p:txBody>
      </p:sp>
      <p:sp>
        <p:nvSpPr>
          <p:cNvPr id="17" name="Celda ondas superficie"/>
          <p:cNvSpPr/>
          <p:nvPr/>
        </p:nvSpPr>
        <p:spPr>
          <a:xfrm>
            <a:off x="3822192" y="2907792"/>
            <a:ext cx="1737360" cy="1508760"/>
          </a:xfrm>
          <a:prstGeom prst="rect">
            <a:avLst/>
          </a:prstGeom>
          <a:solidFill>
            <a:srgbClr val="FFFFFF"/>
          </a:solidFill>
          <a:ln w="38100">
            <a:solidFill>
              <a:srgbClr val="C55A11"/>
            </a:solidFill>
            <a:prstDash val="solid"/>
          </a:ln>
        </p:spPr>
      </p:sp>
      <p:sp>
        <p:nvSpPr>
          <p:cNvPr id="18" name="Text 16"/>
          <p:cNvSpPr txBox="1"/>
          <p:nvPr/>
        </p:nvSpPr>
        <p:spPr>
          <a:xfrm>
            <a:off x="3822192" y="2907792"/>
            <a:ext cx="1737360" cy="150876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Refracción</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Reflexión</a:t>
            </a:r>
            <a:endParaRPr lang="en-US" sz="1600" dirty="0"/>
          </a:p>
          <a:p>
            <a:pPr algn="ctr" indent="0" marL="0">
              <a:buNone/>
            </a:pPr>
            <a:r>
              <a:rPr lang="en-US" sz="1600" b="1" dirty="0">
                <a:solidFill>
                  <a:srgbClr val="C55A11"/>
                </a:solidFill>
                <a:latin typeface="Arial" pitchFamily="34" charset="0"/>
                <a:ea typeface="Arial" pitchFamily="34" charset="-122"/>
                <a:cs typeface="Arial" pitchFamily="34" charset="-120"/>
              </a:rPr>
              <a:t>Ondas superficiales</a:t>
            </a:r>
            <a:endParaRPr lang="en-US" sz="1600" dirty="0"/>
          </a:p>
          <a:p>
            <a:pPr algn="ctr" indent="0" marL="0">
              <a:buNone/>
            </a:pPr>
            <a:r>
              <a:rPr lang="en-US" sz="1600" dirty="0">
                <a:solidFill>
                  <a:srgbClr val="1F4E79"/>
                </a:solidFill>
                <a:latin typeface="Arial" pitchFamily="34" charset="0"/>
                <a:ea typeface="Arial" pitchFamily="34" charset="-122"/>
                <a:cs typeface="Arial" pitchFamily="34" charset="-120"/>
              </a:rPr>
              <a:t>Love, Rayleigh</a:t>
            </a:r>
            <a:endParaRPr lang="en-US" sz="1600" dirty="0"/>
          </a:p>
          <a:p>
            <a:pPr algn="ctr" indent="0" marL="0">
              <a:buNone/>
            </a:pPr>
            <a:r>
              <a:rPr lang="en-US" sz="1600" dirty="0">
                <a:solidFill>
                  <a:srgbClr val="1F4E79"/>
                </a:solidFill>
                <a:latin typeface="Arial" pitchFamily="34" charset="0"/>
                <a:ea typeface="Arial" pitchFamily="34" charset="-122"/>
                <a:cs typeface="Arial" pitchFamily="34" charset="-120"/>
              </a:rPr>
              <a:t>SASW / MASW</a:t>
            </a:r>
            <a:endParaRPr lang="en-US" sz="1600" dirty="0"/>
          </a:p>
        </p:txBody>
      </p:sp>
      <p:sp>
        <p:nvSpPr>
          <p:cNvPr id="19" name="Cuerpo"/>
          <p:cNvSpPr txBox="1"/>
          <p:nvPr/>
        </p:nvSpPr>
        <p:spPr>
          <a:xfrm>
            <a:off x="5897880" y="1280160"/>
            <a:ext cx="2788920" cy="310896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2D2D2D"/>
                </a:solidFill>
                <a:latin typeface="Arial" pitchFamily="34" charset="0"/>
                <a:ea typeface="Arial" pitchFamily="34" charset="-122"/>
                <a:cs typeface="Arial" pitchFamily="34" charset="-120"/>
              </a:rPr>
              <a:t>Resistencia: miden cuánto cuesta penetrar el terreno</a:t>
            </a:r>
            <a:endParaRPr lang="en-US" sz="1800" dirty="0"/>
          </a:p>
          <a:p>
            <a:pPr marL="342900" indent="-342900">
              <a:spcAft>
                <a:spcPts val="1400"/>
              </a:spcAft>
              <a:buSzPct val="100000"/>
              <a:buChar char="•"/>
            </a:pPr>
            <a:r>
              <a:rPr lang="en-US" sz="1800" dirty="0">
                <a:solidFill>
                  <a:srgbClr val="2D2D2D"/>
                </a:solidFill>
                <a:latin typeface="Arial" pitchFamily="34" charset="0"/>
                <a:ea typeface="Arial" pitchFamily="34" charset="-122"/>
                <a:cs typeface="Arial" pitchFamily="34" charset="-120"/>
              </a:rPr>
              <a:t>Ondas: usan propiedades de las ondas y cómo el terreno las modifica</a:t>
            </a:r>
            <a:endParaRPr lang="en-US" sz="18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Clasificación elaborada a partir de Foti et al. (2014), cap. 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SPT: se cuentan los golpes necesarios para hincar una cuchara en el suelo</a:t>
            </a:r>
            <a:endParaRPr lang="en-US" sz="2400" dirty="0"/>
          </a:p>
        </p:txBody>
      </p:sp>
      <p:pic>
        <p:nvPicPr>
          <p:cNvPr id="3" name="Figura SPT" descr="Ensayo SPT: martillo, barras, cuchara partida y tres tramos de avance">    </p:cNvPr>
          <p:cNvPicPr>
            <a:picLocks noChangeAspect="1"/>
          </p:cNvPicPr>
          <p:nvPr/>
        </p:nvPicPr>
        <p:blipFill>
          <a:blip r:embed="rId1"/>
          <a:stretch>
            <a:fillRect/>
          </a:stretch>
        </p:blipFill>
        <p:spPr>
          <a:xfrm>
            <a:off x="457200" y="1234440"/>
            <a:ext cx="4389120" cy="3291840"/>
          </a:xfrm>
          <a:prstGeom prst="rect">
            <a:avLst/>
          </a:prstGeom>
        </p:spPr>
      </p:pic>
      <p:sp>
        <p:nvSpPr>
          <p:cNvPr id="4" name="Cuerpo"/>
          <p:cNvSpPr txBox="1"/>
          <p:nvPr/>
        </p:nvSpPr>
        <p:spPr>
          <a:xfrm>
            <a:off x="5120640" y="1371600"/>
            <a:ext cx="3566160" cy="292608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Un martillo normalizado golpea una cuchara partida</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N: golpes para penetrar 0,304 m (N2 + N3)</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Además recupera una muestra alterada</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Procedimiento según la norma ASTM D1586.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CPT/CPTu: un cono se hinca a velocidad constante y mide mientras avanza</a:t>
            </a:r>
            <a:endParaRPr lang="en-US" sz="2400" dirty="0"/>
          </a:p>
        </p:txBody>
      </p:sp>
      <p:pic>
        <p:nvPicPr>
          <p:cNvPr id="3" name="Figura CPTu" descr="Piezocono: punta, manguito de fricción y presión de poros; camión de ensayo y perfil registrado">    </p:cNvPr>
          <p:cNvPicPr>
            <a:picLocks noChangeAspect="1"/>
          </p:cNvPicPr>
          <p:nvPr/>
        </p:nvPicPr>
        <p:blipFill>
          <a:blip r:embed="rId1"/>
          <a:stretch>
            <a:fillRect/>
          </a:stretch>
        </p:blipFill>
        <p:spPr>
          <a:xfrm>
            <a:off x="457200" y="1097280"/>
            <a:ext cx="3337875" cy="3611880"/>
          </a:xfrm>
          <a:prstGeom prst="rect">
            <a:avLst/>
          </a:prstGeom>
        </p:spPr>
      </p:pic>
      <p:sp>
        <p:nvSpPr>
          <p:cNvPr id="4" name="Cuerpo"/>
          <p:cNvSpPr txBox="1"/>
          <p:nvPr/>
        </p:nvSpPr>
        <p:spPr>
          <a:xfrm>
            <a:off x="4114800" y="1280160"/>
            <a:ext cx="4572000" cy="274320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Se hinca a unos 2 cm/s</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Mide resistencia de punta (qc) y fricción lateral (fs)</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El CPTu agrega la presión de poros (u₂)</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Entrega un perfil continuo con la profundidad</a:t>
            </a:r>
            <a:endParaRPr lang="en-US" sz="2000" dirty="0"/>
          </a:p>
        </p:txBody>
      </p:sp>
      <p:sp>
        <p:nvSpPr>
          <p:cNvPr id="5" name="Cita"/>
          <p:cNvSpPr txBox="1"/>
          <p:nvPr/>
        </p:nvSpPr>
        <p:spPr>
          <a:xfrm>
            <a:off x="4114800" y="4206240"/>
            <a:ext cx="4572000" cy="45720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Putt et al. (2022), Front. Environ. Sci. 9:821882, fig. 1 (CC BY),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Ventajas: resistencia medida directamente y con mucha experiencia acumulada</a:t>
            </a:r>
            <a:endParaRPr lang="en-US" sz="2400" dirty="0"/>
          </a:p>
        </p:txBody>
      </p:sp>
      <p:pic>
        <p:nvPicPr>
          <p:cNvPr id="3" name="SPT pequeña" descr="SPT">    </p:cNvPr>
          <p:cNvPicPr>
            <a:picLocks noChangeAspect="1"/>
          </p:cNvPicPr>
          <p:nvPr/>
        </p:nvPicPr>
        <p:blipFill>
          <a:blip r:embed="rId1"/>
          <a:stretch>
            <a:fillRect/>
          </a:stretch>
        </p:blipFill>
        <p:spPr>
          <a:xfrm>
            <a:off x="457200" y="1188720"/>
            <a:ext cx="1920240" cy="1440180"/>
          </a:xfrm>
          <a:prstGeom prst="rect">
            <a:avLst/>
          </a:prstGeom>
        </p:spPr>
      </p:pic>
      <p:sp>
        <p:nvSpPr>
          <p:cNvPr id="4" name="Text 1"/>
          <p:cNvSpPr txBox="1"/>
          <p:nvPr/>
        </p:nvSpPr>
        <p:spPr>
          <a:xfrm>
            <a:off x="2560320" y="1188720"/>
            <a:ext cx="1828800" cy="144018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SPT</a:t>
            </a:r>
            <a:endParaRPr lang="en-US" sz="2000" dirty="0"/>
          </a:p>
        </p:txBody>
      </p:sp>
      <p:sp>
        <p:nvSpPr>
          <p:cNvPr id="5" name="Cuerpo SPT"/>
          <p:cNvSpPr txBox="1"/>
          <p:nvPr/>
        </p:nvSpPr>
        <p:spPr>
          <a:xfrm>
            <a:off x="457200" y="281178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Equipo simple y muy difundido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Recupera una muestra para clasificar</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Amplia base de correlaciones</a:t>
            </a:r>
            <a:endParaRPr lang="en-US" sz="1800" dirty="0"/>
          </a:p>
        </p:txBody>
      </p:sp>
      <p:pic>
        <p:nvPicPr>
          <p:cNvPr id="6" name="CPTu pequeña" descr="CPTu">    </p:cNvPr>
          <p:cNvPicPr>
            <a:picLocks noChangeAspect="1"/>
          </p:cNvPicPr>
          <p:nvPr/>
        </p:nvPicPr>
        <p:blipFill>
          <a:blip r:embed="rId2"/>
          <a:stretch>
            <a:fillRect/>
          </a:stretch>
        </p:blipFill>
        <p:spPr>
          <a:xfrm>
            <a:off x="4754880" y="1188720"/>
            <a:ext cx="1325880" cy="1435608"/>
          </a:xfrm>
          <a:prstGeom prst="rect">
            <a:avLst/>
          </a:prstGeom>
        </p:spPr>
      </p:pic>
      <p:sp>
        <p:nvSpPr>
          <p:cNvPr id="7" name="Text 3"/>
          <p:cNvSpPr txBox="1"/>
          <p:nvPr/>
        </p:nvSpPr>
        <p:spPr>
          <a:xfrm>
            <a:off x="6263640" y="1188720"/>
            <a:ext cx="2423160" cy="1435608"/>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CPT / CPTu</a:t>
            </a:r>
            <a:endParaRPr lang="en-US" sz="2000" dirty="0"/>
          </a:p>
        </p:txBody>
      </p:sp>
      <p:sp>
        <p:nvSpPr>
          <p:cNvPr id="8" name="Cuerpo CPT / CPTu"/>
          <p:cNvSpPr txBox="1"/>
          <p:nvPr/>
        </p:nvSpPr>
        <p:spPr>
          <a:xfrm>
            <a:off x="4754880" y="2807208"/>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Perfil continuo, rápido y repetible</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requiere perforación previa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La presión de poros ayuda a distinguir el suelo</a:t>
            </a:r>
            <a:endParaRPr lang="en-US" sz="18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CPT: Putt et al. (2022).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Limitaciones: puntuales, invasivos y sin medir la rigidez de forma directa</a:t>
            </a:r>
            <a:endParaRPr lang="en-US" sz="2400" dirty="0"/>
          </a:p>
        </p:txBody>
      </p:sp>
      <p:pic>
        <p:nvPicPr>
          <p:cNvPr id="3" name="SPT pequeña" descr="SPT">    </p:cNvPr>
          <p:cNvPicPr>
            <a:picLocks noChangeAspect="1"/>
          </p:cNvPicPr>
          <p:nvPr/>
        </p:nvPicPr>
        <p:blipFill>
          <a:blip r:embed="rId1"/>
          <a:stretch>
            <a:fillRect/>
          </a:stretch>
        </p:blipFill>
        <p:spPr>
          <a:xfrm>
            <a:off x="457200" y="1188720"/>
            <a:ext cx="1920240" cy="1440180"/>
          </a:xfrm>
          <a:prstGeom prst="rect">
            <a:avLst/>
          </a:prstGeom>
        </p:spPr>
      </p:pic>
      <p:sp>
        <p:nvSpPr>
          <p:cNvPr id="4" name="Text 1"/>
          <p:cNvSpPr txBox="1"/>
          <p:nvPr/>
        </p:nvSpPr>
        <p:spPr>
          <a:xfrm>
            <a:off x="2560320" y="1188720"/>
            <a:ext cx="1828800" cy="144018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SPT</a:t>
            </a:r>
            <a:endParaRPr lang="en-US" sz="2000" dirty="0"/>
          </a:p>
        </p:txBody>
      </p:sp>
      <p:sp>
        <p:nvSpPr>
          <p:cNvPr id="5" name="Cuerpo SPT"/>
          <p:cNvSpPr txBox="1"/>
          <p:nvPr/>
        </p:nvSpPr>
        <p:spPr>
          <a:xfrm>
            <a:off x="457200" y="281178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Un dato por profundidad, no un perfil continuo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Depende de la energía del martillo y del operador</a:t>
            </a:r>
            <a:endParaRPr lang="en-US" sz="1800" dirty="0"/>
          </a:p>
        </p:txBody>
      </p:sp>
      <p:pic>
        <p:nvPicPr>
          <p:cNvPr id="6" name="CPTu pequeña" descr="CPTu">    </p:cNvPr>
          <p:cNvPicPr>
            <a:picLocks noChangeAspect="1"/>
          </p:cNvPicPr>
          <p:nvPr/>
        </p:nvPicPr>
        <p:blipFill>
          <a:blip r:embed="rId2"/>
          <a:stretch>
            <a:fillRect/>
          </a:stretch>
        </p:blipFill>
        <p:spPr>
          <a:xfrm>
            <a:off x="4754880" y="1188720"/>
            <a:ext cx="1325880" cy="1435608"/>
          </a:xfrm>
          <a:prstGeom prst="rect">
            <a:avLst/>
          </a:prstGeom>
        </p:spPr>
      </p:pic>
      <p:sp>
        <p:nvSpPr>
          <p:cNvPr id="7" name="Text 3"/>
          <p:cNvSpPr txBox="1"/>
          <p:nvPr/>
        </p:nvSpPr>
        <p:spPr>
          <a:xfrm>
            <a:off x="6263640" y="1188720"/>
            <a:ext cx="2423160" cy="1435608"/>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CPT / CPTu</a:t>
            </a:r>
            <a:endParaRPr lang="en-US" sz="2000" dirty="0"/>
          </a:p>
        </p:txBody>
      </p:sp>
      <p:sp>
        <p:nvSpPr>
          <p:cNvPr id="8" name="Cuerpo CPT / CPTu"/>
          <p:cNvSpPr txBox="1"/>
          <p:nvPr/>
        </p:nvSpPr>
        <p:spPr>
          <a:xfrm>
            <a:off x="4754880" y="2807208"/>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recupera muestra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atraviesa gravas ni suelos muy duros</a:t>
            </a:r>
            <a:endParaRPr lang="en-US" sz="1800" dirty="0"/>
          </a:p>
        </p:txBody>
      </p:sp>
      <p:sp>
        <p:nvSpPr>
          <p:cNvPr id="9" name="Mensaje"/>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Los dos entregan resistencia, no rigidez, y la rigidez se estima por correlaciones</a:t>
            </a:r>
            <a:endParaRPr lang="en-US" sz="18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CPT: Putt et al. (2022).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Al excitar un terreno sólido, este se deforma de forma transitoria y la perturbación se propaga</a:t>
            </a:r>
            <a:endParaRPr lang="en-US" sz="2400" dirty="0"/>
          </a:p>
        </p:txBody>
      </p:sp>
      <p:sp>
        <p:nvSpPr>
          <p:cNvPr id="3" name="Cuerpo"/>
          <p:cNvSpPr txBox="1"/>
          <p:nvPr/>
        </p:nvSpPr>
        <p:spPr>
          <a:xfrm>
            <a:off x="457200" y="1371600"/>
            <a:ext cx="3291840" cy="274320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Un golpe aplica energía en un punto</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El material se deforma de distintas maneras</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Cada tipo de deformación viaja como una onda</a:t>
            </a:r>
            <a:endParaRPr lang="en-US" sz="2000" dirty="0"/>
          </a:p>
        </p:txBody>
      </p:sp>
      <p:pic>
        <p:nvPicPr>
          <p:cNvPr id="4" name="Figura propagación" descr="Ondas Rayleigh generadas por una fuente en superficie, con campo cercano y órbita de partícula">    </p:cNvPr>
          <p:cNvPicPr>
            <a:picLocks noChangeAspect="1"/>
          </p:cNvPicPr>
          <p:nvPr/>
        </p:nvPicPr>
        <p:blipFill>
          <a:blip r:embed="rId1"/>
          <a:stretch>
            <a:fillRect/>
          </a:stretch>
        </p:blipFill>
        <p:spPr>
          <a:xfrm>
            <a:off x="3931920" y="1234440"/>
            <a:ext cx="4754880" cy="3015143"/>
          </a:xfrm>
          <a:prstGeom prst="rect">
            <a:avLst/>
          </a:prstGeom>
        </p:spPr>
      </p:pic>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Foti et al. (2014), fig. 1.1 (cap. 1; por confirmar),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Para analizarlo, simplificamos: un medio homogéneo, isótropo y elástico lineal</a:t>
            </a:r>
            <a:endParaRPr lang="en-US" sz="2400" dirty="0"/>
          </a:p>
        </p:txBody>
      </p:sp>
      <p:sp>
        <p:nvSpPr>
          <p:cNvPr id="3" name="Cabecera Homogéneo"/>
          <p:cNvSpPr/>
          <p:nvPr/>
        </p:nvSpPr>
        <p:spPr>
          <a:xfrm>
            <a:off x="457200" y="1325880"/>
            <a:ext cx="2560320" cy="548640"/>
          </a:xfrm>
          <a:prstGeom prst="rect">
            <a:avLst/>
          </a:prstGeom>
          <a:solidFill>
            <a:srgbClr val="1F4E79"/>
          </a:solidFill>
          <a:ln w="12700">
            <a:solidFill>
              <a:srgbClr val="1F4E79"/>
            </a:solidFill>
            <a:prstDash val="solid"/>
          </a:ln>
        </p:spPr>
      </p:sp>
      <p:sp>
        <p:nvSpPr>
          <p:cNvPr id="4" name="Text 2"/>
          <p:cNvSpPr txBox="1"/>
          <p:nvPr/>
        </p:nvSpPr>
        <p:spPr>
          <a:xfrm>
            <a:off x="45720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Homogéneo</a:t>
            </a:r>
            <a:endParaRPr lang="en-US" sz="2000" dirty="0"/>
          </a:p>
        </p:txBody>
      </p:sp>
      <p:sp>
        <p:nvSpPr>
          <p:cNvPr id="5" name="Tarjeta Homogéneo"/>
          <p:cNvSpPr/>
          <p:nvPr/>
        </p:nvSpPr>
        <p:spPr>
          <a:xfrm>
            <a:off x="457200" y="1874520"/>
            <a:ext cx="2560320" cy="1463040"/>
          </a:xfrm>
          <a:prstGeom prst="rect">
            <a:avLst/>
          </a:prstGeom>
          <a:solidFill>
            <a:srgbClr val="FFFFFF"/>
          </a:solidFill>
          <a:ln w="19050">
            <a:solidFill>
              <a:srgbClr val="1F4E79"/>
            </a:solidFill>
            <a:prstDash val="solid"/>
          </a:ln>
        </p:spPr>
      </p:sp>
      <p:sp>
        <p:nvSpPr>
          <p:cNvPr id="6" name="Text 4"/>
          <p:cNvSpPr txBox="1"/>
          <p:nvPr/>
        </p:nvSpPr>
        <p:spPr>
          <a:xfrm>
            <a:off x="59436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Mismas propiedades en todos los puntos</a:t>
            </a:r>
            <a:endParaRPr lang="en-US" sz="1800" dirty="0"/>
          </a:p>
        </p:txBody>
      </p:sp>
      <p:sp>
        <p:nvSpPr>
          <p:cNvPr id="7" name="Cabecera Isótropo"/>
          <p:cNvSpPr/>
          <p:nvPr/>
        </p:nvSpPr>
        <p:spPr>
          <a:xfrm>
            <a:off x="3291840" y="1325880"/>
            <a:ext cx="2560320" cy="548640"/>
          </a:xfrm>
          <a:prstGeom prst="rect">
            <a:avLst/>
          </a:prstGeom>
          <a:solidFill>
            <a:srgbClr val="1F4E79"/>
          </a:solidFill>
          <a:ln w="12700">
            <a:solidFill>
              <a:srgbClr val="1F4E79"/>
            </a:solidFill>
            <a:prstDash val="solid"/>
          </a:ln>
        </p:spPr>
      </p:sp>
      <p:sp>
        <p:nvSpPr>
          <p:cNvPr id="8" name="Text 6"/>
          <p:cNvSpPr txBox="1"/>
          <p:nvPr/>
        </p:nvSpPr>
        <p:spPr>
          <a:xfrm>
            <a:off x="329184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Isótropo</a:t>
            </a:r>
            <a:endParaRPr lang="en-US" sz="2000" dirty="0"/>
          </a:p>
        </p:txBody>
      </p:sp>
      <p:sp>
        <p:nvSpPr>
          <p:cNvPr id="9" name="Tarjeta Isótropo"/>
          <p:cNvSpPr/>
          <p:nvPr/>
        </p:nvSpPr>
        <p:spPr>
          <a:xfrm>
            <a:off x="3291840" y="1874520"/>
            <a:ext cx="2560320" cy="1463040"/>
          </a:xfrm>
          <a:prstGeom prst="rect">
            <a:avLst/>
          </a:prstGeom>
          <a:solidFill>
            <a:srgbClr val="FFFFFF"/>
          </a:solidFill>
          <a:ln w="19050">
            <a:solidFill>
              <a:srgbClr val="1F4E79"/>
            </a:solidFill>
            <a:prstDash val="solid"/>
          </a:ln>
        </p:spPr>
      </p:sp>
      <p:sp>
        <p:nvSpPr>
          <p:cNvPr id="10" name="Text 8"/>
          <p:cNvSpPr txBox="1"/>
          <p:nvPr/>
        </p:nvSpPr>
        <p:spPr>
          <a:xfrm>
            <a:off x="342900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Mismas propiedades en todas las direcciones</a:t>
            </a:r>
            <a:endParaRPr lang="en-US" sz="1800" dirty="0"/>
          </a:p>
        </p:txBody>
      </p:sp>
      <p:sp>
        <p:nvSpPr>
          <p:cNvPr id="11" name="Cabecera Elástico lineal"/>
          <p:cNvSpPr/>
          <p:nvPr/>
        </p:nvSpPr>
        <p:spPr>
          <a:xfrm>
            <a:off x="6126480" y="1325880"/>
            <a:ext cx="2560320" cy="548640"/>
          </a:xfrm>
          <a:prstGeom prst="rect">
            <a:avLst/>
          </a:prstGeom>
          <a:solidFill>
            <a:srgbClr val="1F4E79"/>
          </a:solidFill>
          <a:ln w="12700">
            <a:solidFill>
              <a:srgbClr val="1F4E79"/>
            </a:solidFill>
            <a:prstDash val="solid"/>
          </a:ln>
        </p:spPr>
      </p:sp>
      <p:sp>
        <p:nvSpPr>
          <p:cNvPr id="12" name="Text 10"/>
          <p:cNvSpPr txBox="1"/>
          <p:nvPr/>
        </p:nvSpPr>
        <p:spPr>
          <a:xfrm>
            <a:off x="612648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Elástico lineal</a:t>
            </a:r>
            <a:endParaRPr lang="en-US" sz="2000" dirty="0"/>
          </a:p>
        </p:txBody>
      </p:sp>
      <p:sp>
        <p:nvSpPr>
          <p:cNvPr id="13" name="Tarjeta Elástico lineal"/>
          <p:cNvSpPr/>
          <p:nvPr/>
        </p:nvSpPr>
        <p:spPr>
          <a:xfrm>
            <a:off x="6126480" y="1874520"/>
            <a:ext cx="2560320" cy="1463040"/>
          </a:xfrm>
          <a:prstGeom prst="rect">
            <a:avLst/>
          </a:prstGeom>
          <a:solidFill>
            <a:srgbClr val="FFFFFF"/>
          </a:solidFill>
          <a:ln w="19050">
            <a:solidFill>
              <a:srgbClr val="1F4E79"/>
            </a:solidFill>
            <a:prstDash val="solid"/>
          </a:ln>
        </p:spPr>
      </p:sp>
      <p:sp>
        <p:nvSpPr>
          <p:cNvPr id="14" name="Text 12"/>
          <p:cNvSpPr txBox="1"/>
          <p:nvPr/>
        </p:nvSpPr>
        <p:spPr>
          <a:xfrm>
            <a:off x="626364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La deformación es proporcional a la fuerza y desaparece al cesar</a:t>
            </a:r>
            <a:endParaRPr lang="en-US" sz="1800" dirty="0"/>
          </a:p>
        </p:txBody>
      </p:sp>
      <p:sp>
        <p:nvSpPr>
          <p:cNvPr id="15" name="Text 13"/>
          <p:cNvSpPr txBox="1"/>
          <p:nvPr/>
        </p:nvSpPr>
        <p:spPr>
          <a:xfrm>
            <a:off x="457200" y="3657600"/>
            <a:ext cx="8229600" cy="640080"/>
          </a:xfrm>
          <a:prstGeom prst="rect">
            <a:avLst/>
          </a:prstGeom>
          <a:noFill/>
          <a:ln/>
        </p:spPr>
        <p:txBody>
          <a:bodyPr wrap="square" lIns="0" tIns="0" rIns="0" bIns="0" rtlCol="0" anchor="t"/>
          <a:lstStyle/>
          <a:p>
            <a:pPr indent="0" marL="0">
              <a:buNone/>
            </a:pPr>
            <a:r>
              <a:rPr lang="en-US" sz="2000" b="1" dirty="0">
                <a:solidFill>
                  <a:srgbClr val="C55A11"/>
                </a:solidFill>
                <a:latin typeface="Arial" pitchFamily="34" charset="0"/>
                <a:ea typeface="Arial" pitchFamily="34" charset="-122"/>
                <a:cs typeface="Arial" pitchFamily="34" charset="-120"/>
              </a:rPr>
              <a:t>Es una simplificación extrema: el suelo real no cumple ninguna de las tres</a:t>
            </a:r>
            <a:endParaRPr lang="en-US" sz="2000" dirty="0"/>
          </a:p>
        </p:txBody>
      </p:sp>
      <p:sp>
        <p:nvSpPr>
          <p:cNvPr id="1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ese medio, la ecuación de movimiento admite solo dos tipos de onda: P y S</a:t>
            </a:r>
            <a:endParaRPr lang="en-US" sz="2400" dirty="0"/>
          </a:p>
        </p:txBody>
      </p:sp>
      <p:sp>
        <p:nvSpPr>
          <p:cNvPr id="3" name="Fondo E_navier"/>
          <p:cNvSpPr/>
          <p:nvPr/>
        </p:nvSpPr>
        <p:spPr>
          <a:xfrm>
            <a:off x="457200" y="1188720"/>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navier"/>
              <p:cNvSpPr txBox="1"/>
              <p:nvPr/>
            </p:nvSpPr>
            <p:spPr>
              <a:xfrm>
                <a:off x="457200" y="1188720"/>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1800" i="1">
                          <a:solidFill>
                            <a:srgbClr val="1F4E79"/>
                          </a:solidFill>
                          <a:latin typeface="Cambria Math" panose="02040503050406030204" pitchFamily="18" charset="0"/>
                        </a:rPr>
                        <m:t xml:space="preserve">ρ</m:t>
                      </m:r>
                      <m:f>
                        <m:fPr>
                          <m:ctrlPr>
                            <a:rPr lang="es-ES" sz="1800" i="1">
                              <a:latin typeface="Cambria Math" panose="02040503050406030204" pitchFamily="18" charset="0"/>
                            </a:rPr>
                          </m:ctrlPr>
                        </m:fPr>
                        <m:num>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m:t>
                              </m:r>
                            </m:e>
                            <m:sup>
                              <m:r>
                                <a:rPr lang="es-ES" sz="1800" i="1">
                                  <a:solidFill>
                                    <a:srgbClr val="1F4E79"/>
                                  </a:solidFill>
                                  <a:latin typeface="Cambria Math" panose="02040503050406030204" pitchFamily="18" charset="0"/>
                                </a:rPr>
                                <m:t xml:space="preserve">2</m:t>
                              </m:r>
                            </m:sup>
                          </m:sSup>
                          <m:r>
                            <a:rPr lang="es-ES" sz="1800" i="1">
                              <a:solidFill>
                                <a:srgbClr val="1F4E79"/>
                              </a:solidFill>
                              <a:latin typeface="Cambria Math" panose="02040503050406030204" pitchFamily="18" charset="0"/>
                            </a:rPr>
                            <m:t xml:space="preserve">u</m:t>
                          </m:r>
                        </m:num>
                        <m:den>
                          <m:r>
                            <a:rPr lang="es-ES" sz="1800" i="1">
                              <a:solidFill>
                                <a:srgbClr val="1F4E79"/>
                              </a:solidFill>
                              <a:latin typeface="Cambria Math" panose="02040503050406030204" pitchFamily="18" charset="0"/>
                            </a:rPr>
                            <m:t xml:space="preserve">∂</m:t>
                          </m:r>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t</m:t>
                              </m:r>
                            </m:e>
                            <m:sup>
                              <m:r>
                                <a:rPr lang="es-ES" sz="1800" i="1">
                                  <a:solidFill>
                                    <a:srgbClr val="1F4E79"/>
                                  </a:solidFill>
                                  <a:latin typeface="Cambria Math" panose="02040503050406030204" pitchFamily="18" charset="0"/>
                                </a:rPr>
                                <m:t xml:space="preserve">2</m:t>
                              </m:r>
                            </m:sup>
                          </m:sSup>
                        </m:den>
                      </m:f>
                      <m:r>
                        <a:rPr lang="es-ES" sz="1800" i="1">
                          <a:solidFill>
                            <a:srgbClr val="1F4E79"/>
                          </a:solidFill>
                          <a:latin typeface="Cambria Math" panose="02040503050406030204" pitchFamily="18" charset="0"/>
                        </a:rPr>
                        <m:t xml:space="preserve">=(λ+μ)∇(∇·u)+μ</m:t>
                      </m:r>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m:t>
                          </m:r>
                        </m:e>
                        <m:sup>
                          <m:r>
                            <a:rPr lang="es-ES" sz="1800" i="1">
                              <a:solidFill>
                                <a:srgbClr val="1F4E79"/>
                              </a:solidFill>
                              <a:latin typeface="Cambria Math" panose="02040503050406030204" pitchFamily="18" charset="0"/>
                            </a:rPr>
                            <m:t xml:space="preserve">2</m:t>
                          </m:r>
                        </m:sup>
                      </m:sSup>
                      <m:r>
                        <a:rPr lang="es-ES" sz="1800" i="1">
                          <a:solidFill>
                            <a:srgbClr val="1F4E79"/>
                          </a:solidFill>
                          <a:latin typeface="Cambria Math" panose="02040503050406030204" pitchFamily="18" charset="0"/>
                        </a:rPr>
                        <m:t xml:space="preserve">u</m:t>
                      </m:r>
                    </m:oMath>
                  </m:oMathPara>
                </a14:m>
                <a:endParaRPr lang="es-ES"/>
              </a:p>
            </p:txBody>
          </p:sp>
        </mc:Choice>
        <mc:Fallback>
          <p:sp>
            <p:nvSpPr>
              <p:cNvPr id="4" name="Ecuación E_navier"/>
              <p:cNvSpPr txBox="1"/>
              <p:nvPr/>
            </p:nvSpPr>
            <p:spPr>
              <a:xfrm>
                <a:off x="457200" y="1188720"/>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ρ ∂²u/∂t² = (λ+μ)∇(∇·u) + μ∇²u</a:t>
                </a:r>
                <a:endParaRPr lang="en-US" sz="2400" dirty="0"/>
              </a:p>
            </p:txBody>
          </p:sp>
        </mc:Fallback>
      </mc:AlternateContent>
      <p:sp>
        <p:nvSpPr>
          <p:cNvPr id="5" name="Text 3"/>
          <p:cNvSpPr txBox="1"/>
          <p:nvPr/>
        </p:nvSpPr>
        <p:spPr>
          <a:xfrm>
            <a:off x="5074920" y="1188720"/>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Ecuación de movimiento. u: desplazamiento; ρ: densidad; λ, μ: constantes de Lamé</a:t>
            </a:r>
            <a:endParaRPr lang="en-US" sz="1600" dirty="0"/>
          </a:p>
        </p:txBody>
      </p:sp>
      <p:sp>
        <p:nvSpPr>
          <p:cNvPr id="6" name="Fondo E_helm"/>
          <p:cNvSpPr/>
          <p:nvPr/>
        </p:nvSpPr>
        <p:spPr>
          <a:xfrm>
            <a:off x="457200" y="1993392"/>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helm"/>
              <p:cNvSpPr txBox="1"/>
              <p:nvPr/>
            </p:nvSpPr>
            <p:spPr>
              <a:xfrm>
                <a:off x="457200" y="1993392"/>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u=∇φ+∇×ψ</m:t>
                      </m:r>
                    </m:oMath>
                  </m:oMathPara>
                </a14:m>
                <a:endParaRPr lang="es-ES"/>
              </a:p>
            </p:txBody>
          </p:sp>
        </mc:Choice>
        <mc:Fallback>
          <p:sp>
            <p:nvSpPr>
              <p:cNvPr id="7" name="Ecuación E_helm"/>
              <p:cNvSpPr txBox="1"/>
              <p:nvPr/>
            </p:nvSpPr>
            <p:spPr>
              <a:xfrm>
                <a:off x="457200" y="1993392"/>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u = ∇φ + ∇×ψ</a:t>
                </a:r>
                <a:endParaRPr lang="en-US" sz="2400" dirty="0"/>
              </a:p>
            </p:txBody>
          </p:sp>
        </mc:Fallback>
      </mc:AlternateContent>
      <p:sp>
        <p:nvSpPr>
          <p:cNvPr id="8" name="Text 6"/>
          <p:cNvSpPr txBox="1"/>
          <p:nvPr/>
        </p:nvSpPr>
        <p:spPr>
          <a:xfrm>
            <a:off x="5074920" y="1993392"/>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Descomposición con un potencial escalar φ y uno vectorial ψ</a:t>
            </a:r>
            <a:endParaRPr lang="en-US" sz="1600" dirty="0"/>
          </a:p>
        </p:txBody>
      </p:sp>
      <p:sp>
        <p:nvSpPr>
          <p:cNvPr id="9" name="Fondo E_phi"/>
          <p:cNvSpPr/>
          <p:nvPr/>
        </p:nvSpPr>
        <p:spPr>
          <a:xfrm>
            <a:off x="457200" y="2798064"/>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0" name="Ecuación E_phi"/>
              <p:cNvSpPr txBox="1"/>
              <p:nvPr/>
            </p:nvSpPr>
            <p:spPr>
              <a:xfrm>
                <a:off x="457200" y="2798064"/>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φ</m:t>
                          </m:r>
                        </m:num>
                        <m:den>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t</m:t>
                              </m:r>
                            </m:e>
                            <m:sup>
                              <m:r>
                                <a:rPr lang="es-ES" sz="2400" i="1">
                                  <a:solidFill>
                                    <a:srgbClr val="1F4E79"/>
                                  </a:solidFill>
                                  <a:latin typeface="Cambria Math" panose="02040503050406030204" pitchFamily="18" charset="0"/>
                                </a:rPr>
                                <m:t xml:space="preserve">2</m:t>
                              </m:r>
                            </m:sup>
                          </m:sSup>
                        </m:den>
                      </m:f>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p</m:t>
                              </m:r>
                            </m:sub>
                          </m:sSub>
                        </m:e>
                        <m:sup>
                          <m:r>
                            <a:rPr lang="es-ES" sz="2400" i="1">
                              <a:solidFill>
                                <a:srgbClr val="1F4E79"/>
                              </a:solidFill>
                              <a:latin typeface="Cambria Math" panose="02040503050406030204" pitchFamily="18" charset="0"/>
                            </a:rPr>
                            <m:t xml:space="preserve">2</m:t>
                          </m:r>
                        </m:sup>
                      </m:sSup>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φ</m:t>
                      </m:r>
                    </m:oMath>
                  </m:oMathPara>
                </a14:m>
                <a:endParaRPr lang="es-ES"/>
              </a:p>
            </p:txBody>
          </p:sp>
        </mc:Choice>
        <mc:Fallback>
          <p:sp>
            <p:nvSpPr>
              <p:cNvPr id="10" name="Ecuación E_phi"/>
              <p:cNvSpPr txBox="1"/>
              <p:nvPr/>
            </p:nvSpPr>
            <p:spPr>
              <a:xfrm>
                <a:off x="457200" y="2798064"/>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∂²φ/∂t² = Vp² ∇²φ</a:t>
                </a:r>
                <a:endParaRPr lang="en-US" sz="2400" dirty="0"/>
              </a:p>
            </p:txBody>
          </p:sp>
        </mc:Fallback>
      </mc:AlternateContent>
      <p:sp>
        <p:nvSpPr>
          <p:cNvPr id="11" name="Text 9"/>
          <p:cNvSpPr txBox="1"/>
          <p:nvPr/>
        </p:nvSpPr>
        <p:spPr>
          <a:xfrm>
            <a:off x="5074920" y="2798064"/>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φ: compresión, viaja a Vp (onda P)</a:t>
            </a:r>
            <a:endParaRPr lang="en-US" sz="1600" dirty="0"/>
          </a:p>
        </p:txBody>
      </p:sp>
      <p:sp>
        <p:nvSpPr>
          <p:cNvPr id="12" name="Fondo E_psi"/>
          <p:cNvSpPr/>
          <p:nvPr/>
        </p:nvSpPr>
        <p:spPr>
          <a:xfrm>
            <a:off x="457200" y="3602736"/>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3" name="Ecuación E_psi"/>
              <p:cNvSpPr txBox="1"/>
              <p:nvPr/>
            </p:nvSpPr>
            <p:spPr>
              <a:xfrm>
                <a:off x="457200" y="3602736"/>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ψ</m:t>
                          </m:r>
                        </m:num>
                        <m:den>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t</m:t>
                              </m:r>
                            </m:e>
                            <m:sup>
                              <m:r>
                                <a:rPr lang="es-ES" sz="2400" i="1">
                                  <a:solidFill>
                                    <a:srgbClr val="1F4E79"/>
                                  </a:solidFill>
                                  <a:latin typeface="Cambria Math" panose="02040503050406030204" pitchFamily="18" charset="0"/>
                                </a:rPr>
                                <m:t xml:space="preserve">2</m:t>
                              </m:r>
                            </m:sup>
                          </m:sSup>
                        </m:den>
                      </m:f>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e>
                        <m:sup>
                          <m:r>
                            <a:rPr lang="es-ES" sz="2400" i="1">
                              <a:solidFill>
                                <a:srgbClr val="1F4E79"/>
                              </a:solidFill>
                              <a:latin typeface="Cambria Math" panose="02040503050406030204" pitchFamily="18" charset="0"/>
                            </a:rPr>
                            <m:t xml:space="preserve">2</m:t>
                          </m:r>
                        </m:sup>
                      </m:sSup>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ψ</m:t>
                      </m:r>
                    </m:oMath>
                  </m:oMathPara>
                </a14:m>
                <a:endParaRPr lang="es-ES"/>
              </a:p>
            </p:txBody>
          </p:sp>
        </mc:Choice>
        <mc:Fallback>
          <p:sp>
            <p:nvSpPr>
              <p:cNvPr id="13" name="Ecuación E_psi"/>
              <p:cNvSpPr txBox="1"/>
              <p:nvPr/>
            </p:nvSpPr>
            <p:spPr>
              <a:xfrm>
                <a:off x="457200" y="3602736"/>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∂²ψ/∂t² = Vs² ∇²ψ</a:t>
                </a:r>
                <a:endParaRPr lang="en-US" sz="2400" dirty="0"/>
              </a:p>
            </p:txBody>
          </p:sp>
        </mc:Fallback>
      </mc:AlternateContent>
      <p:sp>
        <p:nvSpPr>
          <p:cNvPr id="14" name="Text 12"/>
          <p:cNvSpPr txBox="1"/>
          <p:nvPr/>
        </p:nvSpPr>
        <p:spPr>
          <a:xfrm>
            <a:off x="5074920" y="3602736"/>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ψ: corte, viaja a Vs (onda S)</a:t>
            </a:r>
            <a:endParaRPr lang="en-US" sz="1600" dirty="0"/>
          </a:p>
        </p:txBody>
      </p:sp>
      <p:sp>
        <p:nvSpPr>
          <p:cNvPr id="1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Descomposición de Helmholtz de la ecuación de Navier.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P: el terreno se comprime y se dilata en la dirección en que avanza</a:t>
            </a:r>
            <a:endParaRPr lang="en-US" sz="2400" dirty="0"/>
          </a:p>
        </p:txBody>
      </p:sp>
      <p:pic>
        <p:nvPicPr>
          <p:cNvPr id="3" name="Onda P" descr="Onda P: compresión y dilatación, dirección de propagación">    </p:cNvPr>
          <p:cNvPicPr>
            <a:picLocks noChangeAspect="1"/>
          </p:cNvPicPr>
          <p:nvPr/>
        </p:nvPicPr>
        <p:blipFill>
          <a:blip r:embed="rId1"/>
          <a:stretch>
            <a:fillRect/>
          </a:stretch>
        </p:blipFill>
        <p:spPr>
          <a:xfrm>
            <a:off x="457200" y="1280160"/>
            <a:ext cx="5486400" cy="2743200"/>
          </a:xfrm>
          <a:prstGeom prst="rect">
            <a:avLst/>
          </a:prstGeom>
        </p:spPr>
      </p:pic>
      <p:sp>
        <p:nvSpPr>
          <p:cNvPr id="4" name="Cuerpo"/>
          <p:cNvSpPr txBox="1"/>
          <p:nvPr/>
        </p:nvSpPr>
        <p:spPr>
          <a:xfrm>
            <a:off x="6217920" y="1371600"/>
            <a:ext cx="246888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Las partículas oscilan en la dirección de propagación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Viaja en sólidos y en fluidos</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S: el terreno se corta en la dirección perpendicular al avance</a:t>
            </a:r>
            <a:endParaRPr lang="en-US" sz="2400" dirty="0"/>
          </a:p>
        </p:txBody>
      </p:sp>
      <p:pic>
        <p:nvPicPr>
          <p:cNvPr id="3" name="Onda S" descr="Onda S: oscilación perpendicular a la dirección de propagación">    </p:cNvPr>
          <p:cNvPicPr>
            <a:picLocks noChangeAspect="1"/>
          </p:cNvPicPr>
          <p:nvPr/>
        </p:nvPicPr>
        <p:blipFill>
          <a:blip r:embed="rId1"/>
          <a:stretch>
            <a:fillRect/>
          </a:stretch>
        </p:blipFill>
        <p:spPr>
          <a:xfrm>
            <a:off x="457200" y="1280160"/>
            <a:ext cx="5486400" cy="2743200"/>
          </a:xfrm>
          <a:prstGeom prst="rect">
            <a:avLst/>
          </a:prstGeom>
        </p:spPr>
      </p:pic>
      <p:sp>
        <p:nvSpPr>
          <p:cNvPr id="4" name="Cuerpo"/>
          <p:cNvSpPr txBox="1"/>
          <p:nvPr/>
        </p:nvSpPr>
        <p:spPr>
          <a:xfrm>
            <a:off x="6217920" y="1371600"/>
            <a:ext cx="246888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Las partículas oscilan perpendicular a la propagación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No viaja por fluidos: necesita rigidez al corte</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velocidades de propagación se deducen de esas mismas ecuaciones</a:t>
            </a:r>
            <a:endParaRPr lang="en-US" sz="2400" dirty="0"/>
          </a:p>
        </p:txBody>
      </p:sp>
      <p:sp>
        <p:nvSpPr>
          <p:cNvPr id="3" name="Fondo Vp"/>
          <p:cNvSpPr/>
          <p:nvPr/>
        </p:nvSpPr>
        <p:spPr>
          <a:xfrm>
            <a:off x="457200" y="1325880"/>
            <a:ext cx="438912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vp"/>
              <p:cNvSpPr txBox="1"/>
              <p:nvPr/>
            </p:nvSpPr>
            <p:spPr>
              <a:xfrm>
                <a:off x="457200" y="1325880"/>
                <a:ext cx="438912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p</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λ+2μ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4" name="Ecuación E_vp"/>
              <p:cNvSpPr txBox="1"/>
              <p:nvPr/>
            </p:nvSpPr>
            <p:spPr>
              <a:xfrm>
                <a:off x="457200" y="1325880"/>
                <a:ext cx="438912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Vp = √((λ + 2μ) / ρ)</a:t>
                </a:r>
                <a:endParaRPr lang="en-US" sz="2400" dirty="0"/>
              </a:p>
            </p:txBody>
          </p:sp>
        </mc:Fallback>
      </mc:AlternateContent>
      <p:sp>
        <p:nvSpPr>
          <p:cNvPr id="5" name="Fondo Vs"/>
          <p:cNvSpPr/>
          <p:nvPr/>
        </p:nvSpPr>
        <p:spPr>
          <a:xfrm>
            <a:off x="457200" y="2377440"/>
            <a:ext cx="438912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vs"/>
              <p:cNvSpPr txBox="1"/>
              <p:nvPr/>
            </p:nvSpPr>
            <p:spPr>
              <a:xfrm>
                <a:off x="457200" y="2377440"/>
                <a:ext cx="438912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6" name="Ecuación E_vs"/>
              <p:cNvSpPr txBox="1"/>
              <p:nvPr/>
            </p:nvSpPr>
            <p:spPr>
              <a:xfrm>
                <a:off x="457200" y="2377440"/>
                <a:ext cx="438912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√(μ / ρ)</a:t>
                </a:r>
                <a:endParaRPr lang="en-US" sz="2400" dirty="0"/>
              </a:p>
            </p:txBody>
          </p:sp>
        </mc:Fallback>
      </mc:AlternateContent>
      <p:sp>
        <p:nvSpPr>
          <p:cNvPr id="7" name="Cuerpo"/>
          <p:cNvSpPr txBox="1"/>
          <p:nvPr/>
        </p:nvSpPr>
        <p:spPr>
          <a:xfrm>
            <a:off x="5120640" y="1325880"/>
            <a:ext cx="3566160" cy="25603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μ: módulo de corte (también G), la rigidez al corte</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λ: constante de Lamé</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ρ: densidad del medio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En el mismo medio, Vp &gt; Vs</a:t>
            </a:r>
            <a:endParaRPr lang="en-US" sz="1800" dirty="0"/>
          </a:p>
        </p:txBody>
      </p:sp>
      <p:sp>
        <p:nvSpPr>
          <p:cNvPr id="8" name="Text 6"/>
          <p:cNvSpPr txBox="1"/>
          <p:nvPr/>
        </p:nvSpPr>
        <p:spPr>
          <a:xfrm>
            <a:off x="457200" y="3611880"/>
            <a:ext cx="8229600" cy="731520"/>
          </a:xfrm>
          <a:prstGeom prst="rect">
            <a:avLst/>
          </a:prstGeom>
          <a:noFill/>
          <a:ln/>
        </p:spPr>
        <p:txBody>
          <a:bodyPr wrap="square" lIns="0" tIns="0" rIns="0" bIns="0" rtlCol="0" anchor="t"/>
          <a:lstStyle/>
          <a:p>
            <a:pPr indent="0" marL="0">
              <a:buNone/>
            </a:pPr>
            <a:r>
              <a:rPr lang="en-US" sz="2000" b="1" dirty="0">
                <a:solidFill>
                  <a:srgbClr val="C55A11"/>
                </a:solidFill>
                <a:latin typeface="Arial" pitchFamily="34" charset="0"/>
                <a:ea typeface="Arial" pitchFamily="34" charset="-122"/>
                <a:cs typeface="Arial" pitchFamily="34" charset="-120"/>
              </a:rPr>
              <a:t>Medir velocidades de onda da acceso a parámetros elásticos del terreno</a:t>
            </a:r>
            <a:endParaRPr lang="en-US" sz="20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suelos, la relación esfuerzo-deformación solo es lineal para deformaciones pequeñas</a:t>
            </a:r>
            <a:endParaRPr lang="en-US" sz="2400" dirty="0"/>
          </a:p>
        </p:txBody>
      </p:sp>
      <p:pic>
        <p:nvPicPr>
          <p:cNvPr id="3" name="Corte simple" descr="Corte simple: esfuerzo τ y deformación γ = Δ/h">    </p:cNvPr>
          <p:cNvPicPr>
            <a:picLocks noChangeAspect="1"/>
          </p:cNvPicPr>
          <p:nvPr/>
        </p:nvPicPr>
        <p:blipFill>
          <a:blip r:embed="rId1"/>
          <a:stretch>
            <a:fillRect/>
          </a:stretch>
        </p:blipFill>
        <p:spPr>
          <a:xfrm>
            <a:off x="457200" y="1280160"/>
            <a:ext cx="4023360" cy="3017520"/>
          </a:xfrm>
          <a:prstGeom prst="rect">
            <a:avLst/>
          </a:prstGeom>
        </p:spPr>
      </p:pic>
      <p:sp>
        <p:nvSpPr>
          <p:cNvPr id="4" name="Fondo τ = Gγ"/>
          <p:cNvSpPr/>
          <p:nvPr/>
        </p:nvSpPr>
        <p:spPr>
          <a:xfrm>
            <a:off x="4754880" y="1325880"/>
            <a:ext cx="393192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tau"/>
              <p:cNvSpPr txBox="1"/>
              <p:nvPr/>
            </p:nvSpPr>
            <p:spPr>
              <a:xfrm>
                <a:off x="4754880" y="1325880"/>
                <a:ext cx="393192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τ=G·γ</m:t>
                      </m:r>
                    </m:oMath>
                  </m:oMathPara>
                </a14:m>
                <a:endParaRPr lang="es-ES"/>
              </a:p>
            </p:txBody>
          </p:sp>
        </mc:Choice>
        <mc:Fallback>
          <p:sp>
            <p:nvSpPr>
              <p:cNvPr id="5" name="Ecuación E_tau"/>
              <p:cNvSpPr txBox="1"/>
              <p:nvPr/>
            </p:nvSpPr>
            <p:spPr>
              <a:xfrm>
                <a:off x="4754880" y="1325880"/>
                <a:ext cx="393192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τ = G · γ</a:t>
                </a:r>
                <a:endParaRPr lang="en-US" sz="2400" dirty="0"/>
              </a:p>
            </p:txBody>
          </p:sp>
        </mc:Fallback>
      </mc:AlternateContent>
      <p:sp>
        <p:nvSpPr>
          <p:cNvPr id="6" name="Cuerpo"/>
          <p:cNvSpPr txBox="1"/>
          <p:nvPr/>
        </p:nvSpPr>
        <p:spPr>
          <a:xfrm>
            <a:off x="4754880" y="2331720"/>
            <a:ext cx="3931920" cy="21945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Esfuerzo y deformación de corte son proporcionales</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Con γ del orden de 10⁻⁵ o menos, G es casi constante: Gmax</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Las ondas de prospección producen deformaciones así de pequeñas</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Umbral aproximado; depende del tipo de suelo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pequeña señal, la velocidad de corte da directamente la rigidez máxima</a:t>
            </a:r>
            <a:endParaRPr lang="en-US" sz="2400" dirty="0"/>
          </a:p>
        </p:txBody>
      </p:sp>
      <p:sp>
        <p:nvSpPr>
          <p:cNvPr id="3" name="Ecuación 1"/>
          <p:cNvSpPr/>
          <p:nvPr/>
        </p:nvSpPr>
        <p:spPr>
          <a:xfrm>
            <a:off x="457200" y="1280160"/>
            <a:ext cx="43891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vs"/>
              <p:cNvSpPr txBox="1"/>
              <p:nvPr/>
            </p:nvSpPr>
            <p:spPr>
              <a:xfrm>
                <a:off x="457200" y="128016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4" name="Ecuación E_vs"/>
              <p:cNvSpPr txBox="1"/>
              <p:nvPr/>
            </p:nvSpPr>
            <p:spPr>
              <a:xfrm>
                <a:off x="457200" y="1280160"/>
                <a:ext cx="43891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√(μ / ρ)</a:t>
                </a:r>
                <a:endParaRPr lang="en-US" sz="2400" dirty="0"/>
              </a:p>
            </p:txBody>
          </p:sp>
        </mc:Fallback>
      </mc:AlternateContent>
      <p:sp>
        <p:nvSpPr>
          <p:cNvPr id="5" name="Text 3"/>
          <p:cNvSpPr txBox="1"/>
          <p:nvPr/>
        </p:nvSpPr>
        <p:spPr>
          <a:xfrm>
            <a:off x="5120640" y="128016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Medio elástico lineal, homogéneo e isótropo</a:t>
            </a:r>
            <a:endParaRPr lang="en-US" sz="1800" dirty="0"/>
          </a:p>
        </p:txBody>
      </p:sp>
      <p:sp>
        <p:nvSpPr>
          <p:cNvPr id="6" name="Shape 4"/>
          <p:cNvSpPr/>
          <p:nvPr/>
        </p:nvSpPr>
        <p:spPr>
          <a:xfrm>
            <a:off x="2651760" y="2075688"/>
            <a:ext cx="0" cy="237744"/>
          </a:xfrm>
          <a:prstGeom prst="line">
            <a:avLst/>
          </a:prstGeom>
          <a:noFill/>
          <a:ln w="25400">
            <a:solidFill>
              <a:srgbClr val="1F4E79"/>
            </a:solidFill>
            <a:prstDash val="solid"/>
            <a:tailEnd type="triangle"/>
          </a:ln>
        </p:spPr>
      </p:sp>
      <p:sp>
        <p:nvSpPr>
          <p:cNvPr id="7" name="Ecuación 2"/>
          <p:cNvSpPr/>
          <p:nvPr/>
        </p:nvSpPr>
        <p:spPr>
          <a:xfrm>
            <a:off x="457200" y="2331720"/>
            <a:ext cx="43891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8" name="Ecuación E_mugmax"/>
              <p:cNvSpPr txBox="1"/>
              <p:nvPr/>
            </p:nvSpPr>
            <p:spPr>
              <a:xfrm>
                <a:off x="457200" y="233172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μ=</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G</m:t>
                          </m:r>
                        </m:e>
                        <m:sub>
                          <m:r>
                            <m:rPr>
                              <m:sty m:val="p"/>
                            </m:rPr>
                            <a:rPr lang="es-ES" sz="2800">
                              <a:solidFill>
                                <a:srgbClr val="1F4E79"/>
                              </a:solidFill>
                              <a:latin typeface="Cambria Math" panose="02040503050406030204" pitchFamily="18" charset="0"/>
                            </a:rPr>
                            <m:t xml:space="preserve">max</m:t>
                          </m:r>
                        </m:sub>
                      </m:sSub>
                    </m:oMath>
                  </m:oMathPara>
                </a14:m>
                <a:endParaRPr lang="es-ES"/>
              </a:p>
            </p:txBody>
          </p:sp>
        </mc:Choice>
        <mc:Fallback>
          <p:sp>
            <p:nvSpPr>
              <p:cNvPr id="8" name="Ecuación E_mugmax"/>
              <p:cNvSpPr txBox="1"/>
              <p:nvPr/>
            </p:nvSpPr>
            <p:spPr>
              <a:xfrm>
                <a:off x="457200" y="2331720"/>
                <a:ext cx="43891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μ = Gmax</a:t>
                </a:r>
                <a:endParaRPr lang="en-US" sz="2400" dirty="0"/>
              </a:p>
            </p:txBody>
          </p:sp>
        </mc:Fallback>
      </mc:AlternateContent>
      <p:sp>
        <p:nvSpPr>
          <p:cNvPr id="9" name="Text 7"/>
          <p:cNvSpPr txBox="1"/>
          <p:nvPr/>
        </p:nvSpPr>
        <p:spPr>
          <a:xfrm>
            <a:off x="5120640" y="233172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Solo en pequeña señal: el módulo de corte es Gmax</a:t>
            </a:r>
            <a:endParaRPr lang="en-US" sz="1800" dirty="0"/>
          </a:p>
        </p:txBody>
      </p:sp>
      <p:sp>
        <p:nvSpPr>
          <p:cNvPr id="10" name="Shape 8"/>
          <p:cNvSpPr/>
          <p:nvPr/>
        </p:nvSpPr>
        <p:spPr>
          <a:xfrm>
            <a:off x="2651760" y="3127248"/>
            <a:ext cx="0" cy="237744"/>
          </a:xfrm>
          <a:prstGeom prst="line">
            <a:avLst/>
          </a:prstGeom>
          <a:noFill/>
          <a:ln w="25400">
            <a:solidFill>
              <a:srgbClr val="1F4E79"/>
            </a:solidFill>
            <a:prstDash val="solid"/>
            <a:tailEnd type="triangle"/>
          </a:ln>
        </p:spPr>
      </p:sp>
      <p:sp>
        <p:nvSpPr>
          <p:cNvPr id="11" name="Ecuación 3"/>
          <p:cNvSpPr/>
          <p:nvPr/>
        </p:nvSpPr>
        <p:spPr>
          <a:xfrm>
            <a:off x="457200" y="3383280"/>
            <a:ext cx="4389120" cy="777240"/>
          </a:xfrm>
          <a:prstGeom prst="rect">
            <a:avLst/>
          </a:prstGeom>
          <a:solidFill>
            <a:srgbClr val="1F4E79"/>
          </a:solidFill>
          <a:ln w="12700">
            <a:solidFill>
              <a:srgbClr val="1F4E79"/>
            </a:solidFill>
            <a:prstDash val="solid"/>
          </a:ln>
        </p:spPr>
      </p:sp>
      <mc:AlternateContent xmlns:mc="http://schemas.openxmlformats.org/markup-compatibility/2006">
        <mc:Choice xmlns:a14="http://schemas.microsoft.com/office/drawing/2010/main" Requires="a14">
          <p:sp>
            <p:nvSpPr>
              <p:cNvPr id="12" name="Ecuación E_gmax_w"/>
              <p:cNvSpPr txBox="1"/>
              <p:nvPr/>
            </p:nvSpPr>
            <p:spPr>
              <a:xfrm>
                <a:off x="457200" y="338328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FFFFFF"/>
                              </a:solidFill>
                              <a:latin typeface="Cambria Math" panose="02040503050406030204" pitchFamily="18" charset="0"/>
                            </a:rPr>
                            <m:t xml:space="preserve">G</m:t>
                          </m:r>
                        </m:e>
                        <m:sub>
                          <m:r>
                            <m:rPr>
                              <m:sty m:val="p"/>
                            </m:rPr>
                            <a:rPr lang="es-ES" sz="2800">
                              <a:solidFill>
                                <a:srgbClr val="FFFFFF"/>
                              </a:solidFill>
                              <a:latin typeface="Cambria Math" panose="02040503050406030204" pitchFamily="18" charset="0"/>
                            </a:rPr>
                            <m:t xml:space="preserve">max</m:t>
                          </m:r>
                        </m:sub>
                      </m:sSub>
                      <m:r>
                        <a:rPr lang="es-ES" sz="2800" i="1">
                          <a:solidFill>
                            <a:srgbClr val="FFFFFF"/>
                          </a:solidFill>
                          <a:latin typeface="Cambria Math" panose="02040503050406030204" pitchFamily="18" charset="0"/>
                        </a:rPr>
                        <m:t xml:space="preserve">=ρ</m:t>
                      </m:r>
                      <m:sSup>
                        <m:sSupPr>
                          <m:ctrlPr>
                            <a:rPr lang="es-ES" sz="2800" i="1">
                              <a:latin typeface="Cambria Math" panose="02040503050406030204" pitchFamily="18" charset="0"/>
                            </a:rPr>
                          </m:ctrlPr>
                        </m:sSupPr>
                        <m:e>
                          <m:sSub>
                            <m:sSubPr>
                              <m:ctrlPr>
                                <a:rPr lang="es-ES" sz="2800" i="1">
                                  <a:latin typeface="Cambria Math" panose="02040503050406030204" pitchFamily="18" charset="0"/>
                                </a:rPr>
                              </m:ctrlPr>
                            </m:sSubPr>
                            <m:e>
                              <m:r>
                                <a:rPr lang="es-ES" sz="2800" i="1">
                                  <a:solidFill>
                                    <a:srgbClr val="FFFFFF"/>
                                  </a:solidFill>
                                  <a:latin typeface="Cambria Math" panose="02040503050406030204" pitchFamily="18" charset="0"/>
                                </a:rPr>
                                <m:t xml:space="preserve">V</m:t>
                              </m:r>
                            </m:e>
                            <m:sub>
                              <m:r>
                                <a:rPr lang="es-ES" sz="2800" i="1">
                                  <a:solidFill>
                                    <a:srgbClr val="FFFFFF"/>
                                  </a:solidFill>
                                  <a:latin typeface="Cambria Math" panose="02040503050406030204" pitchFamily="18" charset="0"/>
                                </a:rPr>
                                <m:t xml:space="preserve">s</m:t>
                              </m:r>
                            </m:sub>
                          </m:sSub>
                        </m:e>
                        <m:sup>
                          <m:r>
                            <a:rPr lang="es-ES" sz="2800" i="1">
                              <a:solidFill>
                                <a:srgbClr val="FFFFFF"/>
                              </a:solidFill>
                              <a:latin typeface="Cambria Math" panose="02040503050406030204" pitchFamily="18" charset="0"/>
                            </a:rPr>
                            <m:t xml:space="preserve">2</m:t>
                          </m:r>
                        </m:sup>
                      </m:sSup>
                    </m:oMath>
                  </m:oMathPara>
                </a14:m>
                <a:endParaRPr lang="es-ES"/>
              </a:p>
            </p:txBody>
          </p:sp>
        </mc:Choice>
        <mc:Fallback>
          <p:sp>
            <p:nvSpPr>
              <p:cNvPr id="12" name="Ecuación E_gmax_w"/>
              <p:cNvSpPr txBox="1"/>
              <p:nvPr/>
            </p:nvSpPr>
            <p:spPr>
              <a:xfrm>
                <a:off x="457200" y="3383280"/>
                <a:ext cx="4389120" cy="777240"/>
              </a:xfrm>
              <a:prstGeom prst="rect">
                <a:avLst/>
              </a:prstGeom>
              <a:noFill/>
              <a:ln/>
            </p:spPr>
            <p:txBody>
              <a:bodyPr wrap="square" lIns="0" tIns="0" rIns="0" bIns="0" rtlCol="0" anchor="ctr"/>
              <a:lstStyle/>
              <a:p>
                <a:pPr algn="ctr" indent="0" marL="0">
                  <a:buNone/>
                </a:pPr>
                <a:r>
                  <a:rPr lang="en-US" sz="2400" dirty="0">
                    <a:solidFill>
                      <a:srgbClr val="FFFFFF"/>
                    </a:solidFill>
                    <a:latin typeface="Arial" pitchFamily="34" charset="0"/>
                    <a:ea typeface="Arial" pitchFamily="34" charset="-122"/>
                    <a:cs typeface="Arial" pitchFamily="34" charset="-120"/>
                  </a:rPr>
                  <a:t>Gmax = ρ · Vs²</a:t>
                </a:r>
                <a:endParaRPr lang="en-US" sz="2400" dirty="0"/>
              </a:p>
            </p:txBody>
          </p:sp>
        </mc:Fallback>
      </mc:AlternateContent>
      <p:sp>
        <p:nvSpPr>
          <p:cNvPr id="13" name="Text 11"/>
          <p:cNvSpPr txBox="1"/>
          <p:nvPr/>
        </p:nvSpPr>
        <p:spPr>
          <a:xfrm>
            <a:off x="5120640" y="338328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Relación buscada. Válida solo en pequeña señal</a:t>
            </a:r>
            <a:endParaRPr lang="en-US" sz="1800" dirty="0"/>
          </a:p>
        </p:txBody>
      </p:sp>
      <p:sp>
        <p:nvSpPr>
          <p:cNvPr id="1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Si conocemos Vs, podemos estimar Gmax con una incertidumbre razonable</a:t>
            </a:r>
            <a:endParaRPr lang="en-US" sz="2400" dirty="0"/>
          </a:p>
        </p:txBody>
      </p:sp>
      <p:sp>
        <p:nvSpPr>
          <p:cNvPr id="3" name="Fondo error"/>
          <p:cNvSpPr/>
          <p:nvPr/>
        </p:nvSpPr>
        <p:spPr>
          <a:xfrm>
            <a:off x="457200" y="1325880"/>
            <a:ext cx="4389120" cy="10972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err"/>
              <p:cNvSpPr txBox="1"/>
              <p:nvPr/>
            </p:nvSpPr>
            <p:spPr>
              <a:xfrm>
                <a:off x="457200" y="1325880"/>
                <a:ext cx="4389120" cy="10972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ΔG</m:t>
                          </m:r>
                        </m:num>
                        <m:den>
                          <m:r>
                            <a:rPr lang="es-ES" sz="2400" i="1">
                              <a:solidFill>
                                <a:srgbClr val="1F4E79"/>
                              </a:solidFill>
                              <a:latin typeface="Cambria Math" panose="02040503050406030204" pitchFamily="18" charset="0"/>
                            </a:rPr>
                            <m:t xml:space="preserve">G</m:t>
                          </m:r>
                        </m:den>
                      </m:f>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Δρ</m:t>
                          </m:r>
                        </m:num>
                        <m:den>
                          <m:r>
                            <a:rPr lang="es-ES" sz="2400" i="1">
                              <a:solidFill>
                                <a:srgbClr val="1F4E79"/>
                              </a:solidFill>
                              <a:latin typeface="Cambria Math" panose="02040503050406030204" pitchFamily="18" charset="0"/>
                            </a:rPr>
                            <m:t xml:space="preserve">ρ</m:t>
                          </m:r>
                        </m:den>
                      </m:f>
                      <m:r>
                        <a:rPr lang="es-ES" sz="2400" i="1">
                          <a:solidFill>
                            <a:srgbClr val="1F4E79"/>
                          </a:solidFill>
                          <a:latin typeface="Cambria Math" panose="02040503050406030204" pitchFamily="18" charset="0"/>
                        </a:rPr>
                        <m:t xml:space="preserve">+2</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den>
                      </m:f>
                    </m:oMath>
                  </m:oMathPara>
                </a14:m>
                <a:endParaRPr lang="es-ES"/>
              </a:p>
            </p:txBody>
          </p:sp>
        </mc:Choice>
        <mc:Fallback>
          <p:sp>
            <p:nvSpPr>
              <p:cNvPr id="4" name="Ecuación E_err"/>
              <p:cNvSpPr txBox="1"/>
              <p:nvPr/>
            </p:nvSpPr>
            <p:spPr>
              <a:xfrm>
                <a:off x="457200" y="1325880"/>
                <a:ext cx="4389120" cy="10972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ΔG/G ≈ Δρ/ρ + 2·ΔVs/Vs</a:t>
                </a:r>
                <a:endParaRPr lang="en-US" sz="2400" dirty="0"/>
              </a:p>
            </p:txBody>
          </p:sp>
        </mc:Fallback>
      </mc:AlternateContent>
      <p:sp>
        <p:nvSpPr>
          <p:cNvPr id="5" name="Cuerpo"/>
          <p:cNvSpPr txBox="1"/>
          <p:nvPr/>
        </p:nvSpPr>
        <p:spPr>
          <a:xfrm>
            <a:off x="5120640" y="1325880"/>
            <a:ext cx="3566160" cy="27432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ρ varía poco entre suelos y se estima con muestras o correlaciones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Vs varía mucho y se mide en campo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Un error en Vs pesa el doble que uno en ρ</a:t>
            </a:r>
            <a:endParaRPr lang="en-US" sz="1800" dirty="0"/>
          </a:p>
        </p:txBody>
      </p:sp>
      <p:sp>
        <p:nvSpPr>
          <p:cNvPr id="6" name="Text 4"/>
          <p:cNvSpPr txBox="1"/>
          <p:nvPr/>
        </p:nvSpPr>
        <p:spPr>
          <a:xfrm>
            <a:off x="457200" y="2743200"/>
            <a:ext cx="4389120" cy="10972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Vale para pequeñas deformaciones: no describe al suelo cerca de la falla</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Propagación de errores lineal, cota superior.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Downhole: la fuente está en superficie y los geófonos dentro del pozo</a:t>
            </a:r>
            <a:endParaRPr lang="en-US" sz="2400" dirty="0"/>
          </a:p>
        </p:txBody>
      </p:sp>
      <p:pic>
        <p:nvPicPr>
          <p:cNvPr id="3" name="Figura downhole" descr="Ensayo downhole: fuente sísmica en superficie, geófonos dentro del pozo, tres capas">    </p:cNvPr>
          <p:cNvPicPr>
            <a:picLocks noChangeAspect="1"/>
          </p:cNvPicPr>
          <p:nvPr/>
        </p:nvPicPr>
        <p:blipFill>
          <a:blip r:embed="rId1"/>
          <a:stretch>
            <a:fillRect/>
          </a:stretch>
        </p:blipFill>
        <p:spPr>
          <a:xfrm>
            <a:off x="457200" y="1188720"/>
            <a:ext cx="4026263" cy="3291840"/>
          </a:xfrm>
          <a:prstGeom prst="rect">
            <a:avLst/>
          </a:prstGeom>
        </p:spPr>
      </p:pic>
      <p:sp>
        <p:nvSpPr>
          <p:cNvPr id="4" name="Cuerpo"/>
          <p:cNvSpPr txBox="1"/>
          <p:nvPr/>
        </p:nvSpPr>
        <p:spPr>
          <a:xfrm>
            <a:off x="4754880" y="1371600"/>
            <a:ext cx="3931920" cy="29260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Un solo pozo con geófonos a distintas profundidades</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Una fuente golpea en superficie</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Vs de cada tramo: distancia entre geófonos sobre diferencia de tiempos</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Crosshole: fuente y receptor a la misma profundidad, en pozos distintos</a:t>
            </a:r>
            <a:endParaRPr lang="en-US" sz="2400" dirty="0"/>
          </a:p>
        </p:txBody>
      </p:sp>
      <p:pic>
        <p:nvPicPr>
          <p:cNvPr id="3" name="Figura crosshole" descr="Ensayo crosshole: fuente en un pozo, receptor en otro, distancia Δx">    </p:cNvPr>
          <p:cNvPicPr>
            <a:picLocks noChangeAspect="1"/>
          </p:cNvPicPr>
          <p:nvPr/>
        </p:nvPicPr>
        <p:blipFill>
          <a:blip r:embed="rId1"/>
          <a:stretch>
            <a:fillRect/>
          </a:stretch>
        </p:blipFill>
        <p:spPr>
          <a:xfrm>
            <a:off x="457200" y="1234440"/>
            <a:ext cx="4937760" cy="3040493"/>
          </a:xfrm>
          <a:prstGeom prst="rect">
            <a:avLst/>
          </a:prstGeom>
        </p:spPr>
      </p:pic>
      <p:sp>
        <p:nvSpPr>
          <p:cNvPr id="4" name="Cuerpo"/>
          <p:cNvSpPr txBox="1"/>
          <p:nvPr/>
        </p:nvSpPr>
        <p:spPr>
          <a:xfrm>
            <a:off x="5669280" y="1371600"/>
            <a:ext cx="3017520" cy="18288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Dos pozos o más, a distancia Δx conocida</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 onda S viaja en horizontal por una sola capa</a:t>
            </a:r>
            <a:endParaRPr lang="en-US" sz="1800" dirty="0"/>
          </a:p>
        </p:txBody>
      </p:sp>
      <p:sp>
        <p:nvSpPr>
          <p:cNvPr id="5" name="Fondo Vs"/>
          <p:cNvSpPr/>
          <p:nvPr/>
        </p:nvSpPr>
        <p:spPr>
          <a:xfrm>
            <a:off x="5669280" y="3246120"/>
            <a:ext cx="30175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vsdx"/>
              <p:cNvSpPr txBox="1"/>
              <p:nvPr/>
            </p:nvSpPr>
            <p:spPr>
              <a:xfrm>
                <a:off x="5669280" y="3246120"/>
                <a:ext cx="30175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Δx</m:t>
                          </m:r>
                        </m:num>
                        <m:den>
                          <m:r>
                            <a:rPr lang="es-ES" sz="2800" i="1">
                              <a:solidFill>
                                <a:srgbClr val="1F4E79"/>
                              </a:solidFill>
                              <a:latin typeface="Cambria Math" panose="02040503050406030204" pitchFamily="18" charset="0"/>
                            </a:rPr>
                            <m:t xml:space="preserve">Δt</m:t>
                          </m:r>
                        </m:den>
                      </m:f>
                    </m:oMath>
                  </m:oMathPara>
                </a14:m>
                <a:endParaRPr lang="es-ES"/>
              </a:p>
            </p:txBody>
          </p:sp>
        </mc:Choice>
        <mc:Fallback>
          <p:sp>
            <p:nvSpPr>
              <p:cNvPr id="6" name="Ecuación E_vsdx"/>
              <p:cNvSpPr txBox="1"/>
              <p:nvPr/>
            </p:nvSpPr>
            <p:spPr>
              <a:xfrm>
                <a:off x="5669280" y="3246120"/>
                <a:ext cx="30175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Δx / Δt</a:t>
                </a:r>
                <a:endParaRPr lang="en-US" sz="2400" dirty="0"/>
              </a:p>
            </p:txBody>
          </p:sp>
        </mc:Fallback>
      </mc:AlternateContent>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Adaptada de 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Ventajas: miden Vs de forma directa, con trayectos conocidos</a:t>
            </a:r>
            <a:endParaRPr lang="en-US" sz="2400" dirty="0"/>
          </a:p>
        </p:txBody>
      </p:sp>
      <p:pic>
        <p:nvPicPr>
          <p:cNvPr id="3" name="Downhole pequeña" descr="Downhole">    </p:cNvPr>
          <p:cNvPicPr>
            <a:picLocks noChangeAspect="1"/>
          </p:cNvPicPr>
          <p:nvPr/>
        </p:nvPicPr>
        <p:blipFill>
          <a:blip r:embed="rId1"/>
          <a:stretch>
            <a:fillRect/>
          </a:stretch>
        </p:blipFill>
        <p:spPr>
          <a:xfrm>
            <a:off x="457200" y="1188720"/>
            <a:ext cx="1920240" cy="1570025"/>
          </a:xfrm>
          <a:prstGeom prst="rect">
            <a:avLst/>
          </a:prstGeom>
        </p:spPr>
      </p:pic>
      <p:sp>
        <p:nvSpPr>
          <p:cNvPr id="4" name="Text 1"/>
          <p:cNvSpPr txBox="1"/>
          <p:nvPr/>
        </p:nvSpPr>
        <p:spPr>
          <a:xfrm>
            <a:off x="2560320" y="1188720"/>
            <a:ext cx="1828800" cy="1570025"/>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Downhole</a:t>
            </a:r>
            <a:endParaRPr lang="en-US" sz="2000" dirty="0"/>
          </a:p>
        </p:txBody>
      </p:sp>
      <p:sp>
        <p:nvSpPr>
          <p:cNvPr id="5" name="Cuerpo Downhole"/>
          <p:cNvSpPr txBox="1"/>
          <p:nvPr/>
        </p:nvSpPr>
        <p:spPr>
          <a:xfrm>
            <a:off x="457200" y="2941625"/>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Un solo pozo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Perfil de Vs con la profundidad</a:t>
            </a:r>
            <a:endParaRPr lang="en-US" sz="1800" dirty="0"/>
          </a:p>
        </p:txBody>
      </p:sp>
      <p:pic>
        <p:nvPicPr>
          <p:cNvPr id="6" name="Crosshole pequeña" descr="Crosshole">    </p:cNvPr>
          <p:cNvPicPr>
            <a:picLocks noChangeAspect="1"/>
          </p:cNvPicPr>
          <p:nvPr/>
        </p:nvPicPr>
        <p:blipFill>
          <a:blip r:embed="rId2"/>
          <a:stretch>
            <a:fillRect/>
          </a:stretch>
        </p:blipFill>
        <p:spPr>
          <a:xfrm>
            <a:off x="4754880" y="1188720"/>
            <a:ext cx="2377440" cy="1463040"/>
          </a:xfrm>
          <a:prstGeom prst="rect">
            <a:avLst/>
          </a:prstGeom>
        </p:spPr>
      </p:pic>
      <p:sp>
        <p:nvSpPr>
          <p:cNvPr id="7" name="Text 3"/>
          <p:cNvSpPr txBox="1"/>
          <p:nvPr/>
        </p:nvSpPr>
        <p:spPr>
          <a:xfrm>
            <a:off x="7315200" y="1188720"/>
            <a:ext cx="1371600" cy="1463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Crosshole</a:t>
            </a:r>
            <a:endParaRPr lang="en-US" sz="2000" dirty="0"/>
          </a:p>
        </p:txBody>
      </p:sp>
      <p:sp>
        <p:nvSpPr>
          <p:cNvPr id="8" name="Cuerpo Crosshole"/>
          <p:cNvSpPr txBox="1"/>
          <p:nvPr/>
        </p:nvSpPr>
        <p:spPr>
          <a:xfrm>
            <a:off x="4754880" y="283464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Vs de capas individuales a profundidad conocida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Mejor resolución vertical</a:t>
            </a:r>
            <a:endParaRPr lang="en-US" sz="18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 Crosshole: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Limitaciones: exigen perforar y siguen siendo ensayos puntuales</a:t>
            </a:r>
            <a:endParaRPr lang="en-US" sz="2400" dirty="0"/>
          </a:p>
        </p:txBody>
      </p:sp>
      <p:pic>
        <p:nvPicPr>
          <p:cNvPr id="3" name="Downhole pequeña" descr="Downhole">    </p:cNvPr>
          <p:cNvPicPr>
            <a:picLocks noChangeAspect="1"/>
          </p:cNvPicPr>
          <p:nvPr/>
        </p:nvPicPr>
        <p:blipFill>
          <a:blip r:embed="rId1"/>
          <a:stretch>
            <a:fillRect/>
          </a:stretch>
        </p:blipFill>
        <p:spPr>
          <a:xfrm>
            <a:off x="457200" y="1188720"/>
            <a:ext cx="1920240" cy="1570025"/>
          </a:xfrm>
          <a:prstGeom prst="rect">
            <a:avLst/>
          </a:prstGeom>
        </p:spPr>
      </p:pic>
      <p:sp>
        <p:nvSpPr>
          <p:cNvPr id="4" name="Text 1"/>
          <p:cNvSpPr txBox="1"/>
          <p:nvPr/>
        </p:nvSpPr>
        <p:spPr>
          <a:xfrm>
            <a:off x="2560320" y="1188720"/>
            <a:ext cx="1828800" cy="1570025"/>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Downhole</a:t>
            </a:r>
            <a:endParaRPr lang="en-US" sz="2000" dirty="0"/>
          </a:p>
        </p:txBody>
      </p:sp>
      <p:sp>
        <p:nvSpPr>
          <p:cNvPr id="5" name="Cuerpo Downhole"/>
          <p:cNvSpPr txBox="1"/>
          <p:nvPr/>
        </p:nvSpPr>
        <p:spPr>
          <a:xfrm>
            <a:off x="457200" y="2941625"/>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Menor resolución vertical</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Requiere perforar y entubar</a:t>
            </a:r>
            <a:endParaRPr lang="en-US" sz="1800" dirty="0"/>
          </a:p>
        </p:txBody>
      </p:sp>
      <p:pic>
        <p:nvPicPr>
          <p:cNvPr id="6" name="Crosshole pequeña" descr="Crosshole">    </p:cNvPr>
          <p:cNvPicPr>
            <a:picLocks noChangeAspect="1"/>
          </p:cNvPicPr>
          <p:nvPr/>
        </p:nvPicPr>
        <p:blipFill>
          <a:blip r:embed="rId2"/>
          <a:stretch>
            <a:fillRect/>
          </a:stretch>
        </p:blipFill>
        <p:spPr>
          <a:xfrm>
            <a:off x="4754880" y="1188720"/>
            <a:ext cx="2377440" cy="1463040"/>
          </a:xfrm>
          <a:prstGeom prst="rect">
            <a:avLst/>
          </a:prstGeom>
        </p:spPr>
      </p:pic>
      <p:sp>
        <p:nvSpPr>
          <p:cNvPr id="7" name="Text 3"/>
          <p:cNvSpPr txBox="1"/>
          <p:nvPr/>
        </p:nvSpPr>
        <p:spPr>
          <a:xfrm>
            <a:off x="7315200" y="1188720"/>
            <a:ext cx="1371600" cy="1463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Crosshole</a:t>
            </a:r>
            <a:endParaRPr lang="en-US" sz="2000" dirty="0"/>
          </a:p>
        </p:txBody>
      </p:sp>
      <p:sp>
        <p:nvSpPr>
          <p:cNvPr id="8" name="Cuerpo Crosshole"/>
          <p:cNvSpPr txBox="1"/>
          <p:nvPr/>
        </p:nvSpPr>
        <p:spPr>
          <a:xfrm>
            <a:off x="4754880" y="283464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Dos o más pozos alineados y verticales</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Costo y tiempo altos</a:t>
            </a:r>
            <a:endParaRPr lang="en-US" sz="1800" dirty="0"/>
          </a:p>
        </p:txBody>
      </p:sp>
      <p:sp>
        <p:nvSpPr>
          <p:cNvPr id="9" name="Mensaje"/>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Dan Vs de forma directa, pero un punto del sitio por ensayo</a:t>
            </a:r>
            <a:endParaRPr lang="en-US" sz="18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 Crosshole: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a cierta distancia, la onda refractada llega antes que la directa</a:t>
            </a:r>
            <a:endParaRPr lang="en-US" sz="2400" dirty="0"/>
          </a:p>
        </p:txBody>
      </p:sp>
      <p:pic>
        <p:nvPicPr>
          <p:cNvPr id="3" name="Figura refracción" descr="Refracción sísmica en dos capas: energía directa, reflejada y refractada (onda de cabeza), con ángulo crítico">    </p:cNvPr>
          <p:cNvPicPr>
            <a:picLocks noChangeAspect="1"/>
          </p:cNvPicPr>
          <p:nvPr/>
        </p:nvPicPr>
        <p:blipFill>
          <a:blip r:embed="rId1"/>
          <a:stretch>
            <a:fillRect/>
          </a:stretch>
        </p:blipFill>
        <p:spPr>
          <a:xfrm>
            <a:off x="457200" y="1234440"/>
            <a:ext cx="5120640" cy="3058925"/>
          </a:xfrm>
          <a:prstGeom prst="rect">
            <a:avLst/>
          </a:prstGeom>
        </p:spPr>
      </p:pic>
      <p:sp>
        <p:nvSpPr>
          <p:cNvPr id="4" name="Cuerpo"/>
          <p:cNvSpPr txBox="1"/>
          <p:nvPr/>
        </p:nvSpPr>
        <p:spPr>
          <a:xfrm>
            <a:off x="5760720" y="1371600"/>
            <a:ext cx="2926080" cy="30175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Con ángulo de incidencia igual al crítico, la energía viaja por el techo de la capa rápida (onda de cabeza)</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Vuelve a la superficie y llega antes que la directa, a partir de cierta distancia</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USGS (1987), Open-File Report 87-0103-A, recreada y traducida (fuente exacta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del gráfico de tiempos salen las velocidades y el espesor de la capa</a:t>
            </a:r>
            <a:endParaRPr lang="en-US" sz="2400" dirty="0"/>
          </a:p>
        </p:txBody>
      </p:sp>
      <p:pic>
        <p:nvPicPr>
          <p:cNvPr id="3" name="Dromocrónica" descr="Dromocrónica: rectas de onda directa y refractada con tiempo de intercepto y distancia de cruce">    </p:cNvPr>
          <p:cNvPicPr>
            <a:picLocks noChangeAspect="1"/>
          </p:cNvPicPr>
          <p:nvPr/>
        </p:nvPicPr>
        <p:blipFill>
          <a:blip r:embed="rId1"/>
          <a:stretch>
            <a:fillRect/>
          </a:stretch>
        </p:blipFill>
        <p:spPr>
          <a:xfrm>
            <a:off x="457200" y="1188720"/>
            <a:ext cx="8229600" cy="3131507"/>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recreación a partir de Wikimedia Commons, «Refraction dia.jpg» (L. Antiga, 2010); fidelidad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simple y rápida, pero exige que la velocidad crezca con la profundidad</a:t>
            </a:r>
            <a:endParaRPr lang="en-US" sz="2400" dirty="0"/>
          </a:p>
        </p:txBody>
      </p:sp>
      <p:sp>
        <p:nvSpPr>
          <p:cNvPr id="3" name="Cabecera Ventajas"/>
          <p:cNvSpPr/>
          <p:nvPr/>
        </p:nvSpPr>
        <p:spPr>
          <a:xfrm>
            <a:off x="457200" y="128016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Ventajas</a:t>
            </a:r>
            <a:endParaRPr lang="en-US" sz="2000" dirty="0"/>
          </a:p>
        </p:txBody>
      </p:sp>
      <p:sp>
        <p:nvSpPr>
          <p:cNvPr id="5" name="Tarjeta Ventajas"/>
          <p:cNvSpPr/>
          <p:nvPr/>
        </p:nvSpPr>
        <p:spPr>
          <a:xfrm>
            <a:off x="457200" y="1783080"/>
            <a:ext cx="3931920" cy="2514600"/>
          </a:xfrm>
          <a:prstGeom prst="rect">
            <a:avLst/>
          </a:prstGeom>
          <a:solidFill>
            <a:srgbClr val="FFFFFF"/>
          </a:solidFill>
          <a:ln w="19050">
            <a:solidFill>
              <a:srgbClr val="1F4E79"/>
            </a:solidFill>
            <a:prstDash val="solid"/>
          </a:ln>
        </p:spPr>
      </p:sp>
      <p:sp>
        <p:nvSpPr>
          <p:cNvPr id="6" name="Cuerpo Ventajas"/>
          <p:cNvSpPr txBox="1"/>
          <p:nvPr/>
        </p:nvSpPr>
        <p:spPr>
          <a:xfrm>
            <a:off x="64008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Equipo y procesamiento simples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Rápida de ejecutar en campo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Da velocidades y espesores de capa</a:t>
            </a:r>
            <a:endParaRPr lang="en-US" sz="1800" dirty="0"/>
          </a:p>
        </p:txBody>
      </p:sp>
      <p:sp>
        <p:nvSpPr>
          <p:cNvPr id="7" name="Cabecera Limitaciones"/>
          <p:cNvSpPr/>
          <p:nvPr/>
        </p:nvSpPr>
        <p:spPr>
          <a:xfrm>
            <a:off x="4754880" y="128016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783080"/>
            <a:ext cx="3931920" cy="2514600"/>
          </a:xfrm>
          <a:prstGeom prst="rect">
            <a:avLst/>
          </a:prstGeom>
          <a:solidFill>
            <a:srgbClr val="FFFFFF"/>
          </a:solidFill>
          <a:ln w="19050">
            <a:solidFill>
              <a:srgbClr val="C55A11"/>
            </a:solidFill>
            <a:prstDash val="solid"/>
          </a:ln>
        </p:spPr>
      </p:sp>
      <p:sp>
        <p:nvSpPr>
          <p:cNvPr id="10" name="Cuerpo Limitaciones"/>
          <p:cNvSpPr txBox="1"/>
          <p:nvPr/>
        </p:nvSpPr>
        <p:spPr>
          <a:xfrm>
            <a:off x="493776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velocidad debe aumentar con la profundidad</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Una capa blanda bajo otra rápida queda oculta</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Capas delgadas pueden no verse</a:t>
            </a:r>
            <a:endParaRPr lang="en-US" sz="1800" dirty="0"/>
          </a:p>
        </p:txBody>
      </p:sp>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Reflexión: se registra el tiempo de ida y vuelta de la energía reflejada</a:t>
            </a:r>
            <a:endParaRPr lang="en-US" sz="2400" dirty="0"/>
          </a:p>
        </p:txBody>
      </p:sp>
      <p:pic>
        <p:nvPicPr>
          <p:cNvPr id="3" name="Figura reflexión" descr="Reflexión sísmica: rayos desde la fuente hasta cada interfaz y de vuelta al geófono, con la traza registrada">    </p:cNvPr>
          <p:cNvPicPr>
            <a:picLocks noChangeAspect="1"/>
          </p:cNvPicPr>
          <p:nvPr/>
        </p:nvPicPr>
        <p:blipFill>
          <a:blip r:embed="rId1"/>
          <a:stretch>
            <a:fillRect/>
          </a:stretch>
        </p:blipFill>
        <p:spPr>
          <a:xfrm>
            <a:off x="457200" y="1188720"/>
            <a:ext cx="4572000" cy="3203924"/>
          </a:xfrm>
          <a:prstGeom prst="rect">
            <a:avLst/>
          </a:prstGeom>
        </p:spPr>
      </p:pic>
      <p:sp>
        <p:nvSpPr>
          <p:cNvPr id="4" name="Cuerpo"/>
          <p:cNvSpPr txBox="1"/>
          <p:nvPr/>
        </p:nvSpPr>
        <p:spPr>
          <a:xfrm>
            <a:off x="5303520" y="1280160"/>
            <a:ext cx="3383280" cy="31089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energía se refleja en cada interfaz</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Cada geófono registra una traza</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El tiempo depende de la profundidad y de la velocidad</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«Basics of Seismic Reflection» (CC BY-SA 4.0),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Reflexión: alcanza más profundidad, pero rinde poco en los primeros metros</a:t>
            </a:r>
            <a:endParaRPr lang="en-US" sz="2400" dirty="0"/>
          </a:p>
        </p:txBody>
      </p:sp>
      <p:sp>
        <p:nvSpPr>
          <p:cNvPr id="3" name="Cabecera Ventajas"/>
          <p:cNvSpPr/>
          <p:nvPr/>
        </p:nvSpPr>
        <p:spPr>
          <a:xfrm>
            <a:off x="457200" y="128016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Ventajas</a:t>
            </a:r>
            <a:endParaRPr lang="en-US" sz="2000" dirty="0"/>
          </a:p>
        </p:txBody>
      </p:sp>
      <p:sp>
        <p:nvSpPr>
          <p:cNvPr id="5" name="Tarjeta Ventajas"/>
          <p:cNvSpPr/>
          <p:nvPr/>
        </p:nvSpPr>
        <p:spPr>
          <a:xfrm>
            <a:off x="457200" y="1783080"/>
            <a:ext cx="3931920" cy="2514600"/>
          </a:xfrm>
          <a:prstGeom prst="rect">
            <a:avLst/>
          </a:prstGeom>
          <a:solidFill>
            <a:srgbClr val="FFFFFF"/>
          </a:solidFill>
          <a:ln w="19050">
            <a:solidFill>
              <a:srgbClr val="1F4E79"/>
            </a:solidFill>
            <a:prstDash val="solid"/>
          </a:ln>
        </p:spPr>
      </p:sp>
      <p:sp>
        <p:nvSpPr>
          <p:cNvPr id="6" name="Cuerpo Ventajas"/>
          <p:cNvSpPr txBox="1"/>
          <p:nvPr/>
        </p:nvSpPr>
        <p:spPr>
          <a:xfrm>
            <a:off x="64008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Alcanza mayores profundidades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Buena imagen de la estructura</a:t>
            </a:r>
            <a:endParaRPr lang="en-US" sz="1800" dirty="0"/>
          </a:p>
        </p:txBody>
      </p:sp>
      <p:sp>
        <p:nvSpPr>
          <p:cNvPr id="7" name="Cabecera Limitaciones"/>
          <p:cNvSpPr/>
          <p:nvPr/>
        </p:nvSpPr>
        <p:spPr>
          <a:xfrm>
            <a:off x="4754880" y="128016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783080"/>
            <a:ext cx="3931920" cy="2514600"/>
          </a:xfrm>
          <a:prstGeom prst="rect">
            <a:avLst/>
          </a:prstGeom>
          <a:solidFill>
            <a:srgbClr val="FFFFFF"/>
          </a:solidFill>
          <a:ln w="19050">
            <a:solidFill>
              <a:srgbClr val="C55A11"/>
            </a:solidFill>
            <a:prstDash val="solid"/>
          </a:ln>
        </p:spPr>
      </p:sp>
      <p:sp>
        <p:nvSpPr>
          <p:cNvPr id="10" name="Cuerpo Limitaciones"/>
          <p:cNvSpPr txBox="1"/>
          <p:nvPr/>
        </p:nvSpPr>
        <p:spPr>
          <a:xfrm>
            <a:off x="493776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Poca resolución en los primeros metros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Exige fuentes de alta frecuencia y más procesamiento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Interfieren las ondas directas y superficiales</a:t>
            </a:r>
            <a:endParaRPr lang="en-US" sz="1800" dirty="0"/>
          </a:p>
        </p:txBody>
      </p:sp>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ondas de cuerpo, al llegar a una interfaz, se reflejan y se transmiten</a:t>
            </a:r>
            <a:endParaRPr lang="en-US" sz="2400" dirty="0"/>
          </a:p>
        </p:txBody>
      </p:sp>
      <p:pic>
        <p:nvPicPr>
          <p:cNvPr id="3" name="Figura interfaz" descr="Interfaz entre dos medios con onda incidente, reflejada y transmitida">    </p:cNvPr>
          <p:cNvPicPr>
            <a:picLocks noChangeAspect="1"/>
          </p:cNvPicPr>
          <p:nvPr/>
        </p:nvPicPr>
        <p:blipFill>
          <a:blip r:embed="rId1"/>
          <a:stretch>
            <a:fillRect/>
          </a:stretch>
        </p:blipFill>
        <p:spPr>
          <a:xfrm>
            <a:off x="457200" y="1280160"/>
            <a:ext cx="4937760" cy="3108960"/>
          </a:xfrm>
          <a:prstGeom prst="rect">
            <a:avLst/>
          </a:prstGeom>
        </p:spPr>
      </p:pic>
      <p:sp>
        <p:nvSpPr>
          <p:cNvPr id="4" name="Cuerpo"/>
          <p:cNvSpPr txBox="1"/>
          <p:nvPr/>
        </p:nvSpPr>
        <p:spPr>
          <a:xfrm>
            <a:off x="5577840" y="1280160"/>
            <a:ext cx="3108960" cy="32004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Las ondas de cuerpo (P y S) viajan por el interior del terreno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El terreno real no es homogéneo: tiene variaciones continuas y discontinuidades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Un modelo en capas es más realista: en cada interfaz cambian ρ, Vp y Vs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Parte de la energía se refleja y parte se transmite</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el caso de una superficie libre, la energía vuelve al terreno</a:t>
            </a:r>
            <a:endParaRPr lang="en-US" sz="2400" dirty="0"/>
          </a:p>
        </p:txBody>
      </p:sp>
      <p:pic>
        <p:nvPicPr>
          <p:cNvPr id="3" name="Figura superficie libre" descr="Superficie libre: la onda incidente se refleja de vuelta al terreno">    </p:cNvPr>
          <p:cNvPicPr>
            <a:picLocks noChangeAspect="1"/>
          </p:cNvPicPr>
          <p:nvPr/>
        </p:nvPicPr>
        <p:blipFill>
          <a:blip r:embed="rId1"/>
          <a:stretch>
            <a:fillRect/>
          </a:stretch>
        </p:blipFill>
        <p:spPr>
          <a:xfrm>
            <a:off x="457200" y="1280160"/>
            <a:ext cx="4937760" cy="3108960"/>
          </a:xfrm>
          <a:prstGeom prst="rect">
            <a:avLst/>
          </a:prstGeom>
        </p:spPr>
      </p:pic>
      <p:sp>
        <p:nvSpPr>
          <p:cNvPr id="4" name="Cuerpo"/>
          <p:cNvSpPr txBox="1"/>
          <p:nvPr/>
        </p:nvSpPr>
        <p:spPr>
          <a:xfrm>
            <a:off x="5669280" y="1371600"/>
            <a:ext cx="3017520" cy="30175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 superficie libre es el contacto entre el terreno y el aire</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El aire no transmite esfuerzos: en la superficie el esfuerzo es cero</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Prácticamente toda la energía se refleja hacia el terreno</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Respecto a la superficie libre, la onda S se clasifica en SV y SH</a:t>
            </a:r>
            <a:endParaRPr lang="en-US" sz="2400" dirty="0"/>
          </a:p>
        </p:txBody>
      </p:sp>
      <p:pic>
        <p:nvPicPr>
          <p:cNvPr id="3" name="Figura SV y SH" descr="Onda SV con movimiento en el plano de incidencia y onda SH con movimiento perpendicular a ese plano">    </p:cNvPr>
          <p:cNvPicPr>
            <a:picLocks noChangeAspect="1"/>
          </p:cNvPicPr>
          <p:nvPr/>
        </p:nvPicPr>
        <p:blipFill>
          <a:blip r:embed="rId1"/>
          <a:stretch>
            <a:fillRect/>
          </a:stretch>
        </p:blipFill>
        <p:spPr>
          <a:xfrm>
            <a:off x="457200" y="1234440"/>
            <a:ext cx="5486400" cy="3108960"/>
          </a:xfrm>
          <a:prstGeom prst="rect">
            <a:avLst/>
          </a:prstGeom>
        </p:spPr>
      </p:pic>
      <p:sp>
        <p:nvSpPr>
          <p:cNvPr id="4" name="Cuerpo"/>
          <p:cNvSpPr txBox="1"/>
          <p:nvPr/>
        </p:nvSpPr>
        <p:spPr>
          <a:xfrm>
            <a:off x="6126480" y="1280160"/>
            <a:ext cx="2560320" cy="3200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Referencia: el plano de la superficie libre</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La onda S puede moverse de dos formas respecto a él</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SV: oscila en el plano vertical que contiene el rayo</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SH: oscila en horizontal, perpendicular a ese plano</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la polarización de la onda 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Los ángulos de las ondas generadas se relacionan con la ley de Snell</a:t>
            </a:r>
            <a:endParaRPr lang="en-US" sz="2400" dirty="0"/>
          </a:p>
        </p:txBody>
      </p:sp>
      <p:pic>
        <p:nvPicPr>
          <p:cNvPr id="3" name="Figura Snell" descr="Onda P incidente en una interfaz: ondas P y S reflejadas y transmitidas con sus ángulos">    </p:cNvPr>
          <p:cNvPicPr>
            <a:picLocks noChangeAspect="1"/>
          </p:cNvPicPr>
          <p:nvPr/>
        </p:nvPicPr>
        <p:blipFill>
          <a:blip r:embed="rId1"/>
          <a:stretch>
            <a:fillRect/>
          </a:stretch>
        </p:blipFill>
        <p:spPr>
          <a:xfrm>
            <a:off x="457200" y="1234440"/>
            <a:ext cx="2880360" cy="3200400"/>
          </a:xfrm>
          <a:prstGeom prst="rect">
            <a:avLst/>
          </a:prstGeom>
        </p:spPr>
      </p:pic>
      <p:sp>
        <p:nvSpPr>
          <p:cNvPr id="4" name="Fondo Snell"/>
          <p:cNvSpPr/>
          <p:nvPr/>
        </p:nvSpPr>
        <p:spPr>
          <a:xfrm>
            <a:off x="3931920" y="1280160"/>
            <a:ext cx="475488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snell"/>
              <p:cNvSpPr txBox="1"/>
              <p:nvPr/>
            </p:nvSpPr>
            <p:spPr>
              <a:xfrm>
                <a:off x="3931920" y="1280160"/>
                <a:ext cx="475488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r>
                            <m:rPr>
                              <m:sty m:val="p"/>
                            </m:rPr>
                            <a:rPr lang="es-ES" sz="2400">
                              <a:solidFill>
                                <a:srgbClr val="1F4E79"/>
                              </a:solidFill>
                              <a:latin typeface="Cambria Math" panose="02040503050406030204" pitchFamily="18" charset="0"/>
                            </a:rPr>
                            <m:t xml:space="preserve">sin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θ</m:t>
                              </m:r>
                            </m:e>
                            <m:sub>
                              <m:r>
                                <a:rPr lang="es-ES" sz="2400" i="1">
                                  <a:solidFill>
                                    <a:srgbClr val="1F4E79"/>
                                  </a:solidFill>
                                  <a:latin typeface="Cambria Math" panose="02040503050406030204" pitchFamily="18" charset="0"/>
                                </a:rPr>
                                <m:t xml:space="preserve">1</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1</m:t>
                              </m:r>
                            </m:sub>
                          </m:sSub>
                        </m:den>
                      </m:f>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m:rPr>
                              <m:sty m:val="p"/>
                            </m:rPr>
                            <a:rPr lang="es-ES" sz="2400">
                              <a:solidFill>
                                <a:srgbClr val="1F4E79"/>
                              </a:solidFill>
                              <a:latin typeface="Cambria Math" panose="02040503050406030204" pitchFamily="18" charset="0"/>
                            </a:rPr>
                            <m:t xml:space="preserve">sin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θ</m:t>
                              </m:r>
                            </m:e>
                            <m:sub>
                              <m:r>
                                <a:rPr lang="es-ES" sz="2400" i="1">
                                  <a:solidFill>
                                    <a:srgbClr val="1F4E79"/>
                                  </a:solidFill>
                                  <a:latin typeface="Cambria Math" panose="02040503050406030204" pitchFamily="18" charset="0"/>
                                </a:rPr>
                                <m:t xml:space="preserve">2</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2</m:t>
                              </m:r>
                            </m:sub>
                          </m:sSub>
                        </m:den>
                      </m:f>
                      <m:r>
                        <a:rPr lang="es-ES" sz="2400" i="1">
                          <a:solidFill>
                            <a:srgbClr val="1F4E79"/>
                          </a:solidFill>
                          <a:latin typeface="Cambria Math" panose="02040503050406030204" pitchFamily="18" charset="0"/>
                        </a:rPr>
                        <m:t xml:space="preserve">=p</m:t>
                      </m:r>
                    </m:oMath>
                  </m:oMathPara>
                </a14:m>
                <a:endParaRPr lang="es-ES"/>
              </a:p>
            </p:txBody>
          </p:sp>
        </mc:Choice>
        <mc:Fallback>
          <p:sp>
            <p:nvSpPr>
              <p:cNvPr id="5" name="Ecuación E_snell"/>
              <p:cNvSpPr txBox="1"/>
              <p:nvPr/>
            </p:nvSpPr>
            <p:spPr>
              <a:xfrm>
                <a:off x="3931920" y="1280160"/>
                <a:ext cx="475488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sin θ₁ / V₁ = sin θ₂ / V₂ = p</a:t>
                </a:r>
                <a:endParaRPr lang="en-US" sz="2400" dirty="0"/>
              </a:p>
            </p:txBody>
          </p:sp>
        </mc:Fallback>
      </mc:AlternateContent>
      <p:sp>
        <p:nvSpPr>
          <p:cNvPr id="6" name="Cuerpo"/>
          <p:cNvSpPr txBox="1"/>
          <p:nvPr/>
        </p:nvSpPr>
        <p:spPr>
          <a:xfrm>
            <a:off x="3931920" y="237744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p es el parámetro del rayo: el mismo para todas las ondas generadas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Vale para P, SV y SH: V es Vp para P y Vs para SV y SH</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Como Vs &lt; Vp, la S sale con un ángulo menor que la P</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SLB (s. f.), The Defining Series: Beginner's Guide to Seismic Surveying,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la superficie libre, P y SV se convierten entre sí; SH queda aparte</a:t>
            </a:r>
            <a:endParaRPr lang="en-US" sz="2400" dirty="0"/>
          </a:p>
        </p:txBody>
      </p:sp>
      <p:sp>
        <p:nvSpPr>
          <p:cNvPr id="3" name="Caja P"/>
          <p:cNvSpPr/>
          <p:nvPr/>
        </p:nvSpPr>
        <p:spPr>
          <a:xfrm>
            <a:off x="457200" y="1371600"/>
            <a:ext cx="1371600" cy="777240"/>
          </a:xfrm>
          <a:prstGeom prst="roundRect">
            <a:avLst>
              <a:gd name="adj" fmla="val 9412"/>
            </a:avLst>
          </a:prstGeom>
          <a:solidFill>
            <a:srgbClr val="2E75B6"/>
          </a:solidFill>
          <a:ln w="12700">
            <a:solidFill>
              <a:srgbClr val="2E75B6"/>
            </a:solidFill>
            <a:prstDash val="solid"/>
          </a:ln>
        </p:spPr>
      </p:sp>
      <p:sp>
        <p:nvSpPr>
          <p:cNvPr id="4" name="Text 2"/>
          <p:cNvSpPr txBox="1"/>
          <p:nvPr/>
        </p:nvSpPr>
        <p:spPr>
          <a:xfrm>
            <a:off x="457200" y="1371600"/>
            <a:ext cx="13716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P</a:t>
            </a:r>
            <a:endParaRPr lang="en-US" sz="2000" dirty="0"/>
          </a:p>
        </p:txBody>
      </p:sp>
      <p:sp>
        <p:nvSpPr>
          <p:cNvPr id="5" name="Caja SV"/>
          <p:cNvSpPr/>
          <p:nvPr/>
        </p:nvSpPr>
        <p:spPr>
          <a:xfrm>
            <a:off x="3017520" y="1371600"/>
            <a:ext cx="1371600" cy="777240"/>
          </a:xfrm>
          <a:prstGeom prst="roundRect">
            <a:avLst>
              <a:gd name="adj" fmla="val 9412"/>
            </a:avLst>
          </a:prstGeom>
          <a:solidFill>
            <a:srgbClr val="2E75B6"/>
          </a:solidFill>
          <a:ln w="12700">
            <a:solidFill>
              <a:srgbClr val="2E75B6"/>
            </a:solidFill>
            <a:prstDash val="solid"/>
          </a:ln>
        </p:spPr>
      </p:sp>
      <p:sp>
        <p:nvSpPr>
          <p:cNvPr id="6" name="Text 4"/>
          <p:cNvSpPr txBox="1"/>
          <p:nvPr/>
        </p:nvSpPr>
        <p:spPr>
          <a:xfrm>
            <a:off x="3017520" y="1371600"/>
            <a:ext cx="13716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SV</a:t>
            </a:r>
            <a:endParaRPr lang="en-US" sz="2000" dirty="0"/>
          </a:p>
        </p:txBody>
      </p:sp>
      <p:sp>
        <p:nvSpPr>
          <p:cNvPr id="7" name="Shape 5"/>
          <p:cNvSpPr/>
          <p:nvPr/>
        </p:nvSpPr>
        <p:spPr>
          <a:xfrm>
            <a:off x="1874520" y="1760220"/>
            <a:ext cx="1097280" cy="0"/>
          </a:xfrm>
          <a:prstGeom prst="line">
            <a:avLst/>
          </a:prstGeom>
          <a:noFill/>
          <a:ln w="38100">
            <a:solidFill>
              <a:srgbClr val="1F4E79"/>
            </a:solidFill>
            <a:prstDash val="solid"/>
            <a:headEnd type="triangle"/>
            <a:tailEnd type="triangle"/>
          </a:ln>
        </p:spPr>
      </p:sp>
      <p:sp>
        <p:nvSpPr>
          <p:cNvPr id="8" name="Text 6"/>
          <p:cNvSpPr txBox="1"/>
          <p:nvPr/>
        </p:nvSpPr>
        <p:spPr>
          <a:xfrm>
            <a:off x="1783080" y="1828800"/>
            <a:ext cx="1280160" cy="365760"/>
          </a:xfrm>
          <a:prstGeom prst="rect">
            <a:avLst/>
          </a:prstGeom>
          <a:noFill/>
          <a:ln/>
        </p:spPr>
        <p:txBody>
          <a:bodyPr wrap="square" lIns="0" tIns="0" rIns="0" bIns="0" rtlCol="0" anchor="t"/>
          <a:lstStyle/>
          <a:p>
            <a:pPr algn="ctr" indent="0" marL="0">
              <a:buNone/>
            </a:pPr>
            <a:r>
              <a:rPr lang="en-US" sz="1600" dirty="0">
                <a:solidFill>
                  <a:srgbClr val="1F4E79"/>
                </a:solidFill>
                <a:latin typeface="Arial" pitchFamily="34" charset="0"/>
                <a:ea typeface="Arial" pitchFamily="34" charset="-122"/>
                <a:cs typeface="Arial" pitchFamily="34" charset="-120"/>
              </a:rPr>
              <a:t>se acoplan</a:t>
            </a:r>
            <a:endParaRPr lang="en-US" sz="1600" dirty="0"/>
          </a:p>
        </p:txBody>
      </p:sp>
      <p:sp>
        <p:nvSpPr>
          <p:cNvPr id="9" name="Caja SH"/>
          <p:cNvSpPr/>
          <p:nvPr/>
        </p:nvSpPr>
        <p:spPr>
          <a:xfrm>
            <a:off x="5760720" y="1371600"/>
            <a:ext cx="1828800" cy="777240"/>
          </a:xfrm>
          <a:prstGeom prst="roundRect">
            <a:avLst>
              <a:gd name="adj" fmla="val 9412"/>
            </a:avLst>
          </a:prstGeom>
          <a:solidFill>
            <a:srgbClr val="C55A11"/>
          </a:solidFill>
          <a:ln w="12700">
            <a:solidFill>
              <a:srgbClr val="C55A11"/>
            </a:solidFill>
            <a:prstDash val="solid"/>
          </a:ln>
        </p:spPr>
      </p:sp>
      <p:sp>
        <p:nvSpPr>
          <p:cNvPr id="10" name="Text 8"/>
          <p:cNvSpPr txBox="1"/>
          <p:nvPr/>
        </p:nvSpPr>
        <p:spPr>
          <a:xfrm>
            <a:off x="5760720" y="1371600"/>
            <a:ext cx="18288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SH</a:t>
            </a:r>
            <a:endParaRPr lang="en-US" sz="2000" dirty="0"/>
          </a:p>
        </p:txBody>
      </p:sp>
      <p:sp>
        <p:nvSpPr>
          <p:cNvPr id="11" name="Text 9"/>
          <p:cNvSpPr txBox="1"/>
          <p:nvPr/>
        </p:nvSpPr>
        <p:spPr>
          <a:xfrm>
            <a:off x="5486400" y="2194560"/>
            <a:ext cx="2377440" cy="365760"/>
          </a:xfrm>
          <a:prstGeom prst="rect">
            <a:avLst/>
          </a:prstGeom>
          <a:noFill/>
          <a:ln/>
        </p:spPr>
        <p:txBody>
          <a:bodyPr wrap="square" lIns="0" tIns="0" rIns="0" bIns="0" rtlCol="0" anchor="t"/>
          <a:lstStyle/>
          <a:p>
            <a:pPr algn="ctr" indent="0" marL="0">
              <a:buNone/>
            </a:pPr>
            <a:r>
              <a:rPr lang="en-US" sz="1600" dirty="0">
                <a:solidFill>
                  <a:srgbClr val="C55A11"/>
                </a:solidFill>
                <a:latin typeface="Arial" pitchFamily="34" charset="0"/>
                <a:ea typeface="Arial" pitchFamily="34" charset="-122"/>
                <a:cs typeface="Arial" pitchFamily="34" charset="-120"/>
              </a:rPr>
              <a:t>solo genera SH</a:t>
            </a:r>
            <a:endParaRPr lang="en-US" sz="1600" dirty="0"/>
          </a:p>
        </p:txBody>
      </p:sp>
      <p:sp>
        <p:nvSpPr>
          <p:cNvPr id="12" name="Shape 10"/>
          <p:cNvSpPr/>
          <p:nvPr/>
        </p:nvSpPr>
        <p:spPr>
          <a:xfrm>
            <a:off x="2423160" y="2286000"/>
            <a:ext cx="0" cy="685800"/>
          </a:xfrm>
          <a:prstGeom prst="line">
            <a:avLst/>
          </a:prstGeom>
          <a:noFill/>
          <a:ln w="38100">
            <a:solidFill>
              <a:srgbClr val="1F4E79"/>
            </a:solidFill>
            <a:prstDash val="solid"/>
            <a:tailEnd type="triangle"/>
          </a:ln>
        </p:spPr>
      </p:sp>
      <p:sp>
        <p:nvSpPr>
          <p:cNvPr id="13" name="Shape 11"/>
          <p:cNvSpPr/>
          <p:nvPr/>
        </p:nvSpPr>
        <p:spPr>
          <a:xfrm>
            <a:off x="6675120" y="2606040"/>
            <a:ext cx="0" cy="365760"/>
          </a:xfrm>
          <a:prstGeom prst="line">
            <a:avLst/>
          </a:prstGeom>
          <a:noFill/>
          <a:ln w="38100">
            <a:solidFill>
              <a:srgbClr val="C55A11"/>
            </a:solidFill>
            <a:prstDash val="solid"/>
            <a:tailEnd type="triangle"/>
          </a:ln>
        </p:spPr>
      </p:sp>
      <p:sp>
        <p:nvSpPr>
          <p:cNvPr id="14" name="Resultado Rayleigh"/>
          <p:cNvSpPr/>
          <p:nvPr/>
        </p:nvSpPr>
        <p:spPr>
          <a:xfrm>
            <a:off x="457200" y="3017520"/>
            <a:ext cx="3931920" cy="822960"/>
          </a:xfrm>
          <a:prstGeom prst="roundRect">
            <a:avLst>
              <a:gd name="adj" fmla="val 8889"/>
            </a:avLst>
          </a:prstGeom>
          <a:solidFill>
            <a:srgbClr val="1F4E79"/>
          </a:solidFill>
          <a:ln w="12700">
            <a:solidFill>
              <a:srgbClr val="1F4E79"/>
            </a:solidFill>
            <a:prstDash val="solid"/>
          </a:ln>
        </p:spPr>
      </p:sp>
      <p:sp>
        <p:nvSpPr>
          <p:cNvPr id="15" name="Text 13"/>
          <p:cNvSpPr txBox="1"/>
          <p:nvPr/>
        </p:nvSpPr>
        <p:spPr>
          <a:xfrm>
            <a:off x="457200" y="3017520"/>
            <a:ext cx="393192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Ondas Rayleigh</a:t>
            </a:r>
            <a:endParaRPr lang="en-US" sz="2000" dirty="0"/>
          </a:p>
        </p:txBody>
      </p:sp>
      <p:sp>
        <p:nvSpPr>
          <p:cNvPr id="16" name="Resultado Love"/>
          <p:cNvSpPr/>
          <p:nvPr/>
        </p:nvSpPr>
        <p:spPr>
          <a:xfrm>
            <a:off x="5120640" y="3017520"/>
            <a:ext cx="3291840" cy="822960"/>
          </a:xfrm>
          <a:prstGeom prst="roundRect">
            <a:avLst>
              <a:gd name="adj" fmla="val 8889"/>
            </a:avLst>
          </a:prstGeom>
          <a:solidFill>
            <a:srgbClr val="C55A11"/>
          </a:solidFill>
          <a:ln w="12700">
            <a:solidFill>
              <a:srgbClr val="C55A11"/>
            </a:solidFill>
            <a:prstDash val="solid"/>
          </a:ln>
        </p:spPr>
      </p:sp>
      <p:sp>
        <p:nvSpPr>
          <p:cNvPr id="17" name="Text 15"/>
          <p:cNvSpPr txBox="1"/>
          <p:nvPr/>
        </p:nvSpPr>
        <p:spPr>
          <a:xfrm>
            <a:off x="5120640" y="3017520"/>
            <a:ext cx="329184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Ondas Love</a:t>
            </a:r>
            <a:endParaRPr lang="en-US" sz="2000" dirty="0"/>
          </a:p>
        </p:txBody>
      </p:sp>
      <p:sp>
        <p:nvSpPr>
          <p:cNvPr id="18" name="Text 16"/>
          <p:cNvSpPr txBox="1"/>
          <p:nvPr/>
        </p:nvSpPr>
        <p:spPr>
          <a:xfrm>
            <a:off x="457200" y="3931920"/>
            <a:ext cx="3931920" cy="365760"/>
          </a:xfrm>
          <a:prstGeom prst="rect">
            <a:avLst/>
          </a:prstGeom>
          <a:noFill/>
          <a:ln/>
        </p:spPr>
        <p:txBody>
          <a:bodyPr wrap="square" lIns="0" tIns="0" rIns="0" bIns="0" rtlCol="0" anchor="t"/>
          <a:lstStyle/>
          <a:p>
            <a:pPr algn="ctr" indent="0" marL="0">
              <a:buNone/>
            </a:pPr>
            <a:r>
              <a:rPr lang="en-US" sz="1600" dirty="0">
                <a:solidFill>
                  <a:srgbClr val="6B6B6B"/>
                </a:solidFill>
                <a:latin typeface="Arial" pitchFamily="34" charset="0"/>
                <a:ea typeface="Arial" pitchFamily="34" charset="-122"/>
                <a:cs typeface="Arial" pitchFamily="34" charset="-120"/>
              </a:rPr>
              <a:t>Movimiento en el plano vertical</a:t>
            </a:r>
            <a:endParaRPr lang="en-US" sz="1600" dirty="0"/>
          </a:p>
        </p:txBody>
      </p:sp>
      <p:sp>
        <p:nvSpPr>
          <p:cNvPr id="19" name="Text 17"/>
          <p:cNvSpPr txBox="1"/>
          <p:nvPr/>
        </p:nvSpPr>
        <p:spPr>
          <a:xfrm>
            <a:off x="4937760" y="3931920"/>
            <a:ext cx="3657600" cy="365760"/>
          </a:xfrm>
          <a:prstGeom prst="rect">
            <a:avLst/>
          </a:prstGeom>
          <a:noFill/>
          <a:ln/>
        </p:spPr>
        <p:txBody>
          <a:bodyPr wrap="square" lIns="0" tIns="0" rIns="0" bIns="0" rtlCol="0" anchor="t"/>
          <a:lstStyle/>
          <a:p>
            <a:pPr algn="ctr" indent="0" marL="0">
              <a:buNone/>
            </a:pPr>
            <a:r>
              <a:rPr lang="en-US" sz="1600" dirty="0">
                <a:solidFill>
                  <a:srgbClr val="6B6B6B"/>
                </a:solidFill>
                <a:latin typeface="Arial" pitchFamily="34" charset="0"/>
                <a:ea typeface="Arial" pitchFamily="34" charset="-122"/>
                <a:cs typeface="Arial" pitchFamily="34" charset="-120"/>
              </a:rPr>
              <a:t>Solo con capa blanda sobre medio rápido</a:t>
            </a:r>
            <a:endParaRPr lang="en-US" sz="16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ondas Love solo existen si una capa blanda cubre un medio más rápido</a:t>
            </a:r>
            <a:endParaRPr lang="en-US" sz="2400" dirty="0"/>
          </a:p>
        </p:txBody>
      </p:sp>
      <p:pic>
        <p:nvPicPr>
          <p:cNvPr id="3" name="Figura condición Love" descr="Onda SH atrapada en una capa blanda por reflexión total en la interfaz y reflexión en la superficie libre">    </p:cNvPr>
          <p:cNvPicPr>
            <a:picLocks noChangeAspect="1"/>
          </p:cNvPicPr>
          <p:nvPr/>
        </p:nvPicPr>
        <p:blipFill>
          <a:blip r:embed="rId1"/>
          <a:stretch>
            <a:fillRect/>
          </a:stretch>
        </p:blipFill>
        <p:spPr>
          <a:xfrm>
            <a:off x="457200" y="1234440"/>
            <a:ext cx="5120640" cy="3108960"/>
          </a:xfrm>
          <a:prstGeom prst="rect">
            <a:avLst/>
          </a:prstGeom>
        </p:spPr>
      </p:pic>
      <p:sp>
        <p:nvSpPr>
          <p:cNvPr id="4" name="Fondo thc"/>
          <p:cNvSpPr/>
          <p:nvPr/>
        </p:nvSpPr>
        <p:spPr>
          <a:xfrm>
            <a:off x="5760720" y="1280160"/>
            <a:ext cx="292608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thc"/>
              <p:cNvSpPr txBox="1"/>
              <p:nvPr/>
            </p:nvSpPr>
            <p:spPr>
              <a:xfrm>
                <a:off x="5760720" y="1280160"/>
                <a:ext cx="292608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θ</m:t>
                          </m:r>
                        </m:e>
                        <m:sub>
                          <m:r>
                            <m:rPr>
                              <m:sty m:val="p"/>
                            </m:rPr>
                            <a:rPr lang="es-ES" sz="2000">
                              <a:solidFill>
                                <a:srgbClr val="1F4E79"/>
                              </a:solidFill>
                              <a:latin typeface="Cambria Math" panose="02040503050406030204" pitchFamily="18" charset="0"/>
                            </a:rPr>
                            <m:t xml:space="preserve">c</m:t>
                          </m:r>
                        </m:sub>
                      </m:sSub>
                      <m:r>
                        <a:rPr lang="es-ES" sz="2000" i="1">
                          <a:solidFill>
                            <a:srgbClr val="1F4E79"/>
                          </a:solidFill>
                          <a:latin typeface="Cambria Math" panose="02040503050406030204" pitchFamily="18" charset="0"/>
                        </a:rPr>
                        <m:t xml:space="preserve">=arcsin</m:t>
                      </m:r>
                      <m:r>
                        <a:rPr lang="es-ES" sz="2000" i="1">
                          <a:solidFill>
                            <a:srgbClr val="1F4E79"/>
                          </a:solidFill>
                          <a:latin typeface="Cambria Math" panose="02040503050406030204" pitchFamily="18" charset="0"/>
                        </a:rPr>
                        <m:t xml:space="preserve">(</m:t>
                      </m:r>
                      <m:f>
                        <m:fPr>
                          <m:ctrlPr>
                            <a:rPr lang="es-ES" sz="2000" i="1">
                              <a:latin typeface="Cambria Math" panose="02040503050406030204" pitchFamily="18" charset="0"/>
                            </a:rPr>
                          </m:ctrlPr>
                        </m:fPr>
                        <m:num>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V</m:t>
                              </m:r>
                            </m:e>
                            <m:sub>
                              <m:r>
                                <a:rPr lang="es-ES" sz="2000" i="1">
                                  <a:solidFill>
                                    <a:srgbClr val="1F4E79"/>
                                  </a:solidFill>
                                  <a:latin typeface="Cambria Math" panose="02040503050406030204" pitchFamily="18" charset="0"/>
                                </a:rPr>
                                <m:t xml:space="preserve">s1</m:t>
                              </m:r>
                            </m:sub>
                          </m:sSub>
                        </m:num>
                        <m:den>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V</m:t>
                              </m:r>
                            </m:e>
                            <m:sub>
                              <m:r>
                                <a:rPr lang="es-ES" sz="2000" i="1">
                                  <a:solidFill>
                                    <a:srgbClr val="1F4E79"/>
                                  </a:solidFill>
                                  <a:latin typeface="Cambria Math" panose="02040503050406030204" pitchFamily="18" charset="0"/>
                                </a:rPr>
                                <m:t xml:space="preserve">s2</m:t>
                              </m:r>
                            </m:sub>
                          </m:sSub>
                        </m:den>
                      </m:f>
                      <m:r>
                        <a:rPr lang="es-ES" sz="2000" i="1">
                          <a:solidFill>
                            <a:srgbClr val="1F4E79"/>
                          </a:solidFill>
                          <a:latin typeface="Cambria Math" panose="02040503050406030204" pitchFamily="18" charset="0"/>
                        </a:rPr>
                        <m:t xml:space="preserve">)</m:t>
                      </m:r>
                    </m:oMath>
                  </m:oMathPara>
                </a14:m>
                <a:endParaRPr lang="es-ES"/>
              </a:p>
            </p:txBody>
          </p:sp>
        </mc:Choice>
        <mc:Fallback>
          <p:sp>
            <p:nvSpPr>
              <p:cNvPr id="5" name="Ecuación E_thc"/>
              <p:cNvSpPr txBox="1"/>
              <p:nvPr/>
            </p:nvSpPr>
            <p:spPr>
              <a:xfrm>
                <a:off x="5760720" y="1280160"/>
                <a:ext cx="292608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θc = arcsin(Vs1 / Vs2)</a:t>
                </a:r>
                <a:endParaRPr lang="en-US" sz="2400" dirty="0"/>
              </a:p>
            </p:txBody>
          </p:sp>
        </mc:Fallback>
      </mc:AlternateContent>
      <p:sp>
        <p:nvSpPr>
          <p:cNvPr id="6" name="Cuerpo"/>
          <p:cNvSpPr txBox="1"/>
          <p:nvPr/>
        </p:nvSpPr>
        <p:spPr>
          <a:xfrm>
            <a:off x="5760720" y="2286000"/>
            <a:ext cx="292608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SH incide más allá del ángulo crítico y se refleja totalmente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Queda atrapada entre la superficie libre y la interfaz</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Exige Vs1 &lt; Vs2</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ver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Love: movimiento horizontal, perpendicular a la propagación</a:t>
            </a:r>
            <a:endParaRPr lang="en-US" sz="2400" dirty="0"/>
          </a:p>
        </p:txBody>
      </p:sp>
      <p:pic>
        <p:nvPicPr>
          <p:cNvPr id="3" name="Onda Love" descr="Onda Love: movimiento horizontal transversal a la propagación">    </p:cNvPr>
          <p:cNvPicPr>
            <a:picLocks noChangeAspect="1"/>
          </p:cNvPicPr>
          <p:nvPr/>
        </p:nvPicPr>
        <p:blipFill>
          <a:blip r:embed="rId1"/>
          <a:stretch>
            <a:fillRect/>
          </a:stretch>
        </p:blipFill>
        <p:spPr>
          <a:xfrm>
            <a:off x="457200" y="1280160"/>
            <a:ext cx="5120640" cy="2560320"/>
          </a:xfrm>
          <a:prstGeom prst="rect">
            <a:avLst/>
          </a:prstGeom>
        </p:spPr>
      </p:pic>
      <p:sp>
        <p:nvSpPr>
          <p:cNvPr id="4" name="Cuerpo"/>
          <p:cNvSpPr txBox="1"/>
          <p:nvPr/>
        </p:nvSpPr>
        <p:spPr>
          <a:xfrm>
            <a:off x="5852160" y="1325880"/>
            <a:ext cx="28346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Resulta de la interferencia constructiva de las SH atrapadas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Las partículas se mueven en horizontal, perpendicular al avance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Sin componente vertical: un geófono vertical no la registra</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Rayleigh: P y SV acopladas en la superficie libre, con órbita elíptica</a:t>
            </a:r>
            <a:endParaRPr lang="en-US" sz="2400" dirty="0"/>
          </a:p>
        </p:txBody>
      </p:sp>
      <p:pic>
        <p:nvPicPr>
          <p:cNvPr id="3" name="Onda Rayleigh" descr="Onda Rayleigh: movimiento elíptico retrógrado en el plano vertical">    </p:cNvPr>
          <p:cNvPicPr>
            <a:picLocks noChangeAspect="1"/>
          </p:cNvPicPr>
          <p:nvPr/>
        </p:nvPicPr>
        <p:blipFill>
          <a:blip r:embed="rId1"/>
          <a:stretch>
            <a:fillRect/>
          </a:stretch>
        </p:blipFill>
        <p:spPr>
          <a:xfrm>
            <a:off x="457200" y="1280160"/>
            <a:ext cx="5120640" cy="2560320"/>
          </a:xfrm>
          <a:prstGeom prst="rect">
            <a:avLst/>
          </a:prstGeom>
        </p:spPr>
      </p:pic>
      <p:sp>
        <p:nvSpPr>
          <p:cNvPr id="4" name="Cuerpo"/>
          <p:cNvSpPr txBox="1"/>
          <p:nvPr/>
        </p:nvSpPr>
        <p:spPr>
          <a:xfrm>
            <a:off x="5852160" y="1325880"/>
            <a:ext cx="28346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Acopla P y SV en la superficie libre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Movimiento elíptico retrógrado en el plano vertical</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Existe incluso en un semiespacio homogéneo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Tiene componente vertical: la registra el geófono vertical</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Una fuente en superficie envía dos tercios de su energía en ondas Rayleigh</a:t>
            </a:r>
            <a:endParaRPr lang="en-US" sz="2400" dirty="0"/>
          </a:p>
        </p:txBody>
      </p:sp>
      <p:graphicFrame>
        <p:nvGraphicFramePr>
          <p:cNvPr id="3" name="Chart 0" descr=""/>
          <p:cNvGraphicFramePr/>
          <p:nvPr/>
        </p:nvGraphicFramePr>
        <p:xfrm>
          <a:off x="457200" y="1188720"/>
          <a:ext cx="4572000" cy="329184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303520" y="1371600"/>
            <a:ext cx="3383280" cy="15544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Rayleigh 67 %, S 26 %, P 7 %</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Las Rayleigh dominan el registro en superficie</a:t>
            </a:r>
            <a:endParaRPr lang="en-US" sz="2000" dirty="0"/>
          </a:p>
        </p:txBody>
      </p:sp>
      <p:sp>
        <p:nvSpPr>
          <p:cNvPr id="5" name="Supuestos"/>
          <p:cNvSpPr txBox="1"/>
          <p:nvPr/>
        </p:nvSpPr>
        <p:spPr>
          <a:xfrm>
            <a:off x="5303520" y="3108960"/>
            <a:ext cx="3383280" cy="914400"/>
          </a:xfrm>
          <a:prstGeom prst="rect">
            <a:avLst/>
          </a:prstGeom>
          <a:noFill/>
          <a:ln/>
        </p:spPr>
        <p:txBody>
          <a:bodyPr wrap="square" lIns="0" tIns="0" rIns="0" bIns="0" rtlCol="0" anchor="t"/>
          <a:lstStyle/>
          <a:p>
            <a:pPr indent="0" marL="0">
              <a:buNone/>
            </a:pPr>
            <a:r>
              <a:rPr lang="en-US" sz="1600" dirty="0">
                <a:solidFill>
                  <a:srgbClr val="6B6B6B"/>
                </a:solidFill>
                <a:latin typeface="Arial" pitchFamily="34" charset="0"/>
                <a:ea typeface="Arial" pitchFamily="34" charset="-122"/>
                <a:cs typeface="Arial" pitchFamily="34" charset="-120"/>
              </a:rPr>
              <a:t>Supone ν = 0,25, fuente vertical circular y semiespacio homogéneo e isótropo</a:t>
            </a:r>
            <a:endParaRPr lang="en-US" sz="16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Miller y Pursey (1955); reproducido en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Además, las Rayleigh se atenúan menos con la distancia que las de cuerpo</a:t>
            </a:r>
            <a:endParaRPr lang="en-US" sz="2400" dirty="0"/>
          </a:p>
        </p:txBody>
      </p:sp>
      <p:graphicFrame>
        <p:nvGraphicFramePr>
          <p:cNvPr id="3" name="Chart 0" descr=""/>
          <p:cNvGraphicFramePr/>
          <p:nvPr/>
        </p:nvGraphicFramePr>
        <p:xfrm>
          <a:off x="457200" y="1188720"/>
          <a:ext cx="5120640" cy="329184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852160" y="1371600"/>
            <a:ext cx="2834640" cy="30175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Rayleigh: amplitud ∝ 1/√r</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Cuerpo: 1/r en el interior, 1/r² a lo largo de la superficie</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Lejos de la fuente, domina la Rayleigh</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Richart, Hall y Woods (1970);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un semiespacio homogéneo, Rayleigh viaja a cR ≈ 0,9·Vs y no depende de la frecuencia</a:t>
            </a:r>
            <a:endParaRPr lang="en-US" sz="2400" dirty="0"/>
          </a:p>
        </p:txBody>
      </p:sp>
      <p:graphicFrame>
        <p:nvGraphicFramePr>
          <p:cNvPr id="3" name="Chart 0" descr=""/>
          <p:cNvGraphicFramePr/>
          <p:nvPr/>
        </p:nvGraphicFramePr>
        <p:xfrm>
          <a:off x="457200" y="1188720"/>
          <a:ext cx="4206240" cy="2743200"/>
        </p:xfrm>
        <a:graphic xmlns:a="http://schemas.openxmlformats.org/drawingml/2006/main">
          <a:graphicData uri="http://schemas.openxmlformats.org/drawingml/2006/chart">
            <c:chart xmlns:c="http://schemas.openxmlformats.org/drawingml/2006/chart" r:id="rId1"/>
          </a:graphicData>
        </a:graphic>
      </p:graphicFrame>
      <p:sp>
        <p:nvSpPr>
          <p:cNvPr id="4" name="Fondo cR"/>
          <p:cNvSpPr/>
          <p:nvPr/>
        </p:nvSpPr>
        <p:spPr>
          <a:xfrm>
            <a:off x="4937760" y="1234440"/>
            <a:ext cx="3749040" cy="6400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cr"/>
              <p:cNvSpPr txBox="1"/>
              <p:nvPr/>
            </p:nvSpPr>
            <p:spPr>
              <a:xfrm>
                <a:off x="4937760" y="1234440"/>
                <a:ext cx="3749040" cy="6400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c</m:t>
                          </m:r>
                        </m:e>
                        <m:sub>
                          <m:r>
                            <a:rPr lang="es-ES" sz="2800" i="1">
                              <a:solidFill>
                                <a:srgbClr val="1F4E79"/>
                              </a:solidFill>
                              <a:latin typeface="Cambria Math" panose="02040503050406030204" pitchFamily="18" charset="0"/>
                            </a:rPr>
                            <m:t xml:space="preserve">R</m:t>
                          </m:r>
                        </m:sub>
                      </m:sSub>
                      <m:r>
                        <a:rPr lang="es-ES" sz="2800" i="1">
                          <a:solidFill>
                            <a:srgbClr val="1F4E79"/>
                          </a:solidFill>
                          <a:latin typeface="Cambria Math" panose="02040503050406030204" pitchFamily="18" charset="0"/>
                        </a:rPr>
                        <m:t xml:space="preserve">≈0,9·</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oMath>
                  </m:oMathPara>
                </a14:m>
                <a:endParaRPr lang="es-ES"/>
              </a:p>
            </p:txBody>
          </p:sp>
        </mc:Choice>
        <mc:Fallback>
          <p:sp>
            <p:nvSpPr>
              <p:cNvPr id="5" name="Ecuación E_cr"/>
              <p:cNvSpPr txBox="1"/>
              <p:nvPr/>
            </p:nvSpPr>
            <p:spPr>
              <a:xfrm>
                <a:off x="4937760" y="1234440"/>
                <a:ext cx="3749040" cy="6400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 ≈ 0,9 · Vs</a:t>
                </a:r>
                <a:endParaRPr lang="en-US" sz="2400" dirty="0"/>
              </a:p>
            </p:txBody>
          </p:sp>
        </mc:Fallback>
      </mc:AlternateContent>
      <p:sp>
        <p:nvSpPr>
          <p:cNvPr id="6" name="Fondo cR nu"/>
          <p:cNvSpPr/>
          <p:nvPr/>
        </p:nvSpPr>
        <p:spPr>
          <a:xfrm>
            <a:off x="4937760" y="1965960"/>
            <a:ext cx="374904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crnu"/>
              <p:cNvSpPr txBox="1"/>
              <p:nvPr/>
            </p:nvSpPr>
            <p:spPr>
              <a:xfrm>
                <a:off x="4937760" y="1965960"/>
                <a:ext cx="374904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0,862+1,14ν</m:t>
                          </m:r>
                        </m:num>
                        <m:den>
                          <m:r>
                            <a:rPr lang="es-ES" sz="2400" i="1">
                              <a:solidFill>
                                <a:srgbClr val="1F4E79"/>
                              </a:solidFill>
                              <a:latin typeface="Cambria Math" panose="02040503050406030204" pitchFamily="18" charset="0"/>
                            </a:rPr>
                            <m:t xml:space="preserve">1+ν</m:t>
                          </m:r>
                        </m:den>
                      </m:f>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oMath>
                  </m:oMathPara>
                </a14:m>
                <a:endParaRPr lang="es-ES"/>
              </a:p>
            </p:txBody>
          </p:sp>
        </mc:Choice>
        <mc:Fallback>
          <p:sp>
            <p:nvSpPr>
              <p:cNvPr id="7" name="Ecuación E_crnu"/>
              <p:cNvSpPr txBox="1"/>
              <p:nvPr/>
            </p:nvSpPr>
            <p:spPr>
              <a:xfrm>
                <a:off x="4937760" y="1965960"/>
                <a:ext cx="374904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 ≈ (0,862 + 1,14ν)/(1 + ν) · Vs</a:t>
                </a:r>
                <a:endParaRPr lang="en-US" sz="2400" dirty="0"/>
              </a:p>
            </p:txBody>
          </p:sp>
        </mc:Fallback>
      </mc:AlternateContent>
      <p:sp>
        <p:nvSpPr>
          <p:cNvPr id="8" name="Cuerpo"/>
          <p:cNvSpPr txBox="1"/>
          <p:nvPr/>
        </p:nvSpPr>
        <p:spPr>
          <a:xfrm>
            <a:off x="4937760" y="2880360"/>
            <a:ext cx="3749040" cy="9144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cR / Vs va de 0,86 a 0,95 según ν</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No hay dispersión: todas las frecuencias van a la misma cR</a:t>
            </a:r>
            <a:endParaRPr lang="en-US" sz="1400" dirty="0"/>
          </a:p>
        </p:txBody>
      </p:sp>
      <p:sp>
        <p:nvSpPr>
          <p:cNvPr id="9" name="Fondo Vs cR"/>
          <p:cNvSpPr/>
          <p:nvPr/>
        </p:nvSpPr>
        <p:spPr>
          <a:xfrm>
            <a:off x="4937760" y="3840480"/>
            <a:ext cx="3749040" cy="6400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0" name="Ecuación E_vsc"/>
              <p:cNvSpPr txBox="1"/>
              <p:nvPr/>
            </p:nvSpPr>
            <p:spPr>
              <a:xfrm>
                <a:off x="4937760" y="3840480"/>
                <a:ext cx="3749040" cy="6400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c</m:t>
                              </m:r>
                            </m:e>
                            <m:sub>
                              <m:r>
                                <a:rPr lang="es-ES" sz="2800" i="1">
                                  <a:solidFill>
                                    <a:srgbClr val="1F4E79"/>
                                  </a:solidFill>
                                  <a:latin typeface="Cambria Math" panose="02040503050406030204" pitchFamily="18" charset="0"/>
                                </a:rPr>
                                <m:t xml:space="preserve">R</m:t>
                              </m:r>
                            </m:sub>
                          </m:sSub>
                        </m:num>
                        <m:den>
                          <m:r>
                            <a:rPr lang="es-ES" sz="2800" i="1">
                              <a:solidFill>
                                <a:srgbClr val="1F4E79"/>
                              </a:solidFill>
                              <a:latin typeface="Cambria Math" panose="02040503050406030204" pitchFamily="18" charset="0"/>
                            </a:rPr>
                            <m:t xml:space="preserve">0,9</m:t>
                          </m:r>
                        </m:den>
                      </m:f>
                    </m:oMath>
                  </m:oMathPara>
                </a14:m>
                <a:endParaRPr lang="es-ES"/>
              </a:p>
            </p:txBody>
          </p:sp>
        </mc:Choice>
        <mc:Fallback>
          <p:sp>
            <p:nvSpPr>
              <p:cNvPr id="10" name="Ecuación E_vsc"/>
              <p:cNvSpPr txBox="1"/>
              <p:nvPr/>
            </p:nvSpPr>
            <p:spPr>
              <a:xfrm>
                <a:off x="4937760" y="3840480"/>
                <a:ext cx="3749040" cy="6400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cR / 0,9</a:t>
                </a:r>
                <a:endParaRPr lang="en-US" sz="2400" dirty="0"/>
              </a:p>
            </p:txBody>
          </p:sp>
        </mc:Fallback>
      </mc:AlternateContent>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Aproximación de Viktorov (1967), en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un terreno estratificado, la rigidez y la velocidad de corte cambian con la profundidad</a:t>
            </a:r>
            <a:endParaRPr lang="en-US" sz="2400" dirty="0"/>
          </a:p>
        </p:txBody>
      </p:sp>
      <p:pic>
        <p:nvPicPr>
          <p:cNvPr id="3" name="Perfil Vs" descr="Perfil de Vs en escalones: 150, 250 y 450 m/s con la profundidad">    </p:cNvPr>
          <p:cNvPicPr>
            <a:picLocks noChangeAspect="1"/>
          </p:cNvPicPr>
          <p:nvPr/>
        </p:nvPicPr>
        <p:blipFill>
          <a:blip r:embed="rId1"/>
          <a:stretch>
            <a:fillRect/>
          </a:stretch>
        </p:blipFill>
        <p:spPr>
          <a:xfrm>
            <a:off x="457200" y="1280160"/>
            <a:ext cx="4023360" cy="3108960"/>
          </a:xfrm>
          <a:prstGeom prst="rect">
            <a:avLst/>
          </a:prstGeom>
        </p:spPr>
      </p:pic>
      <p:sp>
        <p:nvSpPr>
          <p:cNvPr id="4" name="Cuerpo"/>
          <p:cNvSpPr txBox="1"/>
          <p:nvPr/>
        </p:nvSpPr>
        <p:spPr>
          <a:xfrm>
            <a:off x="4754880" y="1234440"/>
            <a:ext cx="3931920" cy="256032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La rigidez cambia con la profundidad, y con ella la velocidad Vs</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Es común que Vs aumente (terreno más rocoso), pero no siempre ocurre</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La densidad ρ suele variar poco en comparación con Vs</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Si conocemos Vs(z), estimamos el módulo de corte máximo:</a:t>
            </a:r>
            <a:endParaRPr lang="en-US" sz="1600" dirty="0"/>
          </a:p>
        </p:txBody>
      </p:sp>
      <p:sp>
        <p:nvSpPr>
          <p:cNvPr id="5" name="Fondo Gmax"/>
          <p:cNvSpPr/>
          <p:nvPr/>
        </p:nvSpPr>
        <p:spPr>
          <a:xfrm>
            <a:off x="4754880" y="3840480"/>
            <a:ext cx="3931920" cy="6858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gmaxz"/>
              <p:cNvSpPr txBox="1"/>
              <p:nvPr/>
            </p:nvSpPr>
            <p:spPr>
              <a:xfrm>
                <a:off x="4754880" y="3840480"/>
                <a:ext cx="3931920" cy="6858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m:rPr>
                              <m:sty m:val="p"/>
                            </m:rPr>
                            <a:rPr lang="es-ES" sz="2400">
                              <a:solidFill>
                                <a:srgbClr val="1F4E79"/>
                              </a:solidFill>
                              <a:latin typeface="Cambria Math" panose="02040503050406030204" pitchFamily="18" charset="0"/>
                            </a:rPr>
                            <m:t xml:space="preserve">max</m:t>
                          </m:r>
                        </m:sub>
                      </m:sSub>
                      <m:r>
                        <a:rPr lang="es-ES" sz="2400" i="1">
                          <a:solidFill>
                            <a:srgbClr val="1F4E79"/>
                          </a:solidFill>
                          <a:latin typeface="Cambria Math" panose="02040503050406030204" pitchFamily="18" charset="0"/>
                        </a:rPr>
                        <m:t xml:space="preserve">(z)=ρ(z)·</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(z)</m:t>
                      </m:r>
                    </m:oMath>
                  </m:oMathPara>
                </a14:m>
                <a:endParaRPr lang="es-ES"/>
              </a:p>
            </p:txBody>
          </p:sp>
        </mc:Choice>
        <mc:Fallback>
          <p:sp>
            <p:nvSpPr>
              <p:cNvPr id="6" name="Ecuación E_gmaxz"/>
              <p:cNvSpPr txBox="1"/>
              <p:nvPr/>
            </p:nvSpPr>
            <p:spPr>
              <a:xfrm>
                <a:off x="4754880" y="3840480"/>
                <a:ext cx="3931920" cy="6858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Gmax(z) = ρ(z) · Vs²(z)</a:t>
                </a:r>
                <a:endParaRPr lang="en-US" sz="2400" dirty="0"/>
              </a:p>
            </p:txBody>
          </p:sp>
        </mc:Fallback>
      </mc:AlternateContent>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Modelo de ejemplo propio (ilustrativo): 3 capas, ν = 0,3. Variación de ρ: Kramer (1996), por confirmar página.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Cada longitud de onda «ve» una profundidad distinta del terreno</a:t>
            </a:r>
            <a:endParaRPr lang="en-US" sz="2400" dirty="0"/>
          </a:p>
        </p:txBody>
      </p:sp>
      <p:pic>
        <p:nvPicPr>
          <p:cNvPr id="3" name="Desplazamiento vs profundidad" descr="Desplazamiento vertical de la onda Rayleigh en función de la profundidad: a 15 Hz queda en la capa superior; a 9,5 Hz llega hasta unos 25 m">    </p:cNvPr>
          <p:cNvPicPr>
            <a:picLocks noChangeAspect="1"/>
          </p:cNvPicPr>
          <p:nvPr/>
        </p:nvPicPr>
        <p:blipFill>
          <a:blip r:embed="rId1"/>
          <a:stretch>
            <a:fillRect/>
          </a:stretch>
        </p:blipFill>
        <p:spPr>
          <a:xfrm>
            <a:off x="365760" y="1234440"/>
            <a:ext cx="5120640" cy="3319272"/>
          </a:xfrm>
          <a:prstGeom prst="rect">
            <a:avLst/>
          </a:prstGeom>
        </p:spPr>
      </p:pic>
      <p:sp>
        <p:nvSpPr>
          <p:cNvPr id="4" name="Fondo lambda"/>
          <p:cNvSpPr/>
          <p:nvPr/>
        </p:nvSpPr>
        <p:spPr>
          <a:xfrm>
            <a:off x="5669280" y="1325880"/>
            <a:ext cx="30175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lam"/>
              <p:cNvSpPr txBox="1"/>
              <p:nvPr/>
            </p:nvSpPr>
            <p:spPr>
              <a:xfrm>
                <a:off x="5669280" y="1325880"/>
                <a:ext cx="30175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λ=</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c</m:t>
                          </m:r>
                        </m:num>
                        <m:den>
                          <m:r>
                            <a:rPr lang="es-ES" sz="2800" i="1">
                              <a:solidFill>
                                <a:srgbClr val="1F4E79"/>
                              </a:solidFill>
                              <a:latin typeface="Cambria Math" panose="02040503050406030204" pitchFamily="18" charset="0"/>
                            </a:rPr>
                            <m:t xml:space="preserve">f</m:t>
                          </m:r>
                        </m:den>
                      </m:f>
                    </m:oMath>
                  </m:oMathPara>
                </a14:m>
                <a:endParaRPr lang="es-ES"/>
              </a:p>
            </p:txBody>
          </p:sp>
        </mc:Choice>
        <mc:Fallback>
          <p:sp>
            <p:nvSpPr>
              <p:cNvPr id="5" name="Ecuación E_lam"/>
              <p:cNvSpPr txBox="1"/>
              <p:nvPr/>
            </p:nvSpPr>
            <p:spPr>
              <a:xfrm>
                <a:off x="5669280" y="1325880"/>
                <a:ext cx="30175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λ = c / f</a:t>
                </a:r>
                <a:endParaRPr lang="en-US" sz="2400" dirty="0"/>
              </a:p>
            </p:txBody>
          </p:sp>
        </mc:Fallback>
      </mc:AlternateContent>
      <p:sp>
        <p:nvSpPr>
          <p:cNvPr id="6" name="Cuerpo"/>
          <p:cNvSpPr txBox="1"/>
          <p:nvPr/>
        </p:nvSpPr>
        <p:spPr>
          <a:xfrm>
            <a:off x="5669280" y="2286000"/>
            <a:ext cx="301752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Alta frecuencia: λ corta, el movimiento queda en las capas superiores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Baja frecuencia: λ larga, el movimiento llega a capas más profundas</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Cálculo propio con disba (Luu, 2021), modelo de la slide 39. Idea: Foti et al. (2014), fig. 2.13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Como cada frecuencia ve profundidades distintas, la velocidad de fase depende de la frecuencia: dispersión</a:t>
            </a:r>
            <a:endParaRPr lang="en-US" sz="2400" dirty="0"/>
          </a:p>
        </p:txBody>
      </p:sp>
      <p:graphicFrame>
        <p:nvGraphicFramePr>
          <p:cNvPr id="3" name="Chart 0" descr=""/>
          <p:cNvGraphicFramePr/>
          <p:nvPr/>
        </p:nvGraphicFramePr>
        <p:xfrm>
          <a:off x="457200" y="1280160"/>
          <a:ext cx="5212080" cy="320040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852160" y="1371600"/>
            <a:ext cx="283464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Altas frecuencias: su velocidad depende sobre todo de los estratos superiores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Bajas frecuencias: están influidas por más terreno, incluidas las capas profundas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Este fenómeno se llama dispersión</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Cálculo propio con disba (Luu, 2021), modelo de la slide 39.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dispersión permite reconstruir un modelo estratificado compatible con las mediciones de campo</a:t>
            </a:r>
            <a:endParaRPr lang="en-US" sz="2400" dirty="0"/>
          </a:p>
        </p:txBody>
      </p:sp>
      <p:sp>
        <p:nvSpPr>
          <p:cNvPr id="3" name="Registros"/>
          <p:cNvSpPr/>
          <p:nvPr/>
        </p:nvSpPr>
        <p:spPr>
          <a:xfrm>
            <a:off x="457200" y="1371600"/>
            <a:ext cx="1828800" cy="868680"/>
          </a:xfrm>
          <a:prstGeom prst="roundRect">
            <a:avLst>
              <a:gd name="adj" fmla="val 8421"/>
            </a:avLst>
          </a:prstGeom>
          <a:solidFill>
            <a:srgbClr val="2E75B6"/>
          </a:solidFill>
          <a:ln w="12700">
            <a:solidFill>
              <a:srgbClr val="2E75B6"/>
            </a:solidFill>
            <a:prstDash val="solid"/>
          </a:ln>
        </p:spPr>
      </p:sp>
      <p:sp>
        <p:nvSpPr>
          <p:cNvPr id="4" name="Text 2"/>
          <p:cNvSpPr txBox="1"/>
          <p:nvPr/>
        </p:nvSpPr>
        <p:spPr>
          <a:xfrm>
            <a:off x="457200" y="1371600"/>
            <a:ext cx="18288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Registros de campo</a:t>
            </a:r>
            <a:endParaRPr lang="en-US" sz="1600" dirty="0"/>
          </a:p>
        </p:txBody>
      </p:sp>
      <p:sp>
        <p:nvSpPr>
          <p:cNvPr id="5" name="Curva experimental"/>
          <p:cNvSpPr/>
          <p:nvPr/>
        </p:nvSpPr>
        <p:spPr>
          <a:xfrm>
            <a:off x="2743200" y="1371600"/>
            <a:ext cx="2194560" cy="868680"/>
          </a:xfrm>
          <a:prstGeom prst="roundRect">
            <a:avLst>
              <a:gd name="adj" fmla="val 8421"/>
            </a:avLst>
          </a:prstGeom>
          <a:solidFill>
            <a:srgbClr val="2E75B6"/>
          </a:solidFill>
          <a:ln w="12700">
            <a:solidFill>
              <a:srgbClr val="2E75B6"/>
            </a:solidFill>
            <a:prstDash val="solid"/>
          </a:ln>
        </p:spPr>
      </p:sp>
      <p:sp>
        <p:nvSpPr>
          <p:cNvPr id="6" name="Text 4"/>
          <p:cNvSpPr txBox="1"/>
          <p:nvPr/>
        </p:nvSpPr>
        <p:spPr>
          <a:xfrm>
            <a:off x="2743200" y="1371600"/>
            <a:ext cx="219456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Curva de dispersión experimental</a:t>
            </a:r>
            <a:endParaRPr lang="en-US" sz="1600" dirty="0"/>
          </a:p>
        </p:txBody>
      </p:sp>
      <p:sp>
        <p:nvSpPr>
          <p:cNvPr id="7" name="Comparar"/>
          <p:cNvSpPr/>
          <p:nvPr/>
        </p:nvSpPr>
        <p:spPr>
          <a:xfrm>
            <a:off x="5394960" y="1371600"/>
            <a:ext cx="1554480" cy="868680"/>
          </a:xfrm>
          <a:prstGeom prst="roundRect">
            <a:avLst>
              <a:gd name="adj" fmla="val 8421"/>
            </a:avLst>
          </a:prstGeom>
          <a:solidFill>
            <a:srgbClr val="1F4E79"/>
          </a:solidFill>
          <a:ln w="12700">
            <a:solidFill>
              <a:srgbClr val="1F4E79"/>
            </a:solidFill>
            <a:prstDash val="solid"/>
          </a:ln>
        </p:spPr>
      </p:sp>
      <p:sp>
        <p:nvSpPr>
          <p:cNvPr id="8" name="Text 6"/>
          <p:cNvSpPr txBox="1"/>
          <p:nvPr/>
        </p:nvSpPr>
        <p:spPr>
          <a:xfrm>
            <a:off x="5394960" y="1371600"/>
            <a:ext cx="155448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Comparar</a:t>
            </a:r>
            <a:endParaRPr lang="en-US" sz="1600" dirty="0"/>
          </a:p>
        </p:txBody>
      </p:sp>
      <p:sp>
        <p:nvSpPr>
          <p:cNvPr id="9" name="Perfil final"/>
          <p:cNvSpPr/>
          <p:nvPr/>
        </p:nvSpPr>
        <p:spPr>
          <a:xfrm>
            <a:off x="7315200" y="1371600"/>
            <a:ext cx="1371600" cy="868680"/>
          </a:xfrm>
          <a:prstGeom prst="roundRect">
            <a:avLst>
              <a:gd name="adj" fmla="val 8421"/>
            </a:avLst>
          </a:prstGeom>
          <a:solidFill>
            <a:srgbClr val="C55A11"/>
          </a:solidFill>
          <a:ln w="12700">
            <a:solidFill>
              <a:srgbClr val="C55A11"/>
            </a:solidFill>
            <a:prstDash val="solid"/>
          </a:ln>
        </p:spPr>
      </p:sp>
      <p:sp>
        <p:nvSpPr>
          <p:cNvPr id="10" name="Text 8"/>
          <p:cNvSpPr txBox="1"/>
          <p:nvPr/>
        </p:nvSpPr>
        <p:spPr>
          <a:xfrm>
            <a:off x="7315200" y="1371600"/>
            <a:ext cx="13716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Perfil Vs(z)</a:t>
            </a:r>
            <a:endParaRPr lang="en-US" sz="1600" dirty="0"/>
          </a:p>
        </p:txBody>
      </p:sp>
      <p:sp>
        <p:nvSpPr>
          <p:cNvPr id="11" name="Shape 9"/>
          <p:cNvSpPr/>
          <p:nvPr/>
        </p:nvSpPr>
        <p:spPr>
          <a:xfrm>
            <a:off x="2286000" y="1805940"/>
            <a:ext cx="457200" cy="0"/>
          </a:xfrm>
          <a:prstGeom prst="line">
            <a:avLst/>
          </a:prstGeom>
          <a:noFill/>
          <a:ln w="31750">
            <a:solidFill>
              <a:srgbClr val="1F4E79"/>
            </a:solidFill>
            <a:prstDash val="solid"/>
            <a:tailEnd type="triangle"/>
          </a:ln>
        </p:spPr>
      </p:sp>
      <p:sp>
        <p:nvSpPr>
          <p:cNvPr id="12" name="Shape 10"/>
          <p:cNvSpPr/>
          <p:nvPr/>
        </p:nvSpPr>
        <p:spPr>
          <a:xfrm>
            <a:off x="4937760" y="1805940"/>
            <a:ext cx="457200" cy="0"/>
          </a:xfrm>
          <a:prstGeom prst="line">
            <a:avLst/>
          </a:prstGeom>
          <a:noFill/>
          <a:ln w="31750">
            <a:solidFill>
              <a:srgbClr val="1F4E79"/>
            </a:solidFill>
            <a:prstDash val="solid"/>
            <a:tailEnd type="triangle"/>
          </a:ln>
        </p:spPr>
      </p:sp>
      <p:sp>
        <p:nvSpPr>
          <p:cNvPr id="13" name="Shape 11"/>
          <p:cNvSpPr/>
          <p:nvPr/>
        </p:nvSpPr>
        <p:spPr>
          <a:xfrm>
            <a:off x="6949440" y="1805940"/>
            <a:ext cx="365760" cy="0"/>
          </a:xfrm>
          <a:prstGeom prst="line">
            <a:avLst/>
          </a:prstGeom>
          <a:noFill/>
          <a:ln w="31750">
            <a:solidFill>
              <a:srgbClr val="C55A11"/>
            </a:solidFill>
            <a:prstDash val="solid"/>
            <a:tailEnd type="triangle"/>
          </a:ln>
        </p:spPr>
      </p:sp>
      <p:sp>
        <p:nvSpPr>
          <p:cNvPr id="14" name="Text 12"/>
          <p:cNvSpPr txBox="1"/>
          <p:nvPr/>
        </p:nvSpPr>
        <p:spPr>
          <a:xfrm>
            <a:off x="6812280" y="1051560"/>
            <a:ext cx="1097280" cy="274320"/>
          </a:xfrm>
          <a:prstGeom prst="rect">
            <a:avLst/>
          </a:prstGeom>
          <a:noFill/>
          <a:ln/>
        </p:spPr>
        <p:txBody>
          <a:bodyPr wrap="square" lIns="0" tIns="0" rIns="0" bIns="0" rtlCol="0" anchor="t"/>
          <a:lstStyle/>
          <a:p>
            <a:pPr algn="ctr" indent="0" marL="0">
              <a:buNone/>
            </a:pPr>
            <a:r>
              <a:rPr lang="en-US" sz="1400" dirty="0">
                <a:solidFill>
                  <a:srgbClr val="C55A11"/>
                </a:solidFill>
                <a:latin typeface="Arial" pitchFamily="34" charset="0"/>
                <a:ea typeface="Arial" pitchFamily="34" charset="-122"/>
                <a:cs typeface="Arial" pitchFamily="34" charset="-120"/>
              </a:rPr>
              <a:t>coinciden</a:t>
            </a:r>
            <a:endParaRPr lang="en-US" sz="1400" dirty="0"/>
          </a:p>
        </p:txBody>
      </p:sp>
      <p:sp>
        <p:nvSpPr>
          <p:cNvPr id="15" name="Modelo"/>
          <p:cNvSpPr/>
          <p:nvPr/>
        </p:nvSpPr>
        <p:spPr>
          <a:xfrm>
            <a:off x="457200" y="2971800"/>
            <a:ext cx="1828800" cy="868680"/>
          </a:xfrm>
          <a:prstGeom prst="roundRect">
            <a:avLst>
              <a:gd name="adj" fmla="val 8421"/>
            </a:avLst>
          </a:prstGeom>
          <a:solidFill>
            <a:srgbClr val="6B6B6B"/>
          </a:solidFill>
          <a:ln w="12700">
            <a:solidFill>
              <a:srgbClr val="6B6B6B"/>
            </a:solidFill>
            <a:prstDash val="solid"/>
          </a:ln>
        </p:spPr>
      </p:sp>
      <p:sp>
        <p:nvSpPr>
          <p:cNvPr id="16" name="Text 14"/>
          <p:cNvSpPr txBox="1"/>
          <p:nvPr/>
        </p:nvSpPr>
        <p:spPr>
          <a:xfrm>
            <a:off x="457200" y="2971800"/>
            <a:ext cx="18288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Modelo Vs(z) propuesto</a:t>
            </a:r>
            <a:endParaRPr lang="en-US" sz="1600" dirty="0"/>
          </a:p>
        </p:txBody>
      </p:sp>
      <p:sp>
        <p:nvSpPr>
          <p:cNvPr id="17" name="Curva teórica"/>
          <p:cNvSpPr/>
          <p:nvPr/>
        </p:nvSpPr>
        <p:spPr>
          <a:xfrm>
            <a:off x="2743200" y="2971800"/>
            <a:ext cx="2194560" cy="868680"/>
          </a:xfrm>
          <a:prstGeom prst="roundRect">
            <a:avLst>
              <a:gd name="adj" fmla="val 8421"/>
            </a:avLst>
          </a:prstGeom>
          <a:solidFill>
            <a:srgbClr val="6B6B6B"/>
          </a:solidFill>
          <a:ln w="12700">
            <a:solidFill>
              <a:srgbClr val="6B6B6B"/>
            </a:solidFill>
            <a:prstDash val="solid"/>
          </a:ln>
        </p:spPr>
      </p:sp>
      <p:sp>
        <p:nvSpPr>
          <p:cNvPr id="18" name="Text 16"/>
          <p:cNvSpPr txBox="1"/>
          <p:nvPr/>
        </p:nvSpPr>
        <p:spPr>
          <a:xfrm>
            <a:off x="2743200" y="2971800"/>
            <a:ext cx="219456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Curva teórica del modelo</a:t>
            </a:r>
            <a:endParaRPr lang="en-US" sz="1600" dirty="0"/>
          </a:p>
        </p:txBody>
      </p:sp>
      <p:sp>
        <p:nvSpPr>
          <p:cNvPr id="19" name="Shape 17"/>
          <p:cNvSpPr/>
          <p:nvPr/>
        </p:nvSpPr>
        <p:spPr>
          <a:xfrm>
            <a:off x="2286000" y="3406140"/>
            <a:ext cx="457200" cy="0"/>
          </a:xfrm>
          <a:prstGeom prst="line">
            <a:avLst/>
          </a:prstGeom>
          <a:noFill/>
          <a:ln w="31750">
            <a:solidFill>
              <a:srgbClr val="6B6B6B"/>
            </a:solidFill>
            <a:prstDash val="solid"/>
            <a:tailEnd type="triangle"/>
          </a:ln>
        </p:spPr>
      </p:sp>
      <p:sp>
        <p:nvSpPr>
          <p:cNvPr id="20" name="Shape 18"/>
          <p:cNvSpPr/>
          <p:nvPr/>
        </p:nvSpPr>
        <p:spPr>
          <a:xfrm>
            <a:off x="4937760" y="3406140"/>
            <a:ext cx="640080" cy="0"/>
          </a:xfrm>
          <a:prstGeom prst="line">
            <a:avLst/>
          </a:prstGeom>
          <a:noFill/>
          <a:ln w="31750">
            <a:solidFill>
              <a:srgbClr val="6B6B6B"/>
            </a:solidFill>
            <a:prstDash val="solid"/>
          </a:ln>
        </p:spPr>
      </p:sp>
      <p:sp>
        <p:nvSpPr>
          <p:cNvPr id="21" name="Shape 19"/>
          <p:cNvSpPr/>
          <p:nvPr/>
        </p:nvSpPr>
        <p:spPr>
          <a:xfrm flipV="1">
            <a:off x="5577840" y="2240280"/>
            <a:ext cx="0" cy="1165860"/>
          </a:xfrm>
          <a:prstGeom prst="line">
            <a:avLst/>
          </a:prstGeom>
          <a:noFill/>
          <a:ln w="31750">
            <a:solidFill>
              <a:srgbClr val="6B6B6B"/>
            </a:solidFill>
            <a:prstDash val="solid"/>
            <a:tailEnd type="triangle"/>
          </a:ln>
        </p:spPr>
      </p:sp>
      <p:sp>
        <p:nvSpPr>
          <p:cNvPr id="22" name="Text 20"/>
          <p:cNvSpPr txBox="1"/>
          <p:nvPr/>
        </p:nvSpPr>
        <p:spPr>
          <a:xfrm>
            <a:off x="1371600" y="4297680"/>
            <a:ext cx="5303520" cy="274320"/>
          </a:xfrm>
          <a:prstGeom prst="rect">
            <a:avLst/>
          </a:prstGeom>
          <a:noFill/>
          <a:ln/>
        </p:spPr>
        <p:txBody>
          <a:bodyPr wrap="square" lIns="0" tIns="0" rIns="0" bIns="0" rtlCol="0" anchor="t"/>
          <a:lstStyle/>
          <a:p>
            <a:pPr algn="ctr" indent="0" marL="0">
              <a:buNone/>
            </a:pPr>
            <a:r>
              <a:rPr lang="en-US" sz="1600" b="1" dirty="0">
                <a:solidFill>
                  <a:srgbClr val="C55A11"/>
                </a:solidFill>
                <a:latin typeface="Arial" pitchFamily="34" charset="0"/>
                <a:ea typeface="Arial" pitchFamily="34" charset="-122"/>
                <a:cs typeface="Arial" pitchFamily="34" charset="-120"/>
              </a:rPr>
              <a:t>No coinciden: se modifica Vs(z)</a:t>
            </a:r>
            <a:endParaRPr lang="en-US" sz="1600" dirty="0"/>
          </a:p>
        </p:txBody>
      </p:sp>
      <p:sp>
        <p:nvSpPr>
          <p:cNvPr id="23" name="Shape 21"/>
          <p:cNvSpPr/>
          <p:nvPr/>
        </p:nvSpPr>
        <p:spPr>
          <a:xfrm>
            <a:off x="6675120" y="2240280"/>
            <a:ext cx="0" cy="2011680"/>
          </a:xfrm>
          <a:prstGeom prst="line">
            <a:avLst/>
          </a:prstGeom>
          <a:noFill/>
          <a:ln w="31750">
            <a:solidFill>
              <a:srgbClr val="C55A11"/>
            </a:solidFill>
            <a:prstDash val="solid"/>
          </a:ln>
        </p:spPr>
      </p:sp>
      <p:sp>
        <p:nvSpPr>
          <p:cNvPr id="24" name="Shape 22"/>
          <p:cNvSpPr/>
          <p:nvPr/>
        </p:nvSpPr>
        <p:spPr>
          <a:xfrm>
            <a:off x="1371600" y="4251960"/>
            <a:ext cx="5303520" cy="0"/>
          </a:xfrm>
          <a:prstGeom prst="line">
            <a:avLst/>
          </a:prstGeom>
          <a:noFill/>
          <a:ln w="31750">
            <a:solidFill>
              <a:srgbClr val="C55A11"/>
            </a:solidFill>
            <a:prstDash val="solid"/>
          </a:ln>
        </p:spPr>
      </p:sp>
      <p:sp>
        <p:nvSpPr>
          <p:cNvPr id="25" name="Shape 23"/>
          <p:cNvSpPr/>
          <p:nvPr/>
        </p:nvSpPr>
        <p:spPr>
          <a:xfrm>
            <a:off x="1371600" y="3840480"/>
            <a:ext cx="0" cy="411480"/>
          </a:xfrm>
          <a:prstGeom prst="line">
            <a:avLst/>
          </a:prstGeom>
          <a:noFill/>
          <a:ln w="31750">
            <a:solidFill>
              <a:srgbClr val="C55A11"/>
            </a:solidFill>
            <a:prstDash val="solid"/>
            <a:headEnd type="triangle"/>
          </a:ln>
        </p:spPr>
      </p:sp>
      <p:sp>
        <p:nvSpPr>
          <p:cNvPr id="2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el procedimiento general de inversión (Foti et al., 2014,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inversión tiene límites: depende de supuestos y se apoya en otras mediciones</a:t>
            </a:r>
            <a:endParaRPr lang="en-US" sz="2400" dirty="0"/>
          </a:p>
        </p:txBody>
      </p:sp>
      <p:sp>
        <p:nvSpPr>
          <p:cNvPr id="3" name="Cabecera Capas profundas"/>
          <p:cNvSpPr/>
          <p:nvPr/>
        </p:nvSpPr>
        <p:spPr>
          <a:xfrm>
            <a:off x="457200" y="1325880"/>
            <a:ext cx="4023360" cy="457200"/>
          </a:xfrm>
          <a:prstGeom prst="rect">
            <a:avLst/>
          </a:prstGeom>
          <a:solidFill>
            <a:srgbClr val="1F4E79"/>
          </a:solidFill>
          <a:ln w="12700">
            <a:solidFill>
              <a:srgbClr val="1F4E79"/>
            </a:solidFill>
            <a:prstDash val="solid"/>
          </a:ln>
        </p:spPr>
      </p:sp>
      <p:sp>
        <p:nvSpPr>
          <p:cNvPr id="4" name="Text 2"/>
          <p:cNvSpPr txBox="1"/>
          <p:nvPr/>
        </p:nvSpPr>
        <p:spPr>
          <a:xfrm>
            <a:off x="457200" y="132588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Capas profundas</a:t>
            </a:r>
            <a:endParaRPr lang="en-US" sz="2000" dirty="0"/>
          </a:p>
        </p:txBody>
      </p:sp>
      <p:sp>
        <p:nvSpPr>
          <p:cNvPr id="5" name="Tarjeta Capas profundas"/>
          <p:cNvSpPr/>
          <p:nvPr/>
        </p:nvSpPr>
        <p:spPr>
          <a:xfrm>
            <a:off x="457200" y="1783080"/>
            <a:ext cx="4023360" cy="914400"/>
          </a:xfrm>
          <a:prstGeom prst="rect">
            <a:avLst/>
          </a:prstGeom>
          <a:solidFill>
            <a:srgbClr val="FFFFFF"/>
          </a:solidFill>
          <a:ln w="19050">
            <a:solidFill>
              <a:srgbClr val="1F4E79"/>
            </a:solidFill>
            <a:prstDash val="solid"/>
          </a:ln>
        </p:spPr>
      </p:sp>
      <p:sp>
        <p:nvSpPr>
          <p:cNvPr id="6" name="Text 4"/>
          <p:cNvSpPr txBox="1"/>
          <p:nvPr/>
        </p:nvSpPr>
        <p:spPr>
          <a:xfrm>
            <a:off x="594360" y="182880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Dependen de las bajas frecuencias y se resuelven peor</a:t>
            </a:r>
            <a:endParaRPr lang="en-US" sz="1800" dirty="0"/>
          </a:p>
        </p:txBody>
      </p:sp>
      <p:sp>
        <p:nvSpPr>
          <p:cNvPr id="7" name="Cabecera Supuestos"/>
          <p:cNvSpPr/>
          <p:nvPr/>
        </p:nvSpPr>
        <p:spPr>
          <a:xfrm>
            <a:off x="4663440" y="1325880"/>
            <a:ext cx="4023360" cy="457200"/>
          </a:xfrm>
          <a:prstGeom prst="rect">
            <a:avLst/>
          </a:prstGeom>
          <a:solidFill>
            <a:srgbClr val="1F4E79"/>
          </a:solidFill>
          <a:ln w="12700">
            <a:solidFill>
              <a:srgbClr val="1F4E79"/>
            </a:solidFill>
            <a:prstDash val="solid"/>
          </a:ln>
        </p:spPr>
      </p:sp>
      <p:sp>
        <p:nvSpPr>
          <p:cNvPr id="8" name="Text 6"/>
          <p:cNvSpPr txBox="1"/>
          <p:nvPr/>
        </p:nvSpPr>
        <p:spPr>
          <a:xfrm>
            <a:off x="4663440" y="132588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Supuestos</a:t>
            </a:r>
            <a:endParaRPr lang="en-US" sz="2000" dirty="0"/>
          </a:p>
        </p:txBody>
      </p:sp>
      <p:sp>
        <p:nvSpPr>
          <p:cNvPr id="9" name="Tarjeta Supuestos"/>
          <p:cNvSpPr/>
          <p:nvPr/>
        </p:nvSpPr>
        <p:spPr>
          <a:xfrm>
            <a:off x="4663440" y="1783080"/>
            <a:ext cx="4023360" cy="914400"/>
          </a:xfrm>
          <a:prstGeom prst="rect">
            <a:avLst/>
          </a:prstGeom>
          <a:solidFill>
            <a:srgbClr val="FFFFFF"/>
          </a:solidFill>
          <a:ln w="19050">
            <a:solidFill>
              <a:srgbClr val="1F4E79"/>
            </a:solidFill>
            <a:prstDash val="solid"/>
          </a:ln>
        </p:spPr>
      </p:sp>
      <p:sp>
        <p:nvSpPr>
          <p:cNvPr id="10" name="Text 8"/>
          <p:cNvSpPr txBox="1"/>
          <p:nvPr/>
        </p:nvSpPr>
        <p:spPr>
          <a:xfrm>
            <a:off x="4800600" y="182880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Densidad ρ, número de capas y modelo inicial se suponen</a:t>
            </a:r>
            <a:endParaRPr lang="en-US" sz="1800" dirty="0"/>
          </a:p>
        </p:txBody>
      </p:sp>
      <p:sp>
        <p:nvSpPr>
          <p:cNvPr id="11" name="Cabecera No unicidad"/>
          <p:cNvSpPr/>
          <p:nvPr/>
        </p:nvSpPr>
        <p:spPr>
          <a:xfrm>
            <a:off x="457200" y="2880360"/>
            <a:ext cx="4023360" cy="457200"/>
          </a:xfrm>
          <a:prstGeom prst="rect">
            <a:avLst/>
          </a:prstGeom>
          <a:solidFill>
            <a:srgbClr val="1F4E79"/>
          </a:solidFill>
          <a:ln w="12700">
            <a:solidFill>
              <a:srgbClr val="1F4E79"/>
            </a:solidFill>
            <a:prstDash val="solid"/>
          </a:ln>
        </p:spPr>
      </p:sp>
      <p:sp>
        <p:nvSpPr>
          <p:cNvPr id="12" name="Text 10"/>
          <p:cNvSpPr txBox="1"/>
          <p:nvPr/>
        </p:nvSpPr>
        <p:spPr>
          <a:xfrm>
            <a:off x="457200" y="288036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No unicidad</a:t>
            </a:r>
            <a:endParaRPr lang="en-US" sz="2000" dirty="0"/>
          </a:p>
        </p:txBody>
      </p:sp>
      <p:sp>
        <p:nvSpPr>
          <p:cNvPr id="13" name="Tarjeta No unicidad"/>
          <p:cNvSpPr/>
          <p:nvPr/>
        </p:nvSpPr>
        <p:spPr>
          <a:xfrm>
            <a:off x="457200" y="3337560"/>
            <a:ext cx="4023360" cy="914400"/>
          </a:xfrm>
          <a:prstGeom prst="rect">
            <a:avLst/>
          </a:prstGeom>
          <a:solidFill>
            <a:srgbClr val="FFFFFF"/>
          </a:solidFill>
          <a:ln w="19050">
            <a:solidFill>
              <a:srgbClr val="1F4E79"/>
            </a:solidFill>
            <a:prstDash val="solid"/>
          </a:ln>
        </p:spPr>
      </p:sp>
      <p:sp>
        <p:nvSpPr>
          <p:cNvPr id="14" name="Text 12"/>
          <p:cNvSpPr txBox="1"/>
          <p:nvPr/>
        </p:nvSpPr>
        <p:spPr>
          <a:xfrm>
            <a:off x="594360" y="338328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Perfiles distintos pueden dar curvas casi iguales</a:t>
            </a:r>
            <a:endParaRPr lang="en-US" sz="1800" dirty="0"/>
          </a:p>
        </p:txBody>
      </p:sp>
      <p:sp>
        <p:nvSpPr>
          <p:cNvPr id="15" name="Cabecera Otras mediciones"/>
          <p:cNvSpPr/>
          <p:nvPr/>
        </p:nvSpPr>
        <p:spPr>
          <a:xfrm>
            <a:off x="4663440" y="2880360"/>
            <a:ext cx="4023360" cy="457200"/>
          </a:xfrm>
          <a:prstGeom prst="rect">
            <a:avLst/>
          </a:prstGeom>
          <a:solidFill>
            <a:srgbClr val="C55A11"/>
          </a:solidFill>
          <a:ln w="12700">
            <a:solidFill>
              <a:srgbClr val="C55A11"/>
            </a:solidFill>
            <a:prstDash val="solid"/>
          </a:ln>
        </p:spPr>
      </p:sp>
      <p:sp>
        <p:nvSpPr>
          <p:cNvPr id="16" name="Text 14"/>
          <p:cNvSpPr txBox="1"/>
          <p:nvPr/>
        </p:nvSpPr>
        <p:spPr>
          <a:xfrm>
            <a:off x="4663440" y="288036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Otras mediciones</a:t>
            </a:r>
            <a:endParaRPr lang="en-US" sz="2000" dirty="0"/>
          </a:p>
        </p:txBody>
      </p:sp>
      <p:sp>
        <p:nvSpPr>
          <p:cNvPr id="17" name="Tarjeta Otras mediciones"/>
          <p:cNvSpPr/>
          <p:nvPr/>
        </p:nvSpPr>
        <p:spPr>
          <a:xfrm>
            <a:off x="4663440" y="3337560"/>
            <a:ext cx="4023360" cy="914400"/>
          </a:xfrm>
          <a:prstGeom prst="rect">
            <a:avLst/>
          </a:prstGeom>
          <a:solidFill>
            <a:srgbClr val="FFFFFF"/>
          </a:solidFill>
          <a:ln w="19050">
            <a:solidFill>
              <a:srgbClr val="C55A11"/>
            </a:solidFill>
            <a:prstDash val="solid"/>
          </a:ln>
        </p:spPr>
      </p:sp>
      <p:sp>
        <p:nvSpPr>
          <p:cNvPr id="18" name="Text 16"/>
          <p:cNvSpPr txBox="1"/>
          <p:nvPr/>
        </p:nvSpPr>
        <p:spPr>
          <a:xfrm>
            <a:off x="4800600" y="338328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Dan información inicial y localizada del terreno; extrapolarla reduce la incertidumbre</a:t>
            </a:r>
            <a:endParaRPr lang="en-US" sz="1800" dirty="0"/>
          </a:p>
        </p:txBody>
      </p:sp>
      <p:sp>
        <p:nvSpPr>
          <p:cNvPr id="1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capítulo de inversión (a confirmar); Socco y Strobbia (2004); Xia et al. (1999), p. 694 (ρ supuesta conocida).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SASW: la diferencia de fase entre dos receptores da la velocidad de fase</a:t>
            </a:r>
            <a:endParaRPr lang="en-US" sz="2400" dirty="0"/>
          </a:p>
        </p:txBody>
      </p:sp>
      <p:pic>
        <p:nvPicPr>
          <p:cNvPr id="3" name="Figura SASW" descr="Arreglo SASW: fuente vertical y dos receptores separados una distancia d">    </p:cNvPr>
          <p:cNvPicPr>
            <a:picLocks noChangeAspect="1"/>
          </p:cNvPicPr>
          <p:nvPr/>
        </p:nvPicPr>
        <p:blipFill>
          <a:blip r:embed="rId1"/>
          <a:stretch>
            <a:fillRect/>
          </a:stretch>
        </p:blipFill>
        <p:spPr>
          <a:xfrm>
            <a:off x="457200" y="1234440"/>
            <a:ext cx="5120640" cy="2255151"/>
          </a:xfrm>
          <a:prstGeom prst="rect">
            <a:avLst/>
          </a:prstGeom>
        </p:spPr>
      </p:pic>
      <p:sp>
        <p:nvSpPr>
          <p:cNvPr id="4" name="Fondo SASW"/>
          <p:cNvSpPr/>
          <p:nvPr/>
        </p:nvSpPr>
        <p:spPr>
          <a:xfrm>
            <a:off x="457200" y="3657600"/>
            <a:ext cx="512064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sasw"/>
              <p:cNvSpPr txBox="1"/>
              <p:nvPr/>
            </p:nvSpPr>
            <p:spPr>
              <a:xfrm>
                <a:off x="457200" y="3657600"/>
                <a:ext cx="512064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r>
                        <a:rPr lang="es-ES" sz="2400" i="1">
                          <a:solidFill>
                            <a:srgbClr val="1F4E79"/>
                          </a:solidFill>
                          <a:latin typeface="Cambria Math" panose="02040503050406030204" pitchFamily="18" charset="0"/>
                        </a:rPr>
                        <m:t xml:space="preserve">(f)=</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2πf·d</m:t>
                          </m:r>
                        </m:num>
                        <m:den>
                          <m:r>
                            <a:rPr lang="es-ES" sz="2400" i="1">
                              <a:solidFill>
                                <a:srgbClr val="1F4E79"/>
                              </a:solidFill>
                              <a:latin typeface="Cambria Math" panose="02040503050406030204" pitchFamily="18" charset="0"/>
                            </a:rPr>
                            <m:t xml:space="preserve">Δφ(f)</m:t>
                          </m:r>
                        </m:den>
                      </m:f>
                    </m:oMath>
                  </m:oMathPara>
                </a14:m>
                <a:endParaRPr lang="es-ES"/>
              </a:p>
            </p:txBody>
          </p:sp>
        </mc:Choice>
        <mc:Fallback>
          <p:sp>
            <p:nvSpPr>
              <p:cNvPr id="5" name="Ecuación E_sasw"/>
              <p:cNvSpPr txBox="1"/>
              <p:nvPr/>
            </p:nvSpPr>
            <p:spPr>
              <a:xfrm>
                <a:off x="457200" y="3657600"/>
                <a:ext cx="512064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cR(f) = 2π·f·d / Δφ(f)</a:t>
                </a:r>
                <a:endParaRPr lang="en-US" sz="2400" dirty="0"/>
              </a:p>
            </p:txBody>
          </p:sp>
        </mc:Fallback>
      </mc:AlternateContent>
      <p:sp>
        <p:nvSpPr>
          <p:cNvPr id="6" name="Cuerpo"/>
          <p:cNvSpPr txBox="1"/>
          <p:nvPr/>
        </p:nvSpPr>
        <p:spPr>
          <a:xfrm>
            <a:off x="5852160" y="1371600"/>
            <a:ext cx="283464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Fuente vertical y dos receptores separados una distancia d</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Se mide la diferencia de fase Δφ entre ambos, para cada frecuencia</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De Δφ(f) sale la velocidad de fase cR(f)</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esquema SASW/MASW (fuente original por confirmar), traducido. Resumen firmado, sec. 4;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SASW es simple, pero deja ambigüedades y poca redundancia espacial</a:t>
            </a:r>
            <a:endParaRPr lang="en-US" sz="2400" dirty="0"/>
          </a:p>
        </p:txBody>
      </p:sp>
      <p:sp>
        <p:nvSpPr>
          <p:cNvPr id="3" name="Cabecera Ventaja"/>
          <p:cNvSpPr/>
          <p:nvPr/>
        </p:nvSpPr>
        <p:spPr>
          <a:xfrm>
            <a:off x="457200" y="132588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325880"/>
            <a:ext cx="3931920" cy="50292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a:t>
            </a:r>
            <a:endParaRPr lang="en-US" sz="2000" dirty="0"/>
          </a:p>
        </p:txBody>
      </p:sp>
      <p:sp>
        <p:nvSpPr>
          <p:cNvPr id="5" name="Tarjeta Ventaja"/>
          <p:cNvSpPr/>
          <p:nvPr/>
        </p:nvSpPr>
        <p:spPr>
          <a:xfrm>
            <a:off x="457200" y="1828800"/>
            <a:ext cx="3931920" cy="2743200"/>
          </a:xfrm>
          <a:prstGeom prst="rect">
            <a:avLst/>
          </a:prstGeom>
          <a:solidFill>
            <a:srgbClr val="FFFFFF"/>
          </a:solidFill>
          <a:ln w="19050">
            <a:solidFill>
              <a:srgbClr val="1F4E79"/>
            </a:solidFill>
            <a:prstDash val="solid"/>
          </a:ln>
        </p:spPr>
      </p:sp>
      <p:sp>
        <p:nvSpPr>
          <p:cNvPr id="6" name="Text 4"/>
          <p:cNvSpPr txBox="1"/>
          <p:nvPr/>
        </p:nvSpPr>
        <p:spPr>
          <a:xfrm>
            <a:off x="594360" y="1874520"/>
            <a:ext cx="3657600" cy="26517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Instrumentación sencilla: solo dos receptores</a:t>
            </a:r>
            <a:endParaRPr lang="en-US" sz="1800" dirty="0"/>
          </a:p>
        </p:txBody>
      </p:sp>
      <p:sp>
        <p:nvSpPr>
          <p:cNvPr id="7" name="Cabecera Limitaciones"/>
          <p:cNvSpPr/>
          <p:nvPr/>
        </p:nvSpPr>
        <p:spPr>
          <a:xfrm>
            <a:off x="4754880" y="132588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325880"/>
            <a:ext cx="3931920" cy="50292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828800"/>
            <a:ext cx="3931920" cy="2743200"/>
          </a:xfrm>
          <a:prstGeom prst="rect">
            <a:avLst/>
          </a:prstGeom>
          <a:solidFill>
            <a:srgbClr val="FFFFFF"/>
          </a:solidFill>
          <a:ln w="19050">
            <a:solidFill>
              <a:srgbClr val="C55A11"/>
            </a:solidFill>
            <a:prstDash val="solid"/>
          </a:ln>
        </p:spPr>
      </p:sp>
      <p:sp>
        <p:nvSpPr>
          <p:cNvPr id="10" name="Text 8"/>
          <p:cNvSpPr txBox="1"/>
          <p:nvPr/>
        </p:nvSpPr>
        <p:spPr>
          <a:xfrm>
            <a:off x="4892040" y="1874520"/>
            <a:ext cx="3657600" cy="2651760"/>
          </a:xfrm>
          <a:prstGeom prst="rect">
            <a:avLst/>
          </a:prstGeom>
          <a:noFill/>
          <a:ln/>
        </p:spPr>
        <p:txBody>
          <a:bodyPr wrap="square" lIns="0" tIns="0" rIns="0" bIns="0" rtlCol="0" anchor="ctr"/>
          <a:lstStyle/>
          <a:p>
            <a:pPr indent="0" marL="0">
              <a:buNone/>
            </a:pPr>
            <a:endParaRPr lang="en-US" sz="1800" dirty="0"/>
          </a:p>
        </p:txBody>
      </p:sp>
      <p:sp>
        <p:nvSpPr>
          <p:cNvPr id="11" name="Cuerpo limitaciones"/>
          <p:cNvSpPr txBox="1"/>
          <p:nvPr/>
        </p:nvSpPr>
        <p:spPr>
          <a:xfrm>
            <a:off x="4937760" y="1920240"/>
            <a:ext cx="3566160" cy="256032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fase se conoce salvo ciclos enteros: Δφ + 2πN</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Poca redundancia para separar contribuciones superpuestas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Se repite con distintas separaciones</a:t>
            </a:r>
            <a:endParaRPr lang="en-US" sz="1800" dirty="0"/>
          </a:p>
        </p:txBody>
      </p:sp>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 Foti et al. (2014)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MASW extiende el principio a múltiples posiciones a lo largo del terreno</a:t>
            </a:r>
            <a:endParaRPr lang="en-US" sz="2400" dirty="0"/>
          </a:p>
        </p:txBody>
      </p:sp>
      <p:pic>
        <p:nvPicPr>
          <p:cNvPr id="3" name="Figura MASW" descr="Arreglo MASW: fuente y una línea de geófonos con espaciamiento dx">    </p:cNvPr>
          <p:cNvPicPr>
            <a:picLocks noChangeAspect="1"/>
          </p:cNvPicPr>
          <p:nvPr/>
        </p:nvPicPr>
        <p:blipFill>
          <a:blip r:embed="rId1"/>
          <a:stretch>
            <a:fillRect/>
          </a:stretch>
        </p:blipFill>
        <p:spPr>
          <a:xfrm>
            <a:off x="457200" y="1234440"/>
            <a:ext cx="5120640" cy="2399996"/>
          </a:xfrm>
          <a:prstGeom prst="rect">
            <a:avLst/>
          </a:prstGeom>
        </p:spPr>
      </p:pic>
      <p:sp>
        <p:nvSpPr>
          <p:cNvPr id="4" name="Cuerpo"/>
          <p:cNvSpPr txBox="1"/>
          <p:nvPr/>
        </p:nvSpPr>
        <p:spPr>
          <a:xfrm>
            <a:off x="5852160" y="1371600"/>
            <a:ext cx="283464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Un transductor y un canal por posición</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La redundancia espacial permite reconocer patrones coherentes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Se distinguen contribuciones superpuestas</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esquema SASW/MASW (fuente original por confirmar), traducido. Park et al. (1998, 1999); Foti et al. (2018).</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registro MASW es una matriz espacio–tiempo: una traza por posición</a:t>
            </a:r>
            <a:endParaRPr lang="en-US" sz="2400" dirty="0"/>
          </a:p>
        </p:txBody>
      </p:sp>
      <p:pic>
        <p:nvPicPr>
          <p:cNvPr id="3" name="Registro espacio-tiempo" descr="Registro sintético: trazas por posición, con el tiempo de llegada creciendo con la distancia">    </p:cNvPr>
          <p:cNvPicPr>
            <a:picLocks noChangeAspect="1"/>
          </p:cNvPicPr>
          <p:nvPr/>
        </p:nvPicPr>
        <p:blipFill>
          <a:blip r:embed="rId1"/>
          <a:stretch>
            <a:fillRect/>
          </a:stretch>
        </p:blipFill>
        <p:spPr>
          <a:xfrm>
            <a:off x="457200" y="1280160"/>
            <a:ext cx="4937760" cy="3108960"/>
          </a:xfrm>
          <a:prstGeom prst="rect">
            <a:avLst/>
          </a:prstGeom>
        </p:spPr>
      </p:pic>
      <p:sp>
        <p:nvSpPr>
          <p:cNvPr id="4" name="Fondo U"/>
          <p:cNvSpPr/>
          <p:nvPr/>
        </p:nvSpPr>
        <p:spPr>
          <a:xfrm>
            <a:off x="5669280" y="1325880"/>
            <a:ext cx="30175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U"/>
              <p:cNvSpPr txBox="1"/>
              <p:nvPr/>
            </p:nvSpPr>
            <p:spPr>
              <a:xfrm>
                <a:off x="5669280" y="1325880"/>
                <a:ext cx="30175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U[m,n]=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u</m:t>
                          </m:r>
                        </m:e>
                        <m:sub>
                          <m:r>
                            <a:rPr lang="es-ES" sz="2400" i="1">
                              <a:solidFill>
                                <a:srgbClr val="1F4E79"/>
                              </a:solidFill>
                              <a:latin typeface="Cambria Math" panose="02040503050406030204" pitchFamily="18" charset="0"/>
                            </a:rPr>
                            <m:t xml:space="preserve">z</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x</m:t>
                          </m:r>
                        </m:e>
                        <m:sub>
                          <m:r>
                            <a:rPr lang="es-ES" sz="2400" i="1">
                              <a:solidFill>
                                <a:srgbClr val="1F4E79"/>
                              </a:solidFill>
                              <a:latin typeface="Cambria Math" panose="02040503050406030204" pitchFamily="18" charset="0"/>
                            </a:rPr>
                            <m:t xml:space="preserve">m</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t</m:t>
                          </m:r>
                        </m:e>
                        <m:sub>
                          <m:r>
                            <a:rPr lang="es-ES" sz="2400" i="1">
                              <a:solidFill>
                                <a:srgbClr val="1F4E79"/>
                              </a:solidFill>
                              <a:latin typeface="Cambria Math" panose="02040503050406030204" pitchFamily="18" charset="0"/>
                            </a:rPr>
                            <m:t xml:space="preserve">n</m:t>
                          </m:r>
                        </m:sub>
                      </m:sSub>
                      <m:r>
                        <a:rPr lang="es-ES" sz="2400" i="1">
                          <a:solidFill>
                            <a:srgbClr val="1F4E79"/>
                          </a:solidFill>
                          <a:latin typeface="Cambria Math" panose="02040503050406030204" pitchFamily="18" charset="0"/>
                        </a:rPr>
                        <m:t xml:space="preserve">)</m:t>
                      </m:r>
                    </m:oMath>
                  </m:oMathPara>
                </a14:m>
                <a:endParaRPr lang="es-ES"/>
              </a:p>
            </p:txBody>
          </p:sp>
        </mc:Choice>
        <mc:Fallback>
          <p:sp>
            <p:nvSpPr>
              <p:cNvPr id="5" name="Ecuación E_U"/>
              <p:cNvSpPr txBox="1"/>
              <p:nvPr/>
            </p:nvSpPr>
            <p:spPr>
              <a:xfrm>
                <a:off x="5669280" y="1325880"/>
                <a:ext cx="30175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U[m, n] = uz(xm, tn)</a:t>
                </a:r>
                <a:endParaRPr lang="en-US" sz="2400" dirty="0"/>
              </a:p>
            </p:txBody>
          </p:sp>
        </mc:Fallback>
      </mc:AlternateContent>
      <p:sp>
        <p:nvSpPr>
          <p:cNvPr id="6" name="Cuerpo"/>
          <p:cNvSpPr txBox="1"/>
          <p:nvPr/>
        </p:nvSpPr>
        <p:spPr>
          <a:xfrm>
            <a:off x="5669280" y="2286000"/>
            <a:ext cx="301752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Cada fila es la traza de una posición</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El conjunto es un registro espacio–tiempo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 propagación aparece como un corrimiento sistemático del tiempo entre trazas</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Registro sintético propio (ilustrativo), con la curva de la slide 41. Resumen firmado, ec. (6).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dimensión espacial puede sintetizarse con adquisiciones sucesivas</a:t>
            </a:r>
            <a:endParaRPr lang="en-US" sz="2400" dirty="0"/>
          </a:p>
        </p:txBody>
      </p:sp>
      <p:pic>
        <p:nvPicPr>
          <p:cNvPr id="3" name="Figura dimensión sintetizada" descr="Arreglo convencional con un receptor por posición y arreglo sintetizado con un receptor fijo y la fuente en posiciones sucesivas">    </p:cNvPr>
          <p:cNvPicPr>
            <a:picLocks noChangeAspect="1"/>
          </p:cNvPicPr>
          <p:nvPr/>
        </p:nvPicPr>
        <p:blipFill>
          <a:blip r:embed="rId1"/>
          <a:stretch>
            <a:fillRect/>
          </a:stretch>
        </p:blipFill>
        <p:spPr>
          <a:xfrm>
            <a:off x="457200" y="1280160"/>
            <a:ext cx="5486400" cy="2914650"/>
          </a:xfrm>
          <a:prstGeom prst="rect">
            <a:avLst/>
          </a:prstGeom>
        </p:spPr>
      </p:pic>
      <p:sp>
        <p:nvSpPr>
          <p:cNvPr id="4" name="Cuerpo"/>
          <p:cNvSpPr txBox="1"/>
          <p:nvPr/>
        </p:nvSpPr>
        <p:spPr>
          <a:xfrm>
            <a:off x="6126480" y="1371600"/>
            <a:ext cx="2560320" cy="310896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Reduce el costo instrumental: menos canales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Lin y Ashlock (2016) validaron receptor fijo y fuente en posiciones sucesivas</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Es la configuración recíproca de mover el receptor</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Lin y Ashlock (2016), según el resumen firmado (a confirmar en el artículo).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medición MASW fija tres requerimientos de adquisición</a:t>
            </a:r>
            <a:endParaRPr lang="en-US" sz="2400" dirty="0"/>
          </a:p>
        </p:txBody>
      </p:sp>
      <p:sp>
        <p:nvSpPr>
          <p:cNvPr id="3" name="Cabecera Tiempo y posición"/>
          <p:cNvSpPr/>
          <p:nvPr/>
        </p:nvSpPr>
        <p:spPr>
          <a:xfrm>
            <a:off x="457200" y="1325880"/>
            <a:ext cx="2651760" cy="548640"/>
          </a:xfrm>
          <a:prstGeom prst="rect">
            <a:avLst/>
          </a:prstGeom>
          <a:solidFill>
            <a:srgbClr val="1F4E79"/>
          </a:solidFill>
          <a:ln w="12700">
            <a:solidFill>
              <a:srgbClr val="1F4E79"/>
            </a:solidFill>
            <a:prstDash val="solid"/>
          </a:ln>
        </p:spPr>
      </p:sp>
      <p:sp>
        <p:nvSpPr>
          <p:cNvPr id="4" name="Text 2"/>
          <p:cNvSpPr txBox="1"/>
          <p:nvPr/>
        </p:nvSpPr>
        <p:spPr>
          <a:xfrm>
            <a:off x="457200" y="1325880"/>
            <a:ext cx="2651760" cy="54864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Tiempo y posición</a:t>
            </a:r>
            <a:endParaRPr lang="en-US" sz="1800" dirty="0"/>
          </a:p>
        </p:txBody>
      </p:sp>
      <p:sp>
        <p:nvSpPr>
          <p:cNvPr id="5" name="Tarjeta Tiempo y posición"/>
          <p:cNvSpPr/>
          <p:nvPr/>
        </p:nvSpPr>
        <p:spPr>
          <a:xfrm>
            <a:off x="457200" y="1874520"/>
            <a:ext cx="2651760" cy="1737360"/>
          </a:xfrm>
          <a:prstGeom prst="rect">
            <a:avLst/>
          </a:prstGeom>
          <a:solidFill>
            <a:srgbClr val="FFFFFF"/>
          </a:solidFill>
          <a:ln w="19050">
            <a:solidFill>
              <a:srgbClr val="1F4E79"/>
            </a:solidFill>
            <a:prstDash val="solid"/>
          </a:ln>
        </p:spPr>
      </p:sp>
      <p:sp>
        <p:nvSpPr>
          <p:cNvPr id="6" name="Text 4"/>
          <p:cNvSpPr txBox="1"/>
          <p:nvPr/>
        </p:nvSpPr>
        <p:spPr>
          <a:xfrm>
            <a:off x="594360" y="1920240"/>
            <a:ext cx="2377440" cy="1645920"/>
          </a:xfrm>
          <a:prstGeom prst="rect">
            <a:avLst/>
          </a:prstGeom>
          <a:noFill/>
          <a:ln/>
        </p:spPr>
        <p:txBody>
          <a:bodyPr wrap="square" lIns="0" tIns="0" rIns="0" bIns="0" rtlCol="0" anchor="ctr"/>
          <a:lstStyle/>
          <a:p>
            <a:pPr indent="0" marL="0">
              <a:buNone/>
            </a:pPr>
            <a:r>
              <a:rPr lang="en-US" sz="1700" dirty="0">
                <a:solidFill>
                  <a:srgbClr val="2D2D2D"/>
                </a:solidFill>
                <a:latin typeface="Arial" pitchFamily="34" charset="0"/>
                <a:ea typeface="Arial" pitchFamily="34" charset="-122"/>
                <a:cs typeface="Arial" pitchFamily="34" charset="-120"/>
              </a:rPr>
              <a:t>Conservar la información temporal y espacial de cada traza</a:t>
            </a:r>
            <a:endParaRPr lang="en-US" sz="1700" dirty="0"/>
          </a:p>
        </p:txBody>
      </p:sp>
      <p:sp>
        <p:nvSpPr>
          <p:cNvPr id="7" name="Cabecera Referencia temporal"/>
          <p:cNvSpPr/>
          <p:nvPr/>
        </p:nvSpPr>
        <p:spPr>
          <a:xfrm>
            <a:off x="3246120" y="1325880"/>
            <a:ext cx="2651760" cy="548640"/>
          </a:xfrm>
          <a:prstGeom prst="rect">
            <a:avLst/>
          </a:prstGeom>
          <a:solidFill>
            <a:srgbClr val="1F4E79"/>
          </a:solidFill>
          <a:ln w="12700">
            <a:solidFill>
              <a:srgbClr val="1F4E79"/>
            </a:solidFill>
            <a:prstDash val="solid"/>
          </a:ln>
        </p:spPr>
      </p:sp>
      <p:sp>
        <p:nvSpPr>
          <p:cNvPr id="8" name="Text 6"/>
          <p:cNvSpPr txBox="1"/>
          <p:nvPr/>
        </p:nvSpPr>
        <p:spPr>
          <a:xfrm>
            <a:off x="3246120" y="1325880"/>
            <a:ext cx="2651760" cy="54864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Referencia temporal</a:t>
            </a:r>
            <a:endParaRPr lang="en-US" sz="1800" dirty="0"/>
          </a:p>
        </p:txBody>
      </p:sp>
      <p:sp>
        <p:nvSpPr>
          <p:cNvPr id="9" name="Tarjeta Referencia temporal"/>
          <p:cNvSpPr/>
          <p:nvPr/>
        </p:nvSpPr>
        <p:spPr>
          <a:xfrm>
            <a:off x="3246120" y="1874520"/>
            <a:ext cx="2651760" cy="1737360"/>
          </a:xfrm>
          <a:prstGeom prst="rect">
            <a:avLst/>
          </a:prstGeom>
          <a:solidFill>
            <a:srgbClr val="FFFFFF"/>
          </a:solidFill>
          <a:ln w="19050">
            <a:solidFill>
              <a:srgbClr val="1F4E79"/>
            </a:solidFill>
            <a:prstDash val="solid"/>
          </a:ln>
        </p:spPr>
      </p:sp>
      <p:sp>
        <p:nvSpPr>
          <p:cNvPr id="10" name="Text 8"/>
          <p:cNvSpPr txBox="1"/>
          <p:nvPr/>
        </p:nvSpPr>
        <p:spPr>
          <a:xfrm>
            <a:off x="3383280" y="1920240"/>
            <a:ext cx="2377440" cy="1645920"/>
          </a:xfrm>
          <a:prstGeom prst="rect">
            <a:avLst/>
          </a:prstGeom>
          <a:noFill/>
          <a:ln/>
        </p:spPr>
        <p:txBody>
          <a:bodyPr wrap="square" lIns="0" tIns="0" rIns="0" bIns="0" rtlCol="0" anchor="ctr"/>
          <a:lstStyle/>
          <a:p>
            <a:pPr indent="0" marL="0">
              <a:buNone/>
            </a:pPr>
            <a:r>
              <a:rPr lang="en-US" sz="1700" dirty="0">
                <a:solidFill>
                  <a:srgbClr val="2D2D2D"/>
                </a:solidFill>
                <a:latin typeface="Arial" pitchFamily="34" charset="0"/>
                <a:ea typeface="Arial" pitchFamily="34" charset="-122"/>
                <a:cs typeface="Arial" pitchFamily="34" charset="-120"/>
              </a:rPr>
              <a:t>Mantener una referencia temporal entre registros</a:t>
            </a:r>
            <a:endParaRPr lang="en-US" sz="1700" dirty="0"/>
          </a:p>
        </p:txBody>
      </p:sp>
      <p:sp>
        <p:nvSpPr>
          <p:cNvPr id="11" name="Cabecera Forma de onda"/>
          <p:cNvSpPr/>
          <p:nvPr/>
        </p:nvSpPr>
        <p:spPr>
          <a:xfrm>
            <a:off x="6035040" y="1325880"/>
            <a:ext cx="2651760" cy="548640"/>
          </a:xfrm>
          <a:prstGeom prst="rect">
            <a:avLst/>
          </a:prstGeom>
          <a:solidFill>
            <a:srgbClr val="1F4E79"/>
          </a:solidFill>
          <a:ln w="12700">
            <a:solidFill>
              <a:srgbClr val="1F4E79"/>
            </a:solidFill>
            <a:prstDash val="solid"/>
          </a:ln>
        </p:spPr>
      </p:sp>
      <p:sp>
        <p:nvSpPr>
          <p:cNvPr id="12" name="Text 10"/>
          <p:cNvSpPr txBox="1"/>
          <p:nvPr/>
        </p:nvSpPr>
        <p:spPr>
          <a:xfrm>
            <a:off x="6035040" y="1325880"/>
            <a:ext cx="2651760" cy="54864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Forma de onda</a:t>
            </a:r>
            <a:endParaRPr lang="en-US" sz="1800" dirty="0"/>
          </a:p>
        </p:txBody>
      </p:sp>
      <p:sp>
        <p:nvSpPr>
          <p:cNvPr id="13" name="Tarjeta Forma de onda"/>
          <p:cNvSpPr/>
          <p:nvPr/>
        </p:nvSpPr>
        <p:spPr>
          <a:xfrm>
            <a:off x="6035040" y="1874520"/>
            <a:ext cx="2651760" cy="1737360"/>
          </a:xfrm>
          <a:prstGeom prst="rect">
            <a:avLst/>
          </a:prstGeom>
          <a:solidFill>
            <a:srgbClr val="FFFFFF"/>
          </a:solidFill>
          <a:ln w="19050">
            <a:solidFill>
              <a:srgbClr val="1F4E79"/>
            </a:solidFill>
            <a:prstDash val="solid"/>
          </a:ln>
        </p:spPr>
      </p:sp>
      <p:sp>
        <p:nvSpPr>
          <p:cNvPr id="14" name="Text 12"/>
          <p:cNvSpPr txBox="1"/>
          <p:nvPr/>
        </p:nvSpPr>
        <p:spPr>
          <a:xfrm>
            <a:off x="6172200" y="1920240"/>
            <a:ext cx="2377440" cy="1645920"/>
          </a:xfrm>
          <a:prstGeom prst="rect">
            <a:avLst/>
          </a:prstGeom>
          <a:noFill/>
          <a:ln/>
        </p:spPr>
        <p:txBody>
          <a:bodyPr wrap="square" lIns="0" tIns="0" rIns="0" bIns="0" rtlCol="0" anchor="ctr"/>
          <a:lstStyle/>
          <a:p>
            <a:pPr indent="0" marL="0">
              <a:buNone/>
            </a:pPr>
            <a:r>
              <a:rPr lang="en-US" sz="1700" dirty="0">
                <a:solidFill>
                  <a:srgbClr val="2D2D2D"/>
                </a:solidFill>
                <a:latin typeface="Arial" pitchFamily="34" charset="0"/>
                <a:ea typeface="Arial" pitchFamily="34" charset="-122"/>
                <a:cs typeface="Arial" pitchFamily="34" charset="-120"/>
              </a:rPr>
              <a:t>Preservar la forma de la onda</a:t>
            </a:r>
            <a:endParaRPr lang="en-US" sz="1700" dirty="0"/>
          </a:p>
        </p:txBody>
      </p:sp>
      <p:sp>
        <p:nvSpPr>
          <p:cNvPr id="15" name="Mensaje"/>
          <p:cNvSpPr txBox="1"/>
          <p:nvPr/>
        </p:nvSpPr>
        <p:spPr>
          <a:xfrm>
            <a:off x="457200" y="3749040"/>
            <a:ext cx="8229600" cy="73152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Con adquisiciones sucesivas, además: fuente repetible, para no confundir variaciones del terreno con diferencias entre impactos</a:t>
            </a:r>
            <a:endParaRPr lang="en-US" sz="1800" dirty="0"/>
          </a:p>
        </p:txBody>
      </p:sp>
      <p:sp>
        <p:nvSpPr>
          <p:cNvPr id="1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Esos requerimientos se traducen en cinco condiciones de diseño del sistema</a:t>
            </a:r>
            <a:endParaRPr lang="en-US" sz="2400" dirty="0"/>
          </a:p>
        </p:txBody>
      </p:sp>
      <p:sp>
        <p:nvSpPr>
          <p:cNvPr id="3" name="Cabecera Banda y fase"/>
          <p:cNvSpPr/>
          <p:nvPr/>
        </p:nvSpPr>
        <p:spPr>
          <a:xfrm>
            <a:off x="457200" y="1234440"/>
            <a:ext cx="2651760" cy="502920"/>
          </a:xfrm>
          <a:prstGeom prst="rect">
            <a:avLst/>
          </a:prstGeom>
          <a:solidFill>
            <a:srgbClr val="1F4E79"/>
          </a:solidFill>
          <a:ln w="12700">
            <a:solidFill>
              <a:srgbClr val="1F4E79"/>
            </a:solidFill>
            <a:prstDash val="solid"/>
          </a:ln>
        </p:spPr>
      </p:sp>
      <p:sp>
        <p:nvSpPr>
          <p:cNvPr id="4" name="Text 2"/>
          <p:cNvSpPr txBox="1"/>
          <p:nvPr/>
        </p:nvSpPr>
        <p:spPr>
          <a:xfrm>
            <a:off x="457200" y="1234440"/>
            <a:ext cx="2651760" cy="50292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Banda y fase</a:t>
            </a:r>
            <a:endParaRPr lang="en-US" sz="1600" dirty="0"/>
          </a:p>
        </p:txBody>
      </p:sp>
      <p:sp>
        <p:nvSpPr>
          <p:cNvPr id="5" name="Tarjeta Banda y fase"/>
          <p:cNvSpPr/>
          <p:nvPr/>
        </p:nvSpPr>
        <p:spPr>
          <a:xfrm>
            <a:off x="457200" y="1737360"/>
            <a:ext cx="2651760" cy="1280160"/>
          </a:xfrm>
          <a:prstGeom prst="rect">
            <a:avLst/>
          </a:prstGeom>
          <a:solidFill>
            <a:srgbClr val="FFFFFF"/>
          </a:solidFill>
          <a:ln w="19050">
            <a:solidFill>
              <a:srgbClr val="1F4E79"/>
            </a:solidFill>
            <a:prstDash val="solid"/>
          </a:ln>
        </p:spPr>
      </p:sp>
      <p:sp>
        <p:nvSpPr>
          <p:cNvPr id="6" name="Text 4"/>
          <p:cNvSpPr txBox="1"/>
          <p:nvPr/>
        </p:nvSpPr>
        <p:spPr>
          <a:xfrm>
            <a:off x="594360" y="1783080"/>
            <a:ext cx="2377440" cy="11887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Cubrir las frecuencias de interés sin distorsiones dispares entre trazas</a:t>
            </a:r>
            <a:endParaRPr lang="en-US" sz="1600" dirty="0"/>
          </a:p>
        </p:txBody>
      </p:sp>
      <p:sp>
        <p:nvSpPr>
          <p:cNvPr id="7" name="Cabecera Margen dinámico"/>
          <p:cNvSpPr/>
          <p:nvPr/>
        </p:nvSpPr>
        <p:spPr>
          <a:xfrm>
            <a:off x="3246120" y="1234440"/>
            <a:ext cx="2651760" cy="502920"/>
          </a:xfrm>
          <a:prstGeom prst="rect">
            <a:avLst/>
          </a:prstGeom>
          <a:solidFill>
            <a:srgbClr val="1F4E79"/>
          </a:solidFill>
          <a:ln w="12700">
            <a:solidFill>
              <a:srgbClr val="1F4E79"/>
            </a:solidFill>
            <a:prstDash val="solid"/>
          </a:ln>
        </p:spPr>
      </p:sp>
      <p:sp>
        <p:nvSpPr>
          <p:cNvPr id="8" name="Text 6"/>
          <p:cNvSpPr txBox="1"/>
          <p:nvPr/>
        </p:nvSpPr>
        <p:spPr>
          <a:xfrm>
            <a:off x="3246120" y="1234440"/>
            <a:ext cx="2651760" cy="50292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Margen dinámico</a:t>
            </a:r>
            <a:endParaRPr lang="en-US" sz="1600" dirty="0"/>
          </a:p>
        </p:txBody>
      </p:sp>
      <p:sp>
        <p:nvSpPr>
          <p:cNvPr id="9" name="Tarjeta Margen dinámico"/>
          <p:cNvSpPr/>
          <p:nvPr/>
        </p:nvSpPr>
        <p:spPr>
          <a:xfrm>
            <a:off x="3246120" y="1737360"/>
            <a:ext cx="2651760" cy="1280160"/>
          </a:xfrm>
          <a:prstGeom prst="rect">
            <a:avLst/>
          </a:prstGeom>
          <a:solidFill>
            <a:srgbClr val="FFFFFF"/>
          </a:solidFill>
          <a:ln w="19050">
            <a:solidFill>
              <a:srgbClr val="1F4E79"/>
            </a:solidFill>
            <a:prstDash val="solid"/>
          </a:ln>
        </p:spPr>
      </p:sp>
      <p:sp>
        <p:nvSpPr>
          <p:cNvPr id="10" name="Text 8"/>
          <p:cNvSpPr txBox="1"/>
          <p:nvPr/>
        </p:nvSpPr>
        <p:spPr>
          <a:xfrm>
            <a:off x="3383280" y="1783080"/>
            <a:ext cx="2377440" cy="11887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Ganancia ajustable y resolución para señales cercanas y lejanas, sin saturar</a:t>
            </a:r>
            <a:endParaRPr lang="en-US" sz="1600" dirty="0"/>
          </a:p>
        </p:txBody>
      </p:sp>
      <p:sp>
        <p:nvSpPr>
          <p:cNvPr id="11" name="Cabecera Sincronización temporal"/>
          <p:cNvSpPr/>
          <p:nvPr/>
        </p:nvSpPr>
        <p:spPr>
          <a:xfrm>
            <a:off x="6035040" y="1234440"/>
            <a:ext cx="2651760" cy="502920"/>
          </a:xfrm>
          <a:prstGeom prst="rect">
            <a:avLst/>
          </a:prstGeom>
          <a:solidFill>
            <a:srgbClr val="1F4E79"/>
          </a:solidFill>
          <a:ln w="12700">
            <a:solidFill>
              <a:srgbClr val="1F4E79"/>
            </a:solidFill>
            <a:prstDash val="solid"/>
          </a:ln>
        </p:spPr>
      </p:sp>
      <p:sp>
        <p:nvSpPr>
          <p:cNvPr id="12" name="Text 10"/>
          <p:cNvSpPr txBox="1"/>
          <p:nvPr/>
        </p:nvSpPr>
        <p:spPr>
          <a:xfrm>
            <a:off x="6035040" y="1234440"/>
            <a:ext cx="2651760" cy="50292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Sincronización temporal</a:t>
            </a:r>
            <a:endParaRPr lang="en-US" sz="1600" dirty="0"/>
          </a:p>
        </p:txBody>
      </p:sp>
      <p:sp>
        <p:nvSpPr>
          <p:cNvPr id="13" name="Tarjeta Sincronización temporal"/>
          <p:cNvSpPr/>
          <p:nvPr/>
        </p:nvSpPr>
        <p:spPr>
          <a:xfrm>
            <a:off x="6035040" y="1737360"/>
            <a:ext cx="2651760" cy="1280160"/>
          </a:xfrm>
          <a:prstGeom prst="rect">
            <a:avLst/>
          </a:prstGeom>
          <a:solidFill>
            <a:srgbClr val="FFFFFF"/>
          </a:solidFill>
          <a:ln w="19050">
            <a:solidFill>
              <a:srgbClr val="1F4E79"/>
            </a:solidFill>
            <a:prstDash val="solid"/>
          </a:ln>
        </p:spPr>
      </p:sp>
      <p:sp>
        <p:nvSpPr>
          <p:cNvPr id="14" name="Text 12"/>
          <p:cNvSpPr txBox="1"/>
          <p:nvPr/>
        </p:nvSpPr>
        <p:spPr>
          <a:xfrm>
            <a:off x="6172200" y="1783080"/>
            <a:ext cx="2377440" cy="11887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Referencia de tiempo común entre nodos y con la excitación</a:t>
            </a:r>
            <a:endParaRPr lang="en-US" sz="1600" dirty="0"/>
          </a:p>
        </p:txBody>
      </p:sp>
      <p:sp>
        <p:nvSpPr>
          <p:cNvPr id="15" name="Cabecera Geometría"/>
          <p:cNvSpPr/>
          <p:nvPr/>
        </p:nvSpPr>
        <p:spPr>
          <a:xfrm>
            <a:off x="457200" y="3200400"/>
            <a:ext cx="4023360" cy="457200"/>
          </a:xfrm>
          <a:prstGeom prst="rect">
            <a:avLst/>
          </a:prstGeom>
          <a:solidFill>
            <a:srgbClr val="1F4E79"/>
          </a:solidFill>
          <a:ln w="12700">
            <a:solidFill>
              <a:srgbClr val="1F4E79"/>
            </a:solidFill>
            <a:prstDash val="solid"/>
          </a:ln>
        </p:spPr>
      </p:sp>
      <p:sp>
        <p:nvSpPr>
          <p:cNvPr id="16" name="Text 14"/>
          <p:cNvSpPr txBox="1"/>
          <p:nvPr/>
        </p:nvSpPr>
        <p:spPr>
          <a:xfrm>
            <a:off x="457200" y="3200400"/>
            <a:ext cx="4023360" cy="45720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Geometría</a:t>
            </a:r>
            <a:endParaRPr lang="en-US" sz="2000" dirty="0"/>
          </a:p>
        </p:txBody>
      </p:sp>
      <p:sp>
        <p:nvSpPr>
          <p:cNvPr id="17" name="Tarjeta Geometría"/>
          <p:cNvSpPr/>
          <p:nvPr/>
        </p:nvSpPr>
        <p:spPr>
          <a:xfrm>
            <a:off x="457200" y="3657600"/>
            <a:ext cx="4023360" cy="868680"/>
          </a:xfrm>
          <a:prstGeom prst="rect">
            <a:avLst/>
          </a:prstGeom>
          <a:solidFill>
            <a:srgbClr val="FFFFFF"/>
          </a:solidFill>
          <a:ln w="19050">
            <a:solidFill>
              <a:srgbClr val="1F4E79"/>
            </a:solidFill>
            <a:prstDash val="solid"/>
          </a:ln>
        </p:spPr>
      </p:sp>
      <p:sp>
        <p:nvSpPr>
          <p:cNvPr id="18" name="Text 16"/>
          <p:cNvSpPr txBox="1"/>
          <p:nvPr/>
        </p:nvSpPr>
        <p:spPr>
          <a:xfrm>
            <a:off x="594360" y="3703320"/>
            <a:ext cx="374904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Posición conocida de cada traza respecto de la fuente</a:t>
            </a:r>
            <a:endParaRPr lang="en-US" sz="1800" dirty="0"/>
          </a:p>
        </p:txBody>
      </p:sp>
      <p:sp>
        <p:nvSpPr>
          <p:cNvPr id="19" name="Cabecera Operación en campo"/>
          <p:cNvSpPr/>
          <p:nvPr/>
        </p:nvSpPr>
        <p:spPr>
          <a:xfrm>
            <a:off x="4663440" y="3200400"/>
            <a:ext cx="4023360" cy="457200"/>
          </a:xfrm>
          <a:prstGeom prst="rect">
            <a:avLst/>
          </a:prstGeom>
          <a:solidFill>
            <a:srgbClr val="1F4E79"/>
          </a:solidFill>
          <a:ln w="12700">
            <a:solidFill>
              <a:srgbClr val="1F4E79"/>
            </a:solidFill>
            <a:prstDash val="solid"/>
          </a:ln>
        </p:spPr>
      </p:sp>
      <p:sp>
        <p:nvSpPr>
          <p:cNvPr id="20" name="Text 18"/>
          <p:cNvSpPr txBox="1"/>
          <p:nvPr/>
        </p:nvSpPr>
        <p:spPr>
          <a:xfrm>
            <a:off x="4663440" y="3200400"/>
            <a:ext cx="4023360" cy="457200"/>
          </a:xfrm>
          <a:prstGeom prst="rect">
            <a:avLst/>
          </a:prstGeom>
          <a:noFill/>
          <a:ln/>
        </p:spPr>
        <p:txBody>
          <a:bodyPr wrap="square" lIns="50800" tIns="50800" rIns="50800" bIns="5080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Operación en campo</a:t>
            </a:r>
            <a:endParaRPr lang="en-US" sz="2000" dirty="0"/>
          </a:p>
        </p:txBody>
      </p:sp>
      <p:sp>
        <p:nvSpPr>
          <p:cNvPr id="21" name="Tarjeta Operación en campo"/>
          <p:cNvSpPr/>
          <p:nvPr/>
        </p:nvSpPr>
        <p:spPr>
          <a:xfrm>
            <a:off x="4663440" y="3657600"/>
            <a:ext cx="4023360" cy="868680"/>
          </a:xfrm>
          <a:prstGeom prst="rect">
            <a:avLst/>
          </a:prstGeom>
          <a:solidFill>
            <a:srgbClr val="FFFFFF"/>
          </a:solidFill>
          <a:ln w="19050">
            <a:solidFill>
              <a:srgbClr val="1F4E79"/>
            </a:solidFill>
            <a:prstDash val="solid"/>
          </a:ln>
        </p:spPr>
      </p:sp>
      <p:sp>
        <p:nvSpPr>
          <p:cNvPr id="22" name="Text 20"/>
          <p:cNvSpPr txBox="1"/>
          <p:nvPr/>
        </p:nvSpPr>
        <p:spPr>
          <a:xfrm>
            <a:off x="4800600" y="3703320"/>
            <a:ext cx="374904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Infraestructura mínima, con registro local y transmisión fiable</a:t>
            </a:r>
            <a:endParaRPr lang="en-US" sz="1800" dirty="0"/>
          </a:p>
        </p:txBody>
      </p:sp>
      <p:sp>
        <p:nvSpPr>
          <p:cNvPr id="23"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plataforma consta de un maestro y de nodos independientes que se comunican por ESP-NOW</a:t>
            </a:r>
            <a:endParaRPr lang="en-US" sz="2400" dirty="0"/>
          </a:p>
        </p:txBody>
      </p:sp>
      <p:pic>
        <p:nvPicPr>
          <p:cNvPr id="3" name="Arquitectura" descr="Arquitectura del sistema: navegador, maestro ESP32, nodos GEO y nodo HAMMER, cada uno con ESP32 y PSoC 5LP">    </p:cNvPr>
          <p:cNvPicPr>
            <a:picLocks noChangeAspect="1"/>
          </p:cNvPicPr>
          <p:nvPr/>
        </p:nvPicPr>
        <p:blipFill>
          <a:blip r:embed="rId1"/>
          <a:stretch>
            <a:fillRect/>
          </a:stretch>
        </p:blipFill>
        <p:spPr>
          <a:xfrm>
            <a:off x="548640" y="1234440"/>
            <a:ext cx="8046720" cy="2951220"/>
          </a:xfrm>
          <a:prstGeom prst="rect">
            <a:avLst/>
          </a:prstGeom>
        </p:spPr>
      </p:pic>
      <p:sp>
        <p:nvSpPr>
          <p:cNvPr id="4" name="Text 1"/>
          <p:cNvSpPr txBox="1"/>
          <p:nvPr/>
        </p:nvSpPr>
        <p:spPr>
          <a:xfrm>
            <a:off x="457200" y="4224528"/>
            <a:ext cx="8229600" cy="320040"/>
          </a:xfrm>
          <a:prstGeom prst="rect">
            <a:avLst/>
          </a:prstGeom>
          <a:noFill/>
          <a:ln/>
        </p:spPr>
        <p:txBody>
          <a:bodyPr wrap="square" lIns="0" tIns="0" rIns="0" bIns="0" rtlCol="0" anchor="t"/>
          <a:lstStyle/>
          <a:p>
            <a:pPr indent="0" marL="0">
              <a:buNone/>
            </a:pPr>
            <a:r>
              <a:rPr lang="en-US" sz="1500" dirty="0">
                <a:solidFill>
                  <a:srgbClr val="2D2D2D"/>
                </a:solidFill>
                <a:latin typeface="Arial" pitchFamily="34" charset="0"/>
                <a:ea typeface="Arial" pitchFamily="34" charset="-122"/>
                <a:cs typeface="Arial" pitchFamily="34" charset="-120"/>
              </a:rPr>
              <a:t>Cada nodo acondiciona, digitaliza y guarda sus propias muestras. Más canales significa más nodos GEO.</a:t>
            </a:r>
            <a:endParaRPr lang="en-US" sz="15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la fig. 11 del resumen firmado (sec. 4.7).</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SM-24 es un geófono vertical pasivo de bobina móvil, y su amortiguamiento depende de la carga</a:t>
            </a:r>
            <a:endParaRPr lang="en-US" sz="2400" dirty="0"/>
          </a:p>
        </p:txBody>
      </p:sp>
      <p:pic>
        <p:nvPicPr>
          <p:cNvPr id="3" name="Foto SM-24" descr="Foto del geófono SM-24 con carcasa amarilla y punta">    </p:cNvPr>
          <p:cNvPicPr>
            <a:picLocks noChangeAspect="1"/>
          </p:cNvPicPr>
          <p:nvPr/>
        </p:nvPicPr>
        <p:blipFill>
          <a:blip r:embed="rId1"/>
          <a:stretch>
            <a:fillRect/>
          </a:stretch>
        </p:blipFill>
        <p:spPr>
          <a:xfrm>
            <a:off x="457200" y="1280160"/>
            <a:ext cx="1691640" cy="1691640"/>
          </a:xfrm>
          <a:prstGeom prst="rect">
            <a:avLst/>
          </a:prstGeom>
        </p:spPr>
      </p:pic>
      <p:pic>
        <p:nvPicPr>
          <p:cNvPr id="4" name="Corte geófono" descr="Corte interno de un geófono de bobina móvil: carcasa, resortes, imán y bobinas">    </p:cNvPr>
          <p:cNvPicPr>
            <a:picLocks noChangeAspect="1"/>
          </p:cNvPicPr>
          <p:nvPr/>
        </p:nvPicPr>
        <p:blipFill>
          <a:blip r:embed="rId2"/>
          <a:stretch>
            <a:fillRect/>
          </a:stretch>
        </p:blipFill>
        <p:spPr>
          <a:xfrm>
            <a:off x="2240280" y="1280160"/>
            <a:ext cx="2240280" cy="1692242"/>
          </a:xfrm>
          <a:prstGeom prst="rect">
            <a:avLst/>
          </a:prstGeom>
        </p:spPr>
      </p:pic>
      <p:sp>
        <p:nvSpPr>
          <p:cNvPr id="5" name="Cuerpo"/>
          <p:cNvSpPr txBox="1"/>
          <p:nvPr/>
        </p:nvSpPr>
        <p:spPr>
          <a:xfrm>
            <a:off x="4754880" y="1280160"/>
            <a:ext cx="3931920" cy="192024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Mide el movimiento vertical del suelo</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Frecuencia natural: 10 Hz ±2,5 %</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Sensibilidad: 28,8 V·s/m ±2,5 %</a:t>
            </a:r>
            <a:endParaRPr lang="en-US" sz="1400" dirty="0"/>
          </a:p>
          <a:p>
            <a:pPr marL="342900" indent="-342900">
              <a:spcAft>
                <a:spcPts val="600"/>
              </a:spcAft>
              <a:buSzPct val="100000"/>
              <a:buChar char="•"/>
            </a:pPr>
            <a:r>
              <a:rPr lang="en-US" sz="1400" dirty="0">
                <a:solidFill>
                  <a:srgbClr val="2D2D2D"/>
                </a:solidFill>
                <a:latin typeface="Arial" pitchFamily="34" charset="0"/>
                <a:ea typeface="Arial" pitchFamily="34" charset="-122"/>
                <a:cs typeface="Arial" pitchFamily="34" charset="-120"/>
              </a:rPr>
              <a:t>En circuito abierto: ζ ≈ 0,25; con 1339 Ω de carga: ζ = 0,60</a:t>
            </a:r>
            <a:endParaRPr lang="en-US" sz="1400" dirty="0"/>
          </a:p>
        </p:txBody>
      </p:sp>
      <p:sp>
        <p:nvSpPr>
          <p:cNvPr id="6" name="Fondo E_zeta"/>
          <p:cNvSpPr/>
          <p:nvPr/>
        </p:nvSpPr>
        <p:spPr>
          <a:xfrm>
            <a:off x="457200" y="3246120"/>
            <a:ext cx="822960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zeta"/>
              <p:cNvSpPr txBox="1"/>
              <p:nvPr/>
            </p:nvSpPr>
            <p:spPr>
              <a:xfrm>
                <a:off x="457200" y="3246120"/>
                <a:ext cx="822960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200" i="1">
                          <a:solidFill>
                            <a:srgbClr val="1F4E79"/>
                          </a:solidFill>
                          <a:latin typeface="Cambria Math" panose="02040503050406030204" pitchFamily="18" charset="0"/>
                        </a:rPr>
                        <m:t xml:space="preserve">ζ=</m:t>
                      </m:r>
                      <m:f>
                        <m:fPr>
                          <m:ctrlPr>
                            <a:rPr lang="es-ES" sz="2200" i="1">
                              <a:latin typeface="Cambria Math" panose="02040503050406030204" pitchFamily="18" charset="0"/>
                            </a:rPr>
                          </m:ctrlPr>
                        </m:fPr>
                        <m:num>
                          <m:r>
                            <a:rPr lang="es-ES" sz="2200" i="1">
                              <a:solidFill>
                                <a:srgbClr val="1F4E79"/>
                              </a:solidFill>
                              <a:latin typeface="Cambria Math" panose="02040503050406030204" pitchFamily="18" charset="0"/>
                            </a:rPr>
                            <m:t xml:space="preserve">c</m:t>
                          </m:r>
                        </m:num>
                        <m:den>
                          <m:r>
                            <a:rPr lang="es-ES" sz="2200" i="1">
                              <a:solidFill>
                                <a:srgbClr val="1F4E79"/>
                              </a:solidFill>
                              <a:latin typeface="Cambria Math" panose="02040503050406030204" pitchFamily="18" charset="0"/>
                            </a:rPr>
                            <m:t xml:space="preserve">2m</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ω</m:t>
                              </m:r>
                            </m:e>
                            <m:sub>
                              <m:r>
                                <a:rPr lang="es-ES" sz="2200" i="1">
                                  <a:solidFill>
                                    <a:srgbClr val="1F4E79"/>
                                  </a:solidFill>
                                  <a:latin typeface="Cambria Math" panose="02040503050406030204" pitchFamily="18" charset="0"/>
                                </a:rPr>
                                <m:t xml:space="preserve">n</m:t>
                              </m:r>
                            </m:sub>
                          </m:sSub>
                        </m:den>
                      </m:f>
                      <m:r>
                        <a:rPr lang="es-ES" sz="2200" i="1">
                          <a:solidFill>
                            <a:srgbClr val="1F4E79"/>
                          </a:solidFill>
                          <a:latin typeface="Cambria Math" panose="02040503050406030204" pitchFamily="18" charset="0"/>
                        </a:rPr>
                        <m:t xml:space="preserve">+</m:t>
                      </m:r>
                      <m:f>
                        <m:fPr>
                          <m:ctrlPr>
                            <a:rPr lang="es-ES" sz="2200" i="1">
                              <a:latin typeface="Cambria Math" panose="02040503050406030204" pitchFamily="18" charset="0"/>
                            </a:rPr>
                          </m:ctrlPr>
                        </m:fPr>
                        <m:num>
                          <m:sSup>
                            <m:sSupPr>
                              <m:ctrlPr>
                                <a:rPr lang="es-ES" sz="2200" i="1">
                                  <a:latin typeface="Cambria Math" panose="02040503050406030204" pitchFamily="18" charset="0"/>
                                </a:rPr>
                              </m:ctrlPr>
                            </m:sSupPr>
                            <m:e>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G</m:t>
                                  </m:r>
                                </m:e>
                                <m:sub>
                                  <m:r>
                                    <a:rPr lang="es-ES" sz="2200" i="1">
                                      <a:solidFill>
                                        <a:srgbClr val="1F4E79"/>
                                      </a:solidFill>
                                      <a:latin typeface="Cambria Math" panose="02040503050406030204" pitchFamily="18" charset="0"/>
                                    </a:rPr>
                                    <m:t xml:space="preserve">0</m:t>
                                  </m:r>
                                </m:sub>
                              </m:sSub>
                            </m:e>
                            <m:sup>
                              <m:r>
                                <a:rPr lang="es-ES" sz="2200" i="1">
                                  <a:solidFill>
                                    <a:srgbClr val="1F4E79"/>
                                  </a:solidFill>
                                  <a:latin typeface="Cambria Math" panose="02040503050406030204" pitchFamily="18" charset="0"/>
                                </a:rPr>
                                <m:t xml:space="preserve">2</m:t>
                              </m:r>
                            </m:sup>
                          </m:sSup>
                        </m:num>
                        <m:den>
                          <m:r>
                            <a:rPr lang="es-ES" sz="2200" i="1">
                              <a:solidFill>
                                <a:srgbClr val="1F4E79"/>
                              </a:solidFill>
                              <a:latin typeface="Cambria Math" panose="02040503050406030204" pitchFamily="18" charset="0"/>
                            </a:rPr>
                            <m:t xml:space="preserve">2m</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ω</m:t>
                              </m:r>
                            </m:e>
                            <m:sub>
                              <m:r>
                                <a:rPr lang="es-ES" sz="2200" i="1">
                                  <a:solidFill>
                                    <a:srgbClr val="1F4E79"/>
                                  </a:solidFill>
                                  <a:latin typeface="Cambria Math" panose="02040503050406030204" pitchFamily="18" charset="0"/>
                                </a:rPr>
                                <m:t xml:space="preserve">n</m:t>
                              </m:r>
                            </m:sub>
                          </m:sSub>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R</m:t>
                              </m:r>
                            </m:e>
                            <m:sub>
                              <m:r>
                                <a:rPr lang="es-ES" sz="2200" i="1">
                                  <a:solidFill>
                                    <a:srgbClr val="1F4E79"/>
                                  </a:solidFill>
                                  <a:latin typeface="Cambria Math" panose="02040503050406030204" pitchFamily="18" charset="0"/>
                                </a:rPr>
                                <m:t xml:space="preserve">i</m:t>
                              </m:r>
                            </m:sub>
                          </m:sSub>
                          <m:r>
                            <a:rPr lang="es-ES" sz="2200" i="1">
                              <a:solidFill>
                                <a:srgbClr val="1F4E79"/>
                              </a:solidFill>
                              <a:latin typeface="Cambria Math" panose="02040503050406030204" pitchFamily="18" charset="0"/>
                            </a:rPr>
                            <m:t xml:space="preserve">+</m:t>
                          </m:r>
                          <m:sSub>
                            <m:sSubPr>
                              <m:ctrlPr>
                                <a:rPr lang="es-ES" sz="2200" i="1">
                                  <a:latin typeface="Cambria Math" panose="02040503050406030204" pitchFamily="18" charset="0"/>
                                </a:rPr>
                              </m:ctrlPr>
                            </m:sSubPr>
                            <m:e>
                              <m:r>
                                <a:rPr lang="es-ES" sz="2200" i="1">
                                  <a:solidFill>
                                    <a:srgbClr val="1F4E79"/>
                                  </a:solidFill>
                                  <a:latin typeface="Cambria Math" panose="02040503050406030204" pitchFamily="18" charset="0"/>
                                </a:rPr>
                                <m:t xml:space="preserve">R</m:t>
                              </m:r>
                            </m:e>
                            <m:sub>
                              <m:r>
                                <a:rPr lang="es-ES" sz="2200" i="1">
                                  <a:solidFill>
                                    <a:srgbClr val="1F4E79"/>
                                  </a:solidFill>
                                  <a:latin typeface="Cambria Math" panose="02040503050406030204" pitchFamily="18" charset="0"/>
                                </a:rPr>
                                <m:t xml:space="preserve">L</m:t>
                              </m:r>
                            </m:sub>
                          </m:sSub>
                          <m:r>
                            <a:rPr lang="es-ES" sz="2200" i="1">
                              <a:solidFill>
                                <a:srgbClr val="1F4E79"/>
                              </a:solidFill>
                              <a:latin typeface="Cambria Math" panose="02040503050406030204" pitchFamily="18" charset="0"/>
                            </a:rPr>
                            <m:t xml:space="preserve">)</m:t>
                          </m:r>
                        </m:den>
                      </m:f>
                    </m:oMath>
                  </m:oMathPara>
                </a14:m>
                <a:endParaRPr lang="es-ES"/>
              </a:p>
            </p:txBody>
          </p:sp>
        </mc:Choice>
        <mc:Fallback>
          <p:sp>
            <p:nvSpPr>
              <p:cNvPr id="7" name="Ecuación E_zeta"/>
              <p:cNvSpPr txBox="1"/>
              <p:nvPr/>
            </p:nvSpPr>
            <p:spPr>
              <a:xfrm>
                <a:off x="457200" y="3246120"/>
                <a:ext cx="822960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ζ = c/(2mωn) + G0²/(2mωn(Ri + RL))</a:t>
                </a:r>
                <a:endParaRPr lang="en-US" sz="2400" dirty="0"/>
              </a:p>
            </p:txBody>
          </p:sp>
        </mc:Fallback>
      </mc:AlternateContent>
      <p:sp>
        <p:nvSpPr>
          <p:cNvPr id="8" name="Text 4"/>
          <p:cNvSpPr txBox="1"/>
          <p:nvPr/>
        </p:nvSpPr>
        <p:spPr>
          <a:xfrm>
            <a:off x="457200" y="4114800"/>
            <a:ext cx="8229600" cy="41148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ζ: factor de amortiguamiento. Ri: resistencia de la bobina (375 Ω). RL: carga del frente analógico, que también amortigua al sensor.</a:t>
            </a:r>
            <a:endParaRPr lang="en-US" sz="13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Sensor Nederland B.V. (2006), hoja de datos SM-24; resumen firmado, sec. 4.2, ec. (8). Corte: Breslin (2020), crédito DESY, original sin verificar.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masa suspendida se mueve respecto de la carcasa, y ese movimiento relativo genera la tensión</a:t>
            </a:r>
            <a:endParaRPr lang="en-US" sz="2400" dirty="0"/>
          </a:p>
        </p:txBody>
      </p:sp>
      <p:sp>
        <p:nvSpPr>
          <p:cNvPr id="3" name="Fondo E_urel"/>
          <p:cNvSpPr/>
          <p:nvPr/>
        </p:nvSpPr>
        <p:spPr>
          <a:xfrm>
            <a:off x="457200" y="1325880"/>
            <a:ext cx="274320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urel"/>
              <p:cNvSpPr txBox="1"/>
              <p:nvPr/>
            </p:nvSpPr>
            <p:spPr>
              <a:xfrm>
                <a:off x="457200" y="1325880"/>
                <a:ext cx="274320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u=</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x</m:t>
                          </m:r>
                        </m:e>
                        <m:sub>
                          <m:r>
                            <a:rPr lang="es-ES" sz="2400" i="1">
                              <a:solidFill>
                                <a:srgbClr val="1F4E79"/>
                              </a:solidFill>
                              <a:latin typeface="Cambria Math" panose="02040503050406030204" pitchFamily="18" charset="0"/>
                            </a:rPr>
                            <m:t xml:space="preserve">m</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x</m:t>
                          </m:r>
                        </m:e>
                        <m:sub>
                          <m:r>
                            <a:rPr lang="es-ES" sz="2400" i="1">
                              <a:solidFill>
                                <a:srgbClr val="1F4E79"/>
                              </a:solidFill>
                              <a:latin typeface="Cambria Math" panose="02040503050406030204" pitchFamily="18" charset="0"/>
                            </a:rPr>
                            <m:t xml:space="preserve">g</m:t>
                          </m:r>
                        </m:sub>
                      </m:sSub>
                    </m:oMath>
                  </m:oMathPara>
                </a14:m>
                <a:endParaRPr lang="es-ES"/>
              </a:p>
            </p:txBody>
          </p:sp>
        </mc:Choice>
        <mc:Fallback>
          <p:sp>
            <p:nvSpPr>
              <p:cNvPr id="4" name="Ecuación E_urel"/>
              <p:cNvSpPr txBox="1"/>
              <p:nvPr/>
            </p:nvSpPr>
            <p:spPr>
              <a:xfrm>
                <a:off x="457200" y="1325880"/>
                <a:ext cx="274320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u = xm − xg</a:t>
                </a:r>
                <a:endParaRPr lang="en-US" sz="2400" dirty="0"/>
              </a:p>
            </p:txBody>
          </p:sp>
        </mc:Fallback>
      </mc:AlternateContent>
      <p:sp>
        <p:nvSpPr>
          <p:cNvPr id="5" name="Fondo E_mech"/>
          <p:cNvSpPr/>
          <p:nvPr/>
        </p:nvSpPr>
        <p:spPr>
          <a:xfrm>
            <a:off x="3383280" y="1325880"/>
            <a:ext cx="53035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mech"/>
              <p:cNvSpPr txBox="1"/>
              <p:nvPr/>
            </p:nvSpPr>
            <p:spPr>
              <a:xfrm>
                <a:off x="3383280" y="1325880"/>
                <a:ext cx="53035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m</m:t>
                      </m:r>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u</m:t>
                          </m:r>
                        </m:e>
                      </m:acc>
                      <m:r>
                        <a:rPr lang="es-ES" sz="2400" i="1">
                          <a:solidFill>
                            <a:srgbClr val="1F4E79"/>
                          </a:solidFill>
                          <a:latin typeface="Cambria Math" panose="02040503050406030204" pitchFamily="18" charset="0"/>
                        </a:rPr>
                        <m:t xml:space="preserve">+c</m:t>
                      </m:r>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u</m:t>
                          </m:r>
                        </m:e>
                      </m:acc>
                      <m:r>
                        <a:rPr lang="es-ES" sz="2400" i="1">
                          <a:solidFill>
                            <a:srgbClr val="1F4E79"/>
                          </a:solidFill>
                          <a:latin typeface="Cambria Math" panose="02040503050406030204" pitchFamily="18" charset="0"/>
                        </a:rPr>
                        <m:t xml:space="preserve">+ku=−m</m:t>
                      </m:r>
                      <m:sSub>
                        <m:sSubPr>
                          <m:ctrlPr>
                            <a:rPr lang="es-ES" sz="2400" i="1">
                              <a:latin typeface="Cambria Math" panose="02040503050406030204" pitchFamily="18" charset="0"/>
                            </a:rPr>
                          </m:ctrlPr>
                        </m:sSubPr>
                        <m:e>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x</m:t>
                              </m:r>
                            </m:e>
                          </m:acc>
                        </m:e>
                        <m:sub>
                          <m:r>
                            <a:rPr lang="es-ES" sz="2400" i="1">
                              <a:solidFill>
                                <a:srgbClr val="1F4E79"/>
                              </a:solidFill>
                              <a:latin typeface="Cambria Math" panose="02040503050406030204" pitchFamily="18" charset="0"/>
                            </a:rPr>
                            <m:t xml:space="preserve">g</m:t>
                          </m:r>
                        </m:sub>
                      </m:sSub>
                    </m:oMath>
                  </m:oMathPara>
                </a14:m>
                <a:endParaRPr lang="es-ES"/>
              </a:p>
            </p:txBody>
          </p:sp>
        </mc:Choice>
        <mc:Fallback>
          <p:sp>
            <p:nvSpPr>
              <p:cNvPr id="6" name="Ecuación E_mech"/>
              <p:cNvSpPr txBox="1"/>
              <p:nvPr/>
            </p:nvSpPr>
            <p:spPr>
              <a:xfrm>
                <a:off x="3383280" y="1325880"/>
                <a:ext cx="53035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m ü + c u̇ + k u = −m ẍg</a:t>
                </a:r>
                <a:endParaRPr lang="en-US" sz="2400" dirty="0"/>
              </a:p>
            </p:txBody>
          </p:sp>
        </mc:Fallback>
      </mc:AlternateContent>
      <p:sp>
        <p:nvSpPr>
          <p:cNvPr id="7" name="Cuerpo"/>
          <p:cNvSpPr txBox="1"/>
          <p:nvPr/>
        </p:nvSpPr>
        <p:spPr>
          <a:xfrm>
            <a:off x="457200" y="2286000"/>
            <a:ext cx="8229600" cy="137160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u: desplazamiento de la masa respecto de la carcasa, que sigue al suelo</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m, c y k: masa móvil, amortiguamiento mecánico y rigidez del resorte</a:t>
            </a:r>
            <a:endParaRPr lang="en-US" sz="1600" dirty="0"/>
          </a:p>
          <a:p>
            <a:pPr marL="342900" indent="-342900">
              <a:spcAft>
                <a:spcPts val="600"/>
              </a:spcAft>
              <a:buSzPct val="100000"/>
              <a:buChar char="•"/>
            </a:pPr>
            <a:r>
              <a:rPr lang="en-US" sz="1600" dirty="0">
                <a:solidFill>
                  <a:srgbClr val="2D2D2D"/>
                </a:solidFill>
                <a:latin typeface="Arial" pitchFamily="34" charset="0"/>
                <a:ea typeface="Arial" pitchFamily="34" charset="-122"/>
                <a:cs typeface="Arial" pitchFamily="34" charset="-120"/>
              </a:rPr>
              <a:t>La aceleración del terreno excita la masa; la tensión inducida es proporcional a u̇:</a:t>
            </a:r>
            <a:endParaRPr lang="en-US" sz="1600" dirty="0"/>
          </a:p>
        </p:txBody>
      </p:sp>
      <p:sp>
        <p:nvSpPr>
          <p:cNvPr id="8" name="Fondo E_vo"/>
          <p:cNvSpPr/>
          <p:nvPr/>
        </p:nvSpPr>
        <p:spPr>
          <a:xfrm>
            <a:off x="2743200" y="3749040"/>
            <a:ext cx="3657600" cy="6858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9" name="Ecuación E_vo"/>
              <p:cNvSpPr txBox="1"/>
              <p:nvPr/>
            </p:nvSpPr>
            <p:spPr>
              <a:xfrm>
                <a:off x="2743200" y="3749040"/>
                <a:ext cx="3657600" cy="6858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m:rPr>
                              <m:sty m:val="p"/>
                            </m:rPr>
                            <a:rPr lang="es-ES" sz="2400">
                              <a:solidFill>
                                <a:srgbClr val="1F4E79"/>
                              </a:solidFill>
                              <a:latin typeface="Cambria Math" panose="02040503050406030204" pitchFamily="18" charset="0"/>
                            </a:rPr>
                            <m:t xml:space="preserve">o</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a:rPr lang="es-ES" sz="2400" i="1">
                              <a:solidFill>
                                <a:srgbClr val="1F4E79"/>
                              </a:solidFill>
                              <a:latin typeface="Cambria Math" panose="02040503050406030204" pitchFamily="18" charset="0"/>
                            </a:rPr>
                            <m:t xml:space="preserve">0</m:t>
                          </m:r>
                        </m:sub>
                      </m:sSub>
                      <m:acc>
                        <m:accPr>
                          <m:chr m:val="̇"/>
                          <m:ctrlPr>
                            <a:rPr lang="es-ES" sz="2400" i="1">
                              <a:latin typeface="Cambria Math" panose="02040503050406030204" pitchFamily="18" charset="0"/>
                            </a:rPr>
                          </m:ctrlPr>
                        </m:accPr>
                        <m:e>
                          <m:r>
                            <a:rPr lang="es-ES" sz="2400" i="1">
                              <a:solidFill>
                                <a:srgbClr val="1F4E79"/>
                              </a:solidFill>
                              <a:latin typeface="Cambria Math" panose="02040503050406030204" pitchFamily="18" charset="0"/>
                            </a:rPr>
                            <m:t xml:space="preserve">u</m:t>
                          </m:r>
                        </m:e>
                      </m:acc>
                    </m:oMath>
                  </m:oMathPara>
                </a14:m>
                <a:endParaRPr lang="es-ES"/>
              </a:p>
            </p:txBody>
          </p:sp>
        </mc:Choice>
        <mc:Fallback>
          <p:sp>
            <p:nvSpPr>
              <p:cNvPr id="9" name="Ecuación E_vo"/>
              <p:cNvSpPr txBox="1"/>
              <p:nvPr/>
            </p:nvSpPr>
            <p:spPr>
              <a:xfrm>
                <a:off x="2743200" y="3749040"/>
                <a:ext cx="3657600" cy="6858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Vo = G0 u̇</a:t>
                </a:r>
                <a:endParaRPr lang="en-US" sz="2400" dirty="0"/>
              </a:p>
            </p:txBody>
          </p:sp>
        </mc:Fallback>
      </mc:AlternateContent>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4.2, ec. (7)–(9).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Por debajo de su frecuencia natural, la tensión del SM-24 cae rápido: a 1 Hz, unos 40 dB</a:t>
            </a:r>
            <a:endParaRPr lang="en-US" sz="2400" dirty="0"/>
          </a:p>
        </p:txBody>
      </p:sp>
      <p:pic>
        <p:nvPicPr>
          <p:cNvPr id="3" name="Respuesta SM-24" descr="Respuesta nominal del SM-24 referida a velocidad y a aceleración del terreno, con frecuencia natural de 10 Hz">    </p:cNvPr>
          <p:cNvPicPr>
            <a:picLocks noChangeAspect="1"/>
          </p:cNvPicPr>
          <p:nvPr/>
        </p:nvPicPr>
        <p:blipFill>
          <a:blip r:embed="rId1"/>
          <a:stretch>
            <a:fillRect/>
          </a:stretch>
        </p:blipFill>
        <p:spPr>
          <a:xfrm>
            <a:off x="1188720" y="1188720"/>
            <a:ext cx="6766560" cy="2470158"/>
          </a:xfrm>
          <a:prstGeom prst="rect">
            <a:avLst/>
          </a:prstGeom>
        </p:spPr>
      </p:pic>
      <p:sp>
        <p:nvSpPr>
          <p:cNvPr id="4" name="Fondo E_ha"/>
          <p:cNvSpPr/>
          <p:nvPr/>
        </p:nvSpPr>
        <p:spPr>
          <a:xfrm>
            <a:off x="2011680" y="3749040"/>
            <a:ext cx="512064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ha"/>
              <p:cNvSpPr txBox="1"/>
              <p:nvPr/>
            </p:nvSpPr>
            <p:spPr>
              <a:xfrm>
                <a:off x="2011680" y="3749040"/>
                <a:ext cx="512064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H</m:t>
                          </m:r>
                        </m:e>
                        <m:sub>
                          <m:r>
                            <a:rPr lang="es-ES" sz="2400" i="1">
                              <a:solidFill>
                                <a:srgbClr val="1F4E79"/>
                              </a:solidFill>
                              <a:latin typeface="Cambria Math" panose="02040503050406030204" pitchFamily="18" charset="0"/>
                            </a:rPr>
                            <m:t xml:space="preserve">a</m:t>
                          </m:r>
                        </m:sub>
                      </m:sSub>
                      <m:r>
                        <a:rPr lang="es-ES" sz="2400" i="1">
                          <a:solidFill>
                            <a:srgbClr val="1F4E79"/>
                          </a:solidFill>
                          <a:latin typeface="Cambria Math" panose="02040503050406030204" pitchFamily="18" charset="0"/>
                        </a:rPr>
                        <m:t xml:space="preserve">(s)=−</m:t>
                      </m:r>
                      <m:f>
                        <m:fPr>
                          <m:ctrlPr>
                            <a:rPr lang="es-ES" sz="2400" i="1">
                              <a:latin typeface="Cambria Math" panose="02040503050406030204" pitchFamily="18" charset="0"/>
                            </a:rPr>
                          </m:ctrlPr>
                        </m:fPr>
                        <m:num>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a:rPr lang="es-ES" sz="2400" i="1">
                                  <a:solidFill>
                                    <a:srgbClr val="1F4E79"/>
                                  </a:solidFill>
                                  <a:latin typeface="Cambria Math" panose="02040503050406030204" pitchFamily="18" charset="0"/>
                                </a:rPr>
                                <m:t xml:space="preserve">0</m:t>
                              </m:r>
                            </m:sub>
                          </m:sSub>
                          <m:r>
                            <a:rPr lang="es-ES" sz="2400" i="1">
                              <a:solidFill>
                                <a:srgbClr val="1F4E79"/>
                              </a:solidFill>
                              <a:latin typeface="Cambria Math" panose="02040503050406030204" pitchFamily="18" charset="0"/>
                            </a:rPr>
                            <m:t xml:space="preserve">s</m:t>
                          </m:r>
                        </m:num>
                        <m:den>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s</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+2ζ</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ω</m:t>
                              </m:r>
                            </m:e>
                            <m:sub>
                              <m:r>
                                <a:rPr lang="es-ES" sz="2400" i="1">
                                  <a:solidFill>
                                    <a:srgbClr val="1F4E79"/>
                                  </a:solidFill>
                                  <a:latin typeface="Cambria Math" panose="02040503050406030204" pitchFamily="18" charset="0"/>
                                </a:rPr>
                                <m:t xml:space="preserve">n</m:t>
                              </m:r>
                            </m:sub>
                          </m:sSub>
                          <m:r>
                            <a:rPr lang="es-ES" sz="2400" i="1">
                              <a:solidFill>
                                <a:srgbClr val="1F4E79"/>
                              </a:solidFill>
                              <a:latin typeface="Cambria Math" panose="02040503050406030204" pitchFamily="18" charset="0"/>
                            </a:rPr>
                            <m:t xml:space="preserve">s+</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ω</m:t>
                                  </m:r>
                                </m:e>
                                <m:sub>
                                  <m:r>
                                    <a:rPr lang="es-ES" sz="2400" i="1">
                                      <a:solidFill>
                                        <a:srgbClr val="1F4E79"/>
                                      </a:solidFill>
                                      <a:latin typeface="Cambria Math" panose="02040503050406030204" pitchFamily="18" charset="0"/>
                                    </a:rPr>
                                    <m:t xml:space="preserve">n</m:t>
                                  </m:r>
                                </m:sub>
                              </m:sSub>
                            </m:e>
                            <m:sup>
                              <m:r>
                                <a:rPr lang="es-ES" sz="2400" i="1">
                                  <a:solidFill>
                                    <a:srgbClr val="1F4E79"/>
                                  </a:solidFill>
                                  <a:latin typeface="Cambria Math" panose="02040503050406030204" pitchFamily="18" charset="0"/>
                                </a:rPr>
                                <m:t xml:space="preserve">2</m:t>
                              </m:r>
                            </m:sup>
                          </m:sSup>
                        </m:den>
                      </m:f>
                    </m:oMath>
                  </m:oMathPara>
                </a14:m>
                <a:endParaRPr lang="es-ES"/>
              </a:p>
            </p:txBody>
          </p:sp>
        </mc:Choice>
        <mc:Fallback>
          <p:sp>
            <p:nvSpPr>
              <p:cNvPr id="5" name="Ecuación E_ha"/>
              <p:cNvSpPr txBox="1"/>
              <p:nvPr/>
            </p:nvSpPr>
            <p:spPr>
              <a:xfrm>
                <a:off x="2011680" y="3749040"/>
                <a:ext cx="512064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Ha(s) = −G0·s / (s² + 2ζωn·s + ωn²)</a:t>
                </a:r>
                <a:endParaRPr lang="en-US" sz="2400" dirty="0"/>
              </a:p>
            </p:txBody>
          </p:sp>
        </mc:Fallback>
      </mc:AlternateContent>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Modelo propio a partir de Sensor Nederland B.V. (2006), circuito abierto; resumen firmado, fig. 4 y ec. (9).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pérdida cae justo en las bajas frecuencias, que son las que llegan más profundo</a:t>
            </a:r>
            <a:endParaRPr lang="en-US" sz="2400" dirty="0"/>
          </a:p>
        </p:txBody>
      </p:sp>
      <p:sp>
        <p:nvSpPr>
          <p:cNvPr id="3" name="Cabecera Geófono de 4,5 Hz"/>
          <p:cNvSpPr/>
          <p:nvPr/>
        </p:nvSpPr>
        <p:spPr>
          <a:xfrm>
            <a:off x="457200" y="1325880"/>
            <a:ext cx="2011680" cy="502920"/>
          </a:xfrm>
          <a:prstGeom prst="rect">
            <a:avLst/>
          </a:prstGeom>
          <a:solidFill>
            <a:srgbClr val="6B6B6B"/>
          </a:solidFill>
          <a:ln w="12700">
            <a:solidFill>
              <a:srgbClr val="6B6B6B"/>
            </a:solidFill>
            <a:prstDash val="solid"/>
          </a:ln>
        </p:spPr>
      </p:sp>
      <p:sp>
        <p:nvSpPr>
          <p:cNvPr id="4" name="Text 2"/>
          <p:cNvSpPr txBox="1"/>
          <p:nvPr/>
        </p:nvSpPr>
        <p:spPr>
          <a:xfrm>
            <a:off x="457200" y="1325880"/>
            <a:ext cx="20116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Geófono de 4,5 Hz</a:t>
            </a:r>
            <a:endParaRPr lang="en-US" sz="1600" dirty="0"/>
          </a:p>
        </p:txBody>
      </p:sp>
      <p:sp>
        <p:nvSpPr>
          <p:cNvPr id="5" name="Tarjeta Geófono de 4,5 Hz"/>
          <p:cNvSpPr/>
          <p:nvPr/>
        </p:nvSpPr>
        <p:spPr>
          <a:xfrm>
            <a:off x="457200" y="1828800"/>
            <a:ext cx="2011680" cy="1097280"/>
          </a:xfrm>
          <a:prstGeom prst="rect">
            <a:avLst/>
          </a:prstGeom>
          <a:solidFill>
            <a:srgbClr val="FFFFFF"/>
          </a:solidFill>
          <a:ln w="19050">
            <a:solidFill>
              <a:srgbClr val="6B6B6B"/>
            </a:solidFill>
            <a:prstDash val="solid"/>
          </a:ln>
        </p:spPr>
      </p:sp>
      <p:sp>
        <p:nvSpPr>
          <p:cNvPr id="6" name="Text 4"/>
          <p:cNvSpPr txBox="1"/>
          <p:nvPr/>
        </p:nvSpPr>
        <p:spPr>
          <a:xfrm>
            <a:off x="548640" y="1874520"/>
            <a:ext cx="1828800" cy="100584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92 a 154 USD por canal</a:t>
            </a:r>
            <a:endParaRPr lang="en-US" sz="1800" dirty="0"/>
          </a:p>
        </p:txBody>
      </p:sp>
      <p:sp>
        <p:nvSpPr>
          <p:cNvPr id="7" name="Cabecera SM-24 de 10 Hz"/>
          <p:cNvSpPr/>
          <p:nvPr/>
        </p:nvSpPr>
        <p:spPr>
          <a:xfrm>
            <a:off x="2606040" y="1325880"/>
            <a:ext cx="2011680" cy="502920"/>
          </a:xfrm>
          <a:prstGeom prst="rect">
            <a:avLst/>
          </a:prstGeom>
          <a:solidFill>
            <a:srgbClr val="1F4E79"/>
          </a:solidFill>
          <a:ln w="12700">
            <a:solidFill>
              <a:srgbClr val="1F4E79"/>
            </a:solidFill>
            <a:prstDash val="solid"/>
          </a:ln>
        </p:spPr>
      </p:sp>
      <p:sp>
        <p:nvSpPr>
          <p:cNvPr id="8" name="Text 6"/>
          <p:cNvSpPr txBox="1"/>
          <p:nvPr/>
        </p:nvSpPr>
        <p:spPr>
          <a:xfrm>
            <a:off x="2606040" y="1325880"/>
            <a:ext cx="201168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SM-24 de 10 Hz</a:t>
            </a:r>
            <a:endParaRPr lang="en-US" sz="1600" dirty="0"/>
          </a:p>
        </p:txBody>
      </p:sp>
      <p:sp>
        <p:nvSpPr>
          <p:cNvPr id="9" name="Tarjeta SM-24 de 10 Hz"/>
          <p:cNvSpPr/>
          <p:nvPr/>
        </p:nvSpPr>
        <p:spPr>
          <a:xfrm>
            <a:off x="2606040" y="1828800"/>
            <a:ext cx="2011680" cy="1097280"/>
          </a:xfrm>
          <a:prstGeom prst="rect">
            <a:avLst/>
          </a:prstGeom>
          <a:solidFill>
            <a:srgbClr val="FFFFFF"/>
          </a:solidFill>
          <a:ln w="19050">
            <a:solidFill>
              <a:srgbClr val="1F4E79"/>
            </a:solidFill>
            <a:prstDash val="solid"/>
          </a:ln>
        </p:spPr>
      </p:sp>
      <p:sp>
        <p:nvSpPr>
          <p:cNvPr id="10" name="Text 8"/>
          <p:cNvSpPr txBox="1"/>
          <p:nvPr/>
        </p:nvSpPr>
        <p:spPr>
          <a:xfrm>
            <a:off x="2697480" y="1874520"/>
            <a:ext cx="1828800" cy="100584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unos 70 USD por canal</a:t>
            </a:r>
            <a:endParaRPr lang="en-US" sz="1800" dirty="0"/>
          </a:p>
        </p:txBody>
      </p:sp>
      <p:sp>
        <p:nvSpPr>
          <p:cNvPr id="11" name="Cuerpo"/>
          <p:cNvSpPr txBox="1"/>
          <p:nvPr/>
        </p:nvSpPr>
        <p:spPr>
          <a:xfrm>
            <a:off x="4846320" y="1325880"/>
            <a:ext cx="3840480" cy="30175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Menor frecuencia: mayor longitud de onda y mayor profundidad</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Un geófono de menor frecuencia natural reduciría el problema, a mayor costo por canal</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Usamos el SM-24 disponible y mejoramos su respuesta en baja frecuencia con electrónica</a:t>
            </a:r>
            <a:endParaRPr lang="en-US" sz="1800" dirty="0"/>
          </a:p>
        </p:txBody>
      </p:sp>
      <p:sp>
        <p:nvSpPr>
          <p:cNvPr id="12" name="Text 10"/>
          <p:cNvSpPr txBox="1"/>
          <p:nvPr/>
        </p:nvSpPr>
        <p:spPr>
          <a:xfrm>
            <a:off x="457200" y="3108960"/>
            <a:ext cx="4114800" cy="457200"/>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Precios de referencia consultados por el autor en 2026.</a:t>
            </a:r>
            <a:endParaRPr lang="en-US" sz="1400" dirty="0"/>
          </a:p>
        </p:txBody>
      </p:sp>
      <p:sp>
        <p:nvSpPr>
          <p:cNvPr id="13"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4.2; SparkFun Electronics (2026); R. T. Clark (2026).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Existen cuatro familias de técnicas para mejorar la respuesta en baja frecuencia de un geófono</a:t>
            </a:r>
            <a:endParaRPr lang="en-US" sz="2400" dirty="0"/>
          </a:p>
        </p:txBody>
      </p:sp>
      <p:sp>
        <p:nvSpPr>
          <p:cNvPr id="3" name="Cabecera Modificar la carga del sensor"/>
          <p:cNvSpPr/>
          <p:nvPr/>
        </p:nvSpPr>
        <p:spPr>
          <a:xfrm>
            <a:off x="457200" y="1325880"/>
            <a:ext cx="1965960" cy="777240"/>
          </a:xfrm>
          <a:prstGeom prst="rect">
            <a:avLst/>
          </a:prstGeom>
          <a:solidFill>
            <a:srgbClr val="6B6B6B"/>
          </a:solidFill>
          <a:ln w="12700">
            <a:solidFill>
              <a:srgbClr val="6B6B6B"/>
            </a:solidFill>
            <a:prstDash val="solid"/>
          </a:ln>
        </p:spPr>
      </p:sp>
      <p:sp>
        <p:nvSpPr>
          <p:cNvPr id="4" name="Text 2"/>
          <p:cNvSpPr txBox="1"/>
          <p:nvPr/>
        </p:nvSpPr>
        <p:spPr>
          <a:xfrm>
            <a:off x="50292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Modificar la carga del sensor</a:t>
            </a:r>
            <a:endParaRPr lang="en-US" sz="1300" dirty="0"/>
          </a:p>
        </p:txBody>
      </p:sp>
      <p:sp>
        <p:nvSpPr>
          <p:cNvPr id="5" name="Tarjeta Modificar la carga del sensor"/>
          <p:cNvSpPr/>
          <p:nvPr/>
        </p:nvSpPr>
        <p:spPr>
          <a:xfrm>
            <a:off x="457200" y="2103120"/>
            <a:ext cx="1965960" cy="1965960"/>
          </a:xfrm>
          <a:prstGeom prst="rect">
            <a:avLst/>
          </a:prstGeom>
          <a:solidFill>
            <a:srgbClr val="FFFFFF"/>
          </a:solidFill>
          <a:ln w="19050">
            <a:solidFill>
              <a:srgbClr val="6B6B6B"/>
            </a:solidFill>
            <a:prstDash val="solid"/>
          </a:ln>
        </p:spPr>
      </p:sp>
      <p:sp>
        <p:nvSpPr>
          <p:cNvPr id="6" name="Text 4"/>
          <p:cNvSpPr txBox="1"/>
          <p:nvPr/>
        </p:nvSpPr>
        <p:spPr>
          <a:xfrm>
            <a:off x="56692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Un capacitor en serie con la resistencia de carga desplaza la frecuencia de esquina (Pazos et al.). Es barato y simple, pero de alcance limitado.</a:t>
            </a:r>
            <a:endParaRPr lang="en-US" sz="1200" dirty="0"/>
          </a:p>
        </p:txBody>
      </p:sp>
      <p:sp>
        <p:nvSpPr>
          <p:cNvPr id="7" name="Cabecera Compensación inversa (cero–polo)"/>
          <p:cNvSpPr/>
          <p:nvPr/>
        </p:nvSpPr>
        <p:spPr>
          <a:xfrm>
            <a:off x="2560320" y="1325880"/>
            <a:ext cx="1965960" cy="777240"/>
          </a:xfrm>
          <a:prstGeom prst="rect">
            <a:avLst/>
          </a:prstGeom>
          <a:solidFill>
            <a:srgbClr val="6B6B6B"/>
          </a:solidFill>
          <a:ln w="12700">
            <a:solidFill>
              <a:srgbClr val="6B6B6B"/>
            </a:solidFill>
            <a:prstDash val="solid"/>
          </a:ln>
        </p:spPr>
      </p:sp>
      <p:sp>
        <p:nvSpPr>
          <p:cNvPr id="8" name="Text 6"/>
          <p:cNvSpPr txBox="1"/>
          <p:nvPr/>
        </p:nvSpPr>
        <p:spPr>
          <a:xfrm>
            <a:off x="260604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Compensación inversa (cero–polo)</a:t>
            </a:r>
            <a:endParaRPr lang="en-US" sz="1300" dirty="0"/>
          </a:p>
        </p:txBody>
      </p:sp>
      <p:sp>
        <p:nvSpPr>
          <p:cNvPr id="9" name="Tarjeta Compensación inversa (cero–polo)"/>
          <p:cNvSpPr/>
          <p:nvPr/>
        </p:nvSpPr>
        <p:spPr>
          <a:xfrm>
            <a:off x="2560320" y="2103120"/>
            <a:ext cx="1965960" cy="1965960"/>
          </a:xfrm>
          <a:prstGeom prst="rect">
            <a:avLst/>
          </a:prstGeom>
          <a:solidFill>
            <a:srgbClr val="FFFFFF"/>
          </a:solidFill>
          <a:ln w="19050">
            <a:solidFill>
              <a:srgbClr val="6B6B6B"/>
            </a:solidFill>
            <a:prstDash val="solid"/>
          </a:ln>
        </p:spPr>
      </p:sp>
      <p:sp>
        <p:nvSpPr>
          <p:cNvPr id="10" name="Text 8"/>
          <p:cNvSpPr txBox="1"/>
          <p:nvPr/>
        </p:nvSpPr>
        <p:spPr>
          <a:xfrm>
            <a:off x="267004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Se cancela la dinámica del sensor para reconstruir la baja frecuencia, por ejemplo con un integrador y un integrador con pérdidas (Hakimitoroghi).</a:t>
            </a:r>
            <a:endParaRPr lang="en-US" sz="1200" dirty="0"/>
          </a:p>
        </p:txBody>
      </p:sp>
      <p:sp>
        <p:nvSpPr>
          <p:cNvPr id="11" name="Cabecera Resistencia negativa y balance de fuerza"/>
          <p:cNvSpPr/>
          <p:nvPr/>
        </p:nvSpPr>
        <p:spPr>
          <a:xfrm>
            <a:off x="4663440" y="1325880"/>
            <a:ext cx="1965960" cy="777240"/>
          </a:xfrm>
          <a:prstGeom prst="rect">
            <a:avLst/>
          </a:prstGeom>
          <a:solidFill>
            <a:srgbClr val="6B6B6B"/>
          </a:solidFill>
          <a:ln w="12700">
            <a:solidFill>
              <a:srgbClr val="6B6B6B"/>
            </a:solidFill>
            <a:prstDash val="solid"/>
          </a:ln>
        </p:spPr>
      </p:sp>
      <p:sp>
        <p:nvSpPr>
          <p:cNvPr id="12" name="Text 10"/>
          <p:cNvSpPr txBox="1"/>
          <p:nvPr/>
        </p:nvSpPr>
        <p:spPr>
          <a:xfrm>
            <a:off x="470916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Resistencia negativa y balance de fuerza</a:t>
            </a:r>
            <a:endParaRPr lang="en-US" sz="1300" dirty="0"/>
          </a:p>
        </p:txBody>
      </p:sp>
      <p:sp>
        <p:nvSpPr>
          <p:cNvPr id="13" name="Tarjeta Resistencia negativa y balance de fuerza"/>
          <p:cNvSpPr/>
          <p:nvPr/>
        </p:nvSpPr>
        <p:spPr>
          <a:xfrm>
            <a:off x="4663440" y="2103120"/>
            <a:ext cx="1965960" cy="1965960"/>
          </a:xfrm>
          <a:prstGeom prst="rect">
            <a:avLst/>
          </a:prstGeom>
          <a:solidFill>
            <a:srgbClr val="FFFFFF"/>
          </a:solidFill>
          <a:ln w="19050">
            <a:solidFill>
              <a:srgbClr val="6B6B6B"/>
            </a:solidFill>
            <a:prstDash val="solid"/>
          </a:ln>
        </p:spPr>
      </p:sp>
      <p:sp>
        <p:nvSpPr>
          <p:cNvPr id="14" name="Text 12"/>
          <p:cNvSpPr txBox="1"/>
          <p:nvPr/>
        </p:nvSpPr>
        <p:spPr>
          <a:xfrm>
            <a:off x="477316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Se hace circular corriente por la bobina y la fuerza de Lorentz modifica el amortiguamiento mecánico efectivo. Implica un lazo activo.</a:t>
            </a:r>
            <a:endParaRPr lang="en-US" sz="1200" dirty="0"/>
          </a:p>
        </p:txBody>
      </p:sp>
      <p:sp>
        <p:nvSpPr>
          <p:cNvPr id="15" name="Cabecera Modificar la forma de la respuesta"/>
          <p:cNvSpPr/>
          <p:nvPr/>
        </p:nvSpPr>
        <p:spPr>
          <a:xfrm>
            <a:off x="6766560" y="1325880"/>
            <a:ext cx="1965960" cy="777240"/>
          </a:xfrm>
          <a:prstGeom prst="rect">
            <a:avLst/>
          </a:prstGeom>
          <a:solidFill>
            <a:srgbClr val="2E75B6"/>
          </a:solidFill>
          <a:ln w="12700">
            <a:solidFill>
              <a:srgbClr val="2E75B6"/>
            </a:solidFill>
            <a:prstDash val="solid"/>
          </a:ln>
        </p:spPr>
      </p:sp>
      <p:sp>
        <p:nvSpPr>
          <p:cNvPr id="16" name="Text 14"/>
          <p:cNvSpPr txBox="1"/>
          <p:nvPr/>
        </p:nvSpPr>
        <p:spPr>
          <a:xfrm>
            <a:off x="6812280" y="1325880"/>
            <a:ext cx="1874520" cy="77724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Modificar la forma de la respuesta</a:t>
            </a:r>
            <a:endParaRPr lang="en-US" sz="1300" dirty="0"/>
          </a:p>
        </p:txBody>
      </p:sp>
      <p:sp>
        <p:nvSpPr>
          <p:cNvPr id="17" name="Tarjeta Modificar la forma de la respuesta"/>
          <p:cNvSpPr/>
          <p:nvPr/>
        </p:nvSpPr>
        <p:spPr>
          <a:xfrm>
            <a:off x="6766560" y="2103120"/>
            <a:ext cx="1965960" cy="1965960"/>
          </a:xfrm>
          <a:prstGeom prst="rect">
            <a:avLst/>
          </a:prstGeom>
          <a:solidFill>
            <a:srgbClr val="FFFFFF"/>
          </a:solidFill>
          <a:ln w="19050">
            <a:solidFill>
              <a:srgbClr val="2E75B6"/>
            </a:solidFill>
            <a:prstDash val="solid"/>
          </a:ln>
        </p:spPr>
      </p:sp>
      <p:sp>
        <p:nvSpPr>
          <p:cNvPr id="18" name="Text 16"/>
          <p:cNvSpPr txBox="1"/>
          <p:nvPr/>
        </p:nvSpPr>
        <p:spPr>
          <a:xfrm>
            <a:off x="6876288" y="2176272"/>
            <a:ext cx="1746504" cy="1819656"/>
          </a:xfrm>
          <a:prstGeom prst="rect">
            <a:avLst/>
          </a:prstGeom>
          <a:noFill/>
          <a:ln/>
        </p:spPr>
        <p:txBody>
          <a:bodyPr wrap="square" lIns="0" tIns="0" rIns="0" bIns="0" rtlCol="0" anchor="ctr"/>
          <a:lstStyle/>
          <a:p>
            <a:pPr algn="l" indent="0" marL="0">
              <a:buNone/>
            </a:pPr>
            <a:r>
              <a:rPr lang="en-US" sz="1200" dirty="0">
                <a:solidFill>
                  <a:srgbClr val="2D2D2D"/>
                </a:solidFill>
                <a:latin typeface="Arial" pitchFamily="34" charset="0"/>
                <a:ea typeface="Arial" pitchFamily="34" charset="-122"/>
                <a:cs typeface="Arial" pitchFamily="34" charset="-120"/>
              </a:rPr>
              <a:t>Ma et al.: en vez de invertir el sensor, se reduce el pico dominante y después se amplifica todo.</a:t>
            </a:r>
            <a:endParaRPr lang="en-US" sz="1200" dirty="0"/>
          </a:p>
        </p:txBody>
      </p:sp>
      <p:sp>
        <p:nvSpPr>
          <p:cNvPr id="19" name="Text 17"/>
          <p:cNvSpPr txBox="1"/>
          <p:nvPr/>
        </p:nvSpPr>
        <p:spPr>
          <a:xfrm>
            <a:off x="457200" y="4160520"/>
            <a:ext cx="8229600" cy="36576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Las comparamos por complejidad, ruido y repetibilidad entre unidades.</a:t>
            </a:r>
            <a:endParaRPr lang="en-US" sz="16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Pazos, Alguacil y Davila (2005), BSSA 95(5), 1940–1946, según Ma et al. (2023), Sensors 23(6), 3082; Hakimitoroghi et al. (2017) y Zhang (2025):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Invertir la respuesta del sensor exige muchísima ganancia cerca de continua</a:t>
            </a:r>
            <a:endParaRPr lang="en-US" sz="2400" dirty="0"/>
          </a:p>
        </p:txBody>
      </p:sp>
      <p:sp>
        <p:nvSpPr>
          <p:cNvPr id="3" name="Cuerpo"/>
          <p:cNvSpPr txBox="1"/>
          <p:nvPr/>
        </p:nvSpPr>
        <p:spPr>
          <a:xfrm>
            <a:off x="457200" y="1325880"/>
            <a:ext cx="484632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Altísima ganancia cerca de DC</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Offsets y bias pueden llevarla a saturación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Amplifica el ruido de baja frecuencia fuera de banda</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Incluso integrar digitalmente datos ruidosos deteriora la SNR y la resolución</a:t>
            </a:r>
            <a:endParaRPr lang="en-US" sz="1800" dirty="0"/>
          </a:p>
        </p:txBody>
      </p:sp>
      <p:sp>
        <p:nvSpPr>
          <p:cNvPr id="4" name="Cabecera ganancia"/>
          <p:cNvSpPr/>
          <p:nvPr/>
        </p:nvSpPr>
        <p:spPr>
          <a:xfrm>
            <a:off x="5669280" y="1371600"/>
            <a:ext cx="3017520" cy="457200"/>
          </a:xfrm>
          <a:prstGeom prst="rect">
            <a:avLst/>
          </a:prstGeom>
          <a:solidFill>
            <a:srgbClr val="C55A11"/>
          </a:solidFill>
          <a:ln w="12700">
            <a:solidFill>
              <a:srgbClr val="C55A11"/>
            </a:solidFill>
            <a:prstDash val="solid"/>
          </a:ln>
        </p:spPr>
      </p:sp>
      <p:sp>
        <p:nvSpPr>
          <p:cNvPr id="5" name="Text 3"/>
          <p:cNvSpPr txBox="1"/>
          <p:nvPr/>
        </p:nvSpPr>
        <p:spPr>
          <a:xfrm>
            <a:off x="5669280" y="1371600"/>
            <a:ext cx="301752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Ganancia necesaria a 1 Hz</a:t>
            </a:r>
            <a:endParaRPr lang="en-US" sz="1500" dirty="0"/>
          </a:p>
        </p:txBody>
      </p:sp>
      <p:sp>
        <p:nvSpPr>
          <p:cNvPr id="6" name="Tarjeta ganancia"/>
          <p:cNvSpPr/>
          <p:nvPr/>
        </p:nvSpPr>
        <p:spPr>
          <a:xfrm>
            <a:off x="5669280" y="1828800"/>
            <a:ext cx="3017520" cy="1554480"/>
          </a:xfrm>
          <a:prstGeom prst="rect">
            <a:avLst/>
          </a:prstGeom>
          <a:solidFill>
            <a:srgbClr val="FFFFFF"/>
          </a:solidFill>
          <a:ln w="19050">
            <a:solidFill>
              <a:srgbClr val="C55A11"/>
            </a:solidFill>
            <a:prstDash val="solid"/>
          </a:ln>
        </p:spPr>
      </p:sp>
      <p:sp>
        <p:nvSpPr>
          <p:cNvPr id="7" name="Text 5"/>
          <p:cNvSpPr txBox="1"/>
          <p:nvPr/>
        </p:nvSpPr>
        <p:spPr>
          <a:xfrm>
            <a:off x="5669280" y="1874520"/>
            <a:ext cx="3017520" cy="822960"/>
          </a:xfrm>
          <a:prstGeom prst="rect">
            <a:avLst/>
          </a:prstGeom>
          <a:noFill/>
          <a:ln/>
        </p:spPr>
        <p:txBody>
          <a:bodyPr wrap="square" lIns="0" tIns="0" rIns="0" bIns="0" rtlCol="0" anchor="ctr"/>
          <a:lstStyle/>
          <a:p>
            <a:pPr algn="ctr" indent="0" marL="0">
              <a:buNone/>
            </a:pPr>
            <a:r>
              <a:rPr lang="en-US" sz="3600" b="1" dirty="0">
                <a:solidFill>
                  <a:srgbClr val="C55A11"/>
                </a:solidFill>
                <a:latin typeface="Arial" pitchFamily="34" charset="0"/>
                <a:ea typeface="Arial" pitchFamily="34" charset="-122"/>
                <a:cs typeface="Arial" pitchFamily="34" charset="-120"/>
              </a:rPr>
              <a:t>≈ +40 dB</a:t>
            </a:r>
            <a:endParaRPr lang="en-US" sz="3600" dirty="0"/>
          </a:p>
        </p:txBody>
      </p:sp>
      <p:sp>
        <p:nvSpPr>
          <p:cNvPr id="8" name="Text 6"/>
          <p:cNvSpPr txBox="1"/>
          <p:nvPr/>
        </p:nvSpPr>
        <p:spPr>
          <a:xfrm>
            <a:off x="5806440" y="2697480"/>
            <a:ext cx="2743200" cy="64008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respecto de la zona plana (modelo del SM-24, ζ = 0,25, referido a velocidad)</a:t>
            </a:r>
            <a:endParaRPr lang="en-US" sz="1200" dirty="0"/>
          </a:p>
        </p:txBody>
      </p:sp>
      <p:sp>
        <p:nvSpPr>
          <p:cNvPr id="9" name="Text 7"/>
          <p:cNvSpPr txBox="1"/>
          <p:nvPr/>
        </p:nvSpPr>
        <p:spPr>
          <a:xfrm>
            <a:off x="457200" y="4023360"/>
            <a:ext cx="8229600" cy="502920"/>
          </a:xfrm>
          <a:prstGeom prst="rect">
            <a:avLst/>
          </a:prstGeom>
          <a:noFill/>
          <a:ln/>
        </p:spPr>
        <p:txBody>
          <a:bodyPr wrap="square" lIns="0" tIns="0" rIns="0" bIns="0" rtlCol="0" anchor="t"/>
          <a:lstStyle/>
          <a:p>
            <a:pPr indent="0" marL="0">
              <a:buNone/>
            </a:pPr>
            <a:r>
              <a:rPr lang="en-US" sz="1400" dirty="0">
                <a:solidFill>
                  <a:srgbClr val="6B6B6B"/>
                </a:solidFill>
                <a:latin typeface="Arial" pitchFamily="34" charset="0"/>
                <a:ea typeface="Arial" pitchFamily="34" charset="-122"/>
                <a:cs typeface="Arial" pitchFamily="34" charset="-120"/>
              </a:rPr>
              <a:t>Hakimitoroghi logra hacer visible el contenido de baja frecuencia, pero sus propias mediciones muestran el papel del piso de ruido.</a:t>
            </a:r>
            <a:endParaRPr lang="en-US" sz="14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Zhang (2025); Hakimitoroghi et al. (2017); modelo propio (slide 54).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resistencia negativa y el balance de fuerza funcionan, pero cargan al transductor con un lazo activo</a:t>
            </a:r>
            <a:endParaRPr lang="en-US" sz="2400" dirty="0"/>
          </a:p>
        </p:txBody>
      </p:sp>
      <p:sp>
        <p:nvSpPr>
          <p:cNvPr id="3" name="Fondo E_zeta2"/>
          <p:cNvSpPr/>
          <p:nvPr/>
        </p:nvSpPr>
        <p:spPr>
          <a:xfrm>
            <a:off x="457200" y="1325880"/>
            <a:ext cx="8229600" cy="8686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zeta2"/>
              <p:cNvSpPr txBox="1"/>
              <p:nvPr/>
            </p:nvSpPr>
            <p:spPr>
              <a:xfrm>
                <a:off x="457200" y="1325880"/>
                <a:ext cx="8229600" cy="8686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ζ=</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ζ</m:t>
                          </m:r>
                        </m:e>
                        <m:sub>
                          <m:r>
                            <a:rPr lang="es-ES" sz="2400" i="1">
                              <a:solidFill>
                                <a:srgbClr val="1F4E79"/>
                              </a:solidFill>
                              <a:latin typeface="Cambria Math" panose="02040503050406030204" pitchFamily="18" charset="0"/>
                            </a:rPr>
                            <m:t xml:space="preserve">0</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G</m:t>
                                  </m:r>
                                </m:e>
                                <m:sub>
                                  <m:r>
                                    <a:rPr lang="es-ES" sz="2400" i="1">
                                      <a:solidFill>
                                        <a:srgbClr val="1F4E79"/>
                                      </a:solidFill>
                                      <a:latin typeface="Cambria Math" panose="02040503050406030204" pitchFamily="18" charset="0"/>
                                    </a:rPr>
                                    <m:t xml:space="preserve">0</m:t>
                                  </m:r>
                                </m:sub>
                              </m:sSub>
                            </m:e>
                            <m:sup>
                              <m:r>
                                <a:rPr lang="es-ES" sz="2400" i="1">
                                  <a:solidFill>
                                    <a:srgbClr val="1F4E79"/>
                                  </a:solidFill>
                                  <a:latin typeface="Cambria Math" panose="02040503050406030204" pitchFamily="18" charset="0"/>
                                </a:rPr>
                                <m:t xml:space="preserve">2</m:t>
                              </m:r>
                            </m:sup>
                          </m:sSup>
                        </m:num>
                        <m:den>
                          <m:r>
                            <a:rPr lang="es-ES" sz="2400" i="1">
                              <a:solidFill>
                                <a:srgbClr val="1F4E79"/>
                              </a:solidFill>
                              <a:latin typeface="Cambria Math" panose="02040503050406030204" pitchFamily="18" charset="0"/>
                            </a:rPr>
                            <m:t xml:space="preserve">2m</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ω</m:t>
                              </m:r>
                            </m:e>
                            <m:sub>
                              <m:r>
                                <a:rPr lang="es-ES" sz="2400" i="1">
                                  <a:solidFill>
                                    <a:srgbClr val="1F4E79"/>
                                  </a:solidFill>
                                  <a:latin typeface="Cambria Math" panose="02040503050406030204" pitchFamily="18" charset="0"/>
                                </a:rPr>
                                <m:t xml:space="preserve">n</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a:rPr lang="es-ES" sz="2400" i="1">
                                  <a:solidFill>
                                    <a:srgbClr val="1F4E79"/>
                                  </a:solidFill>
                                  <a:latin typeface="Cambria Math" panose="02040503050406030204" pitchFamily="18" charset="0"/>
                                </a:rPr>
                                <m:t xml:space="preserve">i</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a:rPr lang="es-ES" sz="2400" i="1">
                                  <a:solidFill>
                                    <a:srgbClr val="1F4E79"/>
                                  </a:solidFill>
                                  <a:latin typeface="Cambria Math" panose="02040503050406030204" pitchFamily="18" charset="0"/>
                                </a:rPr>
                                <m:t xml:space="preserve">L</m:t>
                              </m:r>
                            </m:sub>
                          </m:sSub>
                          <m:r>
                            <a:rPr lang="es-ES" sz="2400" i="1">
                              <a:solidFill>
                                <a:srgbClr val="1F4E79"/>
                              </a:solidFill>
                              <a:latin typeface="Cambria Math" panose="02040503050406030204" pitchFamily="18" charset="0"/>
                            </a:rPr>
                            <m:t xml:space="preserve">)</m:t>
                          </m:r>
                        </m:den>
                      </m:f>
                    </m:oMath>
                  </m:oMathPara>
                </a14:m>
                <a:endParaRPr lang="es-ES"/>
              </a:p>
            </p:txBody>
          </p:sp>
        </mc:Choice>
        <mc:Fallback>
          <p:sp>
            <p:nvSpPr>
              <p:cNvPr id="4" name="Ecuación E_zeta2"/>
              <p:cNvSpPr txBox="1"/>
              <p:nvPr/>
            </p:nvSpPr>
            <p:spPr>
              <a:xfrm>
                <a:off x="457200" y="1325880"/>
                <a:ext cx="8229600" cy="8686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ζ = ζ0 + G0² / (2mωn(Ri + RL))</a:t>
                </a:r>
                <a:endParaRPr lang="en-US" sz="2400" dirty="0"/>
              </a:p>
            </p:txBody>
          </p:sp>
        </mc:Fallback>
      </mc:AlternateContent>
      <p:sp>
        <p:nvSpPr>
          <p:cNvPr id="5" name="Cuerpo"/>
          <p:cNvSpPr txBox="1"/>
          <p:nvPr/>
        </p:nvSpPr>
        <p:spPr>
          <a:xfrm>
            <a:off x="457200" y="2377440"/>
            <a:ext cx="822960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Cambiar la resistencia de carga modifica el amortiguamiento electromecánico</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El lazo activo interactúa directamente con el transductor</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Debe resolver estabilidad, ganancia, ruido de modo común, tolerancias y consistencia entre unidades</a:t>
            </a:r>
            <a:endParaRPr lang="en-US" sz="1600" dirty="0"/>
          </a:p>
        </p:txBody>
      </p:sp>
      <p:sp>
        <p:nvSpPr>
          <p:cNvPr id="6" name="Text 4"/>
          <p:cNvSpPr txBox="1"/>
          <p:nvPr/>
        </p:nvSpPr>
        <p:spPr>
          <a:xfrm>
            <a:off x="457200" y="3840480"/>
            <a:ext cx="8229600" cy="5486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Funciona. Pero para un nodo multicanal barato y replicable, el costo de complejidad es importante.</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Zhang (2025), circuito de resistencia negativa; resumen firmado, sec. 4.2, ec. (8).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idea de Ma et al.: no levantar el fondo, bajar el pico</a:t>
            </a:r>
            <a:endParaRPr lang="en-US" sz="2400" dirty="0"/>
          </a:p>
        </p:txBody>
      </p:sp>
      <p:pic>
        <p:nvPicPr>
          <p:cNvPr id="3" name="Curvas del compensador" descr="Respuesta referida a aceleración: geófono, compensador ideal sin ganancia y compensador ideal con ganancia">    </p:cNvPr>
          <p:cNvPicPr>
            <a:picLocks noChangeAspect="1"/>
          </p:cNvPicPr>
          <p:nvPr/>
        </p:nvPicPr>
        <p:blipFill>
          <a:blip r:embed="rId1"/>
          <a:stretch>
            <a:fillRect/>
          </a:stretch>
        </p:blipFill>
        <p:spPr>
          <a:xfrm>
            <a:off x="365760" y="1234440"/>
            <a:ext cx="5120640" cy="2906309"/>
          </a:xfrm>
          <a:prstGeom prst="rect">
            <a:avLst/>
          </a:prstGeom>
        </p:spPr>
      </p:pic>
      <p:sp>
        <p:nvSpPr>
          <p:cNvPr id="4" name="Cuerpo"/>
          <p:cNvSpPr txBox="1"/>
          <p:nvPr/>
        </p:nvSpPr>
        <p:spPr>
          <a:xfrm>
            <a:off x="5669280" y="1325880"/>
            <a:ext cx="3017520" cy="31089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Se atenúa la zona de la resonancia</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Después se recupera el nivel con ganancia global</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El pasabanda se ensancha, pero sigue siendo un pasabanda</a:t>
            </a:r>
            <a:endParaRPr lang="en-US" sz="1300" dirty="0"/>
          </a:p>
          <a:p>
            <a:pPr marL="342900" indent="-342900">
              <a:spcAft>
                <a:spcPts val="800"/>
              </a:spcAft>
              <a:buSzPct val="100000"/>
              <a:buChar char="•"/>
            </a:pPr>
            <a:r>
              <a:rPr lang="en-US" sz="1300" dirty="0">
                <a:solidFill>
                  <a:srgbClr val="2D2D2D"/>
                </a:solidFill>
                <a:latin typeface="Arial" pitchFamily="34" charset="0"/>
                <a:ea typeface="Arial" pitchFamily="34" charset="-122"/>
                <a:cs typeface="Arial" pitchFamily="34" charset="-120"/>
              </a:rPr>
              <a:t>Ma et al. reportan más SNR que cero–polo: +17,5 dB a 10 Hz (geófono JF-20DX); la tesis cita además +1,5 dB a 1 Hz y +21,3 dB a 20 Hz</a:t>
            </a:r>
            <a:endParaRPr lang="en-US" sz="1300" dirty="0"/>
          </a:p>
        </p:txBody>
      </p:sp>
      <p:sp>
        <p:nvSpPr>
          <p:cNvPr id="5" name="Text 2"/>
          <p:cNvSpPr txBox="1"/>
          <p:nvPr/>
        </p:nvSpPr>
        <p:spPr>
          <a:xfrm>
            <a:off x="457200" y="4224528"/>
            <a:ext cx="5120640" cy="274320"/>
          </a:xfrm>
          <a:prstGeom prst="rect">
            <a:avLst/>
          </a:prstGeom>
          <a:noFill/>
          <a:ln/>
        </p:spPr>
        <p:txBody>
          <a:bodyPr wrap="square" lIns="0" tIns="0" rIns="0" bIns="0" rtlCol="0" anchor="t"/>
          <a:lstStyle/>
          <a:p>
            <a:pPr algn="ctr" indent="0" marL="0">
              <a:buNone/>
            </a:pPr>
            <a:r>
              <a:rPr lang="en-US" sz="1200" dirty="0">
                <a:solidFill>
                  <a:srgbClr val="6B6B6B"/>
                </a:solidFill>
                <a:latin typeface="Arial" pitchFamily="34" charset="0"/>
                <a:ea typeface="Arial" pitchFamily="34" charset="-122"/>
                <a:cs typeface="Arial" pitchFamily="34" charset="-120"/>
              </a:rPr>
              <a:t>Compensador ideal</a:t>
            </a:r>
            <a:endParaRPr lang="en-US" sz="12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Sensors 23(6), 3082; documento de tesis (03b_topologias.tex); curvas propias.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Elegimos el método de Ma et al. porque es estable, simple y no amplifica ruido</a:t>
            </a:r>
            <a:endParaRPr lang="en-US" sz="2400" dirty="0"/>
          </a:p>
        </p:txBody>
      </p:sp>
      <p:sp>
        <p:nvSpPr>
          <p:cNvPr id="3" name="Cabecera Estable"/>
          <p:cNvSpPr/>
          <p:nvPr/>
        </p:nvSpPr>
        <p:spPr>
          <a:xfrm>
            <a:off x="457200" y="1280160"/>
            <a:ext cx="2651760" cy="457200"/>
          </a:xfrm>
          <a:prstGeom prst="rect">
            <a:avLst/>
          </a:prstGeom>
          <a:solidFill>
            <a:srgbClr val="1F4E79"/>
          </a:solidFill>
          <a:ln w="12700">
            <a:solidFill>
              <a:srgbClr val="1F4E79"/>
            </a:solidFill>
            <a:prstDash val="solid"/>
          </a:ln>
        </p:spPr>
      </p:sp>
      <p:sp>
        <p:nvSpPr>
          <p:cNvPr id="4" name="Text 2"/>
          <p:cNvSpPr txBox="1"/>
          <p:nvPr/>
        </p:nvSpPr>
        <p:spPr>
          <a:xfrm>
            <a:off x="502920" y="1280160"/>
            <a:ext cx="25603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Estable</a:t>
            </a:r>
            <a:endParaRPr lang="en-US" sz="1600" dirty="0"/>
          </a:p>
        </p:txBody>
      </p:sp>
      <p:sp>
        <p:nvSpPr>
          <p:cNvPr id="5" name="Tarjeta Estable"/>
          <p:cNvSpPr/>
          <p:nvPr/>
        </p:nvSpPr>
        <p:spPr>
          <a:xfrm>
            <a:off x="457200" y="1737360"/>
            <a:ext cx="2651760" cy="1097280"/>
          </a:xfrm>
          <a:prstGeom prst="rect">
            <a:avLst/>
          </a:prstGeom>
          <a:solidFill>
            <a:srgbClr val="FFFFFF"/>
          </a:solidFill>
          <a:ln w="19050">
            <a:solidFill>
              <a:srgbClr val="1F4E79"/>
            </a:solidFill>
            <a:prstDash val="solid"/>
          </a:ln>
        </p:spPr>
      </p:sp>
      <p:sp>
        <p:nvSpPr>
          <p:cNvPr id="6" name="Text 4"/>
          <p:cNvSpPr txBox="1"/>
          <p:nvPr/>
        </p:nvSpPr>
        <p:spPr>
          <a:xfrm>
            <a:off x="566928" y="1810512"/>
            <a:ext cx="2432304" cy="950976"/>
          </a:xfrm>
          <a:prstGeom prst="rect">
            <a:avLst/>
          </a:prstGeom>
          <a:noFill/>
          <a:ln/>
        </p:spPr>
        <p:txBody>
          <a:bodyPr wrap="square" lIns="0" tIns="0" rIns="0" bIns="0" rtlCol="0" anchor="ctr"/>
          <a:lstStyle/>
          <a:p>
            <a:pPr algn="l" indent="0" marL="0">
              <a:buNone/>
            </a:pPr>
            <a:r>
              <a:rPr lang="en-US" sz="1300" dirty="0">
                <a:solidFill>
                  <a:srgbClr val="2D2D2D"/>
                </a:solidFill>
                <a:latin typeface="Arial" pitchFamily="34" charset="0"/>
                <a:ea typeface="Arial" pitchFamily="34" charset="-122"/>
                <a:cs typeface="Arial" pitchFamily="34" charset="-120"/>
              </a:rPr>
              <a:t>Es un filtro en serie, sin lazo sobre el sensor: no puede volverse inestable.</a:t>
            </a:r>
            <a:endParaRPr lang="en-US" sz="1300" dirty="0"/>
          </a:p>
        </p:txBody>
      </p:sp>
      <p:sp>
        <p:nvSpPr>
          <p:cNvPr id="7" name="Cabecera Simple"/>
          <p:cNvSpPr/>
          <p:nvPr/>
        </p:nvSpPr>
        <p:spPr>
          <a:xfrm>
            <a:off x="3246120" y="1280160"/>
            <a:ext cx="2651760" cy="457200"/>
          </a:xfrm>
          <a:prstGeom prst="rect">
            <a:avLst/>
          </a:prstGeom>
          <a:solidFill>
            <a:srgbClr val="1F4E79"/>
          </a:solidFill>
          <a:ln w="12700">
            <a:solidFill>
              <a:srgbClr val="1F4E79"/>
            </a:solidFill>
            <a:prstDash val="solid"/>
          </a:ln>
        </p:spPr>
      </p:sp>
      <p:sp>
        <p:nvSpPr>
          <p:cNvPr id="8" name="Text 6"/>
          <p:cNvSpPr txBox="1"/>
          <p:nvPr/>
        </p:nvSpPr>
        <p:spPr>
          <a:xfrm>
            <a:off x="3291840" y="1280160"/>
            <a:ext cx="25603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Simple</a:t>
            </a:r>
            <a:endParaRPr lang="en-US" sz="1600" dirty="0"/>
          </a:p>
        </p:txBody>
      </p:sp>
      <p:sp>
        <p:nvSpPr>
          <p:cNvPr id="9" name="Tarjeta Simple"/>
          <p:cNvSpPr/>
          <p:nvPr/>
        </p:nvSpPr>
        <p:spPr>
          <a:xfrm>
            <a:off x="3246120" y="1737360"/>
            <a:ext cx="2651760" cy="1097280"/>
          </a:xfrm>
          <a:prstGeom prst="rect">
            <a:avLst/>
          </a:prstGeom>
          <a:solidFill>
            <a:srgbClr val="FFFFFF"/>
          </a:solidFill>
          <a:ln w="19050">
            <a:solidFill>
              <a:srgbClr val="1F4E79"/>
            </a:solidFill>
            <a:prstDash val="solid"/>
          </a:ln>
        </p:spPr>
      </p:sp>
      <p:sp>
        <p:nvSpPr>
          <p:cNvPr id="10" name="Text 8"/>
          <p:cNvSpPr txBox="1"/>
          <p:nvPr/>
        </p:nvSpPr>
        <p:spPr>
          <a:xfrm>
            <a:off x="3355848" y="1810512"/>
            <a:ext cx="2432304" cy="950976"/>
          </a:xfrm>
          <a:prstGeom prst="rect">
            <a:avLst/>
          </a:prstGeom>
          <a:noFill/>
          <a:ln/>
        </p:spPr>
        <p:txBody>
          <a:bodyPr wrap="square" lIns="0" tIns="0" rIns="0" bIns="0" rtlCol="0" anchor="ctr"/>
          <a:lstStyle/>
          <a:p>
            <a:pPr algn="l" indent="0" marL="0">
              <a:buNone/>
            </a:pPr>
            <a:r>
              <a:rPr lang="en-US" sz="1300" dirty="0">
                <a:solidFill>
                  <a:srgbClr val="2D2D2D"/>
                </a:solidFill>
                <a:latin typeface="Arial" pitchFamily="34" charset="0"/>
                <a:ea typeface="Arial" pitchFamily="34" charset="-122"/>
                <a:cs typeface="Arial" pitchFamily="34" charset="-120"/>
              </a:rPr>
              <a:t>Su implementación requiere pocos componentes.</a:t>
            </a:r>
            <a:endParaRPr lang="en-US" sz="1300" dirty="0"/>
          </a:p>
        </p:txBody>
      </p:sp>
      <p:sp>
        <p:nvSpPr>
          <p:cNvPr id="11" name="Cabecera No amplifica ruido"/>
          <p:cNvSpPr/>
          <p:nvPr/>
        </p:nvSpPr>
        <p:spPr>
          <a:xfrm>
            <a:off x="6035040" y="1280160"/>
            <a:ext cx="2651760" cy="457200"/>
          </a:xfrm>
          <a:prstGeom prst="rect">
            <a:avLst/>
          </a:prstGeom>
          <a:solidFill>
            <a:srgbClr val="1F4E79"/>
          </a:solidFill>
          <a:ln w="12700">
            <a:solidFill>
              <a:srgbClr val="1F4E79"/>
            </a:solidFill>
            <a:prstDash val="solid"/>
          </a:ln>
        </p:spPr>
      </p:sp>
      <p:sp>
        <p:nvSpPr>
          <p:cNvPr id="12" name="Text 10"/>
          <p:cNvSpPr txBox="1"/>
          <p:nvPr/>
        </p:nvSpPr>
        <p:spPr>
          <a:xfrm>
            <a:off x="6080760" y="1280160"/>
            <a:ext cx="256032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No amplifica ruido</a:t>
            </a:r>
            <a:endParaRPr lang="en-US" sz="1600" dirty="0"/>
          </a:p>
        </p:txBody>
      </p:sp>
      <p:sp>
        <p:nvSpPr>
          <p:cNvPr id="13" name="Tarjeta No amplifica ruido"/>
          <p:cNvSpPr/>
          <p:nvPr/>
        </p:nvSpPr>
        <p:spPr>
          <a:xfrm>
            <a:off x="6035040" y="1737360"/>
            <a:ext cx="2651760" cy="1097280"/>
          </a:xfrm>
          <a:prstGeom prst="rect">
            <a:avLst/>
          </a:prstGeom>
          <a:solidFill>
            <a:srgbClr val="FFFFFF"/>
          </a:solidFill>
          <a:ln w="19050">
            <a:solidFill>
              <a:srgbClr val="1F4E79"/>
            </a:solidFill>
            <a:prstDash val="solid"/>
          </a:ln>
        </p:spPr>
      </p:sp>
      <p:sp>
        <p:nvSpPr>
          <p:cNvPr id="14" name="Text 12"/>
          <p:cNvSpPr txBox="1"/>
          <p:nvPr/>
        </p:nvSpPr>
        <p:spPr>
          <a:xfrm>
            <a:off x="6144768" y="1810512"/>
            <a:ext cx="2432304" cy="950976"/>
          </a:xfrm>
          <a:prstGeom prst="rect">
            <a:avLst/>
          </a:prstGeom>
          <a:noFill/>
          <a:ln/>
        </p:spPr>
        <p:txBody>
          <a:bodyPr wrap="square" lIns="0" tIns="0" rIns="0" bIns="0" rtlCol="0" anchor="ctr"/>
          <a:lstStyle/>
          <a:p>
            <a:pPr algn="l" indent="0" marL="0">
              <a:buNone/>
            </a:pPr>
            <a:r>
              <a:rPr lang="en-US" sz="1300" dirty="0">
                <a:solidFill>
                  <a:srgbClr val="2D2D2D"/>
                </a:solidFill>
                <a:latin typeface="Arial" pitchFamily="34" charset="0"/>
                <a:ea typeface="Arial" pitchFamily="34" charset="-122"/>
                <a:cs typeface="Arial" pitchFamily="34" charset="-120"/>
              </a:rPr>
              <a:t>No invierte la caída del sensor, así que no levanta el ruido de baja frecuencia.</a:t>
            </a:r>
            <a:endParaRPr lang="en-US" sz="1300" dirty="0"/>
          </a:p>
        </p:txBody>
      </p:sp>
      <p:sp>
        <p:nvSpPr>
          <p:cNvPr id="15" name="Fondo complejidad"/>
          <p:cNvSpPr/>
          <p:nvPr/>
        </p:nvSpPr>
        <p:spPr>
          <a:xfrm>
            <a:off x="457200" y="2880360"/>
            <a:ext cx="8229600" cy="777240"/>
          </a:xfrm>
          <a:prstGeom prst="rect">
            <a:avLst/>
          </a:prstGeom>
          <a:solidFill>
            <a:srgbClr val="EAF1F8"/>
          </a:solidFill>
          <a:ln w="12700">
            <a:solidFill>
              <a:srgbClr val="EAF1F8"/>
            </a:solidFill>
            <a:prstDash val="solid"/>
          </a:ln>
        </p:spPr>
      </p:sp>
      <p:sp>
        <p:nvSpPr>
          <p:cNvPr id="16" name="Text 14"/>
          <p:cNvSpPr txBox="1"/>
          <p:nvPr/>
        </p:nvSpPr>
        <p:spPr>
          <a:xfrm>
            <a:off x="594360" y="2880360"/>
            <a:ext cx="7955280" cy="777240"/>
          </a:xfrm>
          <a:prstGeom prst="rect">
            <a:avLst/>
          </a:prstGeom>
          <a:noFill/>
          <a:ln/>
        </p:spPr>
        <p:txBody>
          <a:bodyPr wrap="square" lIns="0" tIns="0" rIns="0" bIns="0" rtlCol="0" anchor="ctr"/>
          <a:lstStyle/>
          <a:p>
            <a:pPr indent="0" marL="0">
              <a:buNone/>
            </a:pPr>
            <a:r>
              <a:rPr lang="en-US" sz="1400" dirty="0">
                <a:solidFill>
                  <a:srgbClr val="1F4E79"/>
                </a:solidFill>
                <a:latin typeface="Arial" pitchFamily="34" charset="0"/>
                <a:ea typeface="Arial" pitchFamily="34" charset="-122"/>
                <a:cs typeface="Arial" pitchFamily="34" charset="-120"/>
              </a:rPr>
              <a:t>Es más complejo que la solución de Pazos, pero de complejidad razonable: permite controlar con mucha más facilidad hasta dónde se compensa, y ser más agresivo cuando el geófono está lejos de donde queremos que esté.</a:t>
            </a:r>
            <a:endParaRPr lang="en-US" sz="1400" dirty="0"/>
          </a:p>
        </p:txBody>
      </p:sp>
      <p:sp>
        <p:nvSpPr>
          <p:cNvPr id="17" name="Fondo desventaja"/>
          <p:cNvSpPr/>
          <p:nvPr/>
        </p:nvSpPr>
        <p:spPr>
          <a:xfrm>
            <a:off x="457200" y="3749040"/>
            <a:ext cx="8229600" cy="640080"/>
          </a:xfrm>
          <a:prstGeom prst="rect">
            <a:avLst/>
          </a:prstGeom>
          <a:solidFill>
            <a:srgbClr val="FBE9DD"/>
          </a:solidFill>
          <a:ln w="12700">
            <a:solidFill>
              <a:srgbClr val="FBE9DD"/>
            </a:solidFill>
            <a:prstDash val="solid"/>
          </a:ln>
        </p:spPr>
      </p:sp>
      <p:sp>
        <p:nvSpPr>
          <p:cNvPr id="18" name="Text 16"/>
          <p:cNvSpPr txBox="1"/>
          <p:nvPr/>
        </p:nvSpPr>
        <p:spPr>
          <a:xfrm>
            <a:off x="594360" y="3749040"/>
            <a:ext cx="7955280" cy="640080"/>
          </a:xfrm>
          <a:prstGeom prst="rect">
            <a:avLst/>
          </a:prstGeom>
          <a:noFill/>
          <a:ln/>
        </p:spPr>
        <p:txBody>
          <a:bodyPr wrap="square" lIns="0" tIns="0" rIns="0" bIns="0" rtlCol="0" anchor="ctr"/>
          <a:lstStyle/>
          <a:p>
            <a:pPr indent="0" marL="0">
              <a:buNone/>
            </a:pPr>
            <a:r>
              <a:rPr lang="en-US" sz="1500" b="1" dirty="0">
                <a:solidFill>
                  <a:srgbClr val="C55A11"/>
                </a:solidFill>
                <a:latin typeface="Arial" pitchFamily="34" charset="0"/>
                <a:ea typeface="Arial" pitchFamily="34" charset="-122"/>
                <a:cs typeface="Arial" pitchFamily="34" charset="-120"/>
              </a:rPr>
              <a:t>Su única desventaja es la pérdida de ganancia: requiere más ganancia, que redistribuimos entre las etapas de la mejor manera posible.</a:t>
            </a:r>
            <a:endParaRPr lang="en-US" sz="1500" dirty="0"/>
          </a:p>
        </p:txBody>
      </p:sp>
      <p:sp>
        <p:nvSpPr>
          <p:cNvPr id="1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Sensors 23(6), 3082; Pazos et al. (2005); estabilidad y ruido: inferencia propia,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compensador sube el amortiguamiento del conjunto: es un camino directo menos un pasabanda</a:t>
            </a:r>
            <a:endParaRPr lang="en-US" sz="2400" dirty="0"/>
          </a:p>
        </p:txBody>
      </p:sp>
      <p:sp>
        <p:nvSpPr>
          <p:cNvPr id="3" name="Text 1"/>
          <p:cNvSpPr txBox="1"/>
          <p:nvPr/>
        </p:nvSpPr>
        <p:spPr>
          <a:xfrm>
            <a:off x="457200" y="1234440"/>
            <a:ext cx="8229600" cy="274320"/>
          </a:xfrm>
          <a:prstGeom prst="rect">
            <a:avLst/>
          </a:prstGeom>
          <a:noFill/>
          <a:ln/>
        </p:spPr>
        <p:txBody>
          <a:bodyPr wrap="square" lIns="0" tIns="0" rIns="0" bIns="0" rtlCol="0" anchor="t"/>
          <a:lstStyle/>
          <a:p>
            <a:pPr indent="0" marL="0">
              <a:buNone/>
            </a:pPr>
            <a:r>
              <a:rPr lang="en-US" sz="1400" dirty="0">
                <a:solidFill>
                  <a:srgbClr val="2D2D2D"/>
                </a:solidFill>
                <a:latin typeface="Arial" pitchFamily="34" charset="0"/>
                <a:ea typeface="Arial" pitchFamily="34" charset="-122"/>
                <a:cs typeface="Arial" pitchFamily="34" charset="-120"/>
              </a:rPr>
              <a:t>Buscamos que el conjunto tenga amortiguamiento ζ1 &gt; ζ0, con la misma frecuencia natural:</a:t>
            </a:r>
            <a:endParaRPr lang="en-US" sz="1400" dirty="0"/>
          </a:p>
        </p:txBody>
      </p:sp>
      <p:sp>
        <p:nvSpPr>
          <p:cNvPr id="4" name="Fondo E_hc1"/>
          <p:cNvSpPr/>
          <p:nvPr/>
        </p:nvSpPr>
        <p:spPr>
          <a:xfrm>
            <a:off x="457200" y="1600200"/>
            <a:ext cx="8229600" cy="11430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hc1"/>
              <p:cNvSpPr txBox="1"/>
              <p:nvPr/>
            </p:nvSpPr>
            <p:spPr>
              <a:xfrm>
                <a:off x="457200" y="1600200"/>
                <a:ext cx="8229600" cy="11430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H</m:t>
                          </m:r>
                        </m:e>
                        <m:sub>
                          <m:r>
                            <m:rPr>
                              <m:sty m:val="p"/>
                            </m:rPr>
                            <a:rPr lang="es-ES" sz="3000">
                              <a:solidFill>
                                <a:srgbClr val="1F4E79"/>
                              </a:solidFill>
                              <a:latin typeface="Cambria Math" panose="02040503050406030204" pitchFamily="18" charset="0"/>
                            </a:rPr>
                            <m:t xml:space="preserve">comp</m:t>
                          </m:r>
                        </m:sub>
                      </m:sSub>
                      <m:r>
                        <a:rPr lang="es-ES" sz="3000" i="1">
                          <a:solidFill>
                            <a:srgbClr val="1F4E79"/>
                          </a:solidFill>
                          <a:latin typeface="Cambria Math" panose="02040503050406030204" pitchFamily="18" charset="0"/>
                        </a:rPr>
                        <m:t xml:space="preserve">(s)=</m:t>
                      </m:r>
                      <m:f>
                        <m:fPr>
                          <m:ctrlPr>
                            <a:rPr lang="es-ES" sz="3000" i="1">
                              <a:latin typeface="Cambria Math" panose="02040503050406030204" pitchFamily="18" charset="0"/>
                            </a:rPr>
                          </m:ctrlPr>
                        </m:fPr>
                        <m:num>
                          <m:sSup>
                            <m:sSupPr>
                              <m:ctrlPr>
                                <a:rPr lang="es-ES" sz="3000" i="1">
                                  <a:latin typeface="Cambria Math" panose="02040503050406030204" pitchFamily="18" charset="0"/>
                                </a:rPr>
                              </m:ctrlPr>
                            </m:sSupPr>
                            <m:e>
                              <m:r>
                                <a:rPr lang="es-ES" sz="3000" i="1">
                                  <a:solidFill>
                                    <a:srgbClr val="1F4E79"/>
                                  </a:solidFill>
                                  <a:latin typeface="Cambria Math" panose="02040503050406030204" pitchFamily="18" charset="0"/>
                                </a:rPr>
                                <m:t xml:space="preserve">s</m:t>
                              </m:r>
                            </m:e>
                            <m:sup>
                              <m:r>
                                <a:rPr lang="es-ES" sz="3000" i="1">
                                  <a:solidFill>
                                    <a:srgbClr val="1F4E79"/>
                                  </a:solidFill>
                                  <a:latin typeface="Cambria Math" panose="02040503050406030204" pitchFamily="18" charset="0"/>
                                </a:rPr>
                                <m:t xml:space="preserve">2</m:t>
                              </m:r>
                            </m:sup>
                          </m:sSup>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0</m:t>
                              </m:r>
                            </m:sub>
                          </m:sSub>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sSup>
                            <m:sSupPr>
                              <m:ctrlPr>
                                <a:rPr lang="es-ES" sz="3000" i="1">
                                  <a:latin typeface="Cambria Math" panose="02040503050406030204" pitchFamily="18" charset="0"/>
                                </a:rPr>
                              </m:ctrlPr>
                            </m:sSupPr>
                            <m:e>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e>
                            <m:sup>
                              <m:r>
                                <a:rPr lang="es-ES" sz="3000" i="1">
                                  <a:solidFill>
                                    <a:srgbClr val="1F4E79"/>
                                  </a:solidFill>
                                  <a:latin typeface="Cambria Math" panose="02040503050406030204" pitchFamily="18" charset="0"/>
                                </a:rPr>
                                <m:t xml:space="preserve">2</m:t>
                              </m:r>
                            </m:sup>
                          </m:sSup>
                        </m:num>
                        <m:den>
                          <m:sSup>
                            <m:sSupPr>
                              <m:ctrlPr>
                                <a:rPr lang="es-ES" sz="3000" i="1">
                                  <a:latin typeface="Cambria Math" panose="02040503050406030204" pitchFamily="18" charset="0"/>
                                </a:rPr>
                              </m:ctrlPr>
                            </m:sSupPr>
                            <m:e>
                              <m:r>
                                <a:rPr lang="es-ES" sz="3000" i="1">
                                  <a:solidFill>
                                    <a:srgbClr val="1F4E79"/>
                                  </a:solidFill>
                                  <a:latin typeface="Cambria Math" panose="02040503050406030204" pitchFamily="18" charset="0"/>
                                </a:rPr>
                                <m:t xml:space="preserve">s</m:t>
                              </m:r>
                            </m:e>
                            <m:sup>
                              <m:r>
                                <a:rPr lang="es-ES" sz="3000" i="1">
                                  <a:solidFill>
                                    <a:srgbClr val="1F4E79"/>
                                  </a:solidFill>
                                  <a:latin typeface="Cambria Math" panose="02040503050406030204" pitchFamily="18" charset="0"/>
                                </a:rPr>
                                <m:t xml:space="preserve">2</m:t>
                              </m:r>
                            </m:sup>
                          </m:sSup>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1</m:t>
                              </m:r>
                            </m:sub>
                          </m:sSub>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sSup>
                            <m:sSupPr>
                              <m:ctrlPr>
                                <a:rPr lang="es-ES" sz="3000" i="1">
                                  <a:latin typeface="Cambria Math" panose="02040503050406030204" pitchFamily="18" charset="0"/>
                                </a:rPr>
                              </m:ctrlPr>
                            </m:sSupPr>
                            <m:e>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e>
                            <m:sup>
                              <m:r>
                                <a:rPr lang="es-ES" sz="3000" i="1">
                                  <a:solidFill>
                                    <a:srgbClr val="1F4E79"/>
                                  </a:solidFill>
                                  <a:latin typeface="Cambria Math" panose="02040503050406030204" pitchFamily="18" charset="0"/>
                                </a:rPr>
                                <m:t xml:space="preserve">2</m:t>
                              </m:r>
                            </m:sup>
                          </m:sSup>
                        </m:den>
                      </m:f>
                    </m:oMath>
                  </m:oMathPara>
                </a14:m>
                <a:endParaRPr lang="es-ES"/>
              </a:p>
            </p:txBody>
          </p:sp>
        </mc:Choice>
        <mc:Fallback>
          <p:sp>
            <p:nvSpPr>
              <p:cNvPr id="5" name="Ecuación E_hc1"/>
              <p:cNvSpPr txBox="1"/>
              <p:nvPr/>
            </p:nvSpPr>
            <p:spPr>
              <a:xfrm>
                <a:off x="457200" y="1600200"/>
                <a:ext cx="8229600" cy="11430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Hcomp(s) = (s² + 2ζ0ωn·s + ωn²) / (s² + 2ζ1ωn·s + ωn²)</a:t>
                </a:r>
                <a:endParaRPr lang="en-US" sz="2400" dirty="0"/>
              </a:p>
            </p:txBody>
          </p:sp>
        </mc:Fallback>
      </mc:AlternateContent>
      <p:sp>
        <p:nvSpPr>
          <p:cNvPr id="6" name="Text 4"/>
          <p:cNvSpPr txBox="1"/>
          <p:nvPr/>
        </p:nvSpPr>
        <p:spPr>
          <a:xfrm>
            <a:off x="457200" y="2880360"/>
            <a:ext cx="8229600" cy="274320"/>
          </a:xfrm>
          <a:prstGeom prst="rect">
            <a:avLst/>
          </a:prstGeom>
          <a:noFill/>
          <a:ln/>
        </p:spPr>
        <p:txBody>
          <a:bodyPr wrap="square" lIns="0" tIns="0" rIns="0" bIns="0" rtlCol="0" anchor="t"/>
          <a:lstStyle/>
          <a:p>
            <a:pPr indent="0" marL="0">
              <a:buNone/>
            </a:pPr>
            <a:r>
              <a:rPr lang="en-US" sz="1500" dirty="0">
                <a:solidFill>
                  <a:srgbClr val="2D2D2D"/>
                </a:solidFill>
                <a:latin typeface="Arial" pitchFamily="34" charset="0"/>
                <a:ea typeface="Arial" pitchFamily="34" charset="-122"/>
                <a:cs typeface="Arial" pitchFamily="34" charset="-120"/>
              </a:rPr>
              <a:t>Separando el término constante, el segundo término es un pasabanda, HBP(s):</a:t>
            </a:r>
            <a:endParaRPr lang="en-US" sz="1500" dirty="0"/>
          </a:p>
        </p:txBody>
      </p:sp>
      <p:sp>
        <p:nvSpPr>
          <p:cNvPr id="7" name="Fondo E_hc2"/>
          <p:cNvSpPr/>
          <p:nvPr/>
        </p:nvSpPr>
        <p:spPr>
          <a:xfrm>
            <a:off x="457200" y="3246120"/>
            <a:ext cx="8229600" cy="11887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8" name="Ecuación E_hc2"/>
              <p:cNvSpPr txBox="1"/>
              <p:nvPr/>
            </p:nvSpPr>
            <p:spPr>
              <a:xfrm>
                <a:off x="457200" y="3246120"/>
                <a:ext cx="8229600" cy="11887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H</m:t>
                          </m:r>
                        </m:e>
                        <m:sub>
                          <m:r>
                            <m:rPr>
                              <m:sty m:val="p"/>
                            </m:rPr>
                            <a:rPr lang="es-ES" sz="3000">
                              <a:solidFill>
                                <a:srgbClr val="1F4E79"/>
                              </a:solidFill>
                              <a:latin typeface="Cambria Math" panose="02040503050406030204" pitchFamily="18" charset="0"/>
                            </a:rPr>
                            <m:t xml:space="preserve">comp</m:t>
                          </m:r>
                        </m:sub>
                      </m:sSub>
                      <m:r>
                        <a:rPr lang="es-ES" sz="3000" i="1">
                          <a:solidFill>
                            <a:srgbClr val="1F4E79"/>
                          </a:solidFill>
                          <a:latin typeface="Cambria Math" panose="02040503050406030204" pitchFamily="18" charset="0"/>
                        </a:rPr>
                        <m:t xml:space="preserve">(s)=1−</m:t>
                      </m:r>
                      <m:f>
                        <m:fPr>
                          <m:ctrlPr>
                            <a:rPr lang="es-ES" sz="3000" i="1">
                              <a:latin typeface="Cambria Math" panose="02040503050406030204" pitchFamily="18" charset="0"/>
                            </a:rPr>
                          </m:ctrlPr>
                        </m:fPr>
                        <m:num>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1</m:t>
                              </m:r>
                            </m:sub>
                          </m:sSub>
                          <m:r>
                            <a:rPr lang="es-ES" sz="3000" i="1">
                              <a:solidFill>
                                <a:srgbClr val="1F4E79"/>
                              </a:solidFill>
                              <a:latin typeface="Cambria Math" panose="02040503050406030204" pitchFamily="18" charset="0"/>
                            </a:rPr>
                            <m:t xml:space="preserve">−</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0</m:t>
                              </m:r>
                            </m:sub>
                          </m:sSub>
                          <m:r>
                            <a:rPr lang="es-ES" sz="3000" i="1">
                              <a:solidFill>
                                <a:srgbClr val="1F4E79"/>
                              </a:solidFill>
                              <a:latin typeface="Cambria Math" panose="02040503050406030204" pitchFamily="18" charset="0"/>
                            </a:rPr>
                            <m:t xml:space="preserve">)</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num>
                        <m:den>
                          <m:sSup>
                            <m:sSupPr>
                              <m:ctrlPr>
                                <a:rPr lang="es-ES" sz="3000" i="1">
                                  <a:latin typeface="Cambria Math" panose="02040503050406030204" pitchFamily="18" charset="0"/>
                                </a:rPr>
                              </m:ctrlPr>
                            </m:sSupPr>
                            <m:e>
                              <m:r>
                                <a:rPr lang="es-ES" sz="3000" i="1">
                                  <a:solidFill>
                                    <a:srgbClr val="1F4E79"/>
                                  </a:solidFill>
                                  <a:latin typeface="Cambria Math" panose="02040503050406030204" pitchFamily="18" charset="0"/>
                                </a:rPr>
                                <m:t xml:space="preserve">s</m:t>
                              </m:r>
                            </m:e>
                            <m:sup>
                              <m:r>
                                <a:rPr lang="es-ES" sz="3000" i="1">
                                  <a:solidFill>
                                    <a:srgbClr val="1F4E79"/>
                                  </a:solidFill>
                                  <a:latin typeface="Cambria Math" panose="02040503050406030204" pitchFamily="18" charset="0"/>
                                </a:rPr>
                                <m:t xml:space="preserve">2</m:t>
                              </m:r>
                            </m:sup>
                          </m:sSup>
                          <m:r>
                            <a:rPr lang="es-ES" sz="3000" i="1">
                              <a:solidFill>
                                <a:srgbClr val="1F4E79"/>
                              </a:solidFill>
                              <a:latin typeface="Cambria Math" panose="02040503050406030204" pitchFamily="18" charset="0"/>
                            </a:rPr>
                            <m:t xml:space="preserve">+2</m:t>
                          </m:r>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ζ</m:t>
                              </m:r>
                            </m:e>
                            <m:sub>
                              <m:r>
                                <a:rPr lang="es-ES" sz="3000" i="1">
                                  <a:solidFill>
                                    <a:srgbClr val="1F4E79"/>
                                  </a:solidFill>
                                  <a:latin typeface="Cambria Math" panose="02040503050406030204" pitchFamily="18" charset="0"/>
                                </a:rPr>
                                <m:t xml:space="preserve">1</m:t>
                              </m:r>
                            </m:sub>
                          </m:sSub>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r>
                            <a:rPr lang="es-ES" sz="3000" i="1">
                              <a:solidFill>
                                <a:srgbClr val="1F4E79"/>
                              </a:solidFill>
                              <a:latin typeface="Cambria Math" panose="02040503050406030204" pitchFamily="18" charset="0"/>
                            </a:rPr>
                            <m:t xml:space="preserve">s+</m:t>
                          </m:r>
                          <m:sSup>
                            <m:sSupPr>
                              <m:ctrlPr>
                                <a:rPr lang="es-ES" sz="3000" i="1">
                                  <a:latin typeface="Cambria Math" panose="02040503050406030204" pitchFamily="18" charset="0"/>
                                </a:rPr>
                              </m:ctrlPr>
                            </m:sSupPr>
                            <m:e>
                              <m:sSub>
                                <m:sSubPr>
                                  <m:ctrlPr>
                                    <a:rPr lang="es-ES" sz="3000" i="1">
                                      <a:latin typeface="Cambria Math" panose="02040503050406030204" pitchFamily="18" charset="0"/>
                                    </a:rPr>
                                  </m:ctrlPr>
                                </m:sSubPr>
                                <m:e>
                                  <m:r>
                                    <a:rPr lang="es-ES" sz="3000" i="1">
                                      <a:solidFill>
                                        <a:srgbClr val="1F4E79"/>
                                      </a:solidFill>
                                      <a:latin typeface="Cambria Math" panose="02040503050406030204" pitchFamily="18" charset="0"/>
                                    </a:rPr>
                                    <m:t xml:space="preserve">ω</m:t>
                                  </m:r>
                                </m:e>
                                <m:sub>
                                  <m:r>
                                    <a:rPr lang="es-ES" sz="3000" i="1">
                                      <a:solidFill>
                                        <a:srgbClr val="1F4E79"/>
                                      </a:solidFill>
                                      <a:latin typeface="Cambria Math" panose="02040503050406030204" pitchFamily="18" charset="0"/>
                                    </a:rPr>
                                    <m:t xml:space="preserve">n</m:t>
                                  </m:r>
                                </m:sub>
                              </m:sSub>
                            </m:e>
                            <m:sup>
                              <m:r>
                                <a:rPr lang="es-ES" sz="3000" i="1">
                                  <a:solidFill>
                                    <a:srgbClr val="1F4E79"/>
                                  </a:solidFill>
                                  <a:latin typeface="Cambria Math" panose="02040503050406030204" pitchFamily="18" charset="0"/>
                                </a:rPr>
                                <m:t xml:space="preserve">2</m:t>
                              </m:r>
                            </m:sup>
                          </m:sSup>
                        </m:den>
                      </m:f>
                    </m:oMath>
                  </m:oMathPara>
                </a14:m>
                <a:endParaRPr lang="es-ES"/>
              </a:p>
            </p:txBody>
          </p:sp>
        </mc:Choice>
        <mc:Fallback>
          <p:sp>
            <p:nvSpPr>
              <p:cNvPr id="8" name="Ecuación E_hc2"/>
              <p:cNvSpPr txBox="1"/>
              <p:nvPr/>
            </p:nvSpPr>
            <p:spPr>
              <a:xfrm>
                <a:off x="457200" y="3246120"/>
                <a:ext cx="8229600" cy="11887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Hcomp(s) = 1 − 2(ζ1 − ζ0)ωn·s / (s² + 2ζ1ωn·s + ωn²)</a:t>
                </a:r>
                <a:endParaRPr lang="en-US" sz="2400" dirty="0"/>
              </a:p>
            </p:txBody>
          </p:sp>
        </mc:Fallback>
      </mc:AlternateContent>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documento de tesis, ec. (comp-afe); se usan ζ0, ζ1, ωn (en Ma: γ0, γ1, ω0).</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Implementación: la ganancia se reparte entre las etapas para recuperar la atenuación del compensador</a:t>
            </a:r>
            <a:endParaRPr lang="en-US" sz="2400" dirty="0"/>
          </a:p>
        </p:txBody>
      </p:sp>
      <p:sp>
        <p:nvSpPr>
          <p:cNvPr id="3" name="Geófono"/>
          <p:cNvSpPr/>
          <p:nvPr/>
        </p:nvSpPr>
        <p:spPr>
          <a:xfrm>
            <a:off x="457200" y="1508760"/>
            <a:ext cx="1188720" cy="640080"/>
          </a:xfrm>
          <a:prstGeom prst="roundRect">
            <a:avLst>
              <a:gd name="adj" fmla="val 11429"/>
            </a:avLst>
          </a:prstGeom>
          <a:solidFill>
            <a:srgbClr val="2E75B6"/>
          </a:solidFill>
          <a:ln w="12700">
            <a:solidFill>
              <a:srgbClr val="2E75B6"/>
            </a:solidFill>
            <a:prstDash val="solid"/>
          </a:ln>
        </p:spPr>
      </p:sp>
      <p:sp>
        <p:nvSpPr>
          <p:cNvPr id="4" name="Text 2"/>
          <p:cNvSpPr txBox="1"/>
          <p:nvPr/>
        </p:nvSpPr>
        <p:spPr>
          <a:xfrm>
            <a:off x="457200" y="1508760"/>
            <a:ext cx="118872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Geófono</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SM-24</a:t>
            </a:r>
            <a:endParaRPr lang="en-US" sz="1300" dirty="0"/>
          </a:p>
        </p:txBody>
      </p:sp>
      <p:sp>
        <p:nvSpPr>
          <p:cNvPr id="5" name="PGA"/>
          <p:cNvSpPr/>
          <p:nvPr/>
        </p:nvSpPr>
        <p:spPr>
          <a:xfrm>
            <a:off x="1920240" y="1508760"/>
            <a:ext cx="1371600" cy="640080"/>
          </a:xfrm>
          <a:prstGeom prst="roundRect">
            <a:avLst>
              <a:gd name="adj" fmla="val 11429"/>
            </a:avLst>
          </a:prstGeom>
          <a:solidFill>
            <a:srgbClr val="2E75B6"/>
          </a:solidFill>
          <a:ln w="12700">
            <a:solidFill>
              <a:srgbClr val="2E75B6"/>
            </a:solidFill>
            <a:prstDash val="solid"/>
          </a:ln>
        </p:spPr>
      </p:sp>
      <p:sp>
        <p:nvSpPr>
          <p:cNvPr id="6" name="Text 4"/>
          <p:cNvSpPr txBox="1"/>
          <p:nvPr/>
        </p:nvSpPr>
        <p:spPr>
          <a:xfrm>
            <a:off x="1920240" y="1508760"/>
            <a:ext cx="137160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Entrada dif.</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 PGA</a:t>
            </a:r>
            <a:endParaRPr lang="en-US" sz="1300" dirty="0"/>
          </a:p>
        </p:txBody>
      </p:sp>
      <p:sp>
        <p:nvSpPr>
          <p:cNvPr id="7" name="Pasabanda"/>
          <p:cNvSpPr/>
          <p:nvPr/>
        </p:nvSpPr>
        <p:spPr>
          <a:xfrm>
            <a:off x="3749040" y="2194560"/>
            <a:ext cx="1463040" cy="640080"/>
          </a:xfrm>
          <a:prstGeom prst="roundRect">
            <a:avLst>
              <a:gd name="adj" fmla="val 11429"/>
            </a:avLst>
          </a:prstGeom>
          <a:solidFill>
            <a:srgbClr val="C55A11"/>
          </a:solidFill>
          <a:ln w="12700">
            <a:solidFill>
              <a:srgbClr val="C55A11"/>
            </a:solidFill>
            <a:prstDash val="solid"/>
          </a:ln>
        </p:spPr>
      </p:sp>
      <p:sp>
        <p:nvSpPr>
          <p:cNvPr id="8" name="Text 6"/>
          <p:cNvSpPr txBox="1"/>
          <p:nvPr/>
        </p:nvSpPr>
        <p:spPr>
          <a:xfrm>
            <a:off x="3749040" y="2194560"/>
            <a:ext cx="146304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Pasabanda</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inversor</a:t>
            </a:r>
            <a:endParaRPr lang="en-US" sz="1300" dirty="0"/>
          </a:p>
        </p:txBody>
      </p:sp>
      <p:sp>
        <p:nvSpPr>
          <p:cNvPr id="9" name="Sumador"/>
          <p:cNvSpPr/>
          <p:nvPr/>
        </p:nvSpPr>
        <p:spPr>
          <a:xfrm>
            <a:off x="5239512" y="1581912"/>
            <a:ext cx="493776" cy="493776"/>
          </a:xfrm>
          <a:prstGeom prst="ellipse">
            <a:avLst/>
          </a:prstGeom>
          <a:solidFill>
            <a:srgbClr val="1F4E79"/>
          </a:solidFill>
          <a:ln w="12700">
            <a:solidFill>
              <a:srgbClr val="1F4E79"/>
            </a:solidFill>
            <a:prstDash val="solid"/>
          </a:ln>
        </p:spPr>
      </p:sp>
      <p:sp>
        <p:nvSpPr>
          <p:cNvPr id="10" name="Text 8"/>
          <p:cNvSpPr txBox="1"/>
          <p:nvPr/>
        </p:nvSpPr>
        <p:spPr>
          <a:xfrm>
            <a:off x="5239512" y="1581912"/>
            <a:ext cx="493776" cy="493776"/>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Σ</a:t>
            </a:r>
            <a:endParaRPr lang="en-US" sz="1800" dirty="0"/>
          </a:p>
        </p:txBody>
      </p:sp>
      <p:sp>
        <p:nvSpPr>
          <p:cNvPr id="11" name="Pasa-bajos"/>
          <p:cNvSpPr/>
          <p:nvPr/>
        </p:nvSpPr>
        <p:spPr>
          <a:xfrm>
            <a:off x="6263640" y="1508760"/>
            <a:ext cx="1143000" cy="640080"/>
          </a:xfrm>
          <a:prstGeom prst="roundRect">
            <a:avLst>
              <a:gd name="adj" fmla="val 11429"/>
            </a:avLst>
          </a:prstGeom>
          <a:solidFill>
            <a:srgbClr val="2E75B6"/>
          </a:solidFill>
          <a:ln w="12700">
            <a:solidFill>
              <a:srgbClr val="2E75B6"/>
            </a:solidFill>
            <a:prstDash val="solid"/>
          </a:ln>
        </p:spPr>
      </p:sp>
      <p:sp>
        <p:nvSpPr>
          <p:cNvPr id="12" name="Text 10"/>
          <p:cNvSpPr txBox="1"/>
          <p:nvPr/>
        </p:nvSpPr>
        <p:spPr>
          <a:xfrm>
            <a:off x="6263640" y="1508760"/>
            <a:ext cx="114300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Pasa-bajos</a:t>
            </a:r>
            <a:endParaRPr lang="en-US" sz="1300" dirty="0"/>
          </a:p>
          <a:p>
            <a:pPr algn="ctr" indent="0" marL="0">
              <a:buNone/>
            </a:pPr>
            <a:r>
              <a:rPr lang="en-US" sz="1300" b="1" dirty="0">
                <a:solidFill>
                  <a:srgbClr val="FFFFFF"/>
                </a:solidFill>
                <a:latin typeface="Arial" pitchFamily="34" charset="0"/>
                <a:ea typeface="Arial" pitchFamily="34" charset="-122"/>
                <a:cs typeface="Arial" pitchFamily="34" charset="-120"/>
              </a:rPr>
              <a:t>antialias</a:t>
            </a:r>
            <a:endParaRPr lang="en-US" sz="1300" dirty="0"/>
          </a:p>
        </p:txBody>
      </p:sp>
      <p:sp>
        <p:nvSpPr>
          <p:cNvPr id="13" name="ADC"/>
          <p:cNvSpPr/>
          <p:nvPr/>
        </p:nvSpPr>
        <p:spPr>
          <a:xfrm>
            <a:off x="7680960" y="1508760"/>
            <a:ext cx="1005840" cy="640080"/>
          </a:xfrm>
          <a:prstGeom prst="roundRect">
            <a:avLst>
              <a:gd name="adj" fmla="val 11429"/>
            </a:avLst>
          </a:prstGeom>
          <a:solidFill>
            <a:srgbClr val="1F4E79"/>
          </a:solidFill>
          <a:ln w="12700">
            <a:solidFill>
              <a:srgbClr val="1F4E79"/>
            </a:solidFill>
            <a:prstDash val="solid"/>
          </a:ln>
        </p:spPr>
      </p:sp>
      <p:sp>
        <p:nvSpPr>
          <p:cNvPr id="14" name="Text 12"/>
          <p:cNvSpPr txBox="1"/>
          <p:nvPr/>
        </p:nvSpPr>
        <p:spPr>
          <a:xfrm>
            <a:off x="7680960" y="1508760"/>
            <a:ext cx="1005840" cy="64008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ADC</a:t>
            </a:r>
            <a:endParaRPr lang="en-US" sz="1300" dirty="0"/>
          </a:p>
        </p:txBody>
      </p:sp>
      <p:sp>
        <p:nvSpPr>
          <p:cNvPr id="15" name="Shape 13"/>
          <p:cNvSpPr/>
          <p:nvPr/>
        </p:nvSpPr>
        <p:spPr>
          <a:xfrm>
            <a:off x="1645920" y="1828800"/>
            <a:ext cx="274320" cy="0"/>
          </a:xfrm>
          <a:prstGeom prst="line">
            <a:avLst/>
          </a:prstGeom>
          <a:noFill/>
          <a:ln w="31750">
            <a:solidFill>
              <a:srgbClr val="1F4E79"/>
            </a:solidFill>
            <a:prstDash val="solid"/>
            <a:tailEnd type="triangle"/>
          </a:ln>
        </p:spPr>
      </p:sp>
      <p:sp>
        <p:nvSpPr>
          <p:cNvPr id="16" name="Shape 14"/>
          <p:cNvSpPr/>
          <p:nvPr/>
        </p:nvSpPr>
        <p:spPr>
          <a:xfrm>
            <a:off x="3291840" y="1828800"/>
            <a:ext cx="1947672" cy="0"/>
          </a:xfrm>
          <a:prstGeom prst="line">
            <a:avLst/>
          </a:prstGeom>
          <a:noFill/>
          <a:ln w="31750">
            <a:solidFill>
              <a:srgbClr val="1F4E79"/>
            </a:solidFill>
            <a:prstDash val="solid"/>
            <a:tailEnd type="triangle"/>
          </a:ln>
        </p:spPr>
      </p:sp>
      <p:sp>
        <p:nvSpPr>
          <p:cNvPr id="17" name="Nodo de derivación"/>
          <p:cNvSpPr/>
          <p:nvPr/>
        </p:nvSpPr>
        <p:spPr>
          <a:xfrm>
            <a:off x="3474720" y="1783080"/>
            <a:ext cx="91440" cy="91440"/>
          </a:xfrm>
          <a:prstGeom prst="ellipse">
            <a:avLst/>
          </a:prstGeom>
          <a:solidFill>
            <a:srgbClr val="1F4E79"/>
          </a:solidFill>
          <a:ln w="12700">
            <a:solidFill>
              <a:srgbClr val="1F4E79"/>
            </a:solidFill>
            <a:prstDash val="solid"/>
          </a:ln>
        </p:spPr>
      </p:sp>
      <p:sp>
        <p:nvSpPr>
          <p:cNvPr id="18" name="Shape 16"/>
          <p:cNvSpPr/>
          <p:nvPr/>
        </p:nvSpPr>
        <p:spPr>
          <a:xfrm>
            <a:off x="3520440" y="1828800"/>
            <a:ext cx="0" cy="685800"/>
          </a:xfrm>
          <a:prstGeom prst="line">
            <a:avLst/>
          </a:prstGeom>
          <a:noFill/>
          <a:ln w="31750">
            <a:solidFill>
              <a:srgbClr val="C55A11"/>
            </a:solidFill>
            <a:prstDash val="solid"/>
          </a:ln>
        </p:spPr>
      </p:sp>
      <p:sp>
        <p:nvSpPr>
          <p:cNvPr id="19" name="Shape 17"/>
          <p:cNvSpPr/>
          <p:nvPr/>
        </p:nvSpPr>
        <p:spPr>
          <a:xfrm>
            <a:off x="3520440" y="2514600"/>
            <a:ext cx="228600" cy="0"/>
          </a:xfrm>
          <a:prstGeom prst="line">
            <a:avLst/>
          </a:prstGeom>
          <a:noFill/>
          <a:ln w="31750">
            <a:solidFill>
              <a:srgbClr val="C55A11"/>
            </a:solidFill>
            <a:prstDash val="solid"/>
            <a:tailEnd type="triangle"/>
          </a:ln>
        </p:spPr>
      </p:sp>
      <p:sp>
        <p:nvSpPr>
          <p:cNvPr id="20" name="Shape 18"/>
          <p:cNvSpPr/>
          <p:nvPr/>
        </p:nvSpPr>
        <p:spPr>
          <a:xfrm>
            <a:off x="5212080" y="2514600"/>
            <a:ext cx="274320" cy="0"/>
          </a:xfrm>
          <a:prstGeom prst="line">
            <a:avLst/>
          </a:prstGeom>
          <a:noFill/>
          <a:ln w="31750">
            <a:solidFill>
              <a:srgbClr val="C55A11"/>
            </a:solidFill>
            <a:prstDash val="solid"/>
          </a:ln>
        </p:spPr>
      </p:sp>
      <p:sp>
        <p:nvSpPr>
          <p:cNvPr id="21" name="Shape 19"/>
          <p:cNvSpPr/>
          <p:nvPr/>
        </p:nvSpPr>
        <p:spPr>
          <a:xfrm flipV="1">
            <a:off x="5486400" y="2075688"/>
            <a:ext cx="0" cy="438912"/>
          </a:xfrm>
          <a:prstGeom prst="line">
            <a:avLst/>
          </a:prstGeom>
          <a:noFill/>
          <a:ln w="31750">
            <a:solidFill>
              <a:srgbClr val="C55A11"/>
            </a:solidFill>
            <a:prstDash val="solid"/>
            <a:tailEnd type="triangle"/>
          </a:ln>
        </p:spPr>
      </p:sp>
      <p:sp>
        <p:nvSpPr>
          <p:cNvPr id="22" name="Shape 20"/>
          <p:cNvSpPr/>
          <p:nvPr/>
        </p:nvSpPr>
        <p:spPr>
          <a:xfrm>
            <a:off x="5733288" y="1828800"/>
            <a:ext cx="530352" cy="0"/>
          </a:xfrm>
          <a:prstGeom prst="line">
            <a:avLst/>
          </a:prstGeom>
          <a:noFill/>
          <a:ln w="31750">
            <a:solidFill>
              <a:srgbClr val="1F4E79"/>
            </a:solidFill>
            <a:prstDash val="solid"/>
            <a:tailEnd type="triangle"/>
          </a:ln>
        </p:spPr>
      </p:sp>
      <p:sp>
        <p:nvSpPr>
          <p:cNvPr id="23" name="Shape 21"/>
          <p:cNvSpPr/>
          <p:nvPr/>
        </p:nvSpPr>
        <p:spPr>
          <a:xfrm>
            <a:off x="7406640" y="1828800"/>
            <a:ext cx="274320" cy="0"/>
          </a:xfrm>
          <a:prstGeom prst="line">
            <a:avLst/>
          </a:prstGeom>
          <a:noFill/>
          <a:ln w="31750">
            <a:solidFill>
              <a:srgbClr val="1F4E79"/>
            </a:solidFill>
            <a:prstDash val="solid"/>
            <a:tailEnd type="triangle"/>
          </a:ln>
        </p:spPr>
      </p:sp>
      <p:sp>
        <p:nvSpPr>
          <p:cNvPr id="24" name="Text 22"/>
          <p:cNvSpPr txBox="1"/>
          <p:nvPr/>
        </p:nvSpPr>
        <p:spPr>
          <a:xfrm>
            <a:off x="4892040" y="1444752"/>
            <a:ext cx="274320" cy="274320"/>
          </a:xfrm>
          <a:prstGeom prst="rect">
            <a:avLst/>
          </a:prstGeom>
          <a:noFill/>
          <a:ln/>
        </p:spPr>
        <p:txBody>
          <a:bodyPr wrap="square" lIns="0" tIns="0" rIns="0" bIns="0" rtlCol="0" anchor="t"/>
          <a:lstStyle/>
          <a:p>
            <a:pPr algn="ctr" indent="0" marL="0">
              <a:buNone/>
            </a:pPr>
            <a:r>
              <a:rPr lang="en-US" sz="1600" b="1" dirty="0">
                <a:solidFill>
                  <a:srgbClr val="1F4E79"/>
                </a:solidFill>
                <a:latin typeface="Arial" pitchFamily="34" charset="0"/>
                <a:ea typeface="Arial" pitchFamily="34" charset="-122"/>
                <a:cs typeface="Arial" pitchFamily="34" charset="-120"/>
              </a:rPr>
              <a:t>+</a:t>
            </a:r>
            <a:endParaRPr lang="en-US" sz="1600" dirty="0"/>
          </a:p>
        </p:txBody>
      </p:sp>
      <p:sp>
        <p:nvSpPr>
          <p:cNvPr id="25" name="Text 23"/>
          <p:cNvSpPr txBox="1"/>
          <p:nvPr/>
        </p:nvSpPr>
        <p:spPr>
          <a:xfrm>
            <a:off x="5577840" y="2130552"/>
            <a:ext cx="274320" cy="274320"/>
          </a:xfrm>
          <a:prstGeom prst="rect">
            <a:avLst/>
          </a:prstGeom>
          <a:noFill/>
          <a:ln/>
        </p:spPr>
        <p:txBody>
          <a:bodyPr wrap="square" lIns="0" tIns="0" rIns="0" bIns="0" rtlCol="0" anchor="t"/>
          <a:lstStyle/>
          <a:p>
            <a:pPr algn="ctr" indent="0" marL="0">
              <a:buNone/>
            </a:pPr>
            <a:r>
              <a:rPr lang="en-US" sz="2000" b="1" dirty="0">
                <a:solidFill>
                  <a:srgbClr val="C55A11"/>
                </a:solidFill>
                <a:latin typeface="Arial" pitchFamily="34" charset="0"/>
                <a:ea typeface="Arial" pitchFamily="34" charset="-122"/>
                <a:cs typeface="Arial" pitchFamily="34" charset="-120"/>
              </a:rPr>
              <a:t>+</a:t>
            </a:r>
            <a:endParaRPr lang="en-US" sz="2000" dirty="0"/>
          </a:p>
        </p:txBody>
      </p:sp>
      <p:sp>
        <p:nvSpPr>
          <p:cNvPr id="26" name="Cuerpo"/>
          <p:cNvSpPr txBox="1"/>
          <p:nvPr/>
        </p:nvSpPr>
        <p:spPr>
          <a:xfrm>
            <a:off x="457200" y="3246120"/>
            <a:ext cx="8229600" cy="118872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rgbClr val="2D2D2D"/>
                </a:solidFill>
                <a:latin typeface="Arial" pitchFamily="34" charset="0"/>
                <a:ea typeface="Arial" pitchFamily="34" charset="-122"/>
                <a:cs typeface="Arial" pitchFamily="34" charset="-120"/>
              </a:rPr>
              <a:t>Ganancias: entrada instrumental ×2, PGA de ×1 a ×50, sumador ×3,6 y pasa-bajos ×5: hasta ×1800 en total</a:t>
            </a:r>
            <a:endParaRPr lang="en-US" sz="1500" dirty="0"/>
          </a:p>
          <a:p>
            <a:pPr marL="342900" indent="-342900">
              <a:spcAft>
                <a:spcPts val="800"/>
              </a:spcAft>
              <a:buSzPct val="100000"/>
              <a:buChar char="•"/>
            </a:pPr>
            <a:r>
              <a:rPr lang="en-US" sz="1500" dirty="0">
                <a:solidFill>
                  <a:srgbClr val="2D2D2D"/>
                </a:solidFill>
                <a:latin typeface="Arial" pitchFamily="34" charset="0"/>
                <a:ea typeface="Arial" pitchFamily="34" charset="-122"/>
                <a:cs typeface="Arial" pitchFamily="34" charset="-120"/>
              </a:rPr>
              <a:t>Con ζ1 ≈ 938, el compensador atenúa 2ζ1 ≈ 1876 veces: la ganancia lo recupera</a:t>
            </a:r>
            <a:endParaRPr lang="en-US" sz="1500" dirty="0"/>
          </a:p>
        </p:txBody>
      </p:sp>
      <p:sp>
        <p:nvSpPr>
          <p:cNvPr id="2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latex-15p-review, sec. 3 (acondicionamiento); 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62</a:t>
            </a:fld>
            <a:endParaRPr lang="en-US"/>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entrada es instrumental, con dos operacionales, para rechazar el ruido de red</a:t>
            </a:r>
            <a:endParaRPr lang="en-US" sz="2400" dirty="0"/>
          </a:p>
        </p:txBody>
      </p:sp>
      <p:pic>
        <p:nvPicPr>
          <p:cNvPr id="3" name="Entrada diferencial" descr="Amplificador diferencial de dos operacionales con entradas V1 y V2">    </p:cNvPr>
          <p:cNvPicPr>
            <a:picLocks noChangeAspect="1"/>
          </p:cNvPicPr>
          <p:nvPr/>
        </p:nvPicPr>
        <p:blipFill>
          <a:blip r:embed="rId1"/>
          <a:stretch>
            <a:fillRect/>
          </a:stretch>
        </p:blipFill>
        <p:spPr>
          <a:xfrm>
            <a:off x="365760" y="1280160"/>
            <a:ext cx="4754880" cy="2377440"/>
          </a:xfrm>
          <a:prstGeom prst="rect">
            <a:avLst/>
          </a:prstGeom>
        </p:spPr>
      </p:pic>
      <p:sp>
        <p:nvSpPr>
          <p:cNvPr id="4" name="Cuerpo"/>
          <p:cNvSpPr txBox="1"/>
          <p:nvPr/>
        </p:nvSpPr>
        <p:spPr>
          <a:xfrm>
            <a:off x="5394960" y="1371600"/>
            <a:ext cx="3291840" cy="2743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El ruido de red está muy presente en el geófono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 entrada diferencial lo rechaza como señal de modo común</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Aporta una ganancia de ×2</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genérico aportado por el autor (fuente por confirmar); ganancia: documento de tesis, sec. 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63</a:t>
            </a:fld>
            <a:endParaRPr lang="en-US"/>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pasabanda es un inversor con dos quiebres desacoplados, en lugar de un Sallen-Key</a:t>
            </a:r>
            <a:endParaRPr lang="en-US" sz="2400" dirty="0"/>
          </a:p>
        </p:txBody>
      </p:sp>
      <p:pic>
        <p:nvPicPr>
          <p:cNvPr id="3" name="Sallen-Key" descr="Filtro pasabanda Sallen-Key con admitancias Y1 a Y5">    </p:cNvPr>
          <p:cNvPicPr>
            <a:picLocks noChangeAspect="1"/>
          </p:cNvPicPr>
          <p:nvPr/>
        </p:nvPicPr>
        <p:blipFill>
          <a:blip r:embed="rId1"/>
          <a:stretch>
            <a:fillRect/>
          </a:stretch>
        </p:blipFill>
        <p:spPr>
          <a:xfrm>
            <a:off x="548640" y="1234440"/>
            <a:ext cx="2926080" cy="2194560"/>
          </a:xfrm>
          <a:prstGeom prst="rect">
            <a:avLst/>
          </a:prstGeom>
        </p:spPr>
      </p:pic>
      <p:pic>
        <p:nvPicPr>
          <p:cNvPr id="4" name="Pasabanda inversor" descr="Amplificador inversor con Cin y Rin en la entrada y Rf en paralelo con Cf en la realimentación">    </p:cNvPr>
          <p:cNvPicPr>
            <a:picLocks noChangeAspect="1"/>
          </p:cNvPicPr>
          <p:nvPr/>
        </p:nvPicPr>
        <p:blipFill>
          <a:blip r:embed="rId2"/>
          <a:stretch>
            <a:fillRect/>
          </a:stretch>
        </p:blipFill>
        <p:spPr>
          <a:xfrm>
            <a:off x="4480560" y="1234440"/>
            <a:ext cx="3840480" cy="1920240"/>
          </a:xfrm>
          <a:prstGeom prst="rect">
            <a:avLst/>
          </a:prstGeom>
        </p:spPr>
      </p:pic>
      <p:sp>
        <p:nvSpPr>
          <p:cNvPr id="5" name="Text 1"/>
          <p:cNvSpPr txBox="1"/>
          <p:nvPr/>
        </p:nvSpPr>
        <p:spPr>
          <a:xfrm>
            <a:off x="457200" y="3520440"/>
            <a:ext cx="3108960" cy="274320"/>
          </a:xfrm>
          <a:prstGeom prst="rect">
            <a:avLst/>
          </a:prstGeom>
          <a:noFill/>
          <a:ln/>
        </p:spPr>
        <p:txBody>
          <a:bodyPr wrap="square" lIns="0" tIns="0" rIns="0" bIns="0" rtlCol="0" anchor="t"/>
          <a:lstStyle/>
          <a:p>
            <a:pPr algn="ctr" indent="0" marL="0">
              <a:buNone/>
            </a:pPr>
            <a:r>
              <a:rPr lang="en-US" sz="1400" b="1" dirty="0">
                <a:solidFill>
                  <a:srgbClr val="6B6B6B"/>
                </a:solidFill>
                <a:latin typeface="Arial" pitchFamily="34" charset="0"/>
                <a:ea typeface="Arial" pitchFamily="34" charset="-122"/>
                <a:cs typeface="Arial" pitchFamily="34" charset="-120"/>
              </a:rPr>
              <a:t>Ma et al.: Sallen-Key</a:t>
            </a:r>
            <a:endParaRPr lang="en-US" sz="1400" dirty="0"/>
          </a:p>
        </p:txBody>
      </p:sp>
      <p:sp>
        <p:nvSpPr>
          <p:cNvPr id="6" name="Text 2"/>
          <p:cNvSpPr txBox="1"/>
          <p:nvPr/>
        </p:nvSpPr>
        <p:spPr>
          <a:xfrm>
            <a:off x="4297680" y="3200400"/>
            <a:ext cx="4389120" cy="274320"/>
          </a:xfrm>
          <a:prstGeom prst="rect">
            <a:avLst/>
          </a:prstGeom>
          <a:noFill/>
          <a:ln/>
        </p:spPr>
        <p:txBody>
          <a:bodyPr wrap="square" lIns="0" tIns="0" rIns="0" bIns="0" rtlCol="0" anchor="t"/>
          <a:lstStyle/>
          <a:p>
            <a:pPr algn="ctr" indent="0" marL="0">
              <a:buNone/>
            </a:pPr>
            <a:r>
              <a:rPr lang="en-US" sz="1400" b="1" dirty="0">
                <a:solidFill>
                  <a:srgbClr val="1F4E79"/>
                </a:solidFill>
                <a:latin typeface="Arial" pitchFamily="34" charset="0"/>
                <a:ea typeface="Arial" pitchFamily="34" charset="-122"/>
                <a:cs typeface="Arial" pitchFamily="34" charset="-120"/>
              </a:rPr>
              <a:t>Este trabajo: inversor, −Zf/Zin</a:t>
            </a:r>
            <a:endParaRPr lang="en-US" sz="1400" dirty="0"/>
          </a:p>
        </p:txBody>
      </p:sp>
      <p:sp>
        <p:nvSpPr>
          <p:cNvPr id="7" name="Text 3"/>
          <p:cNvSpPr txBox="1"/>
          <p:nvPr/>
        </p:nvSpPr>
        <p:spPr>
          <a:xfrm>
            <a:off x="457200" y="3840480"/>
            <a:ext cx="3108960" cy="457200"/>
          </a:xfrm>
          <a:prstGeom prst="rect">
            <a:avLst/>
          </a:prstGeom>
          <a:noFill/>
          <a:ln/>
        </p:spPr>
        <p:txBody>
          <a:bodyPr wrap="square" lIns="0" tIns="0" rIns="0" bIns="0" rtlCol="0" anchor="t"/>
          <a:lstStyle/>
          <a:p>
            <a:pPr algn="ctr" indent="0" marL="0">
              <a:buNone/>
            </a:pPr>
            <a:r>
              <a:rPr lang="en-US" sz="1300" dirty="0">
                <a:solidFill>
                  <a:srgbClr val="6B6B6B"/>
                </a:solidFill>
                <a:latin typeface="Arial" pitchFamily="34" charset="0"/>
                <a:ea typeface="Arial" pitchFamily="34" charset="-122"/>
                <a:cs typeface="Arial" pitchFamily="34" charset="-120"/>
              </a:rPr>
              <a:t>Cada polo se reparte entre varios componentes</a:t>
            </a:r>
            <a:endParaRPr lang="en-US" sz="1300" dirty="0"/>
          </a:p>
        </p:txBody>
      </p:sp>
      <p:sp>
        <p:nvSpPr>
          <p:cNvPr id="8" name="Fondo E_flow"/>
          <p:cNvSpPr/>
          <p:nvPr/>
        </p:nvSpPr>
        <p:spPr>
          <a:xfrm>
            <a:off x="4297680" y="3520440"/>
            <a:ext cx="4389120" cy="5029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9" name="Ecuación E_flow"/>
              <p:cNvSpPr txBox="1"/>
              <p:nvPr/>
            </p:nvSpPr>
            <p:spPr>
              <a:xfrm>
                <a:off x="4297680" y="3520440"/>
                <a:ext cx="4389120" cy="5029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f</m:t>
                          </m:r>
                        </m:e>
                        <m:sub>
                          <m:r>
                            <m:rPr>
                              <m:sty m:val="p"/>
                            </m:rPr>
                            <a:rPr lang="es-ES" sz="2400">
                              <a:solidFill>
                                <a:srgbClr val="1F4E79"/>
                              </a:solidFill>
                              <a:latin typeface="Cambria Math" panose="02040503050406030204" pitchFamily="18" charset="0"/>
                            </a:rPr>
                            <m:t xml:space="preserve">low</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1</m:t>
                          </m:r>
                        </m:num>
                        <m:den>
                          <m:r>
                            <a:rPr lang="es-ES" sz="2400" i="1">
                              <a:solidFill>
                                <a:srgbClr val="1F4E79"/>
                              </a:solidFill>
                              <a:latin typeface="Cambria Math" panose="02040503050406030204" pitchFamily="18" charset="0"/>
                            </a:rPr>
                            <m:t xml:space="preserve">2π</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m:rPr>
                                  <m:sty m:val="p"/>
                                </m:rPr>
                                <a:rPr lang="es-ES" sz="2400">
                                  <a:solidFill>
                                    <a:srgbClr val="1F4E79"/>
                                  </a:solidFill>
                                  <a:latin typeface="Cambria Math" panose="02040503050406030204" pitchFamily="18" charset="0"/>
                                </a:rPr>
                                <m:t xml:space="preserve">in</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m:rPr>
                                  <m:sty m:val="p"/>
                                </m:rPr>
                                <a:rPr lang="es-ES" sz="2400">
                                  <a:solidFill>
                                    <a:srgbClr val="1F4E79"/>
                                  </a:solidFill>
                                  <a:latin typeface="Cambria Math" panose="02040503050406030204" pitchFamily="18" charset="0"/>
                                </a:rPr>
                                <m:t xml:space="preserve">in</m:t>
                              </m:r>
                            </m:sub>
                          </m:sSub>
                        </m:den>
                      </m:f>
                    </m:oMath>
                  </m:oMathPara>
                </a14:m>
                <a:endParaRPr lang="es-ES"/>
              </a:p>
            </p:txBody>
          </p:sp>
        </mc:Choice>
        <mc:Fallback>
          <p:sp>
            <p:nvSpPr>
              <p:cNvPr id="9" name="Ecuación E_flow"/>
              <p:cNvSpPr txBox="1"/>
              <p:nvPr/>
            </p:nvSpPr>
            <p:spPr>
              <a:xfrm>
                <a:off x="4297680" y="3520440"/>
                <a:ext cx="4389120" cy="5029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f_low = 1 / (2π Rin Cin)</a:t>
                </a:r>
                <a:endParaRPr lang="en-US" sz="2400" dirty="0"/>
              </a:p>
            </p:txBody>
          </p:sp>
        </mc:Fallback>
      </mc:AlternateContent>
      <p:sp>
        <p:nvSpPr>
          <p:cNvPr id="10" name="Fondo E_fhigh"/>
          <p:cNvSpPr/>
          <p:nvPr/>
        </p:nvSpPr>
        <p:spPr>
          <a:xfrm>
            <a:off x="4297680" y="4069080"/>
            <a:ext cx="4389120" cy="5029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1" name="Ecuación E_fhigh"/>
              <p:cNvSpPr txBox="1"/>
              <p:nvPr/>
            </p:nvSpPr>
            <p:spPr>
              <a:xfrm>
                <a:off x="4297680" y="4069080"/>
                <a:ext cx="4389120" cy="5029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f</m:t>
                          </m:r>
                        </m:e>
                        <m:sub>
                          <m:r>
                            <m:rPr>
                              <m:sty m:val="p"/>
                            </m:rPr>
                            <a:rPr lang="es-ES" sz="2400">
                              <a:solidFill>
                                <a:srgbClr val="1F4E79"/>
                              </a:solidFill>
                              <a:latin typeface="Cambria Math" panose="02040503050406030204" pitchFamily="18" charset="0"/>
                            </a:rPr>
                            <m:t xml:space="preserve">high</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1</m:t>
                          </m:r>
                        </m:num>
                        <m:den>
                          <m:r>
                            <a:rPr lang="es-ES" sz="2400" i="1">
                              <a:solidFill>
                                <a:srgbClr val="1F4E79"/>
                              </a:solidFill>
                              <a:latin typeface="Cambria Math" panose="02040503050406030204" pitchFamily="18" charset="0"/>
                            </a:rPr>
                            <m:t xml:space="preserve">2π</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R</m:t>
                              </m:r>
                            </m:e>
                            <m:sub>
                              <m:r>
                                <m:rPr>
                                  <m:sty m:val="p"/>
                                </m:rPr>
                                <a:rPr lang="es-ES" sz="2400">
                                  <a:solidFill>
                                    <a:srgbClr val="1F4E79"/>
                                  </a:solidFill>
                                  <a:latin typeface="Cambria Math" panose="02040503050406030204" pitchFamily="18" charset="0"/>
                                </a:rPr>
                                <m:t xml:space="preserve">f</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m:rPr>
                                  <m:sty m:val="p"/>
                                </m:rPr>
                                <a:rPr lang="es-ES" sz="2400">
                                  <a:solidFill>
                                    <a:srgbClr val="1F4E79"/>
                                  </a:solidFill>
                                  <a:latin typeface="Cambria Math" panose="02040503050406030204" pitchFamily="18" charset="0"/>
                                </a:rPr>
                                <m:t xml:space="preserve">f</m:t>
                              </m:r>
                            </m:sub>
                          </m:sSub>
                        </m:den>
                      </m:f>
                    </m:oMath>
                  </m:oMathPara>
                </a14:m>
                <a:endParaRPr lang="es-ES"/>
              </a:p>
            </p:txBody>
          </p:sp>
        </mc:Choice>
        <mc:Fallback>
          <p:sp>
            <p:nvSpPr>
              <p:cNvPr id="11" name="Ecuación E_fhigh"/>
              <p:cNvSpPr txBox="1"/>
              <p:nvPr/>
            </p:nvSpPr>
            <p:spPr>
              <a:xfrm>
                <a:off x="4297680" y="4069080"/>
                <a:ext cx="4389120" cy="5029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f_high = 1 / (2π Rf Cf)</a:t>
                </a:r>
                <a:endParaRPr lang="en-US" sz="2400" dirty="0"/>
              </a:p>
            </p:txBody>
          </p:sp>
        </mc:Fallback>
      </mc:AlternateContent>
      <p:sp>
        <p:nvSpPr>
          <p:cNvPr id="12"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documento de tesis, latex-15p-review, sec. 3. Imágenes aportadas por el autor.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64</a:t>
            </a:fld>
            <a:endParaRPr lang="en-US"/>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Como el pasabanda ya invierte la fase, un sumador reemplaza al amplificador diferencial</a:t>
            </a:r>
            <a:endParaRPr lang="en-US" sz="2400" dirty="0"/>
          </a:p>
        </p:txBody>
      </p:sp>
      <p:pic>
        <p:nvPicPr>
          <p:cNvPr id="3" name="Diferencial de Ma" descr="Amplificador diferencial de un operacional con R1 a R4">    </p:cNvPr>
          <p:cNvPicPr>
            <a:picLocks noChangeAspect="1"/>
          </p:cNvPicPr>
          <p:nvPr/>
        </p:nvPicPr>
        <p:blipFill>
          <a:blip r:embed="rId1"/>
          <a:stretch>
            <a:fillRect/>
          </a:stretch>
        </p:blipFill>
        <p:spPr>
          <a:xfrm>
            <a:off x="457200" y="1188720"/>
            <a:ext cx="2834640" cy="2125980"/>
          </a:xfrm>
          <a:prstGeom prst="rect">
            <a:avLst/>
          </a:prstGeom>
        </p:spPr>
      </p:pic>
      <p:pic>
        <p:nvPicPr>
          <p:cNvPr id="4" name="Sumador inversor" descr="Sumador inversor con Rf en paralelo con Cf">    </p:cNvPr>
          <p:cNvPicPr>
            <a:picLocks noChangeAspect="1"/>
          </p:cNvPicPr>
          <p:nvPr/>
        </p:nvPicPr>
        <p:blipFill>
          <a:blip r:embed="rId2"/>
          <a:stretch>
            <a:fillRect/>
          </a:stretch>
        </p:blipFill>
        <p:spPr>
          <a:xfrm>
            <a:off x="4297680" y="1188720"/>
            <a:ext cx="2834640" cy="2125980"/>
          </a:xfrm>
          <a:prstGeom prst="rect">
            <a:avLst/>
          </a:prstGeom>
        </p:spPr>
      </p:pic>
      <p:sp>
        <p:nvSpPr>
          <p:cNvPr id="5" name="Text 1"/>
          <p:cNvSpPr txBox="1"/>
          <p:nvPr/>
        </p:nvSpPr>
        <p:spPr>
          <a:xfrm>
            <a:off x="457200" y="3383280"/>
            <a:ext cx="3108960" cy="274320"/>
          </a:xfrm>
          <a:prstGeom prst="rect">
            <a:avLst/>
          </a:prstGeom>
          <a:noFill/>
          <a:ln/>
        </p:spPr>
        <p:txBody>
          <a:bodyPr wrap="square" lIns="0" tIns="0" rIns="0" bIns="0" rtlCol="0" anchor="t"/>
          <a:lstStyle/>
          <a:p>
            <a:pPr indent="0" marL="0">
              <a:buNone/>
            </a:pPr>
            <a:r>
              <a:rPr lang="en-US" sz="1400" b="1" dirty="0">
                <a:solidFill>
                  <a:srgbClr val="6B6B6B"/>
                </a:solidFill>
                <a:latin typeface="Arial" pitchFamily="34" charset="0"/>
                <a:ea typeface="Arial" pitchFamily="34" charset="-122"/>
                <a:cs typeface="Arial" pitchFamily="34" charset="-120"/>
              </a:rPr>
              <a:t>Ma et al.: amplificador diferencial</a:t>
            </a:r>
            <a:endParaRPr lang="en-US" sz="1400" dirty="0"/>
          </a:p>
        </p:txBody>
      </p:sp>
      <p:sp>
        <p:nvSpPr>
          <p:cNvPr id="6" name="Text 2"/>
          <p:cNvSpPr txBox="1"/>
          <p:nvPr/>
        </p:nvSpPr>
        <p:spPr>
          <a:xfrm>
            <a:off x="4297680" y="3383280"/>
            <a:ext cx="4389120" cy="274320"/>
          </a:xfrm>
          <a:prstGeom prst="rect">
            <a:avLst/>
          </a:prstGeom>
          <a:noFill/>
          <a:ln/>
        </p:spPr>
        <p:txBody>
          <a:bodyPr wrap="square" lIns="0" tIns="0" rIns="0" bIns="0" rtlCol="0" anchor="t"/>
          <a:lstStyle/>
          <a:p>
            <a:pPr indent="0" marL="0">
              <a:buNone/>
            </a:pPr>
            <a:r>
              <a:rPr lang="en-US" sz="1400" b="1" dirty="0">
                <a:solidFill>
                  <a:srgbClr val="1F4E79"/>
                </a:solidFill>
                <a:latin typeface="Arial" pitchFamily="34" charset="0"/>
                <a:ea typeface="Arial" pitchFamily="34" charset="-122"/>
                <a:cs typeface="Arial" pitchFamily="34" charset="-120"/>
              </a:rPr>
              <a:t>Este trabajo: sumador inversor</a:t>
            </a:r>
            <a:endParaRPr lang="en-US" sz="1400" dirty="0"/>
          </a:p>
        </p:txBody>
      </p:sp>
      <p:sp>
        <p:nvSpPr>
          <p:cNvPr id="7" name="Text 3"/>
          <p:cNvSpPr txBox="1"/>
          <p:nvPr/>
        </p:nvSpPr>
        <p:spPr>
          <a:xfrm>
            <a:off x="457200" y="3703320"/>
            <a:ext cx="3108960" cy="45720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Exige resistencias pareadas</a:t>
            </a:r>
            <a:endParaRPr lang="en-US" sz="1300" dirty="0"/>
          </a:p>
        </p:txBody>
      </p:sp>
      <p:sp>
        <p:nvSpPr>
          <p:cNvPr id="8" name="Cuerpo"/>
          <p:cNvSpPr txBox="1"/>
          <p:nvPr/>
        </p:nvSpPr>
        <p:spPr>
          <a:xfrm>
            <a:off x="4297680" y="3657600"/>
            <a:ext cx="4389120" cy="86868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rgbClr val="2D2D2D"/>
                </a:solidFill>
                <a:latin typeface="Arial" pitchFamily="34" charset="0"/>
                <a:ea typeface="Arial" pitchFamily="34" charset="-122"/>
                <a:cs typeface="Arial" pitchFamily="34" charset="-120"/>
              </a:rPr>
              <a:t>Menos componentes y menos dependencia de tolerancias</a:t>
            </a:r>
            <a:endParaRPr lang="en-US" sz="1300" dirty="0"/>
          </a:p>
          <a:p>
            <a:pPr marL="342900" indent="-342900">
              <a:spcAft>
                <a:spcPts val="400"/>
              </a:spcAft>
              <a:buSzPct val="100000"/>
              <a:buChar char="•"/>
            </a:pPr>
            <a:r>
              <a:rPr lang="en-US" sz="1300" dirty="0">
                <a:solidFill>
                  <a:srgbClr val="2D2D2D"/>
                </a:solidFill>
                <a:latin typeface="Arial" pitchFamily="34" charset="0"/>
                <a:ea typeface="Arial" pitchFamily="34" charset="-122"/>
                <a:cs typeface="Arial" pitchFamily="34" charset="-120"/>
              </a:rPr>
              <a:t>Cf en paralelo con Rf agrega un polo pasa-bajos</a:t>
            </a:r>
            <a:endParaRPr lang="en-US" sz="13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Ma et al. (2023); documento de tesis, latex-15p-review, sec. 3. Imágenes aportadas por el autor.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antialias es un Bessel de tercer orden que aprovecha el polo del sumador</a:t>
            </a:r>
            <a:endParaRPr lang="en-US" sz="2400" dirty="0"/>
          </a:p>
        </p:txBody>
      </p:sp>
      <p:pic>
        <p:nvPicPr>
          <p:cNvPr id="3" name="MFB" descr="Filtro pasabajos de realimentación múltiple (MFB) con R1, R3, R4, C2 y C5">    </p:cNvPr>
          <p:cNvPicPr>
            <a:picLocks noChangeAspect="1"/>
          </p:cNvPicPr>
          <p:nvPr/>
        </p:nvPicPr>
        <p:blipFill>
          <a:blip r:embed="rId1"/>
          <a:stretch>
            <a:fillRect/>
          </a:stretch>
        </p:blipFill>
        <p:spPr>
          <a:xfrm>
            <a:off x="365760" y="1234440"/>
            <a:ext cx="4480560" cy="3360420"/>
          </a:xfrm>
          <a:prstGeom prst="rect">
            <a:avLst/>
          </a:prstGeom>
        </p:spPr>
      </p:pic>
      <p:sp>
        <p:nvSpPr>
          <p:cNvPr id="4" name="Cuerpo"/>
          <p:cNvSpPr txBox="1"/>
          <p:nvPr/>
        </p:nvSpPr>
        <p:spPr>
          <a:xfrm>
            <a:off x="5029200" y="1325880"/>
            <a:ext cx="3657600" cy="31089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2D2D2D"/>
                </a:solidFill>
                <a:latin typeface="Arial" pitchFamily="34" charset="0"/>
                <a:ea typeface="Arial" pitchFamily="34" charset="-122"/>
                <a:cs typeface="Arial" pitchFamily="34" charset="-120"/>
              </a:rPr>
              <a:t>Se decidió que sea Bessel, de fase casi lineal</a:t>
            </a:r>
            <a:endParaRPr lang="en-US" sz="1500" dirty="0"/>
          </a:p>
          <a:p>
            <a:pPr marL="342900" indent="-342900">
              <a:spcAft>
                <a:spcPts val="1000"/>
              </a:spcAft>
              <a:buSzPct val="100000"/>
              <a:buChar char="•"/>
            </a:pPr>
            <a:r>
              <a:rPr lang="en-US" sz="1500" dirty="0">
                <a:solidFill>
                  <a:srgbClr val="2D2D2D"/>
                </a:solidFill>
                <a:latin typeface="Arial" pitchFamily="34" charset="0"/>
                <a:ea typeface="Arial" pitchFamily="34" charset="-122"/>
                <a:cs typeface="Arial" pitchFamily="34" charset="-120"/>
              </a:rPr>
              <a:t>El polo del sumador se aprovecha para completar un Bessel de tercer orden con un MFB de segundo orden</a:t>
            </a:r>
            <a:endParaRPr lang="en-US" sz="1500" dirty="0"/>
          </a:p>
          <a:p>
            <a:pPr marL="342900" indent="-342900">
              <a:spcAft>
                <a:spcPts val="1000"/>
              </a:spcAft>
              <a:buSzPct val="100000"/>
              <a:buChar char="•"/>
            </a:pPr>
            <a:r>
              <a:rPr lang="en-US" sz="1500" dirty="0">
                <a:solidFill>
                  <a:srgbClr val="2D2D2D"/>
                </a:solidFill>
                <a:latin typeface="Arial" pitchFamily="34" charset="0"/>
                <a:ea typeface="Arial" pitchFamily="34" charset="-122"/>
                <a:cs typeface="Arial" pitchFamily="34" charset="-120"/>
              </a:rPr>
              <a:t>El MFB aprovecha mejor el ancho de banda ya limitado del operacional del PSoC: permite ganar más en esta etapa sin perder rendimiento</a:t>
            </a:r>
            <a:endParaRPr lang="en-US" sz="15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latex-15p-review sec. 3 y latex/03b_topologias.tex. Imagen aportada por el autor.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AFE final</a:t>
            </a:r>
            <a:endParaRPr lang="en-US" sz="2400" dirty="0"/>
          </a:p>
        </p:txBody>
      </p:sp>
      <p:pic>
        <p:nvPicPr>
          <p:cNvPr id="3" name="Esquema AFE" descr="Esquema del frente analógico en PSoC Creator: entrada diferencial, ganancia programable, rama pasabanda, sumador, pasa-bajos, referencias VDAC y ADC">    </p:cNvPr>
          <p:cNvPicPr>
            <a:picLocks noChangeAspect="1"/>
          </p:cNvPicPr>
          <p:nvPr/>
        </p:nvPicPr>
        <p:blipFill>
          <a:blip r:embed="rId1"/>
          <a:stretch>
            <a:fillRect/>
          </a:stretch>
        </p:blipFill>
        <p:spPr>
          <a:xfrm>
            <a:off x="640080" y="868680"/>
            <a:ext cx="7863840" cy="3545281"/>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Elaboración propia en PSoC Creator (resumen firmado, fig. 5 y sec. 4.3).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67</a:t>
            </a:fld>
            <a:endParaRPr lang="en-US"/>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ruta PGA–ADC se midió con barridos y el geófono se tomó con su modelo nominal</a:t>
            </a:r>
            <a:endParaRPr lang="en-US" sz="2400" dirty="0"/>
          </a:p>
        </p:txBody>
      </p:sp>
      <p:pic>
        <p:nvPicPr>
          <p:cNvPr id="3" name="Respuesta PGA-ADC" descr="Respuesta PGA–ADC medida: magnitud, fase y coherencia, junto al modelo, sus tolerancias y el rango del potenciómetro">    </p:cNvPr>
          <p:cNvPicPr>
            <a:picLocks noChangeAspect="1"/>
          </p:cNvPicPr>
          <p:nvPr/>
        </p:nvPicPr>
        <p:blipFill>
          <a:blip r:embed="rId1"/>
          <a:stretch>
            <a:fillRect/>
          </a:stretch>
        </p:blipFill>
        <p:spPr>
          <a:xfrm>
            <a:off x="365760" y="1234440"/>
            <a:ext cx="4023360" cy="3156310"/>
          </a:xfrm>
          <a:prstGeom prst="rect">
            <a:avLst/>
          </a:prstGeom>
        </p:spPr>
      </p:pic>
      <p:sp>
        <p:nvSpPr>
          <p:cNvPr id="4" name="Cuerpo"/>
          <p:cNvSpPr txBox="1"/>
          <p:nvPr/>
        </p:nvSpPr>
        <p:spPr>
          <a:xfrm>
            <a:off x="4572000" y="1280160"/>
            <a:ext cx="4114800" cy="32004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Barridos senoidales de 10 mHz a 200 kHz; magnitud y fase como cociente espectral salida/entrada, con coherencia</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No se dispuso de un actuador capaz de imponer movimiento al geófono en el rango de frecuencias deseado</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Por eso se usó el modelo nominal del SM-24 convolucionado con el AFE (producto de las respuestas en frecuencia)</a:t>
            </a:r>
            <a:endParaRPr lang="en-US" sz="1400" dirty="0"/>
          </a:p>
          <a:p>
            <a:pPr marL="342900" indent="-342900">
              <a:spcAft>
                <a:spcPts val="800"/>
              </a:spcAft>
              <a:buSzPct val="100000"/>
              <a:buChar char="•"/>
            </a:pPr>
            <a:r>
              <a:rPr lang="en-US" sz="1400" dirty="0">
                <a:solidFill>
                  <a:srgbClr val="2D2D2D"/>
                </a:solidFill>
                <a:latin typeface="Arial" pitchFamily="34" charset="0"/>
                <a:ea typeface="Arial" pitchFamily="34" charset="-122"/>
                <a:cs typeface="Arial" pitchFamily="34" charset="-120"/>
              </a:rPr>
              <a:t>No es una validación extremo a extremo, pero sí una validación de todo el frente eléctrico</a:t>
            </a:r>
            <a:endParaRPr lang="en-US" sz="14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4.5, fig. 9; figura propia; Sensor Nederland B.V. (2006).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offset se acumula en la cadena y recorta la señal; no se puede filtrar en continua</a:t>
            </a:r>
            <a:endParaRPr lang="en-US" sz="2400" dirty="0"/>
          </a:p>
        </p:txBody>
      </p:sp>
      <p:pic>
        <p:nvPicPr>
          <p:cNvPr id="3" name="Ilustración de recorte" descr="Ilustración: salida de una etapa con offset, recortada en el límite de alimentación, y la misma salida con ajuste previo">    </p:cNvPr>
          <p:cNvPicPr>
            <a:picLocks noChangeAspect="1"/>
          </p:cNvPicPr>
          <p:nvPr/>
        </p:nvPicPr>
        <p:blipFill>
          <a:blip r:embed="rId1"/>
          <a:stretch>
            <a:fillRect/>
          </a:stretch>
        </p:blipFill>
        <p:spPr>
          <a:xfrm>
            <a:off x="1097280" y="1143000"/>
            <a:ext cx="6583680" cy="2194560"/>
          </a:xfrm>
          <a:prstGeom prst="rect">
            <a:avLst/>
          </a:prstGeom>
        </p:spPr>
      </p:pic>
      <p:sp>
        <p:nvSpPr>
          <p:cNvPr id="4" name="Cuerpo"/>
          <p:cNvSpPr txBox="1"/>
          <p:nvPr/>
        </p:nvSpPr>
        <p:spPr>
          <a:xfrm>
            <a:off x="457200" y="3383280"/>
            <a:ext cx="8229600" cy="1188720"/>
          </a:xfrm>
          <a:prstGeom prst="rect">
            <a:avLst/>
          </a:prstGeom>
          <a:noFill/>
          <a:ln/>
        </p:spPr>
        <p:txBody>
          <a:bodyPr wrap="square" lIns="0" tIns="0" rIns="0" bIns="0" rtlCol="0" anchor="t"/>
          <a:lstStyle/>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No se puede desacoplar en continua: de ella depende la arquitectura del compensador</a:t>
            </a:r>
            <a:endParaRPr lang="en-US" sz="1200" dirty="0"/>
          </a:p>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Un servo de continua activo durante la captura impone un compromiso entre establecimiento y ancho de banda, justo en baja frecuencia</a:t>
            </a:r>
            <a:endParaRPr lang="en-US" sz="1200" dirty="0"/>
          </a:p>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Es consecuencia de las ganancias agresivas por etapa. Sin calibrar, el offset llegó al 21,8 % del fondo de escala</a:t>
            </a:r>
            <a:endParaRPr lang="en-US" sz="1200" dirty="0"/>
          </a:p>
          <a:p>
            <a:pPr marL="342900" indent="-342900">
              <a:spcAft>
                <a:spcPts val="300"/>
              </a:spcAft>
              <a:buSzPct val="100000"/>
              <a:buChar char="•"/>
            </a:pPr>
            <a:r>
              <a:rPr lang="en-US" sz="1200" dirty="0">
                <a:solidFill>
                  <a:srgbClr val="2D2D2D"/>
                </a:solidFill>
                <a:latin typeface="Arial" pitchFamily="34" charset="0"/>
                <a:ea typeface="Arial" pitchFamily="34" charset="-122"/>
                <a:cs typeface="Arial" pitchFamily="34" charset="-120"/>
              </a:rPr>
              <a:t>Solución: recuperar el rango con un ajuste digital previo a la captura</a:t>
            </a:r>
            <a:endParaRPr lang="en-US" sz="12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Ilustración propia (esquemática); 21,8 %: Álvarez, González y Vargas, DA-AFE (URUCON); resumen firmado, sec. 4.4.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69</a:t>
            </a:fld>
            <a:endParaRPr lang="en-US"/>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continua de cada etapa depende de las anteriores, por eso el ajuste se hace en orden</a:t>
            </a:r>
            <a:endParaRPr lang="en-US" sz="2400" dirty="0"/>
          </a:p>
        </p:txBody>
      </p:sp>
      <p:sp>
        <p:nvSpPr>
          <p:cNvPr id="3" name="Fondo E_off"/>
          <p:cNvSpPr/>
          <p:nvPr/>
        </p:nvSpPr>
        <p:spPr>
          <a:xfrm>
            <a:off x="457200" y="1325880"/>
            <a:ext cx="8229600" cy="10058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off"/>
              <p:cNvSpPr txBox="1"/>
              <p:nvPr/>
            </p:nvSpPr>
            <p:spPr>
              <a:xfrm>
                <a:off x="457200" y="1325880"/>
                <a:ext cx="8229600" cy="10058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Sup>
                        <m:sSubSupPr>
                          <m:ctrlPr>
                            <a:rPr lang="es-ES" sz="2400" i="1">
                              <a:latin typeface="Cambria Math" panose="02040503050406030204" pitchFamily="18" charset="0"/>
                            </a:rPr>
                          </m:ctrlPr>
                        </m:sSubSupPr>
                        <m:e>
                          <m:r>
                            <a:rPr lang="es-ES" sz="2400" i="1">
                              <a:solidFill>
                                <a:srgbClr val="1F4E79"/>
                              </a:solidFill>
                              <a:latin typeface="Cambria Math" panose="02040503050406030204" pitchFamily="18" charset="0"/>
                            </a:rPr>
                            <m:t xml:space="preserve">y</m:t>
                          </m:r>
                        </m:e>
                        <m:sub>
                          <m:r>
                            <a:rPr lang="es-ES" sz="2400" i="1">
                              <a:solidFill>
                                <a:srgbClr val="1F4E79"/>
                              </a:solidFill>
                              <a:latin typeface="Cambria Math" panose="02040503050406030204" pitchFamily="18" charset="0"/>
                            </a:rPr>
                            <m:t xml:space="preserve">i</m:t>
                          </m:r>
                        </m:sub>
                        <m:sup>
                          <m:r>
                            <m:rPr>
                              <m:sty m:val="p"/>
                            </m:rPr>
                            <a:rPr lang="es-ES" sz="2400">
                              <a:solidFill>
                                <a:srgbClr val="1F4E79"/>
                              </a:solidFill>
                              <a:latin typeface="Cambria Math" panose="02040503050406030204" pitchFamily="18" charset="0"/>
                            </a:rPr>
                            <m:t xml:space="preserve">DC</m:t>
                          </m:r>
                        </m:sup>
                      </m:sSubSup>
                      <m:r>
                        <a:rPr lang="es-ES" sz="2400" i="1">
                          <a:solidFill>
                            <a:srgbClr val="1F4E79"/>
                          </a:solidFill>
                          <a:latin typeface="Cambria Math" panose="02040503050406030204" pitchFamily="18" charset="0"/>
                        </a:rPr>
                        <m:t xml:space="preserve">=</m:t>
                      </m:r>
                      <m:nary>
                        <m:naryPr>
                          <m:chr m:val="∑"/>
                          <m:limLoc m:val="undOvr"/>
                          <m:supHide m:val="1"/>
                          <m:ctrlPr>
                            <a:rPr lang="es-ES" sz="2400" i="1">
                              <a:latin typeface="Cambria Math" panose="02040503050406030204" pitchFamily="18" charset="0"/>
                            </a:rPr>
                          </m:ctrlPr>
                        </m:naryPr>
                        <m:sub>
                          <m:r>
                            <a:rPr lang="es-ES" sz="2400" i="1">
                              <a:solidFill>
                                <a:srgbClr val="1F4E79"/>
                              </a:solidFill>
                              <a:latin typeface="Cambria Math" panose="02040503050406030204" pitchFamily="18" charset="0"/>
                            </a:rPr>
                            <m:t xml:space="preserve">j&lt;i</m:t>
                          </m:r>
                        </m:sub>
                        <m:sup/>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A</m:t>
                              </m:r>
                            </m:e>
                            <m:sub>
                              <m:r>
                                <a:rPr lang="es-ES" sz="2400" i="1">
                                  <a:solidFill>
                                    <a:srgbClr val="1F4E79"/>
                                  </a:solidFill>
                                  <a:latin typeface="Cambria Math" panose="02040503050406030204" pitchFamily="18" charset="0"/>
                                </a:rPr>
                                <m:t xml:space="preserve">ij</m:t>
                              </m:r>
                            </m:sub>
                          </m:sSub>
                          <m:sSubSup>
                            <m:sSubSupPr>
                              <m:ctrlPr>
                                <a:rPr lang="es-ES" sz="2400" i="1">
                                  <a:latin typeface="Cambria Math" panose="02040503050406030204" pitchFamily="18" charset="0"/>
                                </a:rPr>
                              </m:ctrlPr>
                            </m:sSubSupPr>
                            <m:e>
                              <m:r>
                                <a:rPr lang="es-ES" sz="2400" i="1">
                                  <a:solidFill>
                                    <a:srgbClr val="1F4E79"/>
                                  </a:solidFill>
                                  <a:latin typeface="Cambria Math" panose="02040503050406030204" pitchFamily="18" charset="0"/>
                                </a:rPr>
                                <m:t xml:space="preserve">y</m:t>
                              </m:r>
                            </m:e>
                            <m:sub>
                              <m:r>
                                <a:rPr lang="es-ES" sz="2400" i="1">
                                  <a:solidFill>
                                    <a:srgbClr val="1F4E79"/>
                                  </a:solidFill>
                                  <a:latin typeface="Cambria Math" panose="02040503050406030204" pitchFamily="18" charset="0"/>
                                </a:rPr>
                                <m:t xml:space="preserve">j</m:t>
                              </m:r>
                            </m:sub>
                            <m:sup>
                              <m:r>
                                <m:rPr>
                                  <m:sty m:val="p"/>
                                </m:rPr>
                                <a:rPr lang="es-ES" sz="2400">
                                  <a:solidFill>
                                    <a:srgbClr val="1F4E79"/>
                                  </a:solidFill>
                                  <a:latin typeface="Cambria Math" panose="02040503050406030204" pitchFamily="18" charset="0"/>
                                </a:rPr>
                                <m:t xml:space="preserve">DC</m:t>
                              </m:r>
                            </m:sup>
                          </m:sSubSup>
                        </m:e>
                      </m:nary>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b</m:t>
                          </m:r>
                        </m:e>
                        <m:sub>
                          <m:r>
                            <a:rPr lang="es-ES" sz="2400" i="1">
                              <a:solidFill>
                                <a:srgbClr val="1F4E79"/>
                              </a:solidFill>
                              <a:latin typeface="Cambria Math" panose="02040503050406030204" pitchFamily="18" charset="0"/>
                            </a:rPr>
                            <m:t xml:space="preserve">i</m:t>
                          </m:r>
                        </m:sub>
                      </m:sSub>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K</m:t>
                          </m:r>
                        </m:e>
                        <m:sub>
                          <m:r>
                            <a:rPr lang="es-ES" sz="2400" i="1">
                              <a:solidFill>
                                <a:srgbClr val="1F4E79"/>
                              </a:solidFill>
                              <a:latin typeface="Cambria Math" panose="02040503050406030204" pitchFamily="18" charset="0"/>
                            </a:rPr>
                            <m:t xml:space="preserve">i</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u</m:t>
                          </m:r>
                        </m:e>
                        <m:sub>
                          <m:r>
                            <a:rPr lang="es-ES" sz="2400" i="1">
                              <a:solidFill>
                                <a:srgbClr val="1F4E79"/>
                              </a:solidFill>
                              <a:latin typeface="Cambria Math" panose="02040503050406030204" pitchFamily="18" charset="0"/>
                            </a:rPr>
                            <m:t xml:space="preserve">i</m:t>
                          </m:r>
                        </m:sub>
                      </m:sSub>
                    </m:oMath>
                  </m:oMathPara>
                </a14:m>
                <a:endParaRPr lang="es-ES"/>
              </a:p>
            </p:txBody>
          </p:sp>
        </mc:Choice>
        <mc:Fallback>
          <p:sp>
            <p:nvSpPr>
              <p:cNvPr id="4" name="Ecuación E_off"/>
              <p:cNvSpPr txBox="1"/>
              <p:nvPr/>
            </p:nvSpPr>
            <p:spPr>
              <a:xfrm>
                <a:off x="457200" y="1325880"/>
                <a:ext cx="8229600" cy="10058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yi(DC) = Σ(j&lt;i) Aij · yj(DC) + bi + Ki · ui</a:t>
                </a:r>
                <a:endParaRPr lang="en-US" sz="2400" dirty="0"/>
              </a:p>
            </p:txBody>
          </p:sp>
        </mc:Fallback>
      </mc:AlternateContent>
      <p:sp>
        <p:nvSpPr>
          <p:cNvPr id="5" name="Fondo E_Aij"/>
          <p:cNvSpPr/>
          <p:nvPr/>
        </p:nvSpPr>
        <p:spPr>
          <a:xfrm>
            <a:off x="457200" y="2560320"/>
            <a:ext cx="137160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Aij"/>
              <p:cNvSpPr txBox="1"/>
              <p:nvPr/>
            </p:nvSpPr>
            <p:spPr>
              <a:xfrm>
                <a:off x="457200" y="2560320"/>
                <a:ext cx="137160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A</m:t>
                          </m:r>
                        </m:e>
                        <m:sub>
                          <m:r>
                            <a:rPr lang="es-ES" sz="2400" i="1">
                              <a:solidFill>
                                <a:srgbClr val="1F4E79"/>
                              </a:solidFill>
                              <a:latin typeface="Cambria Math" panose="02040503050406030204" pitchFamily="18" charset="0"/>
                            </a:rPr>
                            <m:t xml:space="preserve">ij</m:t>
                          </m:r>
                        </m:sub>
                      </m:sSub>
                    </m:oMath>
                  </m:oMathPara>
                </a14:m>
                <a:endParaRPr lang="es-ES"/>
              </a:p>
            </p:txBody>
          </p:sp>
        </mc:Choice>
        <mc:Fallback>
          <p:sp>
            <p:nvSpPr>
              <p:cNvPr id="6" name="Ecuación E_Aij"/>
              <p:cNvSpPr txBox="1"/>
              <p:nvPr/>
            </p:nvSpPr>
            <p:spPr>
              <a:xfrm>
                <a:off x="457200" y="2560320"/>
                <a:ext cx="137160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Aij</a:t>
                </a:r>
                <a:endParaRPr lang="en-US" sz="2400" dirty="0"/>
              </a:p>
            </p:txBody>
          </p:sp>
        </mc:Fallback>
      </mc:AlternateContent>
      <p:sp>
        <p:nvSpPr>
          <p:cNvPr id="7" name="Text 5"/>
          <p:cNvSpPr txBox="1"/>
          <p:nvPr/>
        </p:nvSpPr>
        <p:spPr>
          <a:xfrm>
            <a:off x="2011680" y="2560320"/>
            <a:ext cx="6675120" cy="45720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transferencia de continua de la etapa j a la etapa i</a:t>
            </a:r>
            <a:endParaRPr lang="en-US" sz="1600" dirty="0"/>
          </a:p>
        </p:txBody>
      </p:sp>
      <p:sp>
        <p:nvSpPr>
          <p:cNvPr id="8" name="Fondo E_bi"/>
          <p:cNvSpPr/>
          <p:nvPr/>
        </p:nvSpPr>
        <p:spPr>
          <a:xfrm>
            <a:off x="457200" y="3108960"/>
            <a:ext cx="137160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9" name="Ecuación E_bi"/>
              <p:cNvSpPr txBox="1"/>
              <p:nvPr/>
            </p:nvSpPr>
            <p:spPr>
              <a:xfrm>
                <a:off x="457200" y="3108960"/>
                <a:ext cx="137160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b</m:t>
                          </m:r>
                        </m:e>
                        <m:sub>
                          <m:r>
                            <a:rPr lang="es-ES" sz="2400" i="1">
                              <a:solidFill>
                                <a:srgbClr val="1F4E79"/>
                              </a:solidFill>
                              <a:latin typeface="Cambria Math" panose="02040503050406030204" pitchFamily="18" charset="0"/>
                            </a:rPr>
                            <m:t xml:space="preserve">i</m:t>
                          </m:r>
                        </m:sub>
                      </m:sSub>
                    </m:oMath>
                  </m:oMathPara>
                </a14:m>
                <a:endParaRPr lang="es-ES"/>
              </a:p>
            </p:txBody>
          </p:sp>
        </mc:Choice>
        <mc:Fallback>
          <p:sp>
            <p:nvSpPr>
              <p:cNvPr id="9" name="Ecuación E_bi"/>
              <p:cNvSpPr txBox="1"/>
              <p:nvPr/>
            </p:nvSpPr>
            <p:spPr>
              <a:xfrm>
                <a:off x="457200" y="3108960"/>
                <a:ext cx="137160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bi</a:t>
                </a:r>
                <a:endParaRPr lang="en-US" sz="2400" dirty="0"/>
              </a:p>
            </p:txBody>
          </p:sp>
        </mc:Fallback>
      </mc:AlternateContent>
      <p:sp>
        <p:nvSpPr>
          <p:cNvPr id="10" name="Text 8"/>
          <p:cNvSpPr txBox="1"/>
          <p:nvPr/>
        </p:nvSpPr>
        <p:spPr>
          <a:xfrm>
            <a:off x="2011680" y="3108960"/>
            <a:ext cx="6675120" cy="45720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offset propio de la etapa i</a:t>
            </a:r>
            <a:endParaRPr lang="en-US" sz="1600" dirty="0"/>
          </a:p>
        </p:txBody>
      </p:sp>
      <p:sp>
        <p:nvSpPr>
          <p:cNvPr id="11" name="Fondo E_Kiui"/>
          <p:cNvSpPr/>
          <p:nvPr/>
        </p:nvSpPr>
        <p:spPr>
          <a:xfrm>
            <a:off x="457200" y="3657600"/>
            <a:ext cx="1371600" cy="4572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2" name="Ecuación E_Kiui"/>
              <p:cNvSpPr txBox="1"/>
              <p:nvPr/>
            </p:nvSpPr>
            <p:spPr>
              <a:xfrm>
                <a:off x="457200" y="3657600"/>
                <a:ext cx="1371600" cy="4572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K</m:t>
                          </m:r>
                        </m:e>
                        <m:sub>
                          <m:r>
                            <a:rPr lang="es-ES" sz="2400" i="1">
                              <a:solidFill>
                                <a:srgbClr val="1F4E79"/>
                              </a:solidFill>
                              <a:latin typeface="Cambria Math" panose="02040503050406030204" pitchFamily="18" charset="0"/>
                            </a:rPr>
                            <m:t xml:space="preserve">i</m:t>
                          </m:r>
                        </m:sub>
                      </m:sSub>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u</m:t>
                          </m:r>
                        </m:e>
                        <m:sub>
                          <m:r>
                            <a:rPr lang="es-ES" sz="2400" i="1">
                              <a:solidFill>
                                <a:srgbClr val="1F4E79"/>
                              </a:solidFill>
                              <a:latin typeface="Cambria Math" panose="02040503050406030204" pitchFamily="18" charset="0"/>
                            </a:rPr>
                            <m:t xml:space="preserve">i</m:t>
                          </m:r>
                        </m:sub>
                      </m:sSub>
                    </m:oMath>
                  </m:oMathPara>
                </a14:m>
                <a:endParaRPr lang="es-ES"/>
              </a:p>
            </p:txBody>
          </p:sp>
        </mc:Choice>
        <mc:Fallback>
          <p:sp>
            <p:nvSpPr>
              <p:cNvPr id="12" name="Ecuación E_Kiui"/>
              <p:cNvSpPr txBox="1"/>
              <p:nvPr/>
            </p:nvSpPr>
            <p:spPr>
              <a:xfrm>
                <a:off x="457200" y="3657600"/>
                <a:ext cx="1371600" cy="4572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Ki·ui</a:t>
                </a:r>
                <a:endParaRPr lang="en-US" sz="2400" dirty="0"/>
              </a:p>
            </p:txBody>
          </p:sp>
        </mc:Fallback>
      </mc:AlternateContent>
      <p:sp>
        <p:nvSpPr>
          <p:cNvPr id="13" name="Text 11"/>
          <p:cNvSpPr txBox="1"/>
          <p:nvPr/>
        </p:nvSpPr>
        <p:spPr>
          <a:xfrm>
            <a:off x="2011680" y="3657600"/>
            <a:ext cx="6675120" cy="45720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corrección aplicada con el VDAC de la etapa i</a:t>
            </a:r>
            <a:endParaRPr lang="en-US" sz="1600" dirty="0"/>
          </a:p>
        </p:txBody>
      </p:sp>
      <p:sp>
        <p:nvSpPr>
          <p:cNvPr id="14" name="Text 12"/>
          <p:cNvSpPr txBox="1"/>
          <p:nvPr/>
        </p:nvSpPr>
        <p:spPr>
          <a:xfrm>
            <a:off x="457200" y="4206240"/>
            <a:ext cx="8229600" cy="365760"/>
          </a:xfrm>
          <a:prstGeom prst="rect">
            <a:avLst/>
          </a:prstGeom>
          <a:noFill/>
          <a:ln/>
        </p:spPr>
        <p:txBody>
          <a:bodyPr wrap="square" lIns="0" tIns="0" rIns="0" bIns="0" rtlCol="0" anchor="t"/>
          <a:lstStyle/>
          <a:p>
            <a:pPr indent="0" marL="0">
              <a:buNone/>
            </a:pPr>
            <a:r>
              <a:rPr lang="en-US" sz="1500" dirty="0">
                <a:solidFill>
                  <a:srgbClr val="6B6B6B"/>
                </a:solidFill>
                <a:latin typeface="Arial" pitchFamily="34" charset="0"/>
                <a:ea typeface="Arial" pitchFamily="34" charset="-122"/>
                <a:cs typeface="Arial" pitchFamily="34" charset="-120"/>
              </a:rPr>
              <a:t>Cada paso del VDAC se amplifica en las etapas siguientes: al subir la ganancia se pierde resolución de ajuste.</a:t>
            </a:r>
            <a:endParaRPr lang="en-US" sz="1500" dirty="0"/>
          </a:p>
        </p:txBody>
      </p:sp>
      <p:sp>
        <p:nvSpPr>
          <p:cNvPr id="1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Álvarez, González y Vargas, DA-AFE (URUCON); documento de tesis, sec. 3. Notación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calibración verifica los códigos guardados y, si hace falta, ajusta etapa por etapa antes de capturar</a:t>
            </a:r>
            <a:endParaRPr lang="en-US" sz="2400" dirty="0"/>
          </a:p>
        </p:txBody>
      </p:sp>
      <p:pic>
        <p:nvPicPr>
          <p:cNvPr id="3" name="Flujo de calibración" descr="Diagrama de flujo de la calibración en primer plano: verificación de códigos guardados, ajuste secuencial y adquisición">    </p:cNvPr>
          <p:cNvPicPr>
            <a:picLocks noChangeAspect="1"/>
          </p:cNvPicPr>
          <p:nvPr/>
        </p:nvPicPr>
        <p:blipFill>
          <a:blip r:embed="rId1"/>
          <a:stretch>
            <a:fillRect/>
          </a:stretch>
        </p:blipFill>
        <p:spPr>
          <a:xfrm>
            <a:off x="2011680" y="1188720"/>
            <a:ext cx="5120640" cy="3276199"/>
          </a:xfrm>
          <a:prstGeom prst="rect">
            <a:avLst/>
          </a:prstGeom>
        </p:spPr>
      </p:pic>
      <p:sp>
        <p:nvSpPr>
          <p:cNvPr id="4" name="Text 1"/>
          <p:cNvSpPr txBox="1"/>
          <p:nvPr/>
        </p:nvSpPr>
        <p:spPr>
          <a:xfrm>
            <a:off x="3474720" y="4480560"/>
            <a:ext cx="365760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FIGURA EN INGLÉS: traducir desde el repo</a:t>
            </a:r>
            <a:endParaRPr lang="en-US" sz="1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Álvarez, González y Vargas, DA-AFE (URUCON), fig. 2; resumen firmado, sec. 4.4.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71</a:t>
            </a:fld>
            <a:endParaRPr lang="en-US"/>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calibración converge y baja el offset residual en el ADC de 2,9–45,8 % a 0,4–3,9 % del fondo de escala</a:t>
            </a:r>
            <a:endParaRPr lang="en-US" sz="2400" dirty="0"/>
          </a:p>
        </p:txBody>
      </p:sp>
      <p:pic>
        <p:nvPicPr>
          <p:cNvPr id="3" name="Ejemplo de calibración" descr="Trayectorias de calibración de las etapas PGA, BP, SUM y LP en función del tiempo">    </p:cNvPr>
          <p:cNvPicPr>
            <a:picLocks noChangeAspect="1"/>
          </p:cNvPicPr>
          <p:nvPr/>
        </p:nvPicPr>
        <p:blipFill>
          <a:blip r:embed="rId1"/>
          <a:stretch>
            <a:fillRect/>
          </a:stretch>
        </p:blipFill>
        <p:spPr>
          <a:xfrm>
            <a:off x="365760" y="1188720"/>
            <a:ext cx="2606040" cy="3071613"/>
          </a:xfrm>
          <a:prstGeom prst="rect">
            <a:avLst/>
          </a:prstGeom>
        </p:spPr>
      </p:pic>
      <p:graphicFrame>
        <p:nvGraphicFramePr>
          <p:cNvPr id="4" name="Chart 0" descr=""/>
          <p:cNvGraphicFramePr/>
          <p:nvPr/>
        </p:nvGraphicFramePr>
        <p:xfrm>
          <a:off x="3291840" y="1188720"/>
          <a:ext cx="5394960" cy="2423160"/>
        </p:xfrm>
        <a:graphic xmlns:a="http://schemas.openxmlformats.org/drawingml/2006/main">
          <a:graphicData uri="http://schemas.openxmlformats.org/drawingml/2006/chart">
            <c:chart xmlns:c="http://schemas.openxmlformats.org/drawingml/2006/chart" r:id="rId2"/>
          </a:graphicData>
        </a:graphic>
      </p:graphicFrame>
      <p:sp>
        <p:nvSpPr>
          <p:cNvPr id="5" name="Cuerpo"/>
          <p:cNvSpPr txBox="1"/>
          <p:nvPr/>
        </p:nvSpPr>
        <p:spPr>
          <a:xfrm>
            <a:off x="3291840" y="3657600"/>
            <a:ext cx="5394960" cy="868680"/>
          </a:xfrm>
          <a:prstGeom prst="rect">
            <a:avLst/>
          </a:prstGeom>
          <a:noFill/>
          <a:ln/>
        </p:spPr>
        <p:txBody>
          <a:bodyPr wrap="square" lIns="0" tIns="0" rIns="0" bIns="0" rtlCol="0" anchor="t"/>
          <a:lstStyle/>
          <a:p>
            <a:pPr marL="342900" indent="-342900">
              <a:spcAft>
                <a:spcPts val="300"/>
              </a:spcAft>
              <a:buSzPct val="100000"/>
              <a:buChar char="•"/>
            </a:pPr>
            <a:r>
              <a:rPr lang="en-US" sz="1100" dirty="0">
                <a:solidFill>
                  <a:srgbClr val="2D2D2D"/>
                </a:solidFill>
                <a:latin typeface="Arial" pitchFamily="34" charset="0"/>
                <a:ea typeface="Arial" pitchFamily="34" charset="-122"/>
                <a:cs typeface="Arial" pitchFamily="34" charset="-120"/>
              </a:rPr>
              <a:t>Izquierda: ejemplo a ganancia ×16 (×32 diferencial total). Gris: osciloscopio; color: reconstrucción con el FIR de 128 coeficientes</a:t>
            </a:r>
            <a:endParaRPr lang="en-US" sz="1100" dirty="0"/>
          </a:p>
          <a:p>
            <a:pPr marL="342900" indent="-342900">
              <a:spcAft>
                <a:spcPts val="300"/>
              </a:spcAft>
              <a:buSzPct val="100000"/>
              <a:buChar char="•"/>
            </a:pPr>
            <a:r>
              <a:rPr lang="en-US" sz="1100" dirty="0">
                <a:solidFill>
                  <a:srgbClr val="2D2D2D"/>
                </a:solidFill>
                <a:latin typeface="Arial" pitchFamily="34" charset="0"/>
                <a:ea typeface="Arial" pitchFamily="34" charset="-122"/>
                <a:cs typeface="Arial" pitchFamily="34" charset="-120"/>
              </a:rPr>
              <a:t>El residuo de 0,24 V en el PGA es la banda muerta elegida (ΔPGA = 18, ±288 mV), no inestabilidad</a:t>
            </a:r>
            <a:endParaRPr lang="en-US" sz="1100" dirty="0"/>
          </a:p>
          <a:p>
            <a:pPr marL="342900" indent="-342900">
              <a:spcAft>
                <a:spcPts val="300"/>
              </a:spcAft>
              <a:buSzPct val="100000"/>
              <a:buChar char="•"/>
            </a:pPr>
            <a:r>
              <a:rPr lang="en-US" sz="1100" dirty="0">
                <a:solidFill>
                  <a:srgbClr val="2D2D2D"/>
                </a:solidFill>
                <a:latin typeface="Arial" pitchFamily="34" charset="0"/>
                <a:ea typeface="Arial" pitchFamily="34" charset="-122"/>
                <a:cs typeface="Arial" pitchFamily="34" charset="-120"/>
              </a:rPr>
              <a:t>Derecha: 2 placas y 8 configuraciones placa–ganancia</a:t>
            </a:r>
            <a:endParaRPr lang="en-US" sz="1100" dirty="0"/>
          </a:p>
        </p:txBody>
      </p:sp>
      <p:sp>
        <p:nvSpPr>
          <p:cNvPr id="6" name="Text 2"/>
          <p:cNvSpPr txBox="1"/>
          <p:nvPr/>
        </p:nvSpPr>
        <p:spPr>
          <a:xfrm>
            <a:off x="182880" y="4297680"/>
            <a:ext cx="278892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EJE EN INGLÉS: traducir desde el repo</a:t>
            </a:r>
            <a:endParaRPr lang="en-US" sz="10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Álvarez, González y Vargas, DA-AFE (URUCON), fig. 4; documento de tesis (00_resumen.tex).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72</a:t>
            </a:fld>
            <a:endParaRPr lang="en-US"/>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el PSoC 5LP la captura la gobierna el hardware, no el procesador</a:t>
            </a:r>
            <a:endParaRPr lang="en-US" sz="2400" dirty="0"/>
          </a:p>
        </p:txBody>
      </p:sp>
      <p:pic>
        <p:nvPicPr>
          <p:cNvPr id="3" name="Camino digital del PSoC" descr="Captura de PSoC Creator del camino digital: SignalController en lógica programable, tres canales DMA, filtro digital, temporizadores, EEPROM, SPI para la tarjeta SD y la interfaz con los ESP32">    </p:cNvPr>
          <p:cNvPicPr>
            <a:picLocks noChangeAspect="1"/>
          </p:cNvPicPr>
          <p:nvPr/>
        </p:nvPicPr>
        <p:blipFill>
          <a:blip r:embed="rId1"/>
          <a:stretch>
            <a:fillRect/>
          </a:stretch>
        </p:blipFill>
        <p:spPr>
          <a:xfrm>
            <a:off x="1280160" y="1143000"/>
            <a:ext cx="6583680" cy="2863901"/>
          </a:xfrm>
          <a:prstGeom prst="rect">
            <a:avLst/>
          </a:prstGeom>
        </p:spPr>
      </p:pic>
      <p:sp>
        <p:nvSpPr>
          <p:cNvPr id="4" name="Text 1"/>
          <p:cNvSpPr txBox="1"/>
          <p:nvPr/>
        </p:nvSpPr>
        <p:spPr>
          <a:xfrm>
            <a:off x="457200" y="4069080"/>
            <a:ext cx="8229600" cy="274320"/>
          </a:xfrm>
          <a:prstGeom prst="rect">
            <a:avLst/>
          </a:prstGeom>
          <a:noFill/>
          <a:ln/>
        </p:spPr>
        <p:txBody>
          <a:bodyPr wrap="square" lIns="0" tIns="0" rIns="0" bIns="0" rtlCol="0" anchor="t"/>
          <a:lstStyle/>
          <a:p>
            <a:pPr indent="0" marL="0">
              <a:buNone/>
            </a:pPr>
            <a:r>
              <a:rPr lang="en-US" sz="1300" b="1" dirty="0">
                <a:solidFill>
                  <a:srgbClr val="1F4E79"/>
                </a:solidFill>
                <a:latin typeface="Arial" pitchFamily="34" charset="0"/>
                <a:ea typeface="Arial" pitchFamily="34" charset="-122"/>
                <a:cs typeface="Arial" pitchFamily="34" charset="-120"/>
              </a:rPr>
              <a:t>ADC ΔΣ, filtro, DMA de tres canales y control en UDB: el procesador queda fuera del camino crítico</a:t>
            </a:r>
            <a:endParaRPr lang="en-US" sz="1300" dirty="0"/>
          </a:p>
        </p:txBody>
      </p:sp>
      <p:sp>
        <p:nvSpPr>
          <p:cNvPr id="5" name="Text 2"/>
          <p:cNvSpPr txBox="1"/>
          <p:nvPr/>
        </p:nvSpPr>
        <p:spPr>
          <a:xfrm>
            <a:off x="5029200" y="4370832"/>
            <a:ext cx="3657600" cy="228600"/>
          </a:xfrm>
          <a:prstGeom prst="rect">
            <a:avLst/>
          </a:prstGeom>
          <a:noFill/>
          <a:ln/>
        </p:spPr>
        <p:txBody>
          <a:bodyPr wrap="square" lIns="0" tIns="0" rIns="0" bIns="0" rtlCol="0" anchor="t"/>
          <a:lstStyle/>
          <a:p>
            <a:pPr algn="r" indent="0" marL="0">
              <a:buNone/>
            </a:pPr>
            <a:r>
              <a:rPr lang="en-US" sz="1000" b="1" dirty="0">
                <a:solidFill>
                  <a:srgbClr val="C55A11"/>
                </a:solidFill>
                <a:latin typeface="Arial" pitchFamily="34" charset="0"/>
                <a:ea typeface="Arial" pitchFamily="34" charset="-122"/>
                <a:cs typeface="Arial" pitchFamily="34" charset="-120"/>
              </a:rPr>
              <a:t>CAPTURA CON ETIQUETAS EN INGLÉS (PSoC Creator)</a:t>
            </a:r>
            <a:endParaRPr lang="en-US" sz="10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Elaboración propia en PSoC Creator (resumen firmado, fig. 10 y sec. 4.6; documento de tesis, fig. camino digital).</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73</a:t>
            </a:fld>
            <a:endParaRPr lang="en-US"/>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ADC ΔΣ de 18 bits tiene cuatro rangos de entrada: el rango y el PGA se eligen juntos</a:t>
            </a:r>
            <a:endParaRPr lang="en-US" sz="2400" dirty="0"/>
          </a:p>
        </p:txBody>
      </p:sp>
      <p:sp>
        <p:nvSpPr>
          <p:cNvPr id="3" name="Fondo E_lsb"/>
          <p:cNvSpPr/>
          <p:nvPr/>
        </p:nvSpPr>
        <p:spPr>
          <a:xfrm>
            <a:off x="457200" y="1188720"/>
            <a:ext cx="822960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lsb"/>
              <p:cNvSpPr txBox="1"/>
              <p:nvPr/>
            </p:nvSpPr>
            <p:spPr>
              <a:xfrm>
                <a:off x="457200" y="1188720"/>
                <a:ext cx="822960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q</m:t>
                          </m:r>
                        </m:e>
                        <m:sub>
                          <m:r>
                            <m:rPr>
                              <m:sty m:val="p"/>
                            </m:rPr>
                            <a:rPr lang="es-ES" sz="2800">
                              <a:solidFill>
                                <a:srgbClr val="1F4E79"/>
                              </a:solidFill>
                              <a:latin typeface="Cambria Math" panose="02040503050406030204" pitchFamily="18" charset="0"/>
                            </a:rPr>
                            <m:t xml:space="preserve">ADC</m:t>
                          </m:r>
                        </m:sub>
                      </m:sSub>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m:rPr>
                                  <m:sty m:val="p"/>
                                </m:rPr>
                                <a:rPr lang="es-ES" sz="2800">
                                  <a:solidFill>
                                    <a:srgbClr val="1F4E79"/>
                                  </a:solidFill>
                                  <a:latin typeface="Cambria Math" panose="02040503050406030204" pitchFamily="18" charset="0"/>
                                </a:rPr>
                                <m:t xml:space="preserve">span</m:t>
                              </m:r>
                            </m:sub>
                          </m:sSub>
                        </m:num>
                        <m:den>
                          <m:sSup>
                            <m:sSupPr>
                              <m:ctrlPr>
                                <a:rPr lang="es-ES" sz="2800" i="1">
                                  <a:latin typeface="Cambria Math" panose="02040503050406030204" pitchFamily="18" charset="0"/>
                                </a:rPr>
                              </m:ctrlPr>
                            </m:sSupPr>
                            <m:e>
                              <m:r>
                                <a:rPr lang="es-ES" sz="2800" i="1">
                                  <a:solidFill>
                                    <a:srgbClr val="1F4E79"/>
                                  </a:solidFill>
                                  <a:latin typeface="Cambria Math" panose="02040503050406030204" pitchFamily="18" charset="0"/>
                                </a:rPr>
                                <m:t xml:space="preserve">2</m:t>
                              </m:r>
                            </m:e>
                            <m:sup>
                              <m:r>
                                <a:rPr lang="es-ES" sz="2800" i="1">
                                  <a:solidFill>
                                    <a:srgbClr val="1F4E79"/>
                                  </a:solidFill>
                                  <a:latin typeface="Cambria Math" panose="02040503050406030204" pitchFamily="18" charset="0"/>
                                </a:rPr>
                                <m:t xml:space="preserve">18</m:t>
                              </m:r>
                            </m:sup>
                          </m:sSup>
                        </m:den>
                      </m:f>
                      <m:r>
                        <a:rPr lang="es-ES" sz="2800" i="1">
                          <a:solidFill>
                            <a:srgbClr val="1F4E79"/>
                          </a:solidFill>
                          <a:latin typeface="Cambria Math" panose="02040503050406030204" pitchFamily="18" charset="0"/>
                        </a:rPr>
                        <m:t xml:space="preserve">≈19,1 </m:t>
                      </m:r>
                      <m:r>
                        <m:rPr>
                          <m:sty m:val="p"/>
                        </m:rPr>
                        <a:rPr lang="es-ES" sz="2800">
                          <a:solidFill>
                            <a:srgbClr val="1F4E79"/>
                          </a:solidFill>
                          <a:latin typeface="Cambria Math" panose="02040503050406030204" pitchFamily="18" charset="0"/>
                        </a:rPr>
                        <m:t xml:space="preserve">µV</m:t>
                      </m:r>
                    </m:oMath>
                  </m:oMathPara>
                </a14:m>
                <a:endParaRPr lang="es-ES"/>
              </a:p>
            </p:txBody>
          </p:sp>
        </mc:Choice>
        <mc:Fallback>
          <p:sp>
            <p:nvSpPr>
              <p:cNvPr id="4" name="Ecuación E_lsb"/>
              <p:cNvSpPr txBox="1"/>
              <p:nvPr/>
            </p:nvSpPr>
            <p:spPr>
              <a:xfrm>
                <a:off x="457200" y="1188720"/>
                <a:ext cx="822960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q_ADC = V_span / 2¹⁸ ≈ 19,1 µV</a:t>
                </a:r>
                <a:endParaRPr lang="en-US" sz="2400" dirty="0"/>
              </a:p>
            </p:txBody>
          </p:sp>
        </mc:Fallback>
      </mc:AlternateContent>
      <p:graphicFrame>
        <p:nvGraphicFramePr>
          <p:cNvPr id="75" name="Tabla de rangos"/>
          <p:cNvGraphicFramePr>
            <a:graphicFrameLocks noGrp="1"/>
          </p:cNvGraphicFramePr>
          <p:nvPr>
            <p:extLst>
              <p:ext uri="{D42A27DB-BD31-4B8C-83A1-F6EECF244321}">
                <p14:modId xmlns:p14="http://schemas.microsoft.com/office/powerpoint/2010/main" val="1579011935"/>
              </p:ext>
            </p:extLst>
          </p:nvPr>
        </p:nvGraphicFramePr>
        <p:xfrm>
          <a:off x="457200" y="2148840"/>
          <a:ext cx="4023360" cy="914400"/>
        </p:xfrm>
        <a:graphic>
          <a:graphicData uri="http://schemas.openxmlformats.org/drawingml/2006/table">
            <a:tbl>
              <a:tblPr/>
              <a:tblGrid>
                <a:gridCol w="1280160"/>
                <a:gridCol w="1463040"/>
                <a:gridCol w="1280160"/>
              </a:tblGrid>
              <a:tr h="310896">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Rango</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Fondo de escala</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c>
                  <a:txBody>
                    <a:bodyPr/>
                    <a:lstStyle/>
                    <a:p>
                      <a:pPr algn="ctr" indent="0" marL="0">
                        <a:buNone/>
                      </a:pPr>
                      <a:r>
                        <a:rPr lang="en-US" sz="1200" b="1" dirty="0">
                          <a:solidFill>
                            <a:srgbClr val="FFFFFF"/>
                          </a:solidFill>
                          <a:latin typeface="Arial" pitchFamily="34" charset="0"/>
                          <a:ea typeface="Arial" pitchFamily="34" charset="-122"/>
                          <a:cs typeface="Arial" pitchFamily="34" charset="-120"/>
                        </a:rPr>
                        <a:t>LSB nominal</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solidFill>
                      <a:srgbClr val="1F4E79"/>
                    </a:solidFill>
                  </a:tcPr>
                </a:tc>
              </a:tr>
              <a:tr h="310896">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±2,5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5,000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19,1 µV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10896">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±1,024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2,048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7,81 µV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10896">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±0,625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1,250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4,77 µV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r h="310896">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±0,512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1,024 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c>
                  <a:txBody>
                    <a:bodyPr/>
                    <a:lstStyle/>
                    <a:p>
                      <a:pPr algn="ctr" indent="0" marL="0">
                        <a:buNone/>
                      </a:pPr>
                      <a:r>
                        <a:rPr lang="en-US" sz="1200" dirty="0">
                          <a:solidFill>
                            <a:srgbClr val="2D2D2D"/>
                          </a:solidFill>
                          <a:latin typeface="Arial" pitchFamily="34" charset="0"/>
                          <a:ea typeface="Arial" pitchFamily="34" charset="-122"/>
                          <a:cs typeface="Arial" pitchFamily="34" charset="-120"/>
                        </a:rPr>
                        <a:t>3,91 µV</a:t>
                      </a:r>
                      <a:endParaRPr lang="en-US" sz="1200" dirty="0">
                        <a:latin typeface="Arial" charset="0"/>
                        <a:ea typeface="Arial" charset="0"/>
                        <a:cs typeface="Arial" charset="0"/>
                      </a:endParaRPr>
                    </a:p>
                  </a:txBody>
                  <a:tcPr marL="91440" marR="91440" marT="45720" marB="45720">
                    <a:lnL w="9525" cap="flat" cmpd="sng" algn="ctr">
                      <a:solidFill>
                        <a:srgbClr val="BFBFBF"/>
                      </a:solidFill>
                      <a:prstDash val="solid"/>
                      <a:round/>
                      <a:headEnd type="none" w="med" len="med"/>
                      <a:tailEnd type="none" w="med" len="med"/>
                    </a:lnL>
                    <a:lnR w="9525" cap="flat" cmpd="sng" algn="ctr">
                      <a:solidFill>
                        <a:srgbClr val="BFBFBF"/>
                      </a:solidFill>
                      <a:prstDash val="solid"/>
                      <a:round/>
                      <a:headEnd type="none" w="med" len="med"/>
                      <a:tailEnd type="none" w="med" len="med"/>
                    </a:lnR>
                    <a:lnT w="9525" cap="flat" cmpd="sng" algn="ctr">
                      <a:solidFill>
                        <a:srgbClr val="BFBFBF"/>
                      </a:solidFill>
                      <a:prstDash val="solid"/>
                      <a:round/>
                      <a:headEnd type="none" w="med" len="med"/>
                      <a:tailEnd type="none" w="med" len="med"/>
                    </a:lnT>
                    <a:lnB w="9525" cap="flat" cmpd="sng" algn="ctr">
                      <a:solidFill>
                        <a:srgbClr val="BFBFBF"/>
                      </a:solidFill>
                      <a:prstDash val="solid"/>
                      <a:round/>
                      <a:headEnd type="none" w="med" len="med"/>
                      <a:tailEnd type="none" w="med" len="med"/>
                    </a:lnB>
                  </a:tcPr>
                </a:tc>
              </a:tr>
            </a:tbl>
          </a:graphicData>
        </a:graphic>
      </p:graphicFrame>
      <p:sp>
        <p:nvSpPr>
          <p:cNvPr id="6" name="Text 3"/>
          <p:cNvSpPr txBox="1"/>
          <p:nvPr/>
        </p:nvSpPr>
        <p:spPr>
          <a:xfrm>
            <a:off x="457200" y="3749040"/>
            <a:ext cx="4023360" cy="274320"/>
          </a:xfrm>
          <a:prstGeom prst="rect">
            <a:avLst/>
          </a:prstGeom>
          <a:noFill/>
          <a:ln/>
        </p:spPr>
        <p:txBody>
          <a:bodyPr wrap="square" lIns="0" tIns="0" rIns="0" bIns="0" rtlCol="0" anchor="t"/>
          <a:lstStyle/>
          <a:p>
            <a:pPr indent="0" marL="0">
              <a:buNone/>
            </a:pPr>
            <a:r>
              <a:rPr lang="en-US" sz="1200" dirty="0">
                <a:solidFill>
                  <a:srgbClr val="6B6B6B"/>
                </a:solidFill>
                <a:latin typeface="Arial" pitchFamily="34" charset="0"/>
                <a:ea typeface="Arial" pitchFamily="34" charset="-122"/>
                <a:cs typeface="Arial" pitchFamily="34" charset="-120"/>
              </a:rPr>
              <a:t>Todos a 2604 muestras/s y 18 bits nominales.</a:t>
            </a:r>
            <a:endParaRPr lang="en-US" sz="1200" dirty="0"/>
          </a:p>
        </p:txBody>
      </p:sp>
      <p:sp>
        <p:nvSpPr>
          <p:cNvPr id="7" name="Cuerpo"/>
          <p:cNvSpPr txBox="1"/>
          <p:nvPr/>
        </p:nvSpPr>
        <p:spPr>
          <a:xfrm>
            <a:off x="4754880" y="2103120"/>
            <a:ext cx="3931920" cy="1920240"/>
          </a:xfrm>
          <a:prstGeom prst="rect">
            <a:avLst/>
          </a:prstGeom>
          <a:noFill/>
          <a:ln/>
        </p:spPr>
        <p:txBody>
          <a:bodyPr wrap="square" lIns="0" tIns="0" rIns="0" bIns="0" rtlCol="0" anchor="t"/>
          <a:lstStyle/>
          <a:p>
            <a:pPr marL="342900" indent="-342900">
              <a:spcAft>
                <a:spcPts val="500"/>
              </a:spcAft>
              <a:buSzPct val="100000"/>
              <a:buChar char="•"/>
            </a:pPr>
            <a:r>
              <a:rPr lang="en-US" sz="1200" dirty="0">
                <a:solidFill>
                  <a:srgbClr val="2D2D2D"/>
                </a:solidFill>
                <a:latin typeface="Arial" pitchFamily="34" charset="0"/>
                <a:ea typeface="Arial" pitchFamily="34" charset="-122"/>
                <a:cs typeface="Arial" pitchFamily="34" charset="-120"/>
              </a:rPr>
              <a:t>Pasar de ±2,5 V a ±0,512 V reduce el LSB casi cinco veces, unos 13,8 dB, sin agregar etapas de amplificación, es decir, sin ruido ni offset adicional</a:t>
            </a:r>
            <a:endParaRPr lang="en-US" sz="1200" dirty="0"/>
          </a:p>
          <a:p>
            <a:pPr marL="342900" indent="-342900">
              <a:spcAft>
                <a:spcPts val="500"/>
              </a:spcAft>
              <a:buSzPct val="100000"/>
              <a:buChar char="•"/>
            </a:pPr>
            <a:r>
              <a:rPr lang="en-US" sz="1200" dirty="0">
                <a:solidFill>
                  <a:srgbClr val="2D2D2D"/>
                </a:solidFill>
                <a:latin typeface="Arial" pitchFamily="34" charset="0"/>
                <a:ea typeface="Arial" pitchFamily="34" charset="-122"/>
                <a:cs typeface="Arial" pitchFamily="34" charset="-120"/>
              </a:rPr>
              <a:t>Pero el mismo cambio divide por cinco la tensión que satura el conversor, y trabajamos cerca del fondo de escala</a:t>
            </a:r>
            <a:endParaRPr lang="en-US" sz="1200" dirty="0"/>
          </a:p>
          <a:p>
            <a:pPr marL="342900" indent="-342900">
              <a:spcAft>
                <a:spcPts val="500"/>
              </a:spcAft>
              <a:buSzPct val="100000"/>
              <a:buChar char="•"/>
            </a:pPr>
            <a:r>
              <a:rPr lang="en-US" sz="1200" dirty="0">
                <a:solidFill>
                  <a:srgbClr val="2D2D2D"/>
                </a:solidFill>
                <a:latin typeface="Arial" pitchFamily="34" charset="0"/>
                <a:ea typeface="Arial" pitchFamily="34" charset="-122"/>
                <a:cs typeface="Arial" pitchFamily="34" charset="-120"/>
              </a:rPr>
              <a:t>Cambiar de rango invalida la calibración de offset vigente</a:t>
            </a:r>
            <a:endParaRPr lang="en-US" sz="1200" dirty="0"/>
          </a:p>
        </p:txBody>
      </p:sp>
      <p:sp>
        <p:nvSpPr>
          <p:cNvPr id="8" name="Fondo pendiente"/>
          <p:cNvSpPr/>
          <p:nvPr/>
        </p:nvSpPr>
        <p:spPr>
          <a:xfrm>
            <a:off x="457200" y="4069080"/>
            <a:ext cx="8229600" cy="365760"/>
          </a:xfrm>
          <a:prstGeom prst="rect">
            <a:avLst/>
          </a:prstGeom>
          <a:solidFill>
            <a:srgbClr val="FBE9DD"/>
          </a:solidFill>
          <a:ln w="12700">
            <a:solidFill>
              <a:srgbClr val="FBE9DD"/>
            </a:solidFill>
            <a:prstDash val="solid"/>
          </a:ln>
        </p:spPr>
      </p:sp>
      <p:sp>
        <p:nvSpPr>
          <p:cNvPr id="9" name="Text 6"/>
          <p:cNvSpPr txBox="1"/>
          <p:nvPr/>
        </p:nvSpPr>
        <p:spPr>
          <a:xfrm>
            <a:off x="548640" y="4069080"/>
            <a:ext cx="8046720" cy="365760"/>
          </a:xfrm>
          <a:prstGeom prst="rect">
            <a:avLst/>
          </a:prstGeom>
          <a:noFill/>
          <a:ln/>
        </p:spPr>
        <p:txBody>
          <a:bodyPr wrap="square" lIns="0" tIns="0" rIns="0" bIns="0" rtlCol="0" anchor="ctr"/>
          <a:lstStyle/>
          <a:p>
            <a:pPr indent="0" marL="0">
              <a:buNone/>
            </a:pPr>
            <a:r>
              <a:rPr lang="en-US" sz="1200" b="1" dirty="0">
                <a:solidFill>
                  <a:srgbClr val="C55A11"/>
                </a:solidFill>
                <a:latin typeface="Arial" pitchFamily="34" charset="0"/>
                <a:ea typeface="Arial" pitchFamily="34" charset="-122"/>
                <a:cs typeface="Arial" pitchFamily="34" charset="-120"/>
              </a:rPr>
              <a:t>Pendiente de medir: ruido referido a la entrada y bits efectivos (el LSB es nominal)</a:t>
            </a:r>
            <a:endParaRPr lang="en-US" sz="12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4.6; documento de tesis, latex/04_arquitectura.tex (rangos del ADC). Los 13,8 dB son 20·log10(5/1,024), cálculo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diezmado promedia D muestras: baja la tasa, pero no es un antialias ideal</a:t>
            </a:r>
            <a:endParaRPr lang="en-US" sz="2400" dirty="0"/>
          </a:p>
        </p:txBody>
      </p:sp>
      <p:pic>
        <p:nvPicPr>
          <p:cNvPr id="3" name="Respuesta del promedio" descr="Respuesta en frecuencia del promedio de D muestras para D = 13 y D = 26, con las frecuencias de Nyquist marcadas">    </p:cNvPr>
          <p:cNvPicPr>
            <a:picLocks noChangeAspect="1"/>
          </p:cNvPicPr>
          <p:nvPr/>
        </p:nvPicPr>
        <p:blipFill>
          <a:blip r:embed="rId1"/>
          <a:stretch>
            <a:fillRect/>
          </a:stretch>
        </p:blipFill>
        <p:spPr>
          <a:xfrm>
            <a:off x="365760" y="1143000"/>
            <a:ext cx="4846320" cy="2557780"/>
          </a:xfrm>
          <a:prstGeom prst="rect">
            <a:avLst/>
          </a:prstGeom>
        </p:spPr>
      </p:pic>
      <p:sp>
        <p:nvSpPr>
          <p:cNvPr id="4" name="Fondo E_sinc"/>
          <p:cNvSpPr/>
          <p:nvPr/>
        </p:nvSpPr>
        <p:spPr>
          <a:xfrm>
            <a:off x="365760" y="3840480"/>
            <a:ext cx="4846320" cy="6858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sinc"/>
              <p:cNvSpPr txBox="1"/>
              <p:nvPr/>
            </p:nvSpPr>
            <p:spPr>
              <a:xfrm>
                <a:off x="365760" y="3840480"/>
                <a:ext cx="4846320" cy="6858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000" i="1">
                          <a:solidFill>
                            <a:srgbClr val="1F4E79"/>
                          </a:solidFill>
                          <a:latin typeface="Cambria Math" panose="02040503050406030204" pitchFamily="18" charset="0"/>
                        </a:rPr>
                        <m:t xml:space="preserve">|H(f)|=</m:t>
                      </m:r>
                      <m:f>
                        <m:fPr>
                          <m:ctrlPr>
                            <a:rPr lang="es-ES" sz="2000" i="1">
                              <a:latin typeface="Cambria Math" panose="02040503050406030204" pitchFamily="18" charset="0"/>
                            </a:rPr>
                          </m:ctrlPr>
                        </m:fPr>
                        <m:num>
                          <m:r>
                            <m:rPr>
                              <m:sty m:val="p"/>
                            </m:rPr>
                            <a:rPr lang="es-ES" sz="2000">
                              <a:solidFill>
                                <a:srgbClr val="1F4E79"/>
                              </a:solidFill>
                              <a:latin typeface="Cambria Math" panose="02040503050406030204" pitchFamily="18" charset="0"/>
                            </a:rPr>
                            <m:t xml:space="preserve">sin</m:t>
                          </m:r>
                          <m:r>
                            <a:rPr lang="es-ES" sz="2000" i="1">
                              <a:solidFill>
                                <a:srgbClr val="1F4E79"/>
                              </a:solidFill>
                              <a:latin typeface="Cambria Math" panose="02040503050406030204" pitchFamily="18" charset="0"/>
                            </a:rPr>
                            <m:t xml:space="preserve">(</m:t>
                          </m:r>
                          <m:r>
                            <a:rPr lang="es-ES" sz="2000" i="1">
                              <a:solidFill>
                                <a:srgbClr val="1F4E79"/>
                              </a:solidFill>
                              <a:latin typeface="Cambria Math" panose="02040503050406030204" pitchFamily="18" charset="0"/>
                            </a:rPr>
                            <m:t xml:space="preserve">πfD/</m:t>
                          </m:r>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f</m:t>
                              </m:r>
                            </m:e>
                            <m:sub>
                              <m:r>
                                <a:rPr lang="es-ES" sz="2000" i="1">
                                  <a:solidFill>
                                    <a:srgbClr val="1F4E79"/>
                                  </a:solidFill>
                                  <a:latin typeface="Cambria Math" panose="02040503050406030204" pitchFamily="18" charset="0"/>
                                </a:rPr>
                                <m:t xml:space="preserve">0</m:t>
                              </m:r>
                            </m:sub>
                          </m:sSub>
                          <m:r>
                            <a:rPr lang="es-ES" sz="2000" i="1">
                              <a:solidFill>
                                <a:srgbClr val="1F4E79"/>
                              </a:solidFill>
                              <a:latin typeface="Cambria Math" panose="02040503050406030204" pitchFamily="18" charset="0"/>
                            </a:rPr>
                            <m:t xml:space="preserve">)</m:t>
                          </m:r>
                        </m:num>
                        <m:den>
                          <m:r>
                            <a:rPr lang="es-ES" sz="2000" i="1">
                              <a:solidFill>
                                <a:srgbClr val="1F4E79"/>
                              </a:solidFill>
                              <a:latin typeface="Cambria Math" panose="02040503050406030204" pitchFamily="18" charset="0"/>
                            </a:rPr>
                            <m:t xml:space="preserve">D·</m:t>
                          </m:r>
                          <m:r>
                            <m:rPr>
                              <m:sty m:val="p"/>
                            </m:rPr>
                            <a:rPr lang="es-ES" sz="2000">
                              <a:solidFill>
                                <a:srgbClr val="1F4E79"/>
                              </a:solidFill>
                              <a:latin typeface="Cambria Math" panose="02040503050406030204" pitchFamily="18" charset="0"/>
                            </a:rPr>
                            <m:t xml:space="preserve">sin</m:t>
                          </m:r>
                          <m:r>
                            <a:rPr lang="es-ES" sz="2000" i="1">
                              <a:solidFill>
                                <a:srgbClr val="1F4E79"/>
                              </a:solidFill>
                              <a:latin typeface="Cambria Math" panose="02040503050406030204" pitchFamily="18" charset="0"/>
                            </a:rPr>
                            <m:t xml:space="preserve">(</m:t>
                          </m:r>
                          <m:r>
                            <a:rPr lang="es-ES" sz="2000" i="1">
                              <a:solidFill>
                                <a:srgbClr val="1F4E79"/>
                              </a:solidFill>
                              <a:latin typeface="Cambria Math" panose="02040503050406030204" pitchFamily="18" charset="0"/>
                            </a:rPr>
                            <m:t xml:space="preserve">πf/</m:t>
                          </m:r>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f</m:t>
                              </m:r>
                            </m:e>
                            <m:sub>
                              <m:r>
                                <a:rPr lang="es-ES" sz="2000" i="1">
                                  <a:solidFill>
                                    <a:srgbClr val="1F4E79"/>
                                  </a:solidFill>
                                  <a:latin typeface="Cambria Math" panose="02040503050406030204" pitchFamily="18" charset="0"/>
                                </a:rPr>
                                <m:t xml:space="preserve">0</m:t>
                              </m:r>
                            </m:sub>
                          </m:sSub>
                          <m:r>
                            <a:rPr lang="es-ES" sz="2000" i="1">
                              <a:solidFill>
                                <a:srgbClr val="1F4E79"/>
                              </a:solidFill>
                              <a:latin typeface="Cambria Math" panose="02040503050406030204" pitchFamily="18" charset="0"/>
                            </a:rPr>
                            <m:t xml:space="preserve">)</m:t>
                          </m:r>
                        </m:den>
                      </m:f>
                    </m:oMath>
                  </m:oMathPara>
                </a14:m>
                <a:endParaRPr lang="es-ES"/>
              </a:p>
            </p:txBody>
          </p:sp>
        </mc:Choice>
        <mc:Fallback>
          <p:sp>
            <p:nvSpPr>
              <p:cNvPr id="5" name="Ecuación E_sinc"/>
              <p:cNvSpPr txBox="1"/>
              <p:nvPr/>
            </p:nvSpPr>
            <p:spPr>
              <a:xfrm>
                <a:off x="365760" y="3840480"/>
                <a:ext cx="4846320" cy="6858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|H(f)| = sin(πfD/f0) / (D·sin(πf/f0))</a:t>
                </a:r>
                <a:endParaRPr lang="en-US" sz="2400" dirty="0"/>
              </a:p>
            </p:txBody>
          </p:sp>
        </mc:Fallback>
      </mc:AlternateContent>
      <p:sp>
        <p:nvSpPr>
          <p:cNvPr id="6" name="Fondo E_fsp"/>
          <p:cNvSpPr/>
          <p:nvPr/>
        </p:nvSpPr>
        <p:spPr>
          <a:xfrm>
            <a:off x="5394960" y="1188720"/>
            <a:ext cx="329184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fsp"/>
              <p:cNvSpPr txBox="1"/>
              <p:nvPr/>
            </p:nvSpPr>
            <p:spPr>
              <a:xfrm>
                <a:off x="5394960" y="1188720"/>
                <a:ext cx="329184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Sup>
                        <m:sSubSupPr>
                          <m:ctrlPr>
                            <a:rPr lang="es-ES" sz="2800" i="1">
                              <a:latin typeface="Cambria Math" panose="02040503050406030204" pitchFamily="18" charset="0"/>
                            </a:rPr>
                          </m:ctrlPr>
                        </m:sSubSupPr>
                        <m:e>
                          <m:r>
                            <a:rPr lang="es-ES" sz="2800" i="1">
                              <a:solidFill>
                                <a:srgbClr val="1F4E79"/>
                              </a:solidFill>
                              <a:latin typeface="Cambria Math" panose="02040503050406030204" pitchFamily="18" charset="0"/>
                            </a:rPr>
                            <m:t xml:space="preserve">f</m:t>
                          </m:r>
                        </m:e>
                        <m:sub>
                          <m:r>
                            <a:rPr lang="es-ES" sz="2800" i="1">
                              <a:solidFill>
                                <a:srgbClr val="1F4E79"/>
                              </a:solidFill>
                              <a:latin typeface="Cambria Math" panose="02040503050406030204" pitchFamily="18" charset="0"/>
                            </a:rPr>
                            <m:t xml:space="preserve">s</m:t>
                          </m:r>
                        </m:sub>
                        <m:sup>
                          <m:r>
                            <a:rPr lang="es-ES" sz="2800" i="1">
                              <a:solidFill>
                                <a:srgbClr val="1F4E79"/>
                              </a:solidFill>
                              <a:latin typeface="Cambria Math" panose="02040503050406030204" pitchFamily="18" charset="0"/>
                            </a:rPr>
                            <m:t xml:space="preserve">′</m:t>
                          </m:r>
                        </m:sup>
                      </m:sSubSup>
                      <m:r>
                        <a:rPr lang="es-ES" sz="2800" i="1">
                          <a:solidFill>
                            <a:srgbClr val="1F4E79"/>
                          </a:solidFill>
                          <a:latin typeface="Cambria Math" panose="02040503050406030204" pitchFamily="18" charset="0"/>
                        </a:rPr>
                        <m:t xml:space="preserve">=</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2604 </m:t>
                          </m:r>
                          <m:r>
                            <m:rPr>
                              <m:sty m:val="p"/>
                            </m:rPr>
                            <a:rPr lang="es-ES" sz="2800">
                              <a:solidFill>
                                <a:srgbClr val="1F4E79"/>
                              </a:solidFill>
                              <a:latin typeface="Cambria Math" panose="02040503050406030204" pitchFamily="18" charset="0"/>
                            </a:rPr>
                            <m:t xml:space="preserve">Hz</m:t>
                          </m:r>
                        </m:num>
                        <m:den>
                          <m:r>
                            <a:rPr lang="es-ES" sz="2800" i="1">
                              <a:solidFill>
                                <a:srgbClr val="1F4E79"/>
                              </a:solidFill>
                              <a:latin typeface="Cambria Math" panose="02040503050406030204" pitchFamily="18" charset="0"/>
                            </a:rPr>
                            <m:t xml:space="preserve">D</m:t>
                          </m:r>
                        </m:den>
                      </m:f>
                    </m:oMath>
                  </m:oMathPara>
                </a14:m>
                <a:endParaRPr lang="es-ES"/>
              </a:p>
            </p:txBody>
          </p:sp>
        </mc:Choice>
        <mc:Fallback>
          <p:sp>
            <p:nvSpPr>
              <p:cNvPr id="7" name="Ecuación E_fsp"/>
              <p:cNvSpPr txBox="1"/>
              <p:nvPr/>
            </p:nvSpPr>
            <p:spPr>
              <a:xfrm>
                <a:off x="5394960" y="1188720"/>
                <a:ext cx="329184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fs′ = 2604 Hz / D</a:t>
                </a:r>
                <a:endParaRPr lang="en-US" sz="2400" dirty="0"/>
              </a:p>
            </p:txBody>
          </p:sp>
        </mc:Fallback>
      </mc:AlternateContent>
      <p:sp>
        <p:nvSpPr>
          <p:cNvPr id="8" name="Cuerpo"/>
          <p:cNvSpPr txBox="1"/>
          <p:nvPr/>
        </p:nvSpPr>
        <p:spPr>
          <a:xfrm>
            <a:off x="5394960" y="2103120"/>
            <a:ext cx="3291840" cy="242316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2D2D2D"/>
                </a:solidFill>
                <a:latin typeface="Arial" pitchFamily="34" charset="0"/>
                <a:ea typeface="Arial" pitchFamily="34" charset="-122"/>
                <a:cs typeface="Arial" pitchFamily="34" charset="-120"/>
              </a:rPr>
              <a:t>Es un filtro peine de respuesta sinc, con f0 = 2604 Hz</a:t>
            </a:r>
            <a:endParaRPr lang="en-US" sz="1300" dirty="0"/>
          </a:p>
          <a:p>
            <a:pPr marL="342900" indent="-342900">
              <a:spcAft>
                <a:spcPts val="600"/>
              </a:spcAft>
              <a:buSzPct val="100000"/>
              <a:buChar char="•"/>
            </a:pPr>
            <a:r>
              <a:rPr lang="en-US" sz="1300" dirty="0">
                <a:solidFill>
                  <a:srgbClr val="2D2D2D"/>
                </a:solidFill>
                <a:latin typeface="Arial" pitchFamily="34" charset="0"/>
                <a:ea typeface="Arial" pitchFamily="34" charset="-122"/>
                <a:cs typeface="Arial" pitchFamily="34" charset="-120"/>
              </a:rPr>
              <a:t>Con D = 13 (≈ 200 Hz): −0,9 dB a 50 Hz y −3,9 dB en Nyquist</a:t>
            </a:r>
            <a:endParaRPr lang="en-US" sz="1300" dirty="0"/>
          </a:p>
          <a:p>
            <a:pPr marL="342900" indent="-342900">
              <a:spcAft>
                <a:spcPts val="600"/>
              </a:spcAft>
              <a:buSzPct val="100000"/>
              <a:buChar char="•"/>
            </a:pPr>
            <a:r>
              <a:rPr lang="en-US" sz="1300" dirty="0">
                <a:solidFill>
                  <a:srgbClr val="2D2D2D"/>
                </a:solidFill>
                <a:latin typeface="Arial" pitchFamily="34" charset="0"/>
                <a:ea typeface="Arial" pitchFamily="34" charset="-122"/>
                <a:cs typeface="Arial" pitchFamily="34" charset="-120"/>
              </a:rPr>
              <a:t>Lo que está por encima de Nyquist se pliega con poca atenuación</a:t>
            </a:r>
            <a:endParaRPr lang="en-US" sz="1300" dirty="0"/>
          </a:p>
          <a:p>
            <a:pPr marL="342900" indent="-342900">
              <a:spcAft>
                <a:spcPts val="600"/>
              </a:spcAft>
              <a:buSzPct val="100000"/>
              <a:buChar char="•"/>
            </a:pPr>
            <a:r>
              <a:rPr lang="en-US" sz="1300" dirty="0">
                <a:solidFill>
                  <a:srgbClr val="2D2D2D"/>
                </a:solidFill>
                <a:latin typeface="Arial" pitchFamily="34" charset="0"/>
                <a:ea typeface="Arial" pitchFamily="34" charset="-122"/>
                <a:cs typeface="Arial" pitchFamily="34" charset="-120"/>
              </a:rPr>
              <a:t>Hay que verificar el rechazo para cada configuración de campo</a:t>
            </a:r>
            <a:endParaRPr lang="en-US" sz="13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4.6, ec. 15; documento de tesis, 04_arquitectura.tex. Curva: cálculo propio de la respuesta del promedio.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75</a:t>
            </a:fld>
            <a:endParaRPr lang="en-US"/>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Lo que depende del tiempo va a hardware; lo lento pero complejo se queda en software</a:t>
            </a:r>
            <a:endParaRPr lang="en-US" sz="2400" dirty="0"/>
          </a:p>
        </p:txBody>
      </p:sp>
      <p:sp>
        <p:nvSpPr>
          <p:cNvPr id="3" name="Cabecera Hardware (UDB, DMA, bloques analógicos)"/>
          <p:cNvSpPr/>
          <p:nvPr/>
        </p:nvSpPr>
        <p:spPr>
          <a:xfrm>
            <a:off x="457200" y="1188720"/>
            <a:ext cx="402336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393192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Hardware (UDB, DMA, bloques analógicos)</a:t>
            </a:r>
            <a:endParaRPr lang="en-US" sz="1300" dirty="0"/>
          </a:p>
        </p:txBody>
      </p:sp>
      <p:sp>
        <p:nvSpPr>
          <p:cNvPr id="5" name="Tarjeta Hardware (UDB, DMA, bloques analógicos)"/>
          <p:cNvSpPr/>
          <p:nvPr/>
        </p:nvSpPr>
        <p:spPr>
          <a:xfrm>
            <a:off x="457200" y="1600200"/>
            <a:ext cx="4023360" cy="2148840"/>
          </a:xfrm>
          <a:prstGeom prst="rect">
            <a:avLst/>
          </a:prstGeom>
          <a:solidFill>
            <a:srgbClr val="FFFFFF"/>
          </a:solidFill>
          <a:ln w="19050">
            <a:solidFill>
              <a:srgbClr val="1F4E79"/>
            </a:solidFill>
            <a:prstDash val="solid"/>
          </a:ln>
        </p:spPr>
      </p:sp>
      <p:sp>
        <p:nvSpPr>
          <p:cNvPr id="6" name="Text 4"/>
          <p:cNvSpPr txBox="1"/>
          <p:nvPr/>
        </p:nvSpPr>
        <p:spPr>
          <a:xfrm>
            <a:off x="566928" y="1673352"/>
            <a:ext cx="3803904" cy="2002536"/>
          </a:xfrm>
          <a:prstGeom prst="rect">
            <a:avLst/>
          </a:prstGeom>
          <a:noFill/>
          <a:ln/>
        </p:spPr>
        <p:txBody>
          <a:bodyPr wrap="square" lIns="0" tIns="0" rIns="0" bIns="0" rtlCol="0" anchor="t"/>
          <a:lstStyle/>
          <a:p>
            <a:pPr algn="l" marL="342900" indent="-342900">
              <a:buSzPct val="100000"/>
              <a:buChar char="•"/>
            </a:pPr>
            <a:r>
              <a:rPr lang="en-US" sz="1400" dirty="0">
                <a:solidFill>
                  <a:srgbClr val="2D2D2D"/>
                </a:solidFill>
                <a:latin typeface="Arial" pitchFamily="34" charset="0"/>
                <a:ea typeface="Arial" pitchFamily="34" charset="-122"/>
                <a:cs typeface="Arial" pitchFamily="34" charset="-120"/>
              </a:rPr>
              <a:t>Enrutamiento de DMA según el estado</a:t>
            </a:r>
            <a:endParaRPr lang="en-US" sz="1400" dirty="0"/>
          </a:p>
          <a:p>
            <a:pPr algn="l" marL="342900" indent="-342900">
              <a:buSzPct val="100000"/>
              <a:buChar char="•"/>
            </a:pPr>
            <a:r>
              <a:rPr lang="en-US" sz="1400" dirty="0">
                <a:solidFill>
                  <a:srgbClr val="2D2D2D"/>
                </a:solidFill>
                <a:latin typeface="Arial" pitchFamily="34" charset="0"/>
                <a:ea typeface="Arial" pitchFamily="34" charset="-122"/>
                <a:cs typeface="Arial" pitchFamily="34" charset="-120"/>
              </a:rPr>
              <a:t>Arranque con el flanco de SYNC_IN</a:t>
            </a:r>
            <a:endParaRPr lang="en-US" sz="1400" dirty="0"/>
          </a:p>
          <a:p>
            <a:pPr algn="l" marL="342900" indent="-342900">
              <a:buSzPct val="100000"/>
              <a:buChar char="•"/>
            </a:pPr>
            <a:r>
              <a:rPr lang="en-US" sz="1400" dirty="0">
                <a:solidFill>
                  <a:srgbClr val="2D2D2D"/>
                </a:solidFill>
                <a:latin typeface="Arial" pitchFamily="34" charset="0"/>
                <a:ea typeface="Arial" pitchFamily="34" charset="-122"/>
                <a:cs typeface="Arial" pitchFamily="34" charset="-120"/>
              </a:rPr>
              <a:t>Conteo de lotes de 30 muestras</a:t>
            </a:r>
            <a:endParaRPr lang="en-US" sz="1400" dirty="0"/>
          </a:p>
          <a:p>
            <a:pPr algn="l" marL="342900" indent="-342900">
              <a:buSzPct val="100000"/>
              <a:buChar char="•"/>
            </a:pPr>
            <a:r>
              <a:rPr lang="en-US" sz="1400" dirty="0">
                <a:solidFill>
                  <a:srgbClr val="2D2D2D"/>
                </a:solidFill>
                <a:latin typeface="Arial" pitchFamily="34" charset="0"/>
                <a:ea typeface="Arial" pitchFamily="34" charset="-122"/>
                <a:cs typeface="Arial" pitchFamily="34" charset="-120"/>
              </a:rPr>
              <a:t>Máscara de interrupciones</a:t>
            </a:r>
            <a:endParaRPr lang="en-US" sz="1400" dirty="0"/>
          </a:p>
          <a:p>
            <a:pPr algn="l" marL="342900" indent="-342900">
              <a:buSzPct val="100000"/>
              <a:buChar char="•"/>
            </a:pPr>
            <a:r>
              <a:rPr lang="en-US" sz="1400" dirty="0">
                <a:solidFill>
                  <a:srgbClr val="2D2D2D"/>
                </a:solidFill>
                <a:latin typeface="Arial" pitchFamily="34" charset="0"/>
                <a:ea typeface="Arial" pitchFamily="34" charset="-122"/>
                <a:cs typeface="Arial" pitchFamily="34" charset="-120"/>
              </a:rPr>
              <a:t>Filtro FIR por DMA, sin ciclos de CPU</a:t>
            </a:r>
            <a:endParaRPr lang="en-US" sz="1400" dirty="0"/>
          </a:p>
          <a:p>
            <a:pPr algn="l" marL="342900" indent="-342900">
              <a:buSzPct val="100000"/>
              <a:buChar char="•"/>
            </a:pPr>
            <a:r>
              <a:rPr lang="en-US" sz="1400" dirty="0">
                <a:solidFill>
                  <a:srgbClr val="2D2D2D"/>
                </a:solidFill>
                <a:latin typeface="Arial" pitchFamily="34" charset="0"/>
                <a:ea typeface="Arial" pitchFamily="34" charset="-122"/>
                <a:cs typeface="Arial" pitchFamily="34" charset="-120"/>
              </a:rPr>
              <a:t>Re-armado encadenado de la captura</a:t>
            </a:r>
            <a:endParaRPr lang="en-US" sz="1400" dirty="0"/>
          </a:p>
        </p:txBody>
      </p:sp>
      <p:sp>
        <p:nvSpPr>
          <p:cNvPr id="7" name="Cabecera Software (firmware en el Cortex-M3)"/>
          <p:cNvSpPr/>
          <p:nvPr/>
        </p:nvSpPr>
        <p:spPr>
          <a:xfrm>
            <a:off x="4663440" y="1188720"/>
            <a:ext cx="4023360" cy="411480"/>
          </a:xfrm>
          <a:prstGeom prst="rect">
            <a:avLst/>
          </a:prstGeom>
          <a:solidFill>
            <a:srgbClr val="2E75B6"/>
          </a:solidFill>
          <a:ln w="12700">
            <a:solidFill>
              <a:srgbClr val="2E75B6"/>
            </a:solidFill>
            <a:prstDash val="solid"/>
          </a:ln>
        </p:spPr>
      </p:sp>
      <p:sp>
        <p:nvSpPr>
          <p:cNvPr id="8" name="Text 6"/>
          <p:cNvSpPr txBox="1"/>
          <p:nvPr/>
        </p:nvSpPr>
        <p:spPr>
          <a:xfrm>
            <a:off x="4709160" y="1188720"/>
            <a:ext cx="393192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Software (firmware en el Cortex-M3)</a:t>
            </a:r>
            <a:endParaRPr lang="en-US" sz="1300" dirty="0"/>
          </a:p>
        </p:txBody>
      </p:sp>
      <p:sp>
        <p:nvSpPr>
          <p:cNvPr id="9" name="Tarjeta Software (firmware en el Cortex-M3)"/>
          <p:cNvSpPr/>
          <p:nvPr/>
        </p:nvSpPr>
        <p:spPr>
          <a:xfrm>
            <a:off x="4663440" y="1600200"/>
            <a:ext cx="4023360" cy="2148840"/>
          </a:xfrm>
          <a:prstGeom prst="rect">
            <a:avLst/>
          </a:prstGeom>
          <a:solidFill>
            <a:srgbClr val="FFFFFF"/>
          </a:solidFill>
          <a:ln w="19050">
            <a:solidFill>
              <a:srgbClr val="2E75B6"/>
            </a:solidFill>
            <a:prstDash val="solid"/>
          </a:ln>
        </p:spPr>
      </p:sp>
      <p:sp>
        <p:nvSpPr>
          <p:cNvPr id="10" name="Text 8"/>
          <p:cNvSpPr txBox="1"/>
          <p:nvPr/>
        </p:nvSpPr>
        <p:spPr>
          <a:xfrm>
            <a:off x="4773168" y="1673352"/>
            <a:ext cx="3803904" cy="2002536"/>
          </a:xfrm>
          <a:prstGeom prst="rect">
            <a:avLst/>
          </a:prstGeom>
          <a:noFill/>
          <a:ln/>
        </p:spPr>
        <p:txBody>
          <a:bodyPr wrap="square" lIns="0" tIns="0" rIns="0" bIns="0" rtlCol="0" anchor="t"/>
          <a:lstStyle/>
          <a:p>
            <a:pPr algn="l" marL="342900" indent="-342900">
              <a:buSzPct val="100000"/>
              <a:buChar char="•"/>
            </a:pPr>
            <a:r>
              <a:rPr lang="en-US" sz="1400" dirty="0">
                <a:solidFill>
                  <a:srgbClr val="2D2D2D"/>
                </a:solidFill>
                <a:latin typeface="Arial" pitchFamily="34" charset="0"/>
                <a:ea typeface="Arial" pitchFamily="34" charset="-122"/>
                <a:cs typeface="Arial" pitchFamily="34" charset="-120"/>
              </a:rPr>
              <a:t>Lazo PI de calibración y su secuencia</a:t>
            </a:r>
            <a:endParaRPr lang="en-US" sz="1400" dirty="0"/>
          </a:p>
          <a:p>
            <a:pPr algn="l" marL="342900" indent="-342900">
              <a:buSzPct val="100000"/>
              <a:buChar char="•"/>
            </a:pPr>
            <a:r>
              <a:rPr lang="en-US" sz="1400" dirty="0">
                <a:solidFill>
                  <a:srgbClr val="2D2D2D"/>
                </a:solidFill>
                <a:latin typeface="Arial" pitchFamily="34" charset="0"/>
                <a:ea typeface="Arial" pitchFamily="34" charset="-122"/>
                <a:cs typeface="Arial" pitchFamily="34" charset="-120"/>
              </a:rPr>
              <a:t>Registro en EEPROM con CRC</a:t>
            </a:r>
            <a:endParaRPr lang="en-US" sz="1400" dirty="0"/>
          </a:p>
          <a:p>
            <a:pPr algn="l" marL="342900" indent="-342900">
              <a:buSzPct val="100000"/>
              <a:buChar char="•"/>
            </a:pPr>
            <a:r>
              <a:rPr lang="en-US" sz="1400" dirty="0">
                <a:solidFill>
                  <a:srgbClr val="2D2D2D"/>
                </a:solidFill>
                <a:latin typeface="Arial" pitchFamily="34" charset="0"/>
                <a:ea typeface="Arial" pitchFamily="34" charset="-122"/>
                <a:cs typeface="Arial" pitchFamily="34" charset="-120"/>
              </a:rPr>
              <a:t>Recepción de comandos y estado de sesión</a:t>
            </a:r>
            <a:endParaRPr lang="en-US" sz="1400" dirty="0"/>
          </a:p>
          <a:p>
            <a:pPr algn="l" marL="342900" indent="-342900">
              <a:buSzPct val="100000"/>
              <a:buChar char="•"/>
            </a:pPr>
            <a:r>
              <a:rPr lang="en-US" sz="1400" dirty="0">
                <a:solidFill>
                  <a:srgbClr val="2D2D2D"/>
                </a:solidFill>
                <a:latin typeface="Arial" pitchFamily="34" charset="0"/>
                <a:ea typeface="Arial" pitchFamily="34" charset="-122"/>
                <a:cs typeface="Arial" pitchFamily="34" charset="-120"/>
              </a:rPr>
              <a:t>Jerarquía de memoria y sistema de archivos</a:t>
            </a:r>
            <a:endParaRPr lang="en-US" sz="1400" dirty="0"/>
          </a:p>
          <a:p>
            <a:pPr algn="l" marL="342900" indent="-342900">
              <a:buSzPct val="100000"/>
              <a:buChar char="•"/>
            </a:pPr>
            <a:r>
              <a:rPr lang="en-US" sz="1400" dirty="0">
                <a:solidFill>
                  <a:srgbClr val="2D2D2D"/>
                </a:solidFill>
                <a:latin typeface="Arial" pitchFamily="34" charset="0"/>
                <a:ea typeface="Arial" pitchFamily="34" charset="-122"/>
                <a:cs typeface="Arial" pitchFamily="34" charset="-120"/>
              </a:rPr>
              <a:t>Supervisión: watchdog y límites de conteo</a:t>
            </a:r>
            <a:endParaRPr lang="en-US" sz="1400" dirty="0"/>
          </a:p>
        </p:txBody>
      </p:sp>
      <p:sp>
        <p:nvSpPr>
          <p:cNvPr id="11" name="Fondo criterio"/>
          <p:cNvSpPr/>
          <p:nvPr/>
        </p:nvSpPr>
        <p:spPr>
          <a:xfrm>
            <a:off x="457200" y="3840480"/>
            <a:ext cx="8229600" cy="685800"/>
          </a:xfrm>
          <a:prstGeom prst="rect">
            <a:avLst/>
          </a:prstGeom>
          <a:solidFill>
            <a:srgbClr val="EAF1F8"/>
          </a:solidFill>
          <a:ln w="12700">
            <a:solidFill>
              <a:srgbClr val="EAF1F8"/>
            </a:solidFill>
            <a:prstDash val="solid"/>
          </a:ln>
        </p:spPr>
      </p:sp>
      <p:sp>
        <p:nvSpPr>
          <p:cNvPr id="12" name="Text 10"/>
          <p:cNvSpPr txBox="1"/>
          <p:nvPr/>
        </p:nvSpPr>
        <p:spPr>
          <a:xfrm>
            <a:off x="594360" y="3840480"/>
            <a:ext cx="7955280" cy="685800"/>
          </a:xfrm>
          <a:prstGeom prst="rect">
            <a:avLst/>
          </a:prstGeom>
          <a:noFill/>
          <a:ln/>
        </p:spPr>
        <p:txBody>
          <a:bodyPr wrap="square" lIns="0" tIns="0" rIns="0" bIns="0" rtlCol="0" anchor="ctr"/>
          <a:lstStyle/>
          <a:p>
            <a:pPr indent="0" marL="0">
              <a:buNone/>
            </a:pPr>
            <a:r>
              <a:rPr lang="en-US" sz="1500" b="1" dirty="0">
                <a:solidFill>
                  <a:srgbClr val="1F4E79"/>
                </a:solidFill>
                <a:latin typeface="Arial" pitchFamily="34" charset="0"/>
                <a:ea typeface="Arial" pitchFamily="34" charset="-122"/>
                <a:cs typeface="Arial" pitchFamily="34" charset="-120"/>
              </a:rPr>
              <a:t>Criterio: va a hardware toda decisión cuyo timing entre en el presupuesto de jitter; queda en software la que es lenta pero compleja.</a:t>
            </a:r>
            <a:endParaRPr lang="en-US" sz="1500" dirty="0"/>
          </a:p>
        </p:txBody>
      </p:sp>
      <p:sp>
        <p:nvSpPr>
          <p:cNvPr id="13"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04_arquitectura.tex (reparto hardware/software, criterio); resumen firmado, sec. 4.6.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76</a:t>
            </a:fld>
            <a:endParaRPr lang="en-US"/>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SignalController es una máquina de estados en lógica programable que dispara y cierra la captura</a:t>
            </a:r>
            <a:endParaRPr lang="en-US" sz="2400" dirty="0"/>
          </a:p>
        </p:txBody>
      </p:sp>
      <p:sp>
        <p:nvSpPr>
          <p:cNvPr id="3" name="Estado IDLE"/>
          <p:cNvSpPr/>
          <p:nvPr/>
        </p:nvSpPr>
        <p:spPr>
          <a:xfrm>
            <a:off x="457200" y="1554480"/>
            <a:ext cx="1737360" cy="640080"/>
          </a:xfrm>
          <a:prstGeom prst="roundRect">
            <a:avLst>
              <a:gd name="adj" fmla="val 11429"/>
            </a:avLst>
          </a:prstGeom>
          <a:solidFill>
            <a:srgbClr val="6B6B6B"/>
          </a:solidFill>
          <a:ln w="12700">
            <a:solidFill>
              <a:srgbClr val="6B6B6B"/>
            </a:solidFill>
            <a:prstDash val="solid"/>
          </a:ln>
        </p:spPr>
      </p:sp>
      <p:sp>
        <p:nvSpPr>
          <p:cNvPr id="4" name="Text 2"/>
          <p:cNvSpPr txBox="1"/>
          <p:nvPr/>
        </p:nvSpPr>
        <p:spPr>
          <a:xfrm>
            <a:off x="457200" y="1554480"/>
            <a:ext cx="1737360" cy="64008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IDLE</a:t>
            </a:r>
            <a:endParaRPr lang="en-US" sz="1800" dirty="0"/>
          </a:p>
        </p:txBody>
      </p:sp>
      <p:sp>
        <p:nvSpPr>
          <p:cNvPr id="5" name="Text 3"/>
          <p:cNvSpPr txBox="1"/>
          <p:nvPr/>
        </p:nvSpPr>
        <p:spPr>
          <a:xfrm>
            <a:off x="457200" y="2331720"/>
            <a:ext cx="1737360" cy="1188720"/>
          </a:xfrm>
          <a:prstGeom prst="rect">
            <a:avLst/>
          </a:prstGeom>
          <a:noFill/>
          <a:ln/>
        </p:spPr>
        <p:txBody>
          <a:bodyPr wrap="square" lIns="0" tIns="0" rIns="0" bIns="0" rtlCol="0" anchor="t"/>
          <a:lstStyle/>
          <a:p>
            <a:pPr algn="ctr" indent="0" marL="0">
              <a:buNone/>
            </a:pPr>
            <a:r>
              <a:rPr lang="en-US" sz="1300" dirty="0">
                <a:solidFill>
                  <a:srgbClr val="2D2D2D"/>
                </a:solidFill>
                <a:latin typeface="Arial" pitchFamily="34" charset="0"/>
                <a:ea typeface="Arial" pitchFamily="34" charset="-122"/>
                <a:cs typeface="Arial" pitchFamily="34" charset="-120"/>
              </a:rPr>
              <a:t>Sin captura en curso</a:t>
            </a:r>
            <a:endParaRPr lang="en-US" sz="1300" dirty="0"/>
          </a:p>
        </p:txBody>
      </p:sp>
      <p:sp>
        <p:nvSpPr>
          <p:cNvPr id="6" name="Shape 4"/>
          <p:cNvSpPr/>
          <p:nvPr/>
        </p:nvSpPr>
        <p:spPr>
          <a:xfrm>
            <a:off x="2221992" y="1874520"/>
            <a:ext cx="402336" cy="0"/>
          </a:xfrm>
          <a:prstGeom prst="line">
            <a:avLst/>
          </a:prstGeom>
          <a:noFill/>
          <a:ln w="31750">
            <a:solidFill>
              <a:srgbClr val="1F4E79"/>
            </a:solidFill>
            <a:prstDash val="solid"/>
            <a:tailEnd type="triangle"/>
          </a:ln>
        </p:spPr>
      </p:sp>
      <p:sp>
        <p:nvSpPr>
          <p:cNvPr id="7" name="Estado ARMED"/>
          <p:cNvSpPr/>
          <p:nvPr/>
        </p:nvSpPr>
        <p:spPr>
          <a:xfrm>
            <a:off x="2651760" y="1554480"/>
            <a:ext cx="1737360" cy="640080"/>
          </a:xfrm>
          <a:prstGeom prst="roundRect">
            <a:avLst>
              <a:gd name="adj" fmla="val 11429"/>
            </a:avLst>
          </a:prstGeom>
          <a:solidFill>
            <a:srgbClr val="2E75B6"/>
          </a:solidFill>
          <a:ln w="12700">
            <a:solidFill>
              <a:srgbClr val="2E75B6"/>
            </a:solidFill>
            <a:prstDash val="solid"/>
          </a:ln>
        </p:spPr>
      </p:sp>
      <p:sp>
        <p:nvSpPr>
          <p:cNvPr id="8" name="Text 6"/>
          <p:cNvSpPr txBox="1"/>
          <p:nvPr/>
        </p:nvSpPr>
        <p:spPr>
          <a:xfrm>
            <a:off x="2651760" y="1554480"/>
            <a:ext cx="1737360" cy="64008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ARMED</a:t>
            </a:r>
            <a:endParaRPr lang="en-US" sz="1800" dirty="0"/>
          </a:p>
        </p:txBody>
      </p:sp>
      <p:sp>
        <p:nvSpPr>
          <p:cNvPr id="9" name="Text 7"/>
          <p:cNvSpPr txBox="1"/>
          <p:nvPr/>
        </p:nvSpPr>
        <p:spPr>
          <a:xfrm>
            <a:off x="2651760" y="2331720"/>
            <a:ext cx="1737360" cy="1188720"/>
          </a:xfrm>
          <a:prstGeom prst="rect">
            <a:avLst/>
          </a:prstGeom>
          <a:noFill/>
          <a:ln/>
        </p:spPr>
        <p:txBody>
          <a:bodyPr wrap="square" lIns="0" tIns="0" rIns="0" bIns="0" rtlCol="0" anchor="t"/>
          <a:lstStyle/>
          <a:p>
            <a:pPr algn="ctr" indent="0" marL="0">
              <a:buNone/>
            </a:pPr>
            <a:r>
              <a:rPr lang="en-US" sz="1300" dirty="0">
                <a:solidFill>
                  <a:srgbClr val="2D2D2D"/>
                </a:solidFill>
                <a:latin typeface="Arial" pitchFamily="34" charset="0"/>
                <a:ea typeface="Arial" pitchFamily="34" charset="-122"/>
                <a:cs typeface="Arial" pitchFamily="34" charset="-120"/>
              </a:rPr>
              <a:t>El FIR sigue alimentado para llegar caliente al disparo</a:t>
            </a:r>
            <a:endParaRPr lang="en-US" sz="1300" dirty="0"/>
          </a:p>
        </p:txBody>
      </p:sp>
      <p:sp>
        <p:nvSpPr>
          <p:cNvPr id="10" name="Shape 8"/>
          <p:cNvSpPr/>
          <p:nvPr/>
        </p:nvSpPr>
        <p:spPr>
          <a:xfrm>
            <a:off x="4416552" y="1874520"/>
            <a:ext cx="402336" cy="0"/>
          </a:xfrm>
          <a:prstGeom prst="line">
            <a:avLst/>
          </a:prstGeom>
          <a:noFill/>
          <a:ln w="31750">
            <a:solidFill>
              <a:srgbClr val="1F4E79"/>
            </a:solidFill>
            <a:prstDash val="solid"/>
            <a:tailEnd type="triangle"/>
          </a:ln>
        </p:spPr>
      </p:sp>
      <p:sp>
        <p:nvSpPr>
          <p:cNvPr id="11" name="Estado SAMPLING"/>
          <p:cNvSpPr/>
          <p:nvPr/>
        </p:nvSpPr>
        <p:spPr>
          <a:xfrm>
            <a:off x="4846320" y="1554480"/>
            <a:ext cx="1737360" cy="640080"/>
          </a:xfrm>
          <a:prstGeom prst="roundRect">
            <a:avLst>
              <a:gd name="adj" fmla="val 11429"/>
            </a:avLst>
          </a:prstGeom>
          <a:solidFill>
            <a:srgbClr val="1F4E79"/>
          </a:solidFill>
          <a:ln w="12700">
            <a:solidFill>
              <a:srgbClr val="1F4E79"/>
            </a:solidFill>
            <a:prstDash val="solid"/>
          </a:ln>
        </p:spPr>
      </p:sp>
      <p:sp>
        <p:nvSpPr>
          <p:cNvPr id="12" name="Text 10"/>
          <p:cNvSpPr txBox="1"/>
          <p:nvPr/>
        </p:nvSpPr>
        <p:spPr>
          <a:xfrm>
            <a:off x="4846320" y="1554480"/>
            <a:ext cx="1737360" cy="64008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SAMPLING</a:t>
            </a:r>
            <a:endParaRPr lang="en-US" sz="1800" dirty="0"/>
          </a:p>
        </p:txBody>
      </p:sp>
      <p:sp>
        <p:nvSpPr>
          <p:cNvPr id="13" name="Text 11"/>
          <p:cNvSpPr txBox="1"/>
          <p:nvPr/>
        </p:nvSpPr>
        <p:spPr>
          <a:xfrm>
            <a:off x="4846320" y="2331720"/>
            <a:ext cx="1737360" cy="1188720"/>
          </a:xfrm>
          <a:prstGeom prst="rect">
            <a:avLst/>
          </a:prstGeom>
          <a:noFill/>
          <a:ln/>
        </p:spPr>
        <p:txBody>
          <a:bodyPr wrap="square" lIns="0" tIns="0" rIns="0" bIns="0" rtlCol="0" anchor="t"/>
          <a:lstStyle/>
          <a:p>
            <a:pPr algn="ctr" indent="0" marL="0">
              <a:buNone/>
            </a:pPr>
            <a:r>
              <a:rPr lang="en-US" sz="1300" dirty="0">
                <a:solidFill>
                  <a:srgbClr val="2D2D2D"/>
                </a:solidFill>
                <a:latin typeface="Arial" pitchFamily="34" charset="0"/>
                <a:ea typeface="Arial" pitchFamily="34" charset="-122"/>
                <a:cs typeface="Arial" pitchFamily="34" charset="-120"/>
              </a:rPr>
              <a:t>Solo el DMA de muestra interrumpe; se cuentan lotes de 30 en hardware</a:t>
            </a:r>
            <a:endParaRPr lang="en-US" sz="1300" dirty="0"/>
          </a:p>
        </p:txBody>
      </p:sp>
      <p:sp>
        <p:nvSpPr>
          <p:cNvPr id="14" name="Shape 12"/>
          <p:cNvSpPr/>
          <p:nvPr/>
        </p:nvSpPr>
        <p:spPr>
          <a:xfrm>
            <a:off x="6611112" y="1874520"/>
            <a:ext cx="402336" cy="0"/>
          </a:xfrm>
          <a:prstGeom prst="line">
            <a:avLst/>
          </a:prstGeom>
          <a:noFill/>
          <a:ln w="31750">
            <a:solidFill>
              <a:srgbClr val="1F4E79"/>
            </a:solidFill>
            <a:prstDash val="solid"/>
            <a:tailEnd type="triangle"/>
          </a:ln>
        </p:spPr>
      </p:sp>
      <p:sp>
        <p:nvSpPr>
          <p:cNvPr id="15" name="Estado DONE"/>
          <p:cNvSpPr/>
          <p:nvPr/>
        </p:nvSpPr>
        <p:spPr>
          <a:xfrm>
            <a:off x="7040880" y="1554480"/>
            <a:ext cx="1737360" cy="640080"/>
          </a:xfrm>
          <a:prstGeom prst="roundRect">
            <a:avLst>
              <a:gd name="adj" fmla="val 11429"/>
            </a:avLst>
          </a:prstGeom>
          <a:solidFill>
            <a:srgbClr val="2E75B6"/>
          </a:solidFill>
          <a:ln w="12700">
            <a:solidFill>
              <a:srgbClr val="2E75B6"/>
            </a:solidFill>
            <a:prstDash val="solid"/>
          </a:ln>
        </p:spPr>
      </p:sp>
      <p:sp>
        <p:nvSpPr>
          <p:cNvPr id="16" name="Text 14"/>
          <p:cNvSpPr txBox="1"/>
          <p:nvPr/>
        </p:nvSpPr>
        <p:spPr>
          <a:xfrm>
            <a:off x="7040880" y="1554480"/>
            <a:ext cx="1737360" cy="640080"/>
          </a:xfrm>
          <a:prstGeom prst="rect">
            <a:avLst/>
          </a:prstGeom>
          <a:noFill/>
          <a:ln/>
        </p:spPr>
        <p:txBody>
          <a:bodyPr wrap="square" lIns="50800" tIns="50800" rIns="50800" bIns="5080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DONE</a:t>
            </a:r>
            <a:endParaRPr lang="en-US" sz="1800" dirty="0"/>
          </a:p>
        </p:txBody>
      </p:sp>
      <p:sp>
        <p:nvSpPr>
          <p:cNvPr id="17" name="Text 15"/>
          <p:cNvSpPr txBox="1"/>
          <p:nvPr/>
        </p:nvSpPr>
        <p:spPr>
          <a:xfrm>
            <a:off x="7040880" y="2331720"/>
            <a:ext cx="1737360" cy="1188720"/>
          </a:xfrm>
          <a:prstGeom prst="rect">
            <a:avLst/>
          </a:prstGeom>
          <a:noFill/>
          <a:ln/>
        </p:spPr>
        <p:txBody>
          <a:bodyPr wrap="square" lIns="0" tIns="0" rIns="0" bIns="0" rtlCol="0" anchor="t"/>
          <a:lstStyle/>
          <a:p>
            <a:pPr algn="ctr" indent="0" marL="0">
              <a:buNone/>
            </a:pPr>
            <a:r>
              <a:rPr lang="en-US" sz="1300" dirty="0">
                <a:solidFill>
                  <a:srgbClr val="2D2D2D"/>
                </a:solidFill>
                <a:latin typeface="Arial" pitchFamily="34" charset="0"/>
                <a:ea typeface="Arial" pitchFamily="34" charset="-122"/>
                <a:cs typeface="Arial" pitchFamily="34" charset="-120"/>
              </a:rPr>
              <a:t>Un único evento de fin avisa al procesador</a:t>
            </a:r>
            <a:endParaRPr lang="en-US" sz="1300" dirty="0"/>
          </a:p>
        </p:txBody>
      </p:sp>
      <p:sp>
        <p:nvSpPr>
          <p:cNvPr id="18" name="Text 16"/>
          <p:cNvSpPr txBox="1"/>
          <p:nvPr/>
        </p:nvSpPr>
        <p:spPr>
          <a:xfrm>
            <a:off x="1691640" y="1280160"/>
            <a:ext cx="1463040" cy="274320"/>
          </a:xfrm>
          <a:prstGeom prst="rect">
            <a:avLst/>
          </a:prstGeom>
          <a:noFill/>
          <a:ln/>
        </p:spPr>
        <p:txBody>
          <a:bodyPr wrap="square" lIns="0" tIns="0" rIns="0" bIns="0" rtlCol="0" anchor="t"/>
          <a:lstStyle/>
          <a:p>
            <a:pPr algn="ctr" indent="0" marL="0">
              <a:buNone/>
            </a:pPr>
            <a:r>
              <a:rPr lang="en-US" sz="1000" b="1" dirty="0">
                <a:solidFill>
                  <a:srgbClr val="C55A11"/>
                </a:solidFill>
                <a:latin typeface="Arial" pitchFamily="34" charset="0"/>
                <a:ea typeface="Arial" pitchFamily="34" charset="-122"/>
                <a:cs typeface="Arial" pitchFamily="34" charset="-120"/>
              </a:rPr>
              <a:t>ARM</a:t>
            </a:r>
            <a:endParaRPr lang="en-US" sz="1000" dirty="0"/>
          </a:p>
        </p:txBody>
      </p:sp>
      <p:sp>
        <p:nvSpPr>
          <p:cNvPr id="19" name="Text 17"/>
          <p:cNvSpPr txBox="1"/>
          <p:nvPr/>
        </p:nvSpPr>
        <p:spPr>
          <a:xfrm>
            <a:off x="3886200" y="1280160"/>
            <a:ext cx="1463040" cy="274320"/>
          </a:xfrm>
          <a:prstGeom prst="rect">
            <a:avLst/>
          </a:prstGeom>
          <a:noFill/>
          <a:ln/>
        </p:spPr>
        <p:txBody>
          <a:bodyPr wrap="square" lIns="0" tIns="0" rIns="0" bIns="0" rtlCol="0" anchor="t"/>
          <a:lstStyle/>
          <a:p>
            <a:pPr algn="ctr" indent="0" marL="0">
              <a:buNone/>
            </a:pPr>
            <a:r>
              <a:rPr lang="en-US" sz="1000" b="1" dirty="0">
                <a:solidFill>
                  <a:srgbClr val="C55A11"/>
                </a:solidFill>
                <a:latin typeface="Arial" pitchFamily="34" charset="0"/>
                <a:ea typeface="Arial" pitchFamily="34" charset="-122"/>
                <a:cs typeface="Arial" pitchFamily="34" charset="-120"/>
              </a:rPr>
              <a:t>flanco de SYNC_IN</a:t>
            </a:r>
            <a:endParaRPr lang="en-US" sz="1000" dirty="0"/>
          </a:p>
        </p:txBody>
      </p:sp>
      <p:sp>
        <p:nvSpPr>
          <p:cNvPr id="20" name="Text 18"/>
          <p:cNvSpPr txBox="1"/>
          <p:nvPr/>
        </p:nvSpPr>
        <p:spPr>
          <a:xfrm>
            <a:off x="6080760" y="1280160"/>
            <a:ext cx="1463040" cy="274320"/>
          </a:xfrm>
          <a:prstGeom prst="rect">
            <a:avLst/>
          </a:prstGeom>
          <a:noFill/>
          <a:ln/>
        </p:spPr>
        <p:txBody>
          <a:bodyPr wrap="square" lIns="0" tIns="0" rIns="0" bIns="0" rtlCol="0" anchor="t"/>
          <a:lstStyle/>
          <a:p>
            <a:pPr algn="ctr" indent="0" marL="0">
              <a:buNone/>
            </a:pPr>
            <a:r>
              <a:rPr lang="en-US" sz="1000" b="1" dirty="0">
                <a:solidFill>
                  <a:srgbClr val="C55A11"/>
                </a:solidFill>
                <a:latin typeface="Arial" pitchFamily="34" charset="0"/>
                <a:ea typeface="Arial" pitchFamily="34" charset="-122"/>
                <a:cs typeface="Arial" pitchFamily="34" charset="-120"/>
              </a:rPr>
              <a:t>lotes completos</a:t>
            </a:r>
            <a:endParaRPr lang="en-US" sz="1000" dirty="0"/>
          </a:p>
        </p:txBody>
      </p:sp>
      <p:sp>
        <p:nvSpPr>
          <p:cNvPr id="21" name="Estado ERROR"/>
          <p:cNvSpPr/>
          <p:nvPr/>
        </p:nvSpPr>
        <p:spPr>
          <a:xfrm>
            <a:off x="457200" y="3611880"/>
            <a:ext cx="1737360" cy="457200"/>
          </a:xfrm>
          <a:prstGeom prst="roundRect">
            <a:avLst>
              <a:gd name="adj" fmla="val 16000"/>
            </a:avLst>
          </a:prstGeom>
          <a:solidFill>
            <a:srgbClr val="FFFFFF"/>
          </a:solidFill>
          <a:ln w="25400">
            <a:solidFill>
              <a:srgbClr val="C55A11"/>
            </a:solidFill>
            <a:prstDash val="dash"/>
          </a:ln>
        </p:spPr>
      </p:sp>
      <p:sp>
        <p:nvSpPr>
          <p:cNvPr id="22" name="Text 20"/>
          <p:cNvSpPr txBox="1"/>
          <p:nvPr/>
        </p:nvSpPr>
        <p:spPr>
          <a:xfrm>
            <a:off x="457200" y="3611880"/>
            <a:ext cx="1737360" cy="457200"/>
          </a:xfrm>
          <a:prstGeom prst="rect">
            <a:avLst/>
          </a:prstGeom>
          <a:noFill/>
          <a:ln/>
        </p:spPr>
        <p:txBody>
          <a:bodyPr wrap="square" lIns="0" tIns="0" rIns="0" bIns="0" rtlCol="0" anchor="ctr"/>
          <a:lstStyle/>
          <a:p>
            <a:pPr algn="ctr" indent="0" marL="0">
              <a:buNone/>
            </a:pPr>
            <a:r>
              <a:rPr lang="en-US" sz="1600" b="1" dirty="0">
                <a:solidFill>
                  <a:srgbClr val="C55A11"/>
                </a:solidFill>
                <a:latin typeface="Arial" pitchFamily="34" charset="0"/>
                <a:ea typeface="Arial" pitchFamily="34" charset="-122"/>
                <a:cs typeface="Arial" pitchFamily="34" charset="-120"/>
              </a:rPr>
              <a:t>ERROR</a:t>
            </a:r>
            <a:endParaRPr lang="en-US" sz="1600" dirty="0"/>
          </a:p>
        </p:txBody>
      </p:sp>
      <p:sp>
        <p:nvSpPr>
          <p:cNvPr id="23" name="Text 21"/>
          <p:cNvSpPr txBox="1"/>
          <p:nvPr/>
        </p:nvSpPr>
        <p:spPr>
          <a:xfrm>
            <a:off x="2560320" y="3566160"/>
            <a:ext cx="6126480" cy="822960"/>
          </a:xfrm>
          <a:prstGeom prst="rect">
            <a:avLst/>
          </a:prstGeom>
          <a:noFill/>
          <a:ln/>
        </p:spPr>
        <p:txBody>
          <a:bodyPr wrap="square" lIns="0" tIns="0" rIns="0" bIns="0" rtlCol="0" anchor="t"/>
          <a:lstStyle/>
          <a:p>
            <a:pPr indent="0" marL="0">
              <a:buNone/>
            </a:pPr>
            <a:r>
              <a:rPr lang="en-US" sz="1300" dirty="0">
                <a:solidFill>
                  <a:srgbClr val="2D2D2D"/>
                </a:solidFill>
                <a:latin typeface="Arial" pitchFamily="34" charset="0"/>
                <a:ea typeface="Arial" pitchFamily="34" charset="-122"/>
                <a:cs typeface="Arial" pitchFamily="34" charset="-120"/>
              </a:rPr>
              <a:t>Durante el muestreo el nodo no atiende RX/TX ni el LED, y los eventos de los temporizadores se consultan por polling. Después del disparo, el reloj local de cada nodo fija la posición de las muestras.</a:t>
            </a:r>
            <a:endParaRPr lang="en-US" sz="1300" dirty="0"/>
          </a:p>
        </p:txBody>
      </p:sp>
      <p:sp>
        <p:nvSpPr>
          <p:cNvPr id="2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4.6 y fig. 10; documento de tesis, 04_arquitectura.tex (superMaquina).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memoria tiene tres niveles y la tarjeta SD está en el PSoC, no en el ESP32</a:t>
            </a:r>
            <a:endParaRPr lang="en-US" sz="2400" dirty="0"/>
          </a:p>
        </p:txBody>
      </p:sp>
      <p:sp>
        <p:nvSpPr>
          <p:cNvPr id="3" name="Cabecera RAM del ESP32"/>
          <p:cNvSpPr/>
          <p:nvPr/>
        </p:nvSpPr>
        <p:spPr>
          <a:xfrm>
            <a:off x="457200" y="1234440"/>
            <a:ext cx="2560320" cy="457200"/>
          </a:xfrm>
          <a:prstGeom prst="rect">
            <a:avLst/>
          </a:prstGeom>
          <a:solidFill>
            <a:srgbClr val="2E75B6"/>
          </a:solidFill>
          <a:ln w="12700">
            <a:solidFill>
              <a:srgbClr val="2E75B6"/>
            </a:solidFill>
            <a:prstDash val="solid"/>
          </a:ln>
        </p:spPr>
      </p:sp>
      <p:sp>
        <p:nvSpPr>
          <p:cNvPr id="4" name="Text 2"/>
          <p:cNvSpPr txBox="1"/>
          <p:nvPr/>
        </p:nvSpPr>
        <p:spPr>
          <a:xfrm>
            <a:off x="502920" y="1234440"/>
            <a:ext cx="2468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RAM del ESP32</a:t>
            </a:r>
            <a:endParaRPr lang="en-US" sz="1500" dirty="0"/>
          </a:p>
        </p:txBody>
      </p:sp>
      <p:sp>
        <p:nvSpPr>
          <p:cNvPr id="5" name="Tarjeta RAM del ESP32"/>
          <p:cNvSpPr/>
          <p:nvPr/>
        </p:nvSpPr>
        <p:spPr>
          <a:xfrm>
            <a:off x="457200" y="1691640"/>
            <a:ext cx="2560320" cy="1371600"/>
          </a:xfrm>
          <a:prstGeom prst="rect">
            <a:avLst/>
          </a:prstGeom>
          <a:solidFill>
            <a:srgbClr val="FFFFFF"/>
          </a:solidFill>
          <a:ln w="19050">
            <a:solidFill>
              <a:srgbClr val="2E75B6"/>
            </a:solidFill>
            <a:prstDash val="solid"/>
          </a:ln>
        </p:spPr>
      </p:sp>
      <p:sp>
        <p:nvSpPr>
          <p:cNvPr id="6" name="Text 4"/>
          <p:cNvSpPr txBox="1"/>
          <p:nvPr/>
        </p:nvSpPr>
        <p:spPr>
          <a:xfrm>
            <a:off x="566928" y="1764792"/>
            <a:ext cx="2340864" cy="1225296"/>
          </a:xfrm>
          <a:prstGeom prst="rect">
            <a:avLst/>
          </a:prstGeom>
          <a:noFill/>
          <a:ln/>
        </p:spPr>
        <p:txBody>
          <a:bodyPr wrap="square" lIns="0" tIns="0" rIns="0" bIns="0" rtlCol="0" anchor="t"/>
          <a:lstStyle/>
          <a:p>
            <a:pPr algn="l" indent="0" marL="0">
              <a:buNone/>
            </a:pPr>
            <a:endParaRPr lang="en-US" sz="1300" dirty="0"/>
          </a:p>
        </p:txBody>
      </p:sp>
      <p:sp>
        <p:nvSpPr>
          <p:cNvPr id="7" name="Text 5"/>
          <p:cNvSpPr txBox="1"/>
          <p:nvPr/>
        </p:nvSpPr>
        <p:spPr>
          <a:xfrm>
            <a:off x="566928" y="1783080"/>
            <a:ext cx="2340864" cy="640080"/>
          </a:xfrm>
          <a:prstGeom prst="rect">
            <a:avLst/>
          </a:prstGeom>
          <a:noFill/>
          <a:ln/>
        </p:spPr>
        <p:txBody>
          <a:bodyPr wrap="square" lIns="0" tIns="0" rIns="0" bIns="0" rtlCol="0" anchor="t"/>
          <a:lstStyle/>
          <a:p>
            <a:pPr algn="ctr" indent="0" marL="0">
              <a:buNone/>
            </a:pPr>
            <a:r>
              <a:rPr lang="en-US" sz="1300" dirty="0">
                <a:solidFill>
                  <a:srgbClr val="2D2D2D"/>
                </a:solidFill>
                <a:latin typeface="Arial" pitchFamily="34" charset="0"/>
                <a:ea typeface="Arial" pitchFamily="34" charset="-122"/>
                <a:cs typeface="Arial" pitchFamily="34" charset="-120"/>
              </a:rPr>
              <a:t>Arena paginada de 512 lotes</a:t>
            </a:r>
            <a:endParaRPr lang="en-US" sz="1300" dirty="0"/>
          </a:p>
        </p:txBody>
      </p:sp>
      <p:sp>
        <p:nvSpPr>
          <p:cNvPr id="8" name="Text 6"/>
          <p:cNvSpPr txBox="1"/>
          <p:nvPr/>
        </p:nvSpPr>
        <p:spPr>
          <a:xfrm>
            <a:off x="566928" y="2423160"/>
            <a:ext cx="2340864" cy="457200"/>
          </a:xfrm>
          <a:prstGeom prst="rect">
            <a:avLst/>
          </a:prstGeom>
          <a:noFill/>
          <a:ln/>
        </p:spPr>
        <p:txBody>
          <a:bodyPr wrap="square" lIns="0" tIns="0" rIns="0" bIns="0" rtlCol="0" anchor="t"/>
          <a:lstStyle/>
          <a:p>
            <a:pPr algn="ctr" indent="0" marL="0">
              <a:buNone/>
            </a:pPr>
            <a:r>
              <a:rPr lang="en-US" sz="1800" b="1" dirty="0">
                <a:solidFill>
                  <a:srgbClr val="2E75B6"/>
                </a:solidFill>
                <a:latin typeface="Arial" pitchFamily="34" charset="0"/>
                <a:ea typeface="Arial" pitchFamily="34" charset="-122"/>
                <a:cs typeface="Arial" pitchFamily="34" charset="-120"/>
              </a:rPr>
              <a:t>≈ 5,9 s</a:t>
            </a:r>
            <a:endParaRPr lang="en-US" sz="1800" dirty="0"/>
          </a:p>
        </p:txBody>
      </p:sp>
      <p:sp>
        <p:nvSpPr>
          <p:cNvPr id="9" name="Shape 7"/>
          <p:cNvSpPr/>
          <p:nvPr/>
        </p:nvSpPr>
        <p:spPr>
          <a:xfrm>
            <a:off x="3044952" y="1463040"/>
            <a:ext cx="219456" cy="0"/>
          </a:xfrm>
          <a:prstGeom prst="line">
            <a:avLst/>
          </a:prstGeom>
          <a:noFill/>
          <a:ln w="31750">
            <a:solidFill>
              <a:srgbClr val="1F4E79"/>
            </a:solidFill>
            <a:prstDash val="solid"/>
            <a:tailEnd type="triangle"/>
          </a:ln>
        </p:spPr>
      </p:sp>
      <p:sp>
        <p:nvSpPr>
          <p:cNvPr id="10" name="Cabecera RAM del PSoC"/>
          <p:cNvSpPr/>
          <p:nvPr/>
        </p:nvSpPr>
        <p:spPr>
          <a:xfrm>
            <a:off x="3291840" y="1234440"/>
            <a:ext cx="2560320" cy="457200"/>
          </a:xfrm>
          <a:prstGeom prst="rect">
            <a:avLst/>
          </a:prstGeom>
          <a:solidFill>
            <a:srgbClr val="1F4E79"/>
          </a:solidFill>
          <a:ln w="12700">
            <a:solidFill>
              <a:srgbClr val="1F4E79"/>
            </a:solidFill>
            <a:prstDash val="solid"/>
          </a:ln>
        </p:spPr>
      </p:sp>
      <p:sp>
        <p:nvSpPr>
          <p:cNvPr id="11" name="Text 9"/>
          <p:cNvSpPr txBox="1"/>
          <p:nvPr/>
        </p:nvSpPr>
        <p:spPr>
          <a:xfrm>
            <a:off x="3337560" y="1234440"/>
            <a:ext cx="2468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RAM del PSoC</a:t>
            </a:r>
            <a:endParaRPr lang="en-US" sz="1500" dirty="0"/>
          </a:p>
        </p:txBody>
      </p:sp>
      <p:sp>
        <p:nvSpPr>
          <p:cNvPr id="12" name="Tarjeta RAM del PSoC"/>
          <p:cNvSpPr/>
          <p:nvPr/>
        </p:nvSpPr>
        <p:spPr>
          <a:xfrm>
            <a:off x="3291840" y="1691640"/>
            <a:ext cx="2560320" cy="1371600"/>
          </a:xfrm>
          <a:prstGeom prst="rect">
            <a:avLst/>
          </a:prstGeom>
          <a:solidFill>
            <a:srgbClr val="FFFFFF"/>
          </a:solidFill>
          <a:ln w="19050">
            <a:solidFill>
              <a:srgbClr val="1F4E79"/>
            </a:solidFill>
            <a:prstDash val="solid"/>
          </a:ln>
        </p:spPr>
      </p:sp>
      <p:sp>
        <p:nvSpPr>
          <p:cNvPr id="13" name="Text 11"/>
          <p:cNvSpPr txBox="1"/>
          <p:nvPr/>
        </p:nvSpPr>
        <p:spPr>
          <a:xfrm>
            <a:off x="3401568" y="1764792"/>
            <a:ext cx="2340864" cy="1225296"/>
          </a:xfrm>
          <a:prstGeom prst="rect">
            <a:avLst/>
          </a:prstGeom>
          <a:noFill/>
          <a:ln/>
        </p:spPr>
        <p:txBody>
          <a:bodyPr wrap="square" lIns="0" tIns="0" rIns="0" bIns="0" rtlCol="0" anchor="t"/>
          <a:lstStyle/>
          <a:p>
            <a:pPr algn="l" indent="0" marL="0">
              <a:buNone/>
            </a:pPr>
            <a:endParaRPr lang="en-US" sz="1300" dirty="0"/>
          </a:p>
        </p:txBody>
      </p:sp>
      <p:sp>
        <p:nvSpPr>
          <p:cNvPr id="14" name="Text 12"/>
          <p:cNvSpPr txBox="1"/>
          <p:nvPr/>
        </p:nvSpPr>
        <p:spPr>
          <a:xfrm>
            <a:off x="3401568" y="1783080"/>
            <a:ext cx="2340864" cy="640080"/>
          </a:xfrm>
          <a:prstGeom prst="rect">
            <a:avLst/>
          </a:prstGeom>
          <a:noFill/>
          <a:ln/>
        </p:spPr>
        <p:txBody>
          <a:bodyPr wrap="square" lIns="0" tIns="0" rIns="0" bIns="0" rtlCol="0" anchor="t"/>
          <a:lstStyle/>
          <a:p>
            <a:pPr algn="ctr" indent="0" marL="0">
              <a:buNone/>
            </a:pPr>
            <a:r>
              <a:rPr lang="en-US" sz="1300" dirty="0">
                <a:solidFill>
                  <a:srgbClr val="2D2D2D"/>
                </a:solidFill>
                <a:latin typeface="Arial" pitchFamily="34" charset="0"/>
                <a:ea typeface="Arial" pitchFamily="34" charset="-122"/>
                <a:cs typeface="Arial" pitchFamily="34" charset="-120"/>
              </a:rPr>
              <a:t>Re-armado encadenado al superar 512 lotes</a:t>
            </a:r>
            <a:endParaRPr lang="en-US" sz="1300" dirty="0"/>
          </a:p>
        </p:txBody>
      </p:sp>
      <p:sp>
        <p:nvSpPr>
          <p:cNvPr id="15" name="Text 13"/>
          <p:cNvSpPr txBox="1"/>
          <p:nvPr/>
        </p:nvSpPr>
        <p:spPr>
          <a:xfrm>
            <a:off x="3401568" y="2423160"/>
            <a:ext cx="2340864" cy="457200"/>
          </a:xfrm>
          <a:prstGeom prst="rect">
            <a:avLst/>
          </a:prstGeom>
          <a:noFill/>
          <a:ln/>
        </p:spPr>
        <p:txBody>
          <a:bodyPr wrap="square" lIns="0" tIns="0" rIns="0" bIns="0" rtlCol="0" anchor="t"/>
          <a:lstStyle/>
          <a:p>
            <a:pPr algn="ctr" indent="0" marL="0">
              <a:buNone/>
            </a:pPr>
            <a:r>
              <a:rPr lang="en-US" sz="1800" b="1" dirty="0">
                <a:solidFill>
                  <a:srgbClr val="1F4E79"/>
                </a:solidFill>
                <a:latin typeface="Arial" pitchFamily="34" charset="0"/>
                <a:ea typeface="Arial" pitchFamily="34" charset="-122"/>
                <a:cs typeface="Arial" pitchFamily="34" charset="-120"/>
              </a:rPr>
              <a:t>sin reiniciar la captura</a:t>
            </a:r>
            <a:endParaRPr lang="en-US" sz="1800" dirty="0"/>
          </a:p>
        </p:txBody>
      </p:sp>
      <p:sp>
        <p:nvSpPr>
          <p:cNvPr id="16" name="Shape 14"/>
          <p:cNvSpPr/>
          <p:nvPr/>
        </p:nvSpPr>
        <p:spPr>
          <a:xfrm>
            <a:off x="5879592" y="1463040"/>
            <a:ext cx="219456" cy="0"/>
          </a:xfrm>
          <a:prstGeom prst="line">
            <a:avLst/>
          </a:prstGeom>
          <a:noFill/>
          <a:ln w="31750">
            <a:solidFill>
              <a:srgbClr val="1F4E79"/>
            </a:solidFill>
            <a:prstDash val="solid"/>
            <a:tailEnd type="triangle"/>
          </a:ln>
        </p:spPr>
      </p:sp>
      <p:sp>
        <p:nvSpPr>
          <p:cNvPr id="17" name="Cabecera SD en el PSoC"/>
          <p:cNvSpPr/>
          <p:nvPr/>
        </p:nvSpPr>
        <p:spPr>
          <a:xfrm>
            <a:off x="6126480" y="1234440"/>
            <a:ext cx="2560320" cy="457200"/>
          </a:xfrm>
          <a:prstGeom prst="rect">
            <a:avLst/>
          </a:prstGeom>
          <a:solidFill>
            <a:srgbClr val="C55A11"/>
          </a:solidFill>
          <a:ln w="12700">
            <a:solidFill>
              <a:srgbClr val="C55A11"/>
            </a:solidFill>
            <a:prstDash val="solid"/>
          </a:ln>
        </p:spPr>
      </p:sp>
      <p:sp>
        <p:nvSpPr>
          <p:cNvPr id="18" name="Text 16"/>
          <p:cNvSpPr txBox="1"/>
          <p:nvPr/>
        </p:nvSpPr>
        <p:spPr>
          <a:xfrm>
            <a:off x="6172200" y="1234440"/>
            <a:ext cx="246888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SD en el PSoC</a:t>
            </a:r>
            <a:endParaRPr lang="en-US" sz="1500" dirty="0"/>
          </a:p>
        </p:txBody>
      </p:sp>
      <p:sp>
        <p:nvSpPr>
          <p:cNvPr id="19" name="Tarjeta SD en el PSoC"/>
          <p:cNvSpPr/>
          <p:nvPr/>
        </p:nvSpPr>
        <p:spPr>
          <a:xfrm>
            <a:off x="6126480" y="1691640"/>
            <a:ext cx="2560320" cy="1371600"/>
          </a:xfrm>
          <a:prstGeom prst="rect">
            <a:avLst/>
          </a:prstGeom>
          <a:solidFill>
            <a:srgbClr val="FFFFFF"/>
          </a:solidFill>
          <a:ln w="19050">
            <a:solidFill>
              <a:srgbClr val="C55A11"/>
            </a:solidFill>
            <a:prstDash val="solid"/>
          </a:ln>
        </p:spPr>
      </p:sp>
      <p:sp>
        <p:nvSpPr>
          <p:cNvPr id="20" name="Text 18"/>
          <p:cNvSpPr txBox="1"/>
          <p:nvPr/>
        </p:nvSpPr>
        <p:spPr>
          <a:xfrm>
            <a:off x="6236208" y="1764792"/>
            <a:ext cx="2340864" cy="1225296"/>
          </a:xfrm>
          <a:prstGeom prst="rect">
            <a:avLst/>
          </a:prstGeom>
          <a:noFill/>
          <a:ln/>
        </p:spPr>
        <p:txBody>
          <a:bodyPr wrap="square" lIns="0" tIns="0" rIns="0" bIns="0" rtlCol="0" anchor="t"/>
          <a:lstStyle/>
          <a:p>
            <a:pPr algn="l" indent="0" marL="0">
              <a:buNone/>
            </a:pPr>
            <a:endParaRPr lang="en-US" sz="1300" dirty="0"/>
          </a:p>
        </p:txBody>
      </p:sp>
      <p:sp>
        <p:nvSpPr>
          <p:cNvPr id="21" name="Text 19"/>
          <p:cNvSpPr txBox="1"/>
          <p:nvPr/>
        </p:nvSpPr>
        <p:spPr>
          <a:xfrm>
            <a:off x="6236208" y="1783080"/>
            <a:ext cx="2340864" cy="640080"/>
          </a:xfrm>
          <a:prstGeom prst="rect">
            <a:avLst/>
          </a:prstGeom>
          <a:noFill/>
          <a:ln/>
        </p:spPr>
        <p:txBody>
          <a:bodyPr wrap="square" lIns="0" tIns="0" rIns="0" bIns="0" rtlCol="0" anchor="t"/>
          <a:lstStyle/>
          <a:p>
            <a:pPr algn="ctr" indent="0" marL="0">
              <a:buNone/>
            </a:pPr>
            <a:r>
              <a:rPr lang="en-US" sz="1300" dirty="0">
                <a:solidFill>
                  <a:srgbClr val="2D2D2D"/>
                </a:solidFill>
                <a:latin typeface="Arial" pitchFamily="34" charset="0"/>
                <a:ea typeface="Arial" pitchFamily="34" charset="-122"/>
                <a:cs typeface="Arial" pitchFamily="34" charset="-120"/>
              </a:rPr>
              <a:t>FatFs sobre SPI, hasta 60 000 lotes</a:t>
            </a:r>
            <a:endParaRPr lang="en-US" sz="1300" dirty="0"/>
          </a:p>
        </p:txBody>
      </p:sp>
      <p:sp>
        <p:nvSpPr>
          <p:cNvPr id="22" name="Text 20"/>
          <p:cNvSpPr txBox="1"/>
          <p:nvPr/>
        </p:nvSpPr>
        <p:spPr>
          <a:xfrm>
            <a:off x="6236208" y="2423160"/>
            <a:ext cx="2340864" cy="457200"/>
          </a:xfrm>
          <a:prstGeom prst="rect">
            <a:avLst/>
          </a:prstGeom>
          <a:noFill/>
          <a:ln/>
        </p:spPr>
        <p:txBody>
          <a:bodyPr wrap="square" lIns="0" tIns="0" rIns="0" bIns="0" rtlCol="0" anchor="t"/>
          <a:lstStyle/>
          <a:p>
            <a:pPr algn="ctr" indent="0" marL="0">
              <a:buNone/>
            </a:pPr>
            <a:r>
              <a:rPr lang="en-US" sz="1800" b="1" dirty="0">
                <a:solidFill>
                  <a:srgbClr val="C55A11"/>
                </a:solidFill>
                <a:latin typeface="Arial" pitchFamily="34" charset="0"/>
                <a:ea typeface="Arial" pitchFamily="34" charset="-122"/>
                <a:cs typeface="Arial" pitchFamily="34" charset="-120"/>
              </a:rPr>
              <a:t>≈ 11,5 min</a:t>
            </a:r>
            <a:endParaRPr lang="en-US" sz="1800" dirty="0"/>
          </a:p>
        </p:txBody>
      </p:sp>
      <p:sp>
        <p:nvSpPr>
          <p:cNvPr id="23" name="Fondo E_tlot"/>
          <p:cNvSpPr/>
          <p:nvPr/>
        </p:nvSpPr>
        <p:spPr>
          <a:xfrm>
            <a:off x="2286000" y="3246120"/>
            <a:ext cx="457200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24" name="Ecuación E_tlot"/>
              <p:cNvSpPr txBox="1"/>
              <p:nvPr/>
            </p:nvSpPr>
            <p:spPr>
              <a:xfrm>
                <a:off x="2286000" y="3246120"/>
                <a:ext cx="457200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t=</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30·</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N</m:t>
                              </m:r>
                            </m:e>
                            <m:sub>
                              <m:r>
                                <m:rPr>
                                  <m:sty m:val="p"/>
                                </m:rPr>
                                <a:rPr lang="es-ES" sz="2400">
                                  <a:solidFill>
                                    <a:srgbClr val="1F4E79"/>
                                  </a:solidFill>
                                  <a:latin typeface="Cambria Math" panose="02040503050406030204" pitchFamily="18" charset="0"/>
                                </a:rPr>
                                <m:t xml:space="preserve">lotes</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f</m:t>
                              </m:r>
                            </m:e>
                            <m:sub>
                              <m:r>
                                <a:rPr lang="es-ES" sz="2400" i="1">
                                  <a:solidFill>
                                    <a:srgbClr val="1F4E79"/>
                                  </a:solidFill>
                                  <a:latin typeface="Cambria Math" panose="02040503050406030204" pitchFamily="18" charset="0"/>
                                </a:rPr>
                                <m:t xml:space="preserve">s</m:t>
                              </m:r>
                            </m:sub>
                          </m:sSub>
                        </m:den>
                      </m:f>
                    </m:oMath>
                  </m:oMathPara>
                </a14:m>
                <a:endParaRPr lang="es-ES"/>
              </a:p>
            </p:txBody>
          </p:sp>
        </mc:Choice>
        <mc:Fallback>
          <p:sp>
            <p:nvSpPr>
              <p:cNvPr id="24" name="Ecuación E_tlot"/>
              <p:cNvSpPr txBox="1"/>
              <p:nvPr/>
            </p:nvSpPr>
            <p:spPr>
              <a:xfrm>
                <a:off x="2286000" y="3246120"/>
                <a:ext cx="457200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t = 30·N_lotes / fs</a:t>
                </a:r>
                <a:endParaRPr lang="en-US" sz="2400" dirty="0"/>
              </a:p>
            </p:txBody>
          </p:sp>
        </mc:Fallback>
      </mc:AlternateContent>
      <p:sp>
        <p:nvSpPr>
          <p:cNvPr id="25" name="Text 23"/>
          <p:cNvSpPr txBox="1"/>
          <p:nvPr/>
        </p:nvSpPr>
        <p:spPr>
          <a:xfrm>
            <a:off x="457200" y="4069080"/>
            <a:ext cx="8229600" cy="457200"/>
          </a:xfrm>
          <a:prstGeom prst="rect">
            <a:avLst/>
          </a:prstGeom>
          <a:noFill/>
          <a:ln/>
        </p:spPr>
        <p:txBody>
          <a:bodyPr wrap="square" lIns="0" tIns="0" rIns="0" bIns="0" rtlCol="0" anchor="t"/>
          <a:lstStyle/>
          <a:p>
            <a:pPr indent="0" marL="0">
              <a:buNone/>
            </a:pPr>
            <a:r>
              <a:rPr lang="en-US" sz="1300" dirty="0">
                <a:solidFill>
                  <a:srgbClr val="6B6B6B"/>
                </a:solidFill>
                <a:latin typeface="Arial" pitchFamily="34" charset="0"/>
                <a:ea typeface="Arial" pitchFamily="34" charset="-122"/>
                <a:cs typeface="Arial" pitchFamily="34" charset="-120"/>
              </a:rPr>
              <a:t>Con fs = 2604 Hz: 512 lotes ≈ 5,9 s; 60 000 lotes ≈ 11,5 min. Si se piden más de 512 lotes, la SD debe estar habilitada.</a:t>
            </a:r>
            <a:endParaRPr lang="en-US" sz="1300" dirty="0"/>
          </a:p>
        </p:txBody>
      </p:sp>
      <p:sp>
        <p:nvSpPr>
          <p:cNvPr id="2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Documento de tesis, 04_arquitectura.tex (jerarquía de memoria y SD). Duraciones: cálculo propio con 30 muestras por lote.</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78</a:t>
            </a:fld>
            <a:endParaRPr lang="en-US"/>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Cada registro guarda sus metadatos y su integridad, y el original permanece en el nodo</a:t>
            </a:r>
            <a:endParaRPr lang="en-US" sz="2400" dirty="0"/>
          </a:p>
        </p:txBody>
      </p:sp>
      <p:sp>
        <p:nvSpPr>
          <p:cNvPr id="3" name="Cabecera Metadatos del registro"/>
          <p:cNvSpPr/>
          <p:nvPr/>
        </p:nvSpPr>
        <p:spPr>
          <a:xfrm>
            <a:off x="457200" y="1188720"/>
            <a:ext cx="4023360" cy="411480"/>
          </a:xfrm>
          <a:prstGeom prst="rect">
            <a:avLst/>
          </a:prstGeom>
          <a:solidFill>
            <a:srgbClr val="1F4E79"/>
          </a:solidFill>
          <a:ln w="12700">
            <a:solidFill>
              <a:srgbClr val="1F4E79"/>
            </a:solidFill>
            <a:prstDash val="solid"/>
          </a:ln>
        </p:spPr>
      </p:sp>
      <p:sp>
        <p:nvSpPr>
          <p:cNvPr id="4" name="Text 2"/>
          <p:cNvSpPr txBox="1"/>
          <p:nvPr/>
        </p:nvSpPr>
        <p:spPr>
          <a:xfrm>
            <a:off x="502920" y="1188720"/>
            <a:ext cx="393192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Metadatos del registro</a:t>
            </a:r>
            <a:endParaRPr lang="en-US" sz="1400" dirty="0"/>
          </a:p>
        </p:txBody>
      </p:sp>
      <p:sp>
        <p:nvSpPr>
          <p:cNvPr id="5" name="Tarjeta Metadatos del registro"/>
          <p:cNvSpPr/>
          <p:nvPr/>
        </p:nvSpPr>
        <p:spPr>
          <a:xfrm>
            <a:off x="457200" y="1600200"/>
            <a:ext cx="4023360" cy="2103120"/>
          </a:xfrm>
          <a:prstGeom prst="rect">
            <a:avLst/>
          </a:prstGeom>
          <a:solidFill>
            <a:srgbClr val="FFFFFF"/>
          </a:solidFill>
          <a:ln w="19050">
            <a:solidFill>
              <a:srgbClr val="1F4E79"/>
            </a:solidFill>
            <a:prstDash val="solid"/>
          </a:ln>
        </p:spPr>
      </p:sp>
      <p:sp>
        <p:nvSpPr>
          <p:cNvPr id="6" name="Text 4"/>
          <p:cNvSpPr txBox="1"/>
          <p:nvPr/>
        </p:nvSpPr>
        <p:spPr>
          <a:xfrm>
            <a:off x="566928" y="1673352"/>
            <a:ext cx="3803904" cy="1956816"/>
          </a:xfrm>
          <a:prstGeom prst="rect">
            <a:avLst/>
          </a:prstGeom>
          <a:noFill/>
          <a:ln/>
        </p:spPr>
        <p:txBody>
          <a:bodyPr wrap="square" lIns="0" tIns="0" rIns="0" bIns="0" rtlCol="0" anchor="t"/>
          <a:lstStyle/>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Identificador y posición del nodo</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Frecuencia de muestreo y factor D</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Rango del ADC, ganancia y ruta de señal</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Número de muestras</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Estado del ajuste de offset</a:t>
            </a:r>
            <a:endParaRPr lang="en-US" sz="1500" dirty="0"/>
          </a:p>
        </p:txBody>
      </p:sp>
      <p:sp>
        <p:nvSpPr>
          <p:cNvPr id="7" name="Cabecera Integridad"/>
          <p:cNvSpPr/>
          <p:nvPr/>
        </p:nvSpPr>
        <p:spPr>
          <a:xfrm>
            <a:off x="4663440" y="1188720"/>
            <a:ext cx="4023360" cy="411480"/>
          </a:xfrm>
          <a:prstGeom prst="rect">
            <a:avLst/>
          </a:prstGeom>
          <a:solidFill>
            <a:srgbClr val="2E75B6"/>
          </a:solidFill>
          <a:ln w="12700">
            <a:solidFill>
              <a:srgbClr val="2E75B6"/>
            </a:solidFill>
            <a:prstDash val="solid"/>
          </a:ln>
        </p:spPr>
      </p:sp>
      <p:sp>
        <p:nvSpPr>
          <p:cNvPr id="8" name="Text 6"/>
          <p:cNvSpPr txBox="1"/>
          <p:nvPr/>
        </p:nvSpPr>
        <p:spPr>
          <a:xfrm>
            <a:off x="4709160" y="1188720"/>
            <a:ext cx="3931920" cy="411480"/>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Arial" pitchFamily="34" charset="-122"/>
                <a:cs typeface="Arial" pitchFamily="34" charset="-120"/>
              </a:rPr>
              <a:t>Integridad</a:t>
            </a:r>
            <a:endParaRPr lang="en-US" sz="1400" dirty="0"/>
          </a:p>
        </p:txBody>
      </p:sp>
      <p:sp>
        <p:nvSpPr>
          <p:cNvPr id="9" name="Tarjeta Integridad"/>
          <p:cNvSpPr/>
          <p:nvPr/>
        </p:nvSpPr>
        <p:spPr>
          <a:xfrm>
            <a:off x="4663440" y="1600200"/>
            <a:ext cx="4023360" cy="2103120"/>
          </a:xfrm>
          <a:prstGeom prst="rect">
            <a:avLst/>
          </a:prstGeom>
          <a:solidFill>
            <a:srgbClr val="FFFFFF"/>
          </a:solidFill>
          <a:ln w="19050">
            <a:solidFill>
              <a:srgbClr val="2E75B6"/>
            </a:solidFill>
            <a:prstDash val="solid"/>
          </a:ln>
        </p:spPr>
      </p:sp>
      <p:sp>
        <p:nvSpPr>
          <p:cNvPr id="10" name="Text 8"/>
          <p:cNvSpPr txBox="1"/>
          <p:nvPr/>
        </p:nvSpPr>
        <p:spPr>
          <a:xfrm>
            <a:off x="4773168" y="1673352"/>
            <a:ext cx="3803904" cy="1956816"/>
          </a:xfrm>
          <a:prstGeom prst="rect">
            <a:avLst/>
          </a:prstGeom>
          <a:noFill/>
          <a:ln/>
        </p:spPr>
        <p:txBody>
          <a:bodyPr wrap="square" lIns="0" tIns="0" rIns="0" bIns="0" rtlCol="0" anchor="t"/>
          <a:lstStyle/>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Versión y CRC</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Número de muestras</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Indicadores de desbordamiento o de cierre incompleto</a:t>
            </a:r>
            <a:endParaRPr lang="en-US" sz="1500" dirty="0"/>
          </a:p>
          <a:p>
            <a:pPr algn="l" marL="342900" indent="-342900">
              <a:buSzPct val="100000"/>
              <a:buChar char="•"/>
            </a:pPr>
            <a:r>
              <a:rPr lang="en-US" sz="1500" dirty="0">
                <a:solidFill>
                  <a:srgbClr val="2D2D2D"/>
                </a:solidFill>
                <a:latin typeface="Arial" pitchFamily="34" charset="0"/>
                <a:ea typeface="Arial" pitchFamily="34" charset="-122"/>
                <a:cs typeface="Arial" pitchFamily="34" charset="-120"/>
              </a:rPr>
              <a:t>Verificación en el servidor sin modificar el original</a:t>
            </a:r>
            <a:endParaRPr lang="en-US" sz="1500" dirty="0"/>
          </a:p>
        </p:txBody>
      </p:sp>
      <p:sp>
        <p:nvSpPr>
          <p:cNvPr id="11" name="Paso guardar"/>
          <p:cNvSpPr/>
          <p:nvPr/>
        </p:nvSpPr>
        <p:spPr>
          <a:xfrm>
            <a:off x="457200" y="3931920"/>
            <a:ext cx="2377440" cy="502920"/>
          </a:xfrm>
          <a:prstGeom prst="roundRect">
            <a:avLst>
              <a:gd name="adj" fmla="val 14545"/>
            </a:avLst>
          </a:prstGeom>
          <a:solidFill>
            <a:srgbClr val="1F4E79"/>
          </a:solidFill>
          <a:ln w="12700">
            <a:solidFill>
              <a:srgbClr val="1F4E79"/>
            </a:solidFill>
            <a:prstDash val="solid"/>
          </a:ln>
        </p:spPr>
      </p:sp>
      <p:sp>
        <p:nvSpPr>
          <p:cNvPr id="12" name="Text 10"/>
          <p:cNvSpPr txBox="1"/>
          <p:nvPr/>
        </p:nvSpPr>
        <p:spPr>
          <a:xfrm>
            <a:off x="457200" y="3931920"/>
            <a:ext cx="2377440" cy="50292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Se guarda en el nodo</a:t>
            </a:r>
            <a:endParaRPr lang="en-US" sz="1300" dirty="0"/>
          </a:p>
        </p:txBody>
      </p:sp>
      <p:sp>
        <p:nvSpPr>
          <p:cNvPr id="13" name="Paso transmitir"/>
          <p:cNvSpPr/>
          <p:nvPr/>
        </p:nvSpPr>
        <p:spPr>
          <a:xfrm>
            <a:off x="3383280" y="3931920"/>
            <a:ext cx="2377440" cy="502920"/>
          </a:xfrm>
          <a:prstGeom prst="roundRect">
            <a:avLst>
              <a:gd name="adj" fmla="val 14545"/>
            </a:avLst>
          </a:prstGeom>
          <a:solidFill>
            <a:srgbClr val="2E75B6"/>
          </a:solidFill>
          <a:ln w="12700">
            <a:solidFill>
              <a:srgbClr val="2E75B6"/>
            </a:solidFill>
            <a:prstDash val="solid"/>
          </a:ln>
        </p:spPr>
      </p:sp>
      <p:sp>
        <p:nvSpPr>
          <p:cNvPr id="14" name="Text 12"/>
          <p:cNvSpPr txBox="1"/>
          <p:nvPr/>
        </p:nvSpPr>
        <p:spPr>
          <a:xfrm>
            <a:off x="3383280" y="3931920"/>
            <a:ext cx="2377440" cy="50292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Lotes numerados</a:t>
            </a:r>
            <a:endParaRPr lang="en-US" sz="1300" dirty="0"/>
          </a:p>
        </p:txBody>
      </p:sp>
      <p:sp>
        <p:nvSpPr>
          <p:cNvPr id="15" name="Paso reintento"/>
          <p:cNvSpPr/>
          <p:nvPr/>
        </p:nvSpPr>
        <p:spPr>
          <a:xfrm>
            <a:off x="6309360" y="3931920"/>
            <a:ext cx="2377440" cy="502920"/>
          </a:xfrm>
          <a:prstGeom prst="roundRect">
            <a:avLst>
              <a:gd name="adj" fmla="val 14545"/>
            </a:avLst>
          </a:prstGeom>
          <a:solidFill>
            <a:srgbClr val="C55A11"/>
          </a:solidFill>
          <a:ln w="12700">
            <a:solidFill>
              <a:srgbClr val="C55A11"/>
            </a:solidFill>
            <a:prstDash val="solid"/>
          </a:ln>
        </p:spPr>
      </p:sp>
      <p:sp>
        <p:nvSpPr>
          <p:cNvPr id="16" name="Text 14"/>
          <p:cNvSpPr txBox="1"/>
          <p:nvPr/>
        </p:nvSpPr>
        <p:spPr>
          <a:xfrm>
            <a:off x="6309360" y="3931920"/>
            <a:ext cx="2377440" cy="502920"/>
          </a:xfrm>
          <a:prstGeom prst="rect">
            <a:avLst/>
          </a:prstGeom>
          <a:noFill/>
          <a:ln/>
        </p:spPr>
        <p:txBody>
          <a:bodyPr wrap="square" lIns="50800" tIns="50800" rIns="50800" bIns="5080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Reintento si hay pérdida</a:t>
            </a:r>
            <a:endParaRPr lang="en-US" sz="1300" dirty="0"/>
          </a:p>
        </p:txBody>
      </p:sp>
      <p:sp>
        <p:nvSpPr>
          <p:cNvPr id="17" name="Shape 15"/>
          <p:cNvSpPr/>
          <p:nvPr/>
        </p:nvSpPr>
        <p:spPr>
          <a:xfrm>
            <a:off x="2852928" y="4187952"/>
            <a:ext cx="512064" cy="0"/>
          </a:xfrm>
          <a:prstGeom prst="line">
            <a:avLst/>
          </a:prstGeom>
          <a:noFill/>
          <a:ln w="31750">
            <a:solidFill>
              <a:srgbClr val="1F4E79"/>
            </a:solidFill>
            <a:prstDash val="solid"/>
            <a:tailEnd type="triangle"/>
          </a:ln>
        </p:spPr>
      </p:sp>
      <p:sp>
        <p:nvSpPr>
          <p:cNvPr id="18" name="Shape 16"/>
          <p:cNvSpPr/>
          <p:nvPr/>
        </p:nvSpPr>
        <p:spPr>
          <a:xfrm>
            <a:off x="5779008" y="4187952"/>
            <a:ext cx="512064" cy="0"/>
          </a:xfrm>
          <a:prstGeom prst="line">
            <a:avLst/>
          </a:prstGeom>
          <a:noFill/>
          <a:ln w="31750">
            <a:solidFill>
              <a:srgbClr val="1F4E79"/>
            </a:solidFill>
            <a:prstDash val="solid"/>
            <a:tailEnd type="triangle"/>
          </a:ln>
        </p:spPr>
      </p:sp>
      <p:sp>
        <p:nvSpPr>
          <p:cNvPr id="1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Resumen firmado, sec. 4.6 a 4.8 (metadatos, lotes, integridad); documento de tesis, 04_arquitectura.tex.</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79</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79</Slides>
  <Notes>79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79</vt:i4>
      </vt:variant>
    </vt:vector>
  </HeadingPairs>
  <TitlesOfParts>
    <vt:vector size="8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Primera presentación de tesis</dc:title>
  <dc:subject>PptxGenJS Presentation</dc:subject>
  <dc:creator>Elías David Álvarez Martínez</dc:creator>
  <cp:lastModifiedBy>Elías David Álvarez Martínez</cp:lastModifiedBy>
  <cp:revision>1</cp:revision>
  <dcterms:created xsi:type="dcterms:W3CDTF">2026-10-13T06:19:48Z</dcterms:created>
  <dcterms:modified xsi:type="dcterms:W3CDTF">2026-10-13T06:19:48Z</dcterms:modified>
</cp:coreProperties>
</file>