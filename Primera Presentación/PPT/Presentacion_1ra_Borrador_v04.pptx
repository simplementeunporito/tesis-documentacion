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5-2.svg" ContentType="image/svg+xml"/>
  <Override PartName="/ppt/media/image-17-2.svg" ContentType="image/svg+xml"/>
  <Override PartName="/ppt/media/image-23-2.svg" ContentType="image/svg+xml"/>
  <Override PartName="/ppt/media/image-27-2.svg" ContentType="image/svg+xml"/>
  <Override PartName="/ppt/media/image-27-4.svg" ContentType="image/svg+xml"/>
  <Override PartName="/ppt/media/image-27-6.svg" ContentType="image/svg+xml"/>
  <Override PartName="/ppt/media/image-28-2.svg" ContentType="image/svg+xml"/>
  <Override PartName="/ppt/media/image-30-2.svg" ContentType="image/svg+xml"/>
  <Override PartName="/ppt/media/image-30-4.svg" ContentType="image/svg+xml"/>
  <Override PartName="/ppt/media/image-31-2.svg" ContentType="image/svg+xml"/>
  <Override PartName="/ppt/media/image-32-2.svg" ContentType="image/svg+xml"/>
  <Override PartName="/ppt/media/image-38-2.svg" ContentType="image/svg+xml"/>
  <Override PartName="/ppt/media/image-38-4.svg" ContentType="image/svg+xml"/>
  <Override PartName="/ppt/media/image-38-6.svg" ContentType="image/svg+xml"/>
  <Override PartName="/ppt/media/image-42-2.svg" ContentType="image/svg+xml"/>
  <Override PartName="/ppt/media/image-51-2.svg" ContentType="image/svg+xml"/>
  <Override PartName="/ppt/media/image-51-4.svg" ContentType="image/svg+xml"/>
  <Override PartName="/ppt/media/image-52-2.svg" ContentType="image/svg+xml"/>
  <Override PartName="/ppt/media/image-52-4.svg" ContentType="image/svg+xml"/>
  <Override PartName="/ppt/media/image-52-6.svg" ContentType="image/svg+xml"/>
  <Override PartName="/ppt/media/image-52-8.svg" ContentType="image/svg+xml"/>
  <Override PartName="/ppt/media/image-53-2.svg" ContentType="image/svg+xml"/>
  <Override PartName="/ppt/media/image-54-2.svg" ContentType="image/svg+xml"/>
  <Override PartName="/ppt/media/image-57-2.svg" ContentType="image/svg+xml"/>
  <Override PartName="/ppt/media/image-57-4.svg" ContentType="image/svg+xml"/>
  <Override PartName="/ppt/media/image-57-6.svg" ContentType="image/svg+xml"/>
  <Override PartName="/ppt/media/image-59-2.svg" ContentType="image/svg+xml"/>
  <Override PartName="/ppt/media/image-59-4.svg" ContentType="image/svg+xml"/>
  <Override PartName="/ppt/media/image-61-2.svg" ContentType="image/svg+xml"/>
  <Override PartName="/ppt/media/image-61-4.svg" ContentType="image/svg+xml"/>
  <Override PartName="/ppt/media/image-61-6.svg" ContentType="image/svg+xml"/>
  <Override PartName="/ppt/media/image-61-8.svg" ContentType="image/svg+xml"/>
  <Override PartName="/ppt/media/image-62-2.svg" ContentType="image/svg+xml"/>
  <Override PartName="/ppt/media/image-65-2.svg" ContentType="image/svg+xml"/>
  <Override PartName="/ppt/media/image-65-4.svg" ContentType="image/svg+xml"/>
  <Override PartName="/ppt/media/image-68-2.svg" ContentType="image/svg+xml"/>
  <Override PartName="/ppt/media/image-69-2.svg" ContentType="image/svg+xml"/>
  <Override PartName="/ppt/media/image-69-4.svg" ContentType="image/svg+xml"/>
  <Override PartName="/ppt/media/image-7-2.svg" ContentType="image/svg+xml"/>
  <Override PartName="/ppt/media/image-7-4.svg" ContentType="image/svg+xml"/>
  <Override PartName="/ppt/media/image-72-2.svg" ContentType="image/svg+xml"/>
  <Override PartName="/ppt/media/image-72-4.svg" ContentType="image/svg+xml"/>
  <Override PartName="/ppt/media/image-73-2.svg" ContentType="image/svg+xml"/>
  <Override PartName="/ppt/media/image-75-2.svg" ContentType="image/svg+xml"/>
  <Override PartName="/ppt/media/image-8-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muy breve. Presentar el título, el carácter de primera presentación y el objetivo general: construir una plataforma electrónica para adquirir señales sísmicas orientadas a caracterización geotécnica mediante MASW. No explicar todavía 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Empezar por la utilidad, no por MASW. Dar ejemplos: fundaciones, rutas, control de rellenos, asentamientos, daños. La idea es que conocer el subsuelo sirve en varias etapas de la vida de una 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esta slide como mapa del estado del arte. Aclaración importante: “refracción superficial” no significa onda superficial; la sísmica de refracción clásica trabaja principalmente con ondas de cuerpo y la palabra superficial describe la geometría near-surface. Downhole/crosshole sí requieren pozos.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muy simple qué mide cada método. No presentarlos como “malos”: son referencia y contraste. La limitación que nos interesa es logística, costo por cobertura, intervención física y dificultad para repetir extensivamente.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con V_s: estos métodos permiten medirla directamente y son excelentes para validar. Pero exigen perforaciones. Dejar abierta la pregunta: ¿podemos obtener información de V_s sin perforar?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limitar la excitación a martillo. Mencionar que pueden emplearse impactos, vibradores o ruido ambiental según el método. La idea común es observar cómo reacciona el medio.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derivar toda la elastodinámica. Explicar P = compresión/dilatación; S = corte. Presentar velocidades y parámetros. Esto prepara la relación entre V_s y rigidez.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una slide clave. Hacer la deducción explícita: de V_s a Gmax. Aclarar small-strain. Esta relación es la razón física de interés en ondas S y en métodos que permiten inferir V_s.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Sí, mencionar Snell. No detenerse en algebra. La intención es que la superficie libre aparezca como una frontera especial que conduce a ondas superficiales.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Corregir el número: usar ~67%, no 90%. Es un resultado clásico para fuente vertical superficial y semiespacio homogéneo ideal. Esto no es una ley universal de cualquier fuente/suelo, pero sí justifica por qué Rayleigh suele dominar registros superficiales activos.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decir que Love “se atenúa rápido” como regla general. El argumento para nuestro proyecto es de polarización/fuente/sensor: la cadena prevista es vertical y favorece Rayleigh.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por qué esta familia encaja con nuestro hardware: movimiento vertical, fuente vertical sencilla y relación con V_s.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puente. Aquí cerrar la elección de Rayleigh sin entrar todavía en MASW.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modelo sirve como control mental: si el material no cambia con profundidad, no hay dispersión por estratificación.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derivar la ecuación. Usarla para reforzar que c_R y V_s están vinculadas. Luego cambiar el modelo: agregar capas.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visualmente que ahora cada longitud de onda “combina” distintas capas. Esto prepara la sensibilidad con profundidad.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frecuencias bajas suelen involucrar volúmenes más profundos por su mayor longitud de onda, pero evitar la simplificación frecuencia=profundidad.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definición central que nos lleva a SASW/MASW.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diferencia entre joint inversion directa y uso como priors/contraste. H/V y refracción pueden entrar de manera conjunta; SPT/CPT suelen enriquecer como información previa/correlación/validación.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entrar todavía en todas las fórmulas de fase; esas van a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justificar MASW frente a SASW: múltiples posiciones conservan la geometría del campo de ondas y dan redundancia espacial.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Importante: esto NO sustituye completamente MASW convencional simultáneo. Es estrategia de evaluación del prototipo y reduce el costo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payoff conceptual del bloque geofísico. Desde acá la pregunta se transforma en instrumentación.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hablar todavía de detalles de red; solo convertir necesidades físicas en requisitos.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Seguir el orden acordado: arquitectura general → GEO completo → MASTER → HAMMER. No hablar aún de store-and-forward.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sensor como restricción de diseño, no como decisión ideal. El proyecto busca explotar hardware disponible y extender su banda de forma controlada.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origen mecánico y eléctrico de la transferencia. Las derivaciones detalladas quedan en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decir que “el geófono satura”: el elemento que puede saturar es la cadena AFE/ADC. El cálculo de -40 dB es aproximado para r=0,1, lejos de resonancia.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presentar como ranking. Mostrar que cada enfoque resuelve el mismo problema con compromisos distintos. Las siguientes tres slides profundizan inversión, force balance y 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Aclarar: no decimos que no funcione; sí funciona y puede extender la banda. El problema es el costo en ruido, offset, saturación y sensibilidad al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Mencionar el paper 2020 como ejemplo fuerte. La realimentación de fuerza puede ser excelente, pero para una red de nodos baratos/replicables la complejidad del lazo y su validación es mayor.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conecta el estado del arte con nuestra implementación. Aclarar que Ma no elimina el problema de DC: al recuperar amplitud con ganancia, los offsets del AFE se amplifican. Eso motiva la calibración DA-AFE.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 señal de izquierda a derecha. No explicar aún el algoritmo de VDAC; solo señalar que están disponibles para recentrar las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no nos quedamos en simulación: caracterizamos magnitud y fase. La figura del documento es densa; en versión final conviene redibujarla para proyección.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es importante en una primera presentación: marcar claramente el límite de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directamente con la slide de Ma: ganancia alta mejora la banda útil pero hace intolerable el offset de etapas configurables.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esto como filosofía de diseño, no solo como “un PI”. La señal durante la medida sigue una cadena analógica convencional; el digital ayuda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explicar la lógica, no cada constante. La secuencialidad importa porque cada etapa hereda el residual de las anteriores. Parámetros completos en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un resultado fuerte y concreto. Evitar llenar con la tabla completa; dejarla en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sí explicar que la adquisición es local y determinista. Esto prepara la coordinación por MASTER.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sección correcta para hablar de store-and-forward. Distinguir coordinación de adquisición.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vender 200–400 µs como sincronización final: solo dispersión de flancos GPIO/ESP32. El ADC y la deriva aún deben medirse directamente.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justifica HAMMER desde la adquisición secuencial: si cada traza proviene de otro golpe, no podemos asumir que la fuente fue idéntica.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operación real del sistema, no solo bloques electrónicos. La UI permite decidir en campo si repetir.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interfaz de análisis estaba faltando en borradores previos. Esta slide termina el pipeline de adquisición antes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resultado es deliberadamente incómodo y útil: muestra dónde está el cuello de botella actual, pero no permite culpar al AFE ni al geófono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una pausa acá. Explicar: capturas aceptadas → alineadas con HAMMER → frecuencia común → promediadas → ordenadas por distancia. La normalización de cada traza es solo para visualización; no comparar amplitudes absolutas en esta figura.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primera presentación, este cierre es importante: mostrar que hay avance sustancial y un plan claro para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un roadmap concreto. La tesis final no termina en “medimos vibraciones”; debe cerrar el ciclo hasta V_s(z).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Final. Después de esta slide vienen las auxiliares para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solo si preguntan de dónde salen P y S o por qué aparecen dos velocidades.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rápida a preguntas sobre λ, μ, ν o la relación entre V_p y V_s.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image" Target="../media/image-38-5.png"/><Relationship Id="rId6" Type="http://schemas.openxmlformats.org/officeDocument/2006/relationships/image" Target="../media/image-3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4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2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svg"/><Relationship Id="rId3" Type="http://schemas.openxmlformats.org/officeDocument/2006/relationships/image" Target="../media/image-51-3.png"/><Relationship Id="rId4" Type="http://schemas.openxmlformats.org/officeDocument/2006/relationships/image" Target="../media/image-5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svg"/><Relationship Id="rId3" Type="http://schemas.openxmlformats.org/officeDocument/2006/relationships/image" Target="../media/image-52-3.png"/><Relationship Id="rId4" Type="http://schemas.openxmlformats.org/officeDocument/2006/relationships/image" Target="../media/image-52-4.svg"/><Relationship Id="rId5" Type="http://schemas.openxmlformats.org/officeDocument/2006/relationships/image" Target="../media/image-52-5.png"/><Relationship Id="rId6" Type="http://schemas.openxmlformats.org/officeDocument/2006/relationships/image" Target="../media/image-52-6.svg"/><Relationship Id="rId7" Type="http://schemas.openxmlformats.org/officeDocument/2006/relationships/image" Target="../media/image-52-7.png"/><Relationship Id="rId8" Type="http://schemas.openxmlformats.org/officeDocument/2006/relationships/image" Target="../media/image-5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svg"/><Relationship Id="rId3" Type="http://schemas.openxmlformats.org/officeDocument/2006/relationships/image" Target="../media/image-57-3.png"/><Relationship Id="rId4" Type="http://schemas.openxmlformats.org/officeDocument/2006/relationships/image" Target="../media/image-57-4.svg"/><Relationship Id="rId5" Type="http://schemas.openxmlformats.org/officeDocument/2006/relationships/image" Target="../media/image-57-5.png"/><Relationship Id="rId6" Type="http://schemas.openxmlformats.org/officeDocument/2006/relationships/image" Target="../media/image-5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svg"/><Relationship Id="rId3" Type="http://schemas.openxmlformats.org/officeDocument/2006/relationships/image" Target="../media/image-59-3.png"/><Relationship Id="rId4" Type="http://schemas.openxmlformats.org/officeDocument/2006/relationships/image" Target="../media/image-5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svg"/><Relationship Id="rId3" Type="http://schemas.openxmlformats.org/officeDocument/2006/relationships/image" Target="../media/image-61-3.png"/><Relationship Id="rId4" Type="http://schemas.openxmlformats.org/officeDocument/2006/relationships/image" Target="../media/image-61-4.svg"/><Relationship Id="rId5" Type="http://schemas.openxmlformats.org/officeDocument/2006/relationships/image" Target="../media/image-61-5.png"/><Relationship Id="rId6" Type="http://schemas.openxmlformats.org/officeDocument/2006/relationships/image" Target="../media/image-61-6.svg"/><Relationship Id="rId7" Type="http://schemas.openxmlformats.org/officeDocument/2006/relationships/image" Target="../media/image-61-7.png"/><Relationship Id="rId8" Type="http://schemas.openxmlformats.org/officeDocument/2006/relationships/image" Target="../media/image-6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svg"/><Relationship Id="rId3" Type="http://schemas.openxmlformats.org/officeDocument/2006/relationships/image" Target="../media/image-65-3.png"/><Relationship Id="rId4" Type="http://schemas.openxmlformats.org/officeDocument/2006/relationships/image" Target="../media/image-6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svg"/><Relationship Id="rId3" Type="http://schemas.openxmlformats.org/officeDocument/2006/relationships/image" Target="../media/image-69-3.png"/><Relationship Id="rId4" Type="http://schemas.openxmlformats.org/officeDocument/2006/relationships/image" Target="../media/image-6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svg"/><Relationship Id="rId3" Type="http://schemas.openxmlformats.org/officeDocument/2006/relationships/image" Target="../media/image-72-3.png"/><Relationship Id="rId4" Type="http://schemas.openxmlformats.org/officeDocument/2006/relationships/image" Target="../media/image-7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73152" cy="68580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5156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e implementación de un sistema electrónico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multicanal del tipo IoT para caracterización geotécnica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suelo mediante ondas sísmicas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49808" y="3246120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4CED8"/>
                </a:solidFill>
              </a:rPr>
              <a:t>Proyecto Final de Carrera · Primera presentación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9776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Elías David Álvarez Martínez  ·  Ingeniería Electrónica  ·  Y24127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4361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AC5"/>
                </a:solidFill>
              </a:rPr>
              <a:t>Tutor: Enrique A. Vargas Cabral, Ph.D.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58200" y="374904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0" y="432054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FOTO DE CAMPO 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95360" y="46131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reemplazar con imagen propia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61722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96A3"/>
                </a:solidFill>
              </a:rPr>
              <a:t>Septiembre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Motivación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¿Para qué necesitamos caracterizar el suelo?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12648" y="941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terreno condiciona el diseño, la ejecución y el seguimiento de una obra.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94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FUNDACIÓN 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capas + zapata / pilotes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194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PATOLOGÍA 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4871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grietas / asentamientos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RUTA 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4871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pavimento / rellenos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06840" y="14630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0" y="2194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TALUD / OBRA 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0" y="24871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estabilidad / mantenimiento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3886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886200"/>
            <a:ext cx="64008" cy="14173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4050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construir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6968" y="4453128"/>
            <a:ext cx="309981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materiales y estimar parámetros para dimensionar correctamente.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89120" y="3886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9120" y="3886200"/>
            <a:ext cx="64008" cy="14173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0288" y="4050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Durante la ejecución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0288" y="4453128"/>
            <a:ext cx="309981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Controlar uniformidad de rellenos, capas compactadas y cambios de condición.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92440" y="3886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92440" y="3886200"/>
            <a:ext cx="64008" cy="14173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93608" y="405079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Después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93608" y="4453128"/>
            <a:ext cx="309981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Investigar daños, cambios o sectores que requieren mantenimiento.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Samtani &amp; Nowatzki (2006); Park et al. (2018).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000">
                <a:solidFill>
                  <a:srgbClr val="5A6978"/>
                </a:solidFill>
              </a:rPr>
              <a:t>Motivación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sz="2700">
                <a:solidFill>
                  <a:srgbClr val="1A2B4A"/>
                </a:solidFill>
              </a:rPr>
              <a:t>Métodos invasivos: medición directa del terreno</a:t>
            </a:r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A6978"/>
                </a:solidFill>
              </a:rPr>
              <a:t>SPT, CPT y CPTu entregan información muy valiosa, pero requieren intervención física y cobertura localizada.</a:t>
            </a:r>
          </a:p>
        </p:txBody>
      </p:sp>
      <p:pic>
        <p:nvPicPr>
          <p:cNvPr id="8" name="Picture 7" descr="methods_di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914400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4983480"/>
            <a:ext cx="3154680" cy="91440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Qué miden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Resistencia a la penetración, estratigrafía local y, en SPT, recuperación de muestra.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983480"/>
            <a:ext cx="73152" cy="914400"/>
          </a:xfrm>
          <a:prstGeom prst="rect">
            <a:avLst/>
          </a:prstGeom>
          <a:solidFill>
            <a:srgbClr val="1D82A6"/>
          </a:solidFill>
          <a:ln>
            <a:solidFill>
              <a:srgbClr val="1D8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69080" y="4983480"/>
            <a:ext cx="3154680" cy="91440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Ventaja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Son referencia clásica y muy útiles para diseño geotécnico y correlaciones.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4983480"/>
            <a:ext cx="73152" cy="914400"/>
          </a:xfrm>
          <a:prstGeom prst="rect">
            <a:avLst/>
          </a:prstGeom>
          <a:solidFill>
            <a:srgbClr val="3D8461"/>
          </a:solidFill>
          <a:ln>
            <a:solidFill>
              <a:srgbClr val="3D8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4983480"/>
            <a:ext cx="2971800" cy="91440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Limitación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Costo, tiempo y cobertura puntual dificultan repetirlos sobre grandes longitudes.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4983480"/>
            <a:ext cx="73152" cy="914400"/>
          </a:xfrm>
          <a:prstGeom prst="rect">
            <a:avLst/>
          </a:prstGeom>
          <a:solidFill>
            <a:srgbClr val="C46C39"/>
          </a:solidFill>
          <a:ln>
            <a:solidFill>
              <a:srgbClr val="C46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000">
                <a:solidFill>
                  <a:srgbClr val="5A6978"/>
                </a:solidFill>
              </a:rPr>
              <a:t>Motivación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sz="2700">
                <a:solidFill>
                  <a:srgbClr val="1A2B4A"/>
                </a:solidFill>
              </a:rPr>
              <a:t>Métodos invasivos: medición de ondas dentro del terreno</a:t>
            </a:r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A6978"/>
                </a:solidFill>
              </a:rPr>
              <a:t>Downhole y crosshole permiten estimar velocidades dinámicas de forma más directa, incluida Vₛ.</a:t>
            </a:r>
          </a:p>
        </p:txBody>
      </p:sp>
      <p:pic>
        <p:nvPicPr>
          <p:cNvPr id="8" name="Picture 7" descr="methods_inh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914400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5010912"/>
            <a:ext cx="3017520" cy="86868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Ventaja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Estimación directa de tiempos de viaje y buena base para Vₛ.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010912"/>
            <a:ext cx="73152" cy="868680"/>
          </a:xfrm>
          <a:prstGeom prst="rect">
            <a:avLst/>
          </a:prstGeom>
          <a:solidFill>
            <a:srgbClr val="3D8461"/>
          </a:solidFill>
          <a:ln>
            <a:solidFill>
              <a:srgbClr val="3D8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69080" y="5010912"/>
            <a:ext cx="3017520" cy="86868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Costo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Requieren uno o varios pozos y una geometría bien conocida.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5010912"/>
            <a:ext cx="73152" cy="868680"/>
          </a:xfrm>
          <a:prstGeom prst="rect">
            <a:avLst/>
          </a:prstGeom>
          <a:solidFill>
            <a:srgbClr val="C46C39"/>
          </a:solidFill>
          <a:ln>
            <a:solidFill>
              <a:srgbClr val="C46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5010912"/>
            <a:ext cx="2926080" cy="86868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Conclusión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Son excelentes, pero su logística los vuelve menos prácticos para levantamientos extensos.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5010912"/>
            <a:ext cx="73152" cy="868680"/>
          </a:xfrm>
          <a:prstGeom prst="rect">
            <a:avLst/>
          </a:prstGeom>
          <a:solidFill>
            <a:srgbClr val="1D82A6"/>
          </a:solidFill>
          <a:ln>
            <a:solidFill>
              <a:srgbClr val="1D8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000">
                <a:solidFill>
                  <a:srgbClr val="5A6978"/>
                </a:solidFill>
              </a:rPr>
              <a:t>Motivación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sz="2700">
                <a:solidFill>
                  <a:srgbClr val="1A2B4A"/>
                </a:solidFill>
              </a:rPr>
              <a:t>Métodos no invasivos: ondas de cuerpo desde superficie</a:t>
            </a:r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A6978"/>
                </a:solidFill>
              </a:rPr>
              <a:t>Desde superficie también podemos excitar el medio y observar P/S mediante refracción o reflexión.</a:t>
            </a:r>
          </a:p>
        </p:txBody>
      </p:sp>
      <p:pic>
        <p:nvPicPr>
          <p:cNvPr id="8" name="Picture 7" descr="methods_surface_bo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914400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5010912"/>
            <a:ext cx="2971800" cy="86868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A favor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No requieren penetrar el terreno y permiten perfiles a lo largo de una traza.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010912"/>
            <a:ext cx="73152" cy="868680"/>
          </a:xfrm>
          <a:prstGeom prst="rect">
            <a:avLst/>
          </a:prstGeom>
          <a:solidFill>
            <a:srgbClr val="3D8461"/>
          </a:solidFill>
          <a:ln>
            <a:solidFill>
              <a:srgbClr val="3D8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23360" y="5010912"/>
            <a:ext cx="2971800" cy="86868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Pero…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Para estimar Vₛ directamente suelen exigir configuraciones más específicas o información complementaria.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5010912"/>
            <a:ext cx="73152" cy="868680"/>
          </a:xfrm>
          <a:prstGeom prst="rect">
            <a:avLst/>
          </a:prstGeom>
          <a:solidFill>
            <a:srgbClr val="C46C39"/>
          </a:solidFill>
          <a:ln>
            <a:solidFill>
              <a:srgbClr val="C46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23760" y="5010912"/>
            <a:ext cx="3063240" cy="86868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Siguiente paso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Entonces miramos ondas superficiales: están en superficie, son energéticas y sensibles al subsuelo.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5010912"/>
            <a:ext cx="73152" cy="868680"/>
          </a:xfrm>
          <a:prstGeom prst="rect">
            <a:avLst/>
          </a:prstGeom>
          <a:solidFill>
            <a:srgbClr val="1D82A6"/>
          </a:solidFill>
          <a:ln>
            <a:solidFill>
              <a:srgbClr val="1D8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000">
                <a:solidFill>
                  <a:srgbClr val="5A6978"/>
                </a:solidFill>
              </a:rPr>
              <a:t>Motivación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sz="2700">
                <a:solidFill>
                  <a:srgbClr val="1A2B4A"/>
                </a:solidFill>
              </a:rPr>
              <a:t>Métodos no invasivos: ondas superficiales</a:t>
            </a:r>
            <a:endParaRPr lang="en-US" sz="2600"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A6978"/>
                </a:solidFill>
              </a:rPr>
              <a:t>Love / Rayleigh / MASW. Si medimos su dispersión, inferimos cómo cambian las propiedades mecánicas con la profundidad.</a:t>
            </a:r>
          </a:p>
        </p:txBody>
      </p:sp>
      <p:pic>
        <p:nvPicPr>
          <p:cNvPr id="8" name="Picture 7" descr="methods_surface_wa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914400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4983480"/>
            <a:ext cx="2880360" cy="91440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Love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Muy útiles, pero para medición activa con fuente vertical no son la opción más natural.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983480"/>
            <a:ext cx="73152" cy="914400"/>
          </a:xfrm>
          <a:prstGeom prst="rect">
            <a:avLst/>
          </a:prstGeom>
          <a:solidFill>
            <a:srgbClr val="C46C39"/>
          </a:solidFill>
          <a:ln>
            <a:solidFill>
              <a:srgbClr val="C46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86200" y="4983480"/>
            <a:ext cx="2880360" cy="91440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Rayleigh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Dominan la respuesta superficial, tienen componente vertical y se relacionan estrechamente con Vₛ.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4983480"/>
            <a:ext cx="73152" cy="914400"/>
          </a:xfrm>
          <a:prstGeom prst="rect">
            <a:avLst/>
          </a:prstGeom>
          <a:solidFill>
            <a:srgbClr val="1D82A6"/>
          </a:solidFill>
          <a:ln>
            <a:solidFill>
              <a:srgbClr val="1D8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0" y="4983480"/>
            <a:ext cx="3246120" cy="914400"/>
          </a:xfrm>
          <a:prstGeom prst="roundRect">
            <a:avLst/>
          </a:prstGeom>
          <a:solidFill>
            <a:srgbClr val="F8F9FB"/>
          </a:solidFill>
          <a:ln>
            <a:solidFill>
              <a:srgbClr val="BE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01600" tIns="101600"/>
          <a:lstStyle/>
          <a:p>
            <a:pPr algn="ctr"/>
            <a:r>
              <a:rPr b="1" sz="1800">
                <a:solidFill>
                  <a:srgbClr val="1A2B4A"/>
                </a:solidFill>
              </a:rPr>
              <a:t>Por eso llegamos a MASW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A6978"/>
                </a:solidFill>
              </a:rPr>
              <a:t>MASW explota la dispersión de Rayleigh de forma práctica, no invasiva y multicanal.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4983480"/>
            <a:ext cx="73152" cy="914400"/>
          </a:xfrm>
          <a:prstGeom prst="rect">
            <a:avLst/>
          </a:prstGeom>
          <a:solidFill>
            <a:srgbClr val="3D8461"/>
          </a:solidFill>
          <a:ln>
            <a:solidFill>
              <a:srgbClr val="3D8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mínimo: un medio elástico admite ondas P y 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ANIMACIÓN ONDA P 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624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movimiento paralelo a propagación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06440" y="132588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23317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ANIMACIÓN ONDA S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0" y="2624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movimiento transversal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5880" y="4069080"/>
            <a:ext cx="2743200" cy="68580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9400" y="4069080"/>
            <a:ext cx="237744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80360" y="51663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978"/>
                </a:solidFill>
              </a:rPr>
              <a:t>ρ: inercia del medio    ·    λ, μ: constantes elásticas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Kramer (1996); Foti et al. (2014).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Vₛ nos interesa porque está directamente ligada a la rigidez</a:t>
            </a:r>
            <a:endParaRPr lang="en-US" sz="2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508760"/>
            <a:ext cx="10332720" cy="1051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43000" y="2926080"/>
            <a:ext cx="44348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143000" y="2926080"/>
            <a:ext cx="64008" cy="15087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44168" y="3090672"/>
            <a:ext cx="4105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obtenemos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44168" y="3493008"/>
            <a:ext cx="4105656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estimación de la rigidez elástica inicial del terreno a pequeñas deformaciones.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83680" y="2926080"/>
            <a:ext cx="44348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83680" y="2926080"/>
            <a:ext cx="64008" cy="150876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84848" y="3090672"/>
            <a:ext cx="4105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significa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784848" y="3493008"/>
            <a:ext cx="4105656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describe directamente la respuesta del suelo a grandes deformaciones.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80160" y="51206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2238"/>
                </a:solidFill>
              </a:rPr>
              <a:t>Entonces: medir Vₛ es una vía directa hacia una propiedad geotécnica de interés.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Kramer (1996); Foti et al. (2014).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interfaces cambian la propagación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280160"/>
            <a:ext cx="6492240" cy="4114800"/>
          </a:xfrm>
          <a:prstGeom prst="roundRect">
            <a:avLst>
              <a:gd name="adj" fmla="val 1778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5468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DIAGRAMA P–SV EN INTERFAZ 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4472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incidente · reflejada · transmitida · conversión modal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35240" y="150876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635240" y="1508760"/>
            <a:ext cx="64008" cy="11430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16733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Ley de Snell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36408" y="2075688"/>
            <a:ext cx="328269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direcciones de propagación dependen de las velocidades en ambos medios.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7635240" y="288036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35240" y="2880360"/>
            <a:ext cx="64008" cy="11430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36408" y="30449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Conversión de modos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836408" y="3447288"/>
            <a:ext cx="328269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↔ SV en incidencia oblicua; SH permanece desacoplada en el caso plano isótropo.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7635240" y="425196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35240" y="4251960"/>
            <a:ext cx="64008" cy="11430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36408" y="4416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Superficie libre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836408" y="4818888"/>
            <a:ext cx="328269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condición de tensión nula da origen a modos ligados a la superficie.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(2014); Sun (2003).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mirar ondas superficiales? Porque dominan una fuente vertical de superficie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12648" y="941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clásico para una carga vertical sobre un semiespacio homogéneo, isótropo y elástico.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7A9E"/>
                </a:solidFill>
              </a:rPr>
              <a:t>≈ 67%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14400" y="2487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</a:rPr>
              <a:t>Rayleigh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063240" y="1965960"/>
            <a:ext cx="5760720" cy="65836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3240" y="2971800"/>
            <a:ext cx="2240280" cy="65836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3977640"/>
            <a:ext cx="603504" cy="658368"/>
          </a:xfrm>
          <a:prstGeom prst="rect">
            <a:avLst/>
          </a:prstGeom>
          <a:solidFill>
            <a:srgbClr val="D89B45"/>
          </a:solidFill>
          <a:ln w="12700">
            <a:solidFill>
              <a:srgbClr val="D89B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3099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683C"/>
                </a:solidFill>
              </a:rPr>
              <a:t>26%  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41056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9B45"/>
                </a:solidFill>
              </a:rPr>
              <a:t>7%  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98280" y="1874520"/>
            <a:ext cx="2103120" cy="30175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098280" y="1874520"/>
            <a:ext cx="64008" cy="30175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039112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Consecuencia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2441448"/>
            <a:ext cx="1773936" cy="2304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alta energía observable en superficie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menor decaimiento geométrico ideal que ondas de cuerpo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buena relación señal–ruido potencial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Miller &amp; Pursey (1955), citado por Foti (2014) y literatura MASW. Nota: ~67%, no 90%, para esta fuente/modelo ideal.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Ondas Love: movimiento de corte horizontal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675120" y="1508760"/>
            <a:ext cx="4480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1508760"/>
            <a:ext cx="64008" cy="12801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76288" y="167335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las caracteriza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76288" y="2075688"/>
            <a:ext cx="415137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Movimiento puramente horizontal y transversal a la dirección de propagación.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063240"/>
            <a:ext cx="4480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75120" y="3063240"/>
            <a:ext cx="64008" cy="128016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76288" y="322783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medición activa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76288" y="3630168"/>
            <a:ext cx="415137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Requieren generar y medir adecuadamente energía SH; una fuente vertical no es la configuración más natural.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4617720"/>
            <a:ext cx="44805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75120" y="4617720"/>
            <a:ext cx="64008" cy="11430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76288" y="478231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las descartamos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76288" y="5184648"/>
            <a:ext cx="415137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muy útiles en otros diseños y pueden aportar información complementaria.</a:t>
            </a:r>
            <a:endParaRPr lang="en-US" sz="1250" dirty="0"/>
          </a:p>
        </p:txBody>
      </p:sp>
      <p:pic>
        <p:nvPicPr>
          <p:cNvPr id="22" name="Picture 21" descr="lov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47548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Ondas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Ondas Rayleigh: acoplamiento P–SV con movimiento vertical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675120" y="1554480"/>
            <a:ext cx="4480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155448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76288" y="171907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 vertical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76288" y="2121408"/>
            <a:ext cx="415137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excitarse con una perturbación normal a la superficie y medirse con un geófono vertical.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063240"/>
            <a:ext cx="4480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75120" y="306324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76288" y="322783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 con Vₛ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76288" y="3630168"/>
            <a:ext cx="415137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 semiespacio homogéneo, la velocidad Rayleigh es ligeramente inferior a Vₛ.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4480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75120" y="457200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76288" y="473659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 espacial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76288" y="5138928"/>
            <a:ext cx="415137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decaimiento geométrico ideal es menor que el de ondas de cuerpo.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(2014, 2018).</a:t>
            </a:r>
            <a:endParaRPr lang="en-US" sz="750" dirty="0"/>
          </a:p>
        </p:txBody>
      </p:sp>
      <p:pic>
        <p:nvPicPr>
          <p:cNvPr id="23" name="Picture 22" descr="rayleigh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8006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Rayleigh encaja con el problema que queremos resolver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6459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DF7F3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187452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9683C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Generar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978"/>
                </a:solidFill>
              </a:rPr>
              <a:t>impacto o fuente vertical superficial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16459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1F8FA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187452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7A9E"/>
                </a:solidFill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79476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Medir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9476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978"/>
                </a:solidFill>
              </a:rPr>
              <a:t>geófono vertical de bajo costo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46520" y="16459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DF7F3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0" y="187452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9683C"/>
                </a:solidFill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2940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Interpretar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940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978"/>
                </a:solidFill>
              </a:rPr>
              <a:t>c_R está ligada a Vₛ y a la estratificación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281160" y="16459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1F8FA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66960" y="187452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7A9E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46404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Escalar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6404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978"/>
                </a:solidFill>
              </a:rPr>
              <a:t>múltiples posiciones desde la superficie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88720" y="470916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2238"/>
                </a:solidFill>
              </a:rPr>
              <a:t>El siguiente paso es entender qué nos dice la velocidad Rayleigh sobre un suelo estratificado.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Primero: imaginemos un suelo homogéneo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(2014, 2018).</a:t>
            </a:r>
            <a:endParaRPr lang="en-US" sz="750" dirty="0"/>
          </a:p>
        </p:txBody>
      </p:sp>
      <p:pic>
        <p:nvPicPr>
          <p:cNvPr id="14" name="Picture 13" descr="homogeneous_semi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9326880" cy="256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457200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800">
                <a:solidFill>
                  <a:srgbClr val="1A2B4A"/>
                </a:solidFill>
              </a:rPr>
              <a:t>En un semiespacio homogéneo: cᵣ no depende de la frecuencia.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ese caso, cᵣ está estrechamente relacionada con Vₛ</a:t>
            </a:r>
            <a:endParaRPr lang="en-US" sz="2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11680" y="1508760"/>
            <a:ext cx="393192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5146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978"/>
                </a:solidFill>
              </a:rPr>
              <a:t>aproximación habitual para un semiespacio elástico homogéneo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417320"/>
            <a:ext cx="4480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1417320"/>
            <a:ext cx="64008" cy="15087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84848" y="158191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Interpretación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784848" y="1984248"/>
            <a:ext cx="4151376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valores habituales de ν, cᵣ es algo menor que Vₛ; por eso Rayleigh conserva una conexión directa con la rigidez.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420624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683C"/>
                </a:solidFill>
              </a:rPr>
              <a:t>Pero el suelo real no es homogéneo.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Ahora agregamos estratificación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60120" y="1554480"/>
            <a:ext cx="6766560" cy="1051560"/>
          </a:xfrm>
          <a:prstGeom prst="rect">
            <a:avLst/>
          </a:prstGeom>
          <a:solidFill>
            <a:srgbClr val="E7C9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613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329"/>
                </a:solidFill>
              </a:rPr>
              <a:t>Capa 1 · Vₛ₁, ρ₁, ν₁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2606040"/>
            <a:ext cx="6766560" cy="1051560"/>
          </a:xfrm>
          <a:prstGeom prst="rect">
            <a:avLst/>
          </a:prstGeom>
          <a:solidFill>
            <a:srgbClr val="D4B4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0129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329"/>
                </a:solidFill>
              </a:rPr>
              <a:t>Capa 2 · Vₛ₂, ρ₂, ν₂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" y="3657600"/>
            <a:ext cx="6766560" cy="1051560"/>
          </a:xfrm>
          <a:prstGeom prst="rect">
            <a:avLst/>
          </a:prstGeom>
          <a:solidFill>
            <a:srgbClr val="B99A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0645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329"/>
                </a:solidFill>
              </a:rPr>
              <a:t>Capa 3 · Vₛ₃, ρ₃, ν₃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4709160"/>
            <a:ext cx="6766560" cy="868680"/>
          </a:xfrm>
          <a:prstGeom prst="rect">
            <a:avLst/>
          </a:prstGeom>
          <a:solidFill>
            <a:srgbClr val="937A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0246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329"/>
                </a:solidFill>
              </a:rPr>
              <a:t>Semiespacio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69164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1691640"/>
            <a:ext cx="64008" cy="12344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185623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capa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0768" y="2258568"/>
            <a:ext cx="25968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tener propiedades elásticas y espesor diferentes.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324612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3246120"/>
            <a:ext cx="64008" cy="12344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30768" y="34107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onda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30768" y="3813048"/>
            <a:ext cx="25968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no interactúa con un único material.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0" y="480060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0" y="4800600"/>
            <a:ext cx="64008" cy="10515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30768" y="496519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30768" y="5367528"/>
            <a:ext cx="25968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velocidad de fase puede variar con la frecuencia.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Longitud de onda y sensibilidad con profundidad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1005840" y="583387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978"/>
                </a:solidFill>
              </a:rPr>
              <a:t>No existe una correspondencia rígida “frecuencia = profundidad”: hablamos de sensibilidad distribuida.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(2014, 2018).</a:t>
            </a:r>
            <a:endParaRPr lang="en-US" sz="750" dirty="0"/>
          </a:p>
        </p:txBody>
      </p:sp>
      <p:pic>
        <p:nvPicPr>
          <p:cNvPr id="20" name="Picture 19" descr="depth_sensi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00200"/>
            <a:ext cx="9372600" cy="3246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89120" y="896112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i="1">
                <a:solidFill>
                  <a:srgbClr val="1A2B4A"/>
                </a:solidFill>
              </a:rPr>
              <a:t>λ_R(f) = c_R(f) / 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estratificación produce dispersión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7360920" y="15544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360920" y="155448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62088" y="1719072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Definición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562088" y="2121408"/>
            <a:ext cx="35570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dependencia de la velocidad de fase con la frecuencia se denomina dispersión.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360920" y="31546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360920" y="3154680"/>
            <a:ext cx="64008" cy="12801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319272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contiene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562088" y="3721608"/>
            <a:ext cx="35570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sobre cómo cambian las propiedades mecánicas con la profundidad.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360920" y="4754880"/>
            <a:ext cx="38862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360920" y="4754880"/>
            <a:ext cx="64008" cy="105156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62088" y="4919472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562088" y="5321808"/>
            <a:ext cx="355701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cᵣ(f) con suficiente calidad.</a:t>
            </a:r>
            <a:endParaRPr lang="en-US" sz="1300" dirty="0"/>
          </a:p>
        </p:txBody>
      </p:sp>
      <p:pic>
        <p:nvPicPr>
          <p:cNvPr id="41" name="Picture 40" descr="dispersion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57607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una curva de dispersión a un modelo del subsuelo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417320"/>
            <a:ext cx="64008" cy="14173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5819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 medido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1984248"/>
            <a:ext cx="241401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Curva de dispersión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cᵣ(f)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2103120"/>
            <a:ext cx="960120" cy="0"/>
          </a:xfrm>
          <a:prstGeom prst="line">
            <a:avLst/>
          </a:prstGeom>
          <a:noFill/>
          <a:ln w="2794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417320"/>
            <a:ext cx="64008" cy="14173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0328" y="15819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Inversión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10328" y="1984248"/>
            <a:ext cx="241401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Buscar hᵢ, Vₛᵢ, Vₚᵢ/νᵢ, ρᵢ compatibles con la curva.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2103120"/>
            <a:ext cx="960120" cy="0"/>
          </a:xfrm>
          <a:prstGeom prst="line">
            <a:avLst/>
          </a:prstGeom>
          <a:noFill/>
          <a:ln w="2794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68680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0" y="1417320"/>
            <a:ext cx="64008" cy="141732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87968" y="15819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87968" y="1984248"/>
            <a:ext cx="241401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Perfil Vₛ(z) + modelo estratificado.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3832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5B3B"/>
                </a:solidFill>
              </a:rPr>
              <a:t>La inversión puede ser no única.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</a:rPr>
              <a:t>Por eso conviene enriquecerla con información independiente: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389120"/>
            <a:ext cx="1005840" cy="310896"/>
          </a:xfrm>
          <a:prstGeom prst="roundRect">
            <a:avLst>
              <a:gd name="adj" fmla="val 38235"/>
            </a:avLst>
          </a:prstGeom>
          <a:solidFill>
            <a:srgbClr val="F5F1FA"/>
          </a:solidFill>
          <a:ln w="15240">
            <a:solidFill>
              <a:srgbClr val="6B5A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24712" y="4443984"/>
            <a:ext cx="859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5AA6"/>
                </a:solidFill>
              </a:rPr>
              <a:t>H/V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40280" y="4389120"/>
            <a:ext cx="1645920" cy="310896"/>
          </a:xfrm>
          <a:prstGeom prst="roundRect">
            <a:avLst>
              <a:gd name="adj" fmla="val 38235"/>
            </a:avLst>
          </a:prstGeom>
          <a:solidFill>
            <a:srgbClr val="EFF7FC"/>
          </a:solidFill>
          <a:ln w="15240">
            <a:solidFill>
              <a:srgbClr val="2878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4443984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878B5"/>
                </a:solidFill>
              </a:rPr>
              <a:t>Refracción Vₚ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069080" y="4389120"/>
            <a:ext cx="2194560" cy="310896"/>
          </a:xfrm>
          <a:prstGeom prst="roundRect">
            <a:avLst>
              <a:gd name="adj" fmla="val 38235"/>
            </a:avLst>
          </a:prstGeom>
          <a:solidFill>
            <a:srgbClr val="FCF4E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42232" y="4443984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Downhole / crosshole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92240" y="4389120"/>
            <a:ext cx="1371600" cy="310896"/>
          </a:xfrm>
          <a:prstGeom prst="roundRect">
            <a:avLst>
              <a:gd name="adj" fmla="val 38235"/>
            </a:avLst>
          </a:prstGeom>
          <a:solidFill>
            <a:srgbClr val="FCF4E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65392" y="4443984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SPT / CPT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92440" y="4389120"/>
            <a:ext cx="1645920" cy="310896"/>
          </a:xfrm>
          <a:prstGeom prst="roundRect">
            <a:avLst>
              <a:gd name="adj" fmla="val 38235"/>
            </a:avLst>
          </a:prstGeom>
          <a:solidFill>
            <a:srgbClr val="EFF8F2"/>
          </a:solidFill>
          <a:ln w="15240">
            <a:solidFill>
              <a:srgbClr val="3D7A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65592" y="4443984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D7A57"/>
                </a:solidFill>
              </a:rPr>
              <a:t>Geología previa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97280" y="525780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52238"/>
                </a:solidFill>
              </a:rPr>
              <a:t>Los métodos se complementan: no necesitamos elegir “uno contra otro”.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SASW: medir dispersión con dos receptores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683C"/>
                </a:solidFill>
              </a:rPr>
              <a:t>FUENTE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97280" y="2514600"/>
            <a:ext cx="256032" cy="256032"/>
          </a:xfrm>
          <a:prstGeom prst="ellipse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514600"/>
            <a:ext cx="256032" cy="256032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0" y="2514600"/>
            <a:ext cx="256032" cy="256032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3312" y="2642616"/>
            <a:ext cx="6647688" cy="0"/>
          </a:xfrm>
          <a:prstGeom prst="line">
            <a:avLst/>
          </a:prstGeom>
          <a:noFill/>
          <a:ln w="19050">
            <a:solidFill>
              <a:srgbClr val="8793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28803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238"/>
                </a:solidFill>
              </a:rPr>
              <a:t>R₁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0688" y="28803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238"/>
                </a:solidFill>
              </a:rPr>
              <a:t>R₂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9680" y="155448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69680" y="155448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1719072"/>
            <a:ext cx="209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Principio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70848" y="2121408"/>
            <a:ext cx="209397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 de fase según frecuencia.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69680" y="28803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869680" y="2880360"/>
            <a:ext cx="64008" cy="1097280"/>
          </a:xfrm>
          <a:prstGeom prst="rect">
            <a:avLst/>
          </a:prstGeom>
          <a:solidFill>
            <a:srgbClr val="3B8C6E"/>
          </a:solidFill>
          <a:ln w="12700">
            <a:solidFill>
              <a:srgbClr val="3B8C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70848" y="3044952"/>
            <a:ext cx="209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Ventaja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70848" y="3447288"/>
            <a:ext cx="209397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Instrumentación sencilla.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69680" y="420624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69680" y="4206240"/>
            <a:ext cx="64008" cy="141732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70848" y="4370832"/>
            <a:ext cx="2093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70848" y="4773168"/>
            <a:ext cx="209397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Ambigüedad de ciclos completos y baja redundancia espacial; se repite con separaciones distintas.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(2014).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MASW: observar la propagación en múltiples posiciones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057400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57984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70632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1216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83864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84448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97096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0328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10912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3560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24144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6792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50024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50608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63256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76488" y="1874520"/>
            <a:ext cx="201168" cy="201168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77072" y="2084832"/>
            <a:ext cx="0" cy="502920"/>
          </a:xfrm>
          <a:prstGeom prst="line">
            <a:avLst/>
          </a:prstGeom>
          <a:noFill/>
          <a:ln w="12700">
            <a:solidFill>
              <a:srgbClr val="8793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1691640"/>
            <a:ext cx="502920" cy="502920"/>
          </a:xfrm>
          <a:prstGeom prst="star5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80160" y="1947672"/>
            <a:ext cx="640080" cy="0"/>
          </a:xfrm>
          <a:prstGeom prst="line">
            <a:avLst/>
          </a:prstGeom>
          <a:noFill/>
          <a:ln w="22860">
            <a:solidFill>
              <a:srgbClr val="B9683C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4400" y="2971800"/>
            <a:ext cx="67665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43000" y="3218688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3120" y="3127248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88920" y="3218688"/>
            <a:ext cx="448056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3374136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48840" y="3282696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34640" y="3374136"/>
            <a:ext cx="4434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43000" y="3529584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94560" y="3438144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3529584"/>
            <a:ext cx="438912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43000" y="3685032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40280" y="3593592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26080" y="3685032"/>
            <a:ext cx="434340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43000" y="3840480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86000" y="3749040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840480"/>
            <a:ext cx="429768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43000" y="3995928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31720" y="3904488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17520" y="3995928"/>
            <a:ext cx="425196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43000" y="4151376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77440" y="4059936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63240" y="4151376"/>
            <a:ext cx="42062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43000" y="4306824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23160" y="4215384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08960" y="4306824"/>
            <a:ext cx="416052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43000" y="4462272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68880" y="4370832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154680" y="4462272"/>
            <a:ext cx="411480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43000" y="4617720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14600" y="4526280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00400" y="4617720"/>
            <a:ext cx="406908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43000" y="4773168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0320" y="4681728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46120" y="4773168"/>
            <a:ext cx="402336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43000" y="4928616"/>
            <a:ext cx="10058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06040" y="4837176"/>
            <a:ext cx="685800" cy="201168"/>
          </a:xfrm>
          <a:prstGeom prst="arc">
            <a:avLst/>
          </a:prstGeom>
          <a:solidFill>
            <a:srgbClr val="FFFFFF">
              <a:alpha val="0"/>
            </a:srgbClr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291840" y="4928616"/>
            <a:ext cx="3977640" cy="0"/>
          </a:xfrm>
          <a:prstGeom prst="line">
            <a:avLst/>
          </a:prstGeom>
          <a:noFill/>
          <a:ln w="12700">
            <a:solidFill>
              <a:srgbClr val="A6B1B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92440" y="297180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8092440" y="297180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93608" y="313639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Redundancia espacial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8293608" y="3538728"/>
            <a:ext cx="29169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reconocer patrones coherentes.</a:t>
            </a:r>
            <a:endParaRPr lang="en-US" sz="1250" dirty="0"/>
          </a:p>
        </p:txBody>
      </p:sp>
      <p:sp>
        <p:nvSpPr>
          <p:cNvPr id="70" name="Shape 68"/>
          <p:cNvSpPr/>
          <p:nvPr/>
        </p:nvSpPr>
        <p:spPr>
          <a:xfrm>
            <a:off x="8092440" y="4297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8092440" y="429768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293608" y="44622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Separación</a:t>
            </a:r>
            <a:endParaRPr lang="en-US" sz="1500" dirty="0"/>
          </a:p>
        </p:txBody>
      </p:sp>
      <p:sp>
        <p:nvSpPr>
          <p:cNvPr id="73" name="Text 71"/>
          <p:cNvSpPr/>
          <p:nvPr/>
        </p:nvSpPr>
        <p:spPr>
          <a:xfrm>
            <a:off x="8293608" y="4864608"/>
            <a:ext cx="29169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distinguir contribuciones superpuestas.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 et al. (1998, 1999); Foti et al. (2018).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evaluar el prototipo podemos sintetizar la dimensión espacial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12648" y="941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 &amp; Ashlock (2016): un receptor / múltiples posiciones sucesivas de fuente; por reciprocidad puede desplazarse el receptor.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57800" y="2011680"/>
            <a:ext cx="411480" cy="411480"/>
          </a:xfrm>
          <a:prstGeom prst="star5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2121408"/>
            <a:ext cx="201168" cy="201168"/>
          </a:xfrm>
          <a:prstGeom prst="ellipse">
            <a:avLst/>
          </a:prstGeom>
          <a:solidFill>
            <a:srgbClr val="157A9E"/>
          </a:solidFill>
          <a:ln w="19050">
            <a:solidFill>
              <a:srgbClr val="157A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13448" y="212140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7A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63256" y="212140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7A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13064" y="212140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7A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62872" y="212140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7A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0" y="212140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7A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2880360"/>
            <a:ext cx="3794760" cy="0"/>
          </a:xfrm>
          <a:prstGeom prst="line">
            <a:avLst/>
          </a:prstGeom>
          <a:noFill/>
          <a:ln w="25400">
            <a:solidFill>
              <a:srgbClr val="157A9E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400800" y="3154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7A9E"/>
                </a:solidFill>
              </a:rPr>
              <a:t>mover receptor / repetir impacto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57800" y="3794760"/>
            <a:ext cx="5623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57800" y="3794760"/>
            <a:ext cx="64008" cy="13258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58968" y="3959352"/>
            <a:ext cx="5294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Condición crítica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58968" y="4361688"/>
            <a:ext cx="529437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traza debe conservar posición y una referencia temporal común; la fuente debe caracterizarse para no confundir variación de impacto con variación del terreno.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 &amp; Ashlock (2016).</a:t>
            </a:r>
            <a:endParaRPr lang="en-US" sz="750" dirty="0"/>
          </a:p>
        </p:txBody>
      </p:sp>
      <p:pic>
        <p:nvPicPr>
          <p:cNvPr id="25" name="Picture 24" descr="lin2016-p2.png"/>
          <p:cNvPicPr>
            <a:picLocks noChangeAspect="1"/>
          </p:cNvPicPr>
          <p:nvPr/>
        </p:nvPicPr>
        <p:blipFill>
          <a:blip r:embed="rId3"/>
          <a:srcRect t="73500" b="500" l="7000" r="7000"/>
          <a:stretch>
            <a:fillRect/>
          </a:stretch>
        </p:blipFill>
        <p:spPr>
          <a:xfrm>
            <a:off x="777240" y="155448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Rayleigh/MASW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objetivo de adquisición queda definido: construir U(x,t)</a:t>
            </a:r>
            <a:endParaRPr lang="en-US" sz="2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31920" y="1234440"/>
            <a:ext cx="4297680" cy="822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2194560"/>
            <a:ext cx="67665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34440" y="2487168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77440" y="2404872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72384" y="2487168"/>
            <a:ext cx="406908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34440" y="2688336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32304" y="2606040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27248" y="2688336"/>
            <a:ext cx="4014216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2889504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87168" y="2807208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182112" y="2889504"/>
            <a:ext cx="3959352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234440" y="3090672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542032" y="3008376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36976" y="3090672"/>
            <a:ext cx="3904488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34440" y="3291840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596896" y="3209544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291840"/>
            <a:ext cx="3849624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234440" y="3493008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651760" y="3410712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46704" y="3493008"/>
            <a:ext cx="379476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234440" y="3694176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624" y="3611880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01568" y="3694176"/>
            <a:ext cx="3739896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234440" y="3895344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488" y="3813048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456432" y="3895344"/>
            <a:ext cx="3685032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234440" y="4096512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816352" y="4014216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511296" y="4096512"/>
            <a:ext cx="3630168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34440" y="4297680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71216" y="4215384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566160" y="4297680"/>
            <a:ext cx="3575304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234440" y="4498848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926080" y="4416552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621024" y="4498848"/>
            <a:ext cx="3520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234440" y="4700016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980944" y="4617720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675888" y="4700016"/>
            <a:ext cx="3465576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234440" y="4901184"/>
            <a:ext cx="1234440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035808" y="4818888"/>
            <a:ext cx="749808" cy="164592"/>
          </a:xfrm>
          <a:prstGeom prst="arc">
            <a:avLst/>
          </a:prstGeom>
          <a:solidFill>
            <a:srgbClr val="FFFFFF">
              <a:alpha val="0"/>
            </a:srgbClr>
          </a:solidFill>
          <a:ln w="15240">
            <a:solidFill>
              <a:srgbClr val="15223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730752" y="4901184"/>
            <a:ext cx="3410712" cy="0"/>
          </a:xfrm>
          <a:prstGeom prst="line">
            <a:avLst/>
          </a:prstGeom>
          <a:noFill/>
          <a:ln w="12700">
            <a:solidFill>
              <a:srgbClr val="B5BFC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657600" y="55321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978"/>
                </a:solidFill>
              </a:rPr>
              <a:t>tiempo t →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 rot="16200000">
            <a:off x="621792" y="34747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6978"/>
                </a:solidFill>
              </a:rPr>
              <a:t>posición x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8092440" y="2377440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092440" y="2377440"/>
            <a:ext cx="64008" cy="10515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293608" y="2542032"/>
            <a:ext cx="2825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8293608" y="2944368"/>
            <a:ext cx="2825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Cuándo ocurrió cada muestra respecto a la excitación.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8092440" y="3657600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092440" y="3657600"/>
            <a:ext cx="64008" cy="10515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293608" y="3822192"/>
            <a:ext cx="2825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</a:t>
            </a:r>
            <a:endParaRPr lang="en-US" sz="1500" dirty="0"/>
          </a:p>
        </p:txBody>
      </p:sp>
      <p:sp>
        <p:nvSpPr>
          <p:cNvPr id="57" name="Text 54"/>
          <p:cNvSpPr/>
          <p:nvPr/>
        </p:nvSpPr>
        <p:spPr>
          <a:xfrm>
            <a:off x="8293608" y="4224528"/>
            <a:ext cx="2825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qué posición fue adquirida cada traza.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8092440" y="4937760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8092440" y="4937760"/>
            <a:ext cx="64008" cy="105156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293608" y="5102352"/>
            <a:ext cx="2825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Señal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8293608" y="5504688"/>
            <a:ext cx="282549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Preservar amplitud y fase en la banda de interés.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MASW se convierte en requisitos electrónicos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508760"/>
            <a:ext cx="64008" cy="16002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673352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Banda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3008376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frecuencias de interés sin alteraciones no caracterizadas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0" y="150876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508760"/>
            <a:ext cx="64008" cy="16002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3168" y="1673352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73168" y="2075688"/>
            <a:ext cx="3008376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preservar coherencia relativa entre canales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321040" y="150876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508760"/>
            <a:ext cx="64008" cy="16002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22208" y="1673352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Rango dinámico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22208" y="2075688"/>
            <a:ext cx="3008376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señales próximas y lejanas sin saturación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356616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3566160"/>
            <a:ext cx="64008" cy="16002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3730752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24128" y="4133088"/>
            <a:ext cx="3008376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 común entre trazas y eventos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0" y="356616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566160"/>
            <a:ext cx="64008" cy="16002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3730752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Geometría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73168" y="4133088"/>
            <a:ext cx="3008376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posición asociada a cada registro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21040" y="3566160"/>
            <a:ext cx="33375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3566160"/>
            <a:ext cx="64008" cy="16002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22208" y="3730752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22208" y="4133088"/>
            <a:ext cx="3008376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autonomía, almacenamiento y control de calidad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05840" y="580644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238"/>
                </a:solidFill>
              </a:rPr>
              <a:t>La electrónica ya no es “un grabador”: debe preservar las condiciones físicas de la medición.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(2018); Resumen de tesis, Sec. 4.1.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propuesta: tres tipos de nodo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3154680" cy="333756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00200"/>
            <a:ext cx="64008" cy="33375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764792"/>
            <a:ext cx="2825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2167128"/>
            <a:ext cx="2825496" cy="2624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Mide la respuesta del terreno.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SM-24 → AFE → ADC → procesamiento / almacenamiento local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26280" y="1600200"/>
            <a:ext cx="3154680" cy="333756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1600200"/>
            <a:ext cx="64008" cy="33375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764792"/>
            <a:ext cx="2825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27448" y="2167128"/>
            <a:ext cx="2825496" cy="2624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 el ensayo y aloja la interfaz de operación.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→ inicia → recibe estados → descarga registros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75320" y="1600200"/>
            <a:ext cx="3154680" cy="333756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75320" y="1600200"/>
            <a:ext cx="64008" cy="333756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6488" y="1764792"/>
            <a:ext cx="2825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HAMMER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167128"/>
            <a:ext cx="2825496" cy="2624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Mide la excitación.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de impacto → AFE específico → ADC → misma lógica de adquisición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31920" y="3246120"/>
            <a:ext cx="50292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680960" y="3246120"/>
            <a:ext cx="50292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14400" y="54406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2238"/>
                </a:solidFill>
              </a:rPr>
              <a:t>Primero hacemos zoom en GEO; después veremos cómo MASTER coordina y cómo HAMMER referencia cada impacto.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Nodo GEO: el sensor disponible es un SM-24 de 10 Hz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594360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4_geo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027802"/>
            <a:ext cx="5833872" cy="18422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65429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Figura adaptada del documento de tesis.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040880" y="14173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40880" y="141732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42048" y="1581912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Sensor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242048" y="1984248"/>
            <a:ext cx="378561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Geófono vertical pasivo de bobina móvil.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040880" y="274320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040880" y="274320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42048" y="2907792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Parámetros clave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242048" y="3310128"/>
            <a:ext cx="378561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fₙ ≈ 10 Hz · sensibilidad 28,8 V·s/m.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040880" y="406908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040880" y="4069080"/>
            <a:ext cx="64008" cy="123444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242048" y="4233672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242048" y="4636008"/>
            <a:ext cx="378561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Justamente por debajo de fₙ la respuesta cae con rapidez, en la región asociada a λ largas.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14400" y="56692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</a:rPr>
              <a:t>Elegido por disponibilidad y costo; el desafío pasa al acondicionamiento.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Nederland B.V. (2006); Resumen de tesis, Sec. 4.2.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modelo físico explica su respuesta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4206240" cy="3154680"/>
          </a:xfrm>
          <a:prstGeom prst="roundRect">
            <a:avLst>
              <a:gd name="adj" fmla="val 2319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8117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MASA–RESORTE–AMORTIGUADOR 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1043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chasis solidario al suelo + masa móvil</a:t>
            </a:r>
            <a:endParaRPr lang="en-US" sz="9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77840" y="1371600"/>
            <a:ext cx="4572000" cy="7315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2331720"/>
            <a:ext cx="2743200" cy="59436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0680" y="3337560"/>
            <a:ext cx="5486400" cy="8229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715000" y="4617720"/>
            <a:ext cx="493776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Por encima de la resonancia → salida ≈ proporcional a velocidad.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Por debajo → fuerte atenuación.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no medir “pelado” y simplemente amplificar?</a:t>
            </a:r>
            <a:endParaRPr lang="en-US" sz="2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234440"/>
            <a:ext cx="7498080" cy="777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2331720"/>
            <a:ext cx="28346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331720"/>
            <a:ext cx="64008" cy="22402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249631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1 Hz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24128" y="2898648"/>
            <a:ext cx="2505456" cy="1527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fₙ = 10 Hz → r = 0,1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|H| ≈ 0,01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−40 dB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977640" y="2331720"/>
            <a:ext cx="28346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977640" y="2331720"/>
            <a:ext cx="64008" cy="22402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78808" y="249631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Consecuencia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178808" y="2898648"/>
            <a:ext cx="2505456" cy="1527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hacer visible 1 Hz necesitamos ~100× más ganancia que en la banda plana.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132320" y="2331720"/>
            <a:ext cx="406908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2331720"/>
            <a:ext cx="64008" cy="2240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33488" y="2496312"/>
            <a:ext cx="3739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Pero…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333488" y="2898648"/>
            <a:ext cx="3739896" cy="1527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componentes cercanas y superiores a 10 Hz también reciben esa ganancia y pueden consumir el margen del AFE/ADC antes de aprovechar 1 Hz.</a:t>
            </a:r>
            <a:endParaRPr lang="en-US" sz="1320" dirty="0"/>
          </a:p>
        </p:txBody>
      </p:sp>
      <p:sp>
        <p:nvSpPr>
          <p:cNvPr id="20" name="Text 17"/>
          <p:cNvSpPr/>
          <p:nvPr/>
        </p:nvSpPr>
        <p:spPr>
          <a:xfrm>
            <a:off x="105156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2238"/>
                </a:solidFill>
              </a:rPr>
              <a:t>Necesitamos modificar la forma de la respuesta, no solo multiplicarla.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del arte: varias formas de extender la respuesta de un geófono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35640" cy="4526280"/>
        </p:xfrm>
        <a:graphic>
          <a:graphicData uri="http://schemas.openxmlformats.org/drawingml/2006/table">
            <a:tbl>
              <a:tblPr/>
              <a:tblGrid>
                <a:gridCol w="1554480"/>
                <a:gridCol w="2423160"/>
                <a:gridCol w="2331720"/>
                <a:gridCol w="4526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Enfoque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Principio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Ventaja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Compromiso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Medición directa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SM-24 + ganancia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Muy simple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LF atenuada; banda alta consume rango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Carga / impedancia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Modificar amortiguamiento por carga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Poca electrónica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Extensión limitada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Zero-pole / inversa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Compensar la transferencia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Puede aplanar ampliamente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Ruido / offset LF; depende del modelo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Force balance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Corriente → fuerza de Lorentz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Extensión electromecánica real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Lazo activo, estabilidad y complejidad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 et al.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Atenuar región dominante + recuperar ganancia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Evita inversión LF agresiva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Pérdida de amplitud → alta ganancia / offset</a:t>
                      </a:r>
                      <a:endParaRPr lang="en-US" sz="10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4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Hakimitoroghi et al. (2017); Zhang et al. (2020, 2025); Ma et al. (2023); Pazos et al. (2005).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Alternativa 1: inversión / zero–pole matching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4572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417320"/>
            <a:ext cx="64008" cy="13716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58191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1984248"/>
            <a:ext cx="424281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Cascadar filtros que cancelen ceros/polos del sensor y reconstruyan una respuesta plana en la banda de interés.</a:t>
            </a:r>
            <a:endParaRPr lang="en-US" sz="132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37960" y="1325880"/>
            <a:ext cx="2286000" cy="73152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6480" y="2194560"/>
            <a:ext cx="3108960" cy="7315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7240" y="3108960"/>
            <a:ext cx="4572000" cy="2148840"/>
          </a:xfrm>
          <a:prstGeom prst="roundRect">
            <a:avLst>
              <a:gd name="adj" fmla="val 3404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14400" y="40005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CIRCUITO INVERSOR 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14400" y="429310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integrador + integrador con pérdidas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23560" y="3154680"/>
            <a:ext cx="55321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23560" y="3154680"/>
            <a:ext cx="64008" cy="205740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824728" y="331927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compromiso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824728" y="3721608"/>
            <a:ext cx="5202936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integrador ideal tiene ganancia creciente hacia DC: offset, bias y ruido de muy baja frecuencia pueden amplificarse y llevar etapas a saturación. La integración numérica también amplifica ruido LF.</a:t>
            </a:r>
            <a:endParaRPr lang="en-US" sz="1320" dirty="0"/>
          </a:p>
        </p:txBody>
      </p:sp>
      <p:sp>
        <p:nvSpPr>
          <p:cNvPr id="20" name="Text 16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Hakimitoroghi et al. (2017); Zhang et al. (2025).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Alternativa 2: force balance — usar la bobina también como actuador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92608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ESQUEMA FORCE BALANCE 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2186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sensor → controlador → corriente → fuerza de Lorentz</a:t>
            </a:r>
            <a:endParaRPr lang="en-US" sz="9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57800" y="1508760"/>
            <a:ext cx="5029200" cy="777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120640" y="26060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120640" y="2606040"/>
            <a:ext cx="64008" cy="13716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21808" y="277063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321808" y="3172968"/>
            <a:ext cx="241401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corriente de bobina produce una fuerza electromagnética que modifica el amortiguamiento efectivo.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183880" y="26060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83880" y="2606040"/>
            <a:ext cx="64008" cy="1371600"/>
          </a:xfrm>
          <a:prstGeom prst="rect">
            <a:avLst/>
          </a:prstGeom>
          <a:solidFill>
            <a:srgbClr val="3B8C6E"/>
          </a:solidFill>
          <a:ln w="12700">
            <a:solidFill>
              <a:srgbClr val="3B8C6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85048" y="277063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logra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385048" y="3172968"/>
            <a:ext cx="241401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extender la dinámica mecánica y mejorar banda/linealidad.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120640" y="4343400"/>
            <a:ext cx="5806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0" y="4343400"/>
            <a:ext cx="64008" cy="123444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21808" y="4507992"/>
            <a:ext cx="5477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Costo de ingeniería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21808" y="4910328"/>
            <a:ext cx="547725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Lazo activo acoplado al transductor: estabilidad, ruido, tolerancias, consumo y consistencia entre unidades.</a:t>
            </a:r>
            <a:endParaRPr lang="en-US" sz="1280" dirty="0"/>
          </a:p>
        </p:txBody>
      </p:sp>
      <p:sp>
        <p:nvSpPr>
          <p:cNvPr id="23" name="Text 20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Zhang et al., Sensors and Actuators A (2020): 4.5 Hz → 0.16 Hz; Zhang et al. (2025).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Alternativa elegida: Ma et al. — “bajar el pico” antes de recuperar ganancia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562356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4983480"/>
            <a:ext cx="4480560" cy="0"/>
          </a:xfrm>
          <a:prstGeom prst="line">
            <a:avLst/>
          </a:prstGeom>
          <a:noFill/>
          <a:ln w="15240">
            <a:solidFill>
              <a:srgbClr val="7E8A9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1965960"/>
            <a:ext cx="0" cy="3017520"/>
          </a:xfrm>
          <a:prstGeom prst="line">
            <a:avLst/>
          </a:prstGeom>
          <a:noFill/>
          <a:ln w="15240">
            <a:solidFill>
              <a:srgbClr val="7E8A9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4617720"/>
            <a:ext cx="640080" cy="-13716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08760" y="4389120"/>
            <a:ext cx="640080" cy="-13716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48840" y="4480560"/>
            <a:ext cx="640080" cy="-27432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4251960"/>
            <a:ext cx="640080" cy="-18288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8920" y="4206240"/>
            <a:ext cx="640080" cy="-137160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4069080"/>
            <a:ext cx="640080" cy="-27432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29000" y="2834640"/>
            <a:ext cx="548640" cy="-59436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29000" y="3794760"/>
            <a:ext cx="548640" cy="-13716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77640" y="2240280"/>
            <a:ext cx="411480" cy="59436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77640" y="3657600"/>
            <a:ext cx="411480" cy="4572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2834640"/>
            <a:ext cx="548640" cy="41148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0" y="3703320"/>
            <a:ext cx="548640" cy="13716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246120"/>
            <a:ext cx="640080" cy="182880"/>
          </a:xfrm>
          <a:prstGeom prst="line">
            <a:avLst/>
          </a:prstGeom>
          <a:noFill/>
          <a:ln w="34290">
            <a:solidFill>
              <a:srgbClr val="B968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0" y="3840480"/>
            <a:ext cx="640080" cy="137160"/>
          </a:xfrm>
          <a:prstGeom prst="line">
            <a:avLst/>
          </a:prstGeom>
          <a:noFill/>
          <a:ln w="34290">
            <a:solidFill>
              <a:srgbClr val="157A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320040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683C"/>
                </a:solidFill>
              </a:rPr>
              <a:t>original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83480" y="3977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9E"/>
                </a:solidFill>
              </a:rPr>
              <a:t>compensada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20840" y="1600200"/>
            <a:ext cx="3749040" cy="685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6675120" y="2606040"/>
            <a:ext cx="44348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675120" y="260604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76288" y="2770632"/>
            <a:ext cx="4105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1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876288" y="3172968"/>
            <a:ext cx="410565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 una rama pasabanda para reducir la región dominante alrededor de la resonancia.</a:t>
            </a:r>
            <a:endParaRPr lang="en-US" sz="1240" dirty="0"/>
          </a:p>
        </p:txBody>
      </p:sp>
      <p:sp>
        <p:nvSpPr>
          <p:cNvPr id="31" name="Shape 28"/>
          <p:cNvSpPr/>
          <p:nvPr/>
        </p:nvSpPr>
        <p:spPr>
          <a:xfrm>
            <a:off x="6675120" y="4069080"/>
            <a:ext cx="44348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675120" y="4069080"/>
            <a:ext cx="64008" cy="12344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76288" y="4233672"/>
            <a:ext cx="4105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Paso 2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6876288" y="4636008"/>
            <a:ext cx="410565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Recuperar el nivel global con ganancia. Evitamos una inversión ideal con ganancia divergente hacia DC.</a:t>
            </a:r>
            <a:endParaRPr lang="en-US" sz="1240" dirty="0"/>
          </a:p>
        </p:txBody>
      </p:sp>
      <p:sp>
        <p:nvSpPr>
          <p:cNvPr id="35" name="Text 32"/>
          <p:cNvSpPr/>
          <p:nvPr/>
        </p:nvSpPr>
        <p:spPr>
          <a:xfrm>
            <a:off x="1051560" y="585216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05B3B"/>
                </a:solidFill>
              </a:rPr>
              <a:t>Trade-off: la pérdida intencional de amplitud obliga a usar ganancia alta → el offset pasa a ser crítico.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 et al., Sensors 23(6):3082 (2023).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 del AFE en el nodo GEO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7543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5_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06133"/>
            <a:ext cx="7434072" cy="395429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5568696"/>
            <a:ext cx="754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Esquemático implementado en PSoC 5LP.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503920" y="1325880"/>
            <a:ext cx="2788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503920" y="1325880"/>
            <a:ext cx="64008" cy="8686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05088" y="1490472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Entrada diferencial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705088" y="1892808"/>
            <a:ext cx="245973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rechazo de modo común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503920" y="2331720"/>
            <a:ext cx="2788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503920" y="2331720"/>
            <a:ext cx="64008" cy="8686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05088" y="2496312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PGA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705088" y="2898648"/>
            <a:ext cx="245973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ganancia ajustable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503920" y="3337560"/>
            <a:ext cx="2788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503920" y="3337560"/>
            <a:ext cx="64008" cy="8686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05088" y="3502152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BP + SUM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05088" y="3904488"/>
            <a:ext cx="245973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rama a sustraer / compensación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503920" y="4343400"/>
            <a:ext cx="2788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503920" y="4343400"/>
            <a:ext cx="64008" cy="86868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05088" y="4507992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LP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705088" y="4910328"/>
            <a:ext cx="245973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antialias antes del ADC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38"/>
                </a:solidFill>
              </a:rPr>
              <a:t>Los VDAC fijan el punto de operación de cada etapa y luego se mantienen constantes durante la captura.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Caracterización del AFE: modelo, tolerancias y medición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740664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9_respo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3012" y="1289304"/>
            <a:ext cx="5063657" cy="46908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6071616"/>
            <a:ext cx="7406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Barridos senoidales y comparación con el modelo.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458200" y="141732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58200" y="141732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59368" y="158191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 midió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59368" y="1984248"/>
            <a:ext cx="250545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Magnitud y fase de etapas y trayectoria PGA–ADC.</a:t>
            </a:r>
            <a:endParaRPr lang="en-US" sz="1170" dirty="0"/>
          </a:p>
        </p:txBody>
      </p:sp>
      <p:sp>
        <p:nvSpPr>
          <p:cNvPr id="14" name="Shape 11"/>
          <p:cNvSpPr/>
          <p:nvPr/>
        </p:nvSpPr>
        <p:spPr>
          <a:xfrm>
            <a:off x="8458200" y="274320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458200" y="2743200"/>
            <a:ext cx="64008" cy="10972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59368" y="290779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659368" y="3310128"/>
            <a:ext cx="250545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Barridos en bandas superpuestas; cociente espectral salida/entrada.</a:t>
            </a:r>
            <a:endParaRPr lang="en-US" sz="1170" dirty="0"/>
          </a:p>
        </p:txBody>
      </p:sp>
      <p:sp>
        <p:nvSpPr>
          <p:cNvPr id="18" name="Shape 15"/>
          <p:cNvSpPr/>
          <p:nvPr/>
        </p:nvSpPr>
        <p:spPr>
          <a:xfrm>
            <a:off x="8458200" y="406908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458200" y="4069080"/>
            <a:ext cx="64008" cy="123444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59368" y="423367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de calidad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659368" y="4636008"/>
            <a:ext cx="250545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coherencia delimita las regiones interpretables.</a:t>
            </a:r>
            <a:endParaRPr lang="en-US" sz="117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sabemos — y qué todavía no — de la extensión en baja frecuencia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1508760"/>
            <a:ext cx="4754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508760"/>
            <a:ext cx="64008" cy="1828800"/>
          </a:xfrm>
          <a:prstGeom prst="rect">
            <a:avLst/>
          </a:prstGeom>
          <a:solidFill>
            <a:srgbClr val="3B8C6E"/>
          </a:solidFill>
          <a:ln w="12700">
            <a:solidFill>
              <a:srgbClr val="3B8C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67335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Verificado experimentalmente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4425696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trayectoria electrónica PGA–ADC y sus etapas fueron medidas en magnitud y fase.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0" y="1508760"/>
            <a:ext cx="47548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1508760"/>
            <a:ext cx="64008" cy="18288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84848" y="167335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Predicho por modelo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84848" y="2075688"/>
            <a:ext cx="4425696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SM-24 + electrónica se obtiene cascando la medición del AFE con el modelo nominal del geófono.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80760" y="1463040"/>
            <a:ext cx="0" cy="3566160"/>
          </a:xfrm>
          <a:prstGeom prst="line">
            <a:avLst/>
          </a:prstGeom>
          <a:noFill/>
          <a:ln w="15240">
            <a:solidFill>
              <a:srgbClr val="D2DA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B3B"/>
                </a:solidFill>
              </a:rPr>
              <a:t>Pendiente para la presentación final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2238"/>
                </a:solidFill>
              </a:rPr>
              <a:t>calibración mecánica extremo a extremo con movimiento conocido del geófono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de tesis, Sec. 4.5: la extensión LF geófono–ADC es una predicción, no una calibración mecánica.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ganancia necesaria trae un segundo problema: offset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18288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7A9E"/>
                </a:solidFill>
              </a:rPr>
              <a:t>PGA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7168" y="2304288"/>
            <a:ext cx="365760" cy="0"/>
          </a:xfrm>
          <a:prstGeom prst="line">
            <a:avLst/>
          </a:prstGeom>
          <a:noFill/>
          <a:ln w="21590">
            <a:solidFill>
              <a:srgbClr val="8793A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71800" y="18288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2878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78B5"/>
                </a:solidFill>
              </a:rPr>
              <a:t>BP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36008" y="2304288"/>
            <a:ext cx="365760" cy="0"/>
          </a:xfrm>
          <a:prstGeom prst="line">
            <a:avLst/>
          </a:prstGeom>
          <a:noFill/>
          <a:ln w="21590">
            <a:solidFill>
              <a:srgbClr val="8793A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18288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683C"/>
                </a:solidFill>
              </a:rPr>
              <a:t>SUM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84848" y="2304288"/>
            <a:ext cx="365760" cy="0"/>
          </a:xfrm>
          <a:prstGeom prst="line">
            <a:avLst/>
          </a:prstGeom>
          <a:noFill/>
          <a:ln w="21590">
            <a:solidFill>
              <a:srgbClr val="8793A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8288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7A57"/>
                </a:solidFill>
              </a:rPr>
              <a:t>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33688" y="2304288"/>
            <a:ext cx="365760" cy="0"/>
          </a:xfrm>
          <a:prstGeom prst="line">
            <a:avLst/>
          </a:prstGeom>
          <a:noFill/>
          <a:ln w="21590">
            <a:solidFill>
              <a:srgbClr val="8793A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418320" y="182880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1B26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5548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</a:rPr>
              <a:t>ADC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B3B"/>
                </a:solidFill>
              </a:rPr>
              <a:t>+ offset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4612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B3B"/>
                </a:solidFill>
              </a:rPr>
              <a:t>+ offset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9496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B3B"/>
                </a:solidFill>
              </a:rPr>
              <a:t>+ offset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4380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B3B"/>
                </a:solidFill>
              </a:rPr>
              <a:t>+ offset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4389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14400" y="3977640"/>
            <a:ext cx="64008" cy="13258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5568" y="414223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Efecto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5568" y="4544568"/>
            <a:ext cx="405993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offsets se acumulan y reducen margen dinámico; una etapa puede saturar antes de que la señal llegue al ADC.</a:t>
            </a:r>
            <a:endParaRPr lang="en-US" sz="1340" dirty="0"/>
          </a:p>
        </p:txBody>
      </p:sp>
      <p:sp>
        <p:nvSpPr>
          <p:cNvPr id="29" name="Shape 27"/>
          <p:cNvSpPr/>
          <p:nvPr/>
        </p:nvSpPr>
        <p:spPr>
          <a:xfrm>
            <a:off x="6172200" y="397764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72200" y="3977640"/>
            <a:ext cx="64008" cy="13258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414223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 real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73368" y="4544568"/>
            <a:ext cx="424281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una condición del paper DA-AFE se midió 21,8 %FS de offset en SUM antes de aplicar señal sísmica.</a:t>
            </a:r>
            <a:endParaRPr lang="en-US" sz="134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DA-AFE: usar recursos digitales para mejorar el punto de operación analógico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1874520"/>
            <a:ext cx="64008" cy="18288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0391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· Medir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2441448"/>
            <a:ext cx="2414016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MUX + ADC observan la continua de cada etapa.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09160" y="18745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874520"/>
            <a:ext cx="64008" cy="18288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0328" y="20391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· Corregir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10328" y="2441448"/>
            <a:ext cx="2414016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 estima DC; controlador ajusta el VDAC correspondiente.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49640" y="18745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9640" y="1874520"/>
            <a:ext cx="64008" cy="182880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50808" y="20391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· Congelar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50808" y="2441448"/>
            <a:ext cx="2414016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Durante adquisición el controlador se desactiva y los VDAC quedan constantes.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0" y="2788920"/>
            <a:ext cx="914400" cy="0"/>
          </a:xfrm>
          <a:prstGeom prst="line">
            <a:avLst/>
          </a:prstGeom>
          <a:noFill/>
          <a:ln w="2921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98080" y="2788920"/>
            <a:ext cx="914400" cy="0"/>
          </a:xfrm>
          <a:prstGeom prst="line">
            <a:avLst/>
          </a:prstGeom>
          <a:noFill/>
          <a:ln w="2921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828800" y="46177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52238"/>
                </a:solidFill>
              </a:rPr>
              <a:t>CALIBRAR  →  CONGELAR  →  MEDIR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1645920" y="53492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6978"/>
                </a:solidFill>
              </a:rPr>
              <a:t>La asistencia digital no modifica la trayectoria de señal durante la captura.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Álvarez, González &amp; Vargas Cabral, “Digitally Assisted Analog Front-End for Geophone Instrumentation”, 2026.</a:t>
            </a:r>
            <a:endParaRPr lang="en-US" sz="7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Calibración secuencial: PGA → BP → SUM → LP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417320"/>
            <a:ext cx="64008" cy="9601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1581912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PGA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1984248"/>
            <a:ext cx="168249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→ ajustar VDAC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88920" y="1901952"/>
            <a:ext cx="502920" cy="0"/>
          </a:xfrm>
          <a:prstGeom prst="line">
            <a:avLst/>
          </a:prstGeom>
          <a:noFill/>
          <a:ln w="2159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417320"/>
            <a:ext cx="64008" cy="9601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1581912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84448" y="1984248"/>
            <a:ext cx="168249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→ ajustar VDAC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901952"/>
            <a:ext cx="502920" cy="0"/>
          </a:xfrm>
          <a:prstGeom prst="line">
            <a:avLst/>
          </a:prstGeom>
          <a:noFill/>
          <a:ln w="2159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89320" y="14173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89320" y="1417320"/>
            <a:ext cx="64008" cy="9601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1581912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90488" y="1984248"/>
            <a:ext cx="168249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→ ajustar VDAC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01000" y="1901952"/>
            <a:ext cx="502920" cy="0"/>
          </a:xfrm>
          <a:prstGeom prst="line">
            <a:avLst/>
          </a:prstGeom>
          <a:noFill/>
          <a:ln w="2159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95360" y="14173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595360" y="1417320"/>
            <a:ext cx="64008" cy="96012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96528" y="1581912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6528" y="1984248"/>
            <a:ext cx="168249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→ ajustar VDAC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2834640"/>
            <a:ext cx="2743200" cy="548640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03320" y="2834640"/>
            <a:ext cx="3657600" cy="640080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5200" y="2788920"/>
            <a:ext cx="3977640" cy="68580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914400" y="40690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14400" y="4069080"/>
            <a:ext cx="64008" cy="12344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1115568" y="423367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Banda muerta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1115568" y="4636008"/>
            <a:ext cx="25968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oscilar entre códigos adyacentes del VDAC.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4572000" y="40690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4572000" y="4069080"/>
            <a:ext cx="64008" cy="123444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773168" y="423367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Saturación</a:t>
            </a:r>
            <a:endParaRPr lang="en-US" sz="1500" dirty="0"/>
          </a:p>
        </p:txBody>
      </p:sp>
      <p:sp>
        <p:nvSpPr>
          <p:cNvPr id="36" name="Text 31"/>
          <p:cNvSpPr/>
          <p:nvPr/>
        </p:nvSpPr>
        <p:spPr>
          <a:xfrm>
            <a:off x="4773168" y="4636008"/>
            <a:ext cx="25968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 limitado a 0…255.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229600" y="40690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8229600" y="406908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8430768" y="423367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Anti-windup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8430768" y="4636008"/>
            <a:ext cx="25968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Suspende integración si el límite impediría corregir en la dirección requerida.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del DA-AFE: reducción consistente del offset residual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85800" y="1280160"/>
            <a:ext cx="50292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urucon_tra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811" y="1335024"/>
            <a:ext cx="4251178" cy="43251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5751576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Trayectorias representativas de calibración.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40080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05B3B"/>
                </a:solidFill>
              </a:rPr>
              <a:t>2,9–45,8 %FS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8549640" y="2267712"/>
            <a:ext cx="777240" cy="0"/>
          </a:xfrm>
          <a:prstGeom prst="line">
            <a:avLst/>
          </a:prstGeom>
          <a:noFill/>
          <a:ln w="381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9372600" y="19659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A57"/>
                </a:solidFill>
              </a:rPr>
              <a:t>0,4–3,9 %FS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92240" y="26060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978"/>
                </a:solidFill>
              </a:rPr>
              <a:t>offset LP residual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324612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92240" y="324612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93408" y="341071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Evaluación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693408" y="3813048"/>
            <a:ext cx="424281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placas independientes · 8 configuraciones placa/ganancia · mismo controlador.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92240" y="47091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92240" y="4709160"/>
            <a:ext cx="64008" cy="10515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93408" y="487375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Interpretación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93408" y="5276088"/>
            <a:ext cx="424281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de factibilidad: aún no es optimización definitiva del AFE.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12648" y="619048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i="1" dirty="0">
                <a:solidFill>
                  <a:srgbClr val="7581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Álvarez et al. (2026), paper DA-AFE.</a:t>
            </a:r>
            <a:endParaRPr lang="en-US" sz="7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 / AFE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Captura digital dentro del GEO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69494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10_digi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800375"/>
            <a:ext cx="6839712" cy="31658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568696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PSoC 5LP: SignalController, DMA, DFB, registros y EEPROM.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909560" y="137160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909560" y="1371600"/>
            <a:ext cx="64008" cy="10515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10728" y="1536192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ADC ΔΣ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1938528"/>
            <a:ext cx="29626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2604 muestras/s · 18 bits nominales · rangos bipolares configurables.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09560" y="265176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909560" y="2651760"/>
            <a:ext cx="64008" cy="10515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0728" y="2816352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DMA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218688"/>
            <a:ext cx="29626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Mueve muestras entre ADC, filtro y RAM reduciendo intervención del procesador.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909560" y="393192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09560" y="3931920"/>
            <a:ext cx="64008" cy="105156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10728" y="4096512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SignalController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110728" y="4498848"/>
            <a:ext cx="29626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Disparo, conteo, ventana y cierre de captura implementados en lógica dedicada.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914400" y="5715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38"/>
                </a:solidFill>
              </a:rPr>
              <a:t>Una vez iniciada la captura, el muestreo no depende de la red ni de tareas de software de alto nivel.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/ HAMMER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MASTER coordina varios nodos sin transportar muestras durante la captura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69037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12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914252"/>
            <a:ext cx="6793992" cy="321237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5797296"/>
            <a:ext cx="6903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Secuencia ARM → PRESTART → START y almacenamiento local.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955280" y="141732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955280" y="1417320"/>
            <a:ext cx="64008" cy="10972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56448" y="158191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56448" y="1984248"/>
            <a:ext cx="29169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 disponibilidad y reserva recursos.</a:t>
            </a:r>
            <a:endParaRPr lang="en-US" sz="1180" dirty="0"/>
          </a:p>
        </p:txBody>
      </p:sp>
      <p:sp>
        <p:nvSpPr>
          <p:cNvPr id="14" name="Shape 11"/>
          <p:cNvSpPr/>
          <p:nvPr/>
        </p:nvSpPr>
        <p:spPr>
          <a:xfrm>
            <a:off x="7955280" y="274320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955280" y="274320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56448" y="290779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PRESTART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56448" y="3310128"/>
            <a:ext cx="29169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 captura, reinicia contadores y prepara DMA.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955280" y="40690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55280" y="4069080"/>
            <a:ext cx="64008" cy="109728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42336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broadcast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156448" y="4636008"/>
            <a:ext cx="29169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única orden busca reducir la dispersión respecto a comandos independientes.</a:t>
            </a:r>
            <a:endParaRPr lang="en-US" sz="1180" dirty="0"/>
          </a:p>
        </p:txBody>
      </p:sp>
      <p:sp>
        <p:nvSpPr>
          <p:cNvPr id="22" name="Text 19"/>
          <p:cNvSpPr/>
          <p:nvPr/>
        </p:nvSpPr>
        <p:spPr>
          <a:xfrm>
            <a:off x="914400" y="580644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38"/>
                </a:solidFill>
              </a:rPr>
              <a:t>Después del disparo, cada nodo conserva el registro localmente y la red se usa para coordinación y descarga.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/ HAMMER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Sincronización: tenemos una primera estimación, todavía no la medida definitiva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4206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17320"/>
            <a:ext cx="64008" cy="14630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581912"/>
            <a:ext cx="3877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Ensayo actual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24128" y="1984248"/>
            <a:ext cx="3877056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nodos · 128 órdenes START broadcast · flancos GPIO observados con osciloscopio.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234440" y="32461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9683C"/>
                </a:solidFill>
              </a:rPr>
              <a:t>200–400 µs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3258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978"/>
                </a:solidFill>
              </a:rPr>
              <a:t>dispersión de flancos ESP32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37960" y="1600200"/>
            <a:ext cx="3017520" cy="685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806440" y="274320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806440" y="274320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07608" y="2907792"/>
            <a:ext cx="2139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 Hz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07608" y="3310128"/>
            <a:ext cx="213969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3° para 400 µs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549640" y="274320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549640" y="274320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50808" y="2907792"/>
            <a:ext cx="2139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 Hz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750808" y="3310128"/>
            <a:ext cx="213969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7° para 400 µs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806440" y="425196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06440" y="4251960"/>
            <a:ext cx="64008" cy="123444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07608" y="4416552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Pendiente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007608" y="4818888"/>
            <a:ext cx="48828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inicio efectivo ADC↔ADC y deriva relativa de reloj durante la captura.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/ HAMMER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HAMMER: si los eventos son sucesivos, también debemos medir la fuente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0690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11" name="Image 0" descr="/mnt/data/slides_assets/fig13_ham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2093408"/>
            <a:ext cx="3959352" cy="15739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754880" y="447141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AFE del nodo HAMMER.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9098280" y="1417320"/>
            <a:ext cx="2148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098280" y="1417320"/>
            <a:ext cx="64008" cy="10058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99448" y="158191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Entrada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299448" y="1984248"/>
            <a:ext cx="18196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de impacto alimentado por corriente constante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098280" y="2651760"/>
            <a:ext cx="2148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098280" y="2651760"/>
            <a:ext cx="64008" cy="10058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299448" y="281635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299448" y="3218688"/>
            <a:ext cx="18196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desacople + protección + PGA + LP + ADC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098280" y="388620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098280" y="3886200"/>
            <a:ext cx="64008" cy="123444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299448" y="405079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Lógica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299448" y="4453128"/>
            <a:ext cx="181965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misma estructura de adquisición y almacenamiento local que GEO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526280" y="51663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HAMMER permite alinear trazas, evaluar repetibilidad y detectar rebotes / contactos múltiples.</a:t>
            </a:r>
            <a:endParaRPr lang="en-US" sz="1400" dirty="0"/>
          </a:p>
        </p:txBody>
      </p:sp>
      <p:pic>
        <p:nvPicPr>
          <p:cNvPr id="26" name="Picture 25" descr="martillo_086d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4211" y="1325880"/>
            <a:ext cx="286365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/ HAMMER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campo: configurar, medir, revisar y recién entonces mover la geometría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444752"/>
            <a:ext cx="10149840" cy="0"/>
          </a:xfrm>
          <a:prstGeom prst="line">
            <a:avLst/>
          </a:prstGeom>
          <a:noFill/>
          <a:ln w="25400">
            <a:solidFill>
              <a:srgbClr val="C2CC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35331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B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Configurar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06040" y="135331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B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Calibrar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0" y="135331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B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9476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ARM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89320" y="135331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B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Impacto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0" y="1353312"/>
            <a:ext cx="182880" cy="182880"/>
          </a:xfrm>
          <a:prstGeom prst="ellipse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52238"/>
                </a:solidFill>
              </a:rPr>
              <a:t>Revisar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372600" y="135331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B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Aceptar / repetir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1064240" y="135331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B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6132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Guardar / enviar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55080" y="2331720"/>
            <a:ext cx="47548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55080" y="233172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56248" y="249631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de calidad inmediato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56248" y="2898648"/>
            <a:ext cx="44256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Detectar acoplamiento deficiente, impacto múltiple o ruido excesivo antes de cambiar de posición.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6355080" y="3886200"/>
            <a:ext cx="47548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55080" y="3886200"/>
            <a:ext cx="64008" cy="12344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56248" y="405079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56248" y="4453128"/>
            <a:ext cx="442569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captura conserva nodo, posición, fₛ, rango ADC, ganancia, muestras y estado de calibración.</a:t>
            </a:r>
            <a:endParaRPr lang="en-US" sz="1320" dirty="0"/>
          </a:p>
        </p:txBody>
      </p:sp>
      <p:pic>
        <p:nvPicPr>
          <p:cNvPr id="33" name="Picture 32" descr="geophone_scope_captura_real_claro.png"/>
          <p:cNvPicPr>
            <a:picLocks noChangeAspect="1"/>
          </p:cNvPicPr>
          <p:nvPr/>
        </p:nvPicPr>
        <p:blipFill>
          <a:blip r:embed="rId3"/>
          <a:srcRect l="643" r="643"/>
          <a:stretch>
            <a:fillRect/>
          </a:stretch>
        </p:blipFill>
        <p:spPr>
          <a:xfrm>
            <a:off x="822960" y="2331720"/>
            <a:ext cx="521208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/ HAMMER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Después de campo: alinear, revisar y construir el registro espacial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726680" y="155448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26680" y="155448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27848" y="1719072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Alinear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927848" y="2121408"/>
            <a:ext cx="31455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 HAMMER como referencia temporal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26680" y="288036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26680" y="2880360"/>
            <a:ext cx="64008" cy="10972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27848" y="3044952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Clasificar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27848" y="3447288"/>
            <a:ext cx="31455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válida / rechazada; detectar registros anómalos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26680" y="420624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26680" y="4206240"/>
            <a:ext cx="64008" cy="109728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27848" y="4370832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Combinar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27848" y="4773168"/>
            <a:ext cx="31455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superponer o promediar repeticiones y ordenar por posición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35240" y="5532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38"/>
                </a:solidFill>
              </a:rPr>
              <a:t>Salida: conjunto de trazas listas para formar U(x,t).</a:t>
            </a:r>
            <a:endParaRPr lang="en-US" sz="1350" dirty="0"/>
          </a:p>
        </p:txBody>
      </p:sp>
      <p:pic>
        <p:nvPicPr>
          <p:cNvPr id="23" name="Picture 22" descr="captura_cruda_ca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85599"/>
            <a:ext cx="6583680" cy="400684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preliminar de campo: la banda útil actual está principalmente por encima de 10 Hz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64922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17a_sn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4166" y="1289304"/>
            <a:ext cx="5215509" cy="42793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5660136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265 impactos · 15 distancias con ≥3 registros utilizables.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543800" y="13258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543800" y="1325880"/>
            <a:ext cx="64008" cy="8686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44968" y="1490472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1–5 Hz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744968" y="1892808"/>
            <a:ext cx="319125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 dB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543800" y="2377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43800" y="2377440"/>
            <a:ext cx="64008" cy="8686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44968" y="2542032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5–10 Hz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744968" y="2944368"/>
            <a:ext cx="319125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2,1 dB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543800" y="34290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543800" y="3429000"/>
            <a:ext cx="64008" cy="86868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44968" y="3593592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10–20 Hz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744968" y="3995928"/>
            <a:ext cx="319125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16,7 dB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7543800" y="448056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543800" y="4480560"/>
            <a:ext cx="64008" cy="86868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44968" y="4645152"/>
            <a:ext cx="3191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20–50 Hz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744968" y="5047488"/>
            <a:ext cx="3191256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24,4 dB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38"/>
                </a:solidFill>
              </a:rPr>
              <a:t>La baja SNR &lt;10 Hz integra fuente + acoplamiento + propagación + geófono + electrónica; no puede atribuirse a un único bloque.</a:t>
            </a:r>
            <a:endParaRPr lang="en-US" sz="13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central: ya podemos construir el registro espacio–tiempo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94360" y="1143000"/>
            <a:ext cx="841248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8" name="Image 0" descr="/mnt/data/slides_assets/fig17b_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036" y="1197864"/>
            <a:ext cx="6743129" cy="46908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5980176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21 posiciones secuenciales entre 10 y 50 m; Δx = 2 m.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9281160" y="14173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281160" y="1417320"/>
            <a:ext cx="64008" cy="9601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482328" y="158191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9482328" y="1984248"/>
            <a:ext cx="18196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posiciones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281160" y="26517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281160" y="2651760"/>
            <a:ext cx="64008" cy="9601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82328" y="281635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10–50 m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482328" y="3218688"/>
            <a:ext cx="18196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rango espacial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281160" y="388620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9281160" y="3886200"/>
            <a:ext cx="64008" cy="96012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82328" y="405079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m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9482328" y="4453128"/>
            <a:ext cx="18196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098280" y="5166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152238"/>
                </a:solidFill>
              </a:rPr>
              <a:t>“Todo lo anterior existe para poder obtener esta matriz.”</a:t>
            </a:r>
            <a:endParaRPr lang="en-US" sz="13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está demostrado y qué falta validar?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13258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7A57"/>
                </a:solidFill>
              </a:rPr>
              <a:t>YA IMPLEMENTADO / EVALUADO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29400" y="13258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5B3B"/>
                </a:solidFill>
              </a:rPr>
              <a:t>PENDIENTE PARA CERRAR MASW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83080"/>
            <a:ext cx="480060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AFE caracterizado en magnitud y fase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Calibración automática de offset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 digital local / DMA / lógica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Coordinación MASTER + almacenamiento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HAMMER instrumentado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U(x,t) secuencial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29400" y="1783080"/>
            <a:ext cx="480060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Sincronización efectiva ADC↔ADC y deriva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LF extremo a extremo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Excitador más energético / repetible en LF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Múltiples GEO simultáneos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Extracción de curvas de dispersión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Inversión para Vₛ(z)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55778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52238"/>
                </a:solidFill>
              </a:rPr>
              <a:t>La plataforma ya permite evaluar la cadena de adquisición; la validación MASW completa es el objetivo de la segunda presentación.</a:t>
            </a:r>
            <a:endParaRPr lang="en-US" sz="15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Camino hacia la presentación final de diciembre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325880" y="1600200"/>
            <a:ext cx="731520" cy="731520"/>
          </a:xfrm>
          <a:prstGeom prst="ellipse">
            <a:avLst/>
          </a:prstGeom>
          <a:solidFill>
            <a:srgbClr val="157A9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03120" y="1965960"/>
            <a:ext cx="777240" cy="0"/>
          </a:xfrm>
          <a:prstGeom prst="line">
            <a:avLst/>
          </a:prstGeom>
          <a:noFill/>
          <a:ln w="25400">
            <a:solidFill>
              <a:srgbClr val="98A4A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77724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38"/>
                </a:solidFill>
              </a:rPr>
              <a:t>Fuente LF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3017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5D6978"/>
                </a:solidFill>
              </a:rPr>
              <a:t>más energía y repetibilidad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3611880" y="1600200"/>
            <a:ext cx="731520" cy="731520"/>
          </a:xfrm>
          <a:prstGeom prst="ellipse">
            <a:avLst/>
          </a:prstGeom>
          <a:solidFill>
            <a:srgbClr val="157A9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89120" y="1965960"/>
            <a:ext cx="777240" cy="0"/>
          </a:xfrm>
          <a:prstGeom prst="line">
            <a:avLst/>
          </a:prstGeom>
          <a:noFill/>
          <a:ln w="25400">
            <a:solidFill>
              <a:srgbClr val="98A4A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6324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38"/>
                </a:solidFill>
              </a:rPr>
              <a:t>Sync real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35808" y="3017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5D6978"/>
                </a:solidFill>
              </a:rPr>
              <a:t>ADC↔ADC + deriva de reloj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5897880" y="1600200"/>
            <a:ext cx="731520" cy="731520"/>
          </a:xfrm>
          <a:prstGeom prst="ellipse">
            <a:avLst/>
          </a:prstGeom>
          <a:solidFill>
            <a:srgbClr val="B968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675120" y="1965960"/>
            <a:ext cx="777240" cy="0"/>
          </a:xfrm>
          <a:prstGeom prst="line">
            <a:avLst/>
          </a:prstGeom>
          <a:noFill/>
          <a:ln w="25400">
            <a:solidFill>
              <a:srgbClr val="98A4AF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34924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38"/>
                </a:solidFill>
              </a:rPr>
              <a:t>Array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21808" y="3017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5D6978"/>
                </a:solidFill>
              </a:rPr>
              <a:t>más nodos GEO simultáneos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8183880" y="1600200"/>
            <a:ext cx="731520" cy="731520"/>
          </a:xfrm>
          <a:prstGeom prst="ellipse">
            <a:avLst/>
          </a:prstGeom>
          <a:solidFill>
            <a:srgbClr val="B968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838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961120" y="1965960"/>
            <a:ext cx="777240" cy="0"/>
          </a:xfrm>
          <a:prstGeom prst="line">
            <a:avLst/>
          </a:prstGeom>
          <a:noFill/>
          <a:ln w="25400">
            <a:solidFill>
              <a:srgbClr val="98A4AF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63524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38"/>
                </a:solidFill>
              </a:rPr>
              <a:t>Dispersión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07808" y="3017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5D6978"/>
                </a:solidFill>
              </a:rPr>
              <a:t>estimación cᵣ(f) + modos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10469880" y="1600200"/>
            <a:ext cx="731520" cy="731520"/>
          </a:xfrm>
          <a:prstGeom prst="ellipse">
            <a:avLst/>
          </a:prstGeom>
          <a:solidFill>
            <a:srgbClr val="3D7A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698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2124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38"/>
                </a:solidFill>
              </a:rPr>
              <a:t>Inversión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93808" y="3017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5D6978"/>
                </a:solidFill>
              </a:rPr>
              <a:t>perfil Vₛ(z) + validación cruzada</a:t>
            </a:r>
            <a:endParaRPr lang="en-US" sz="1130" dirty="0"/>
          </a:p>
        </p:txBody>
      </p:sp>
      <p:sp>
        <p:nvSpPr>
          <p:cNvPr id="31" name="Text 29"/>
          <p:cNvSpPr/>
          <p:nvPr/>
        </p:nvSpPr>
        <p:spPr>
          <a:xfrm>
            <a:off x="1051560" y="48920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2238"/>
                </a:solidFill>
              </a:rPr>
              <a:t>Adquisición  →  dispersión  →  inversión  →  caracterización geotécnica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5160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C4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9C4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2148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C0CF"/>
                </a:solidFill>
              </a:rPr>
              <a:t>Gracias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Elías David Álvarez Martínez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41248" y="54681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F"/>
                </a:solidFill>
              </a:rPr>
              <a:t>Proyecto Final de Carrera · Ingeniería Electrónica</a:t>
            </a:r>
            <a:endParaRPr lang="en-US" sz="1100" dirty="0"/>
          </a:p>
        </p:txBody>
      </p:sp>
      <p:pic>
        <p:nvPicPr>
          <p:cNvPr id="12" name="Picture 11" descr="masw_campo.png"/>
          <p:cNvPicPr>
            <a:picLocks noChangeAspect="1"/>
          </p:cNvPicPr>
          <p:nvPr/>
        </p:nvPicPr>
        <p:blipFill>
          <a:blip r:embed="rId3"/>
          <a:srcRect t="27463" b="27463"/>
          <a:stretch>
            <a:fillRect/>
          </a:stretch>
        </p:blipFill>
        <p:spPr>
          <a:xfrm>
            <a:off x="7132320" y="1188720"/>
            <a:ext cx="41148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 · Ecuación elastodinámica y descomposición de Helmholtz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280160"/>
            <a:ext cx="10332720" cy="82296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8800" y="2514600"/>
            <a:ext cx="8595360" cy="7315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97280" y="3794760"/>
            <a:ext cx="4206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097280" y="3794760"/>
            <a:ext cx="64008" cy="13258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298448" y="3959352"/>
            <a:ext cx="3877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Potencial escalar φ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298448" y="4361688"/>
            <a:ext cx="387705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 irrotacional → compresión / onda P.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0" y="3794760"/>
            <a:ext cx="4206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0" y="3794760"/>
            <a:ext cx="64008" cy="13258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01968" y="3959352"/>
            <a:ext cx="3877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Potencial vector Ψ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601968" y="4361688"/>
            <a:ext cx="387705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 solenoidal → corte / onda S.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 · Relaciones elásticas útiles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234440"/>
            <a:ext cx="10332720" cy="7315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2468880"/>
            <a:ext cx="4572000" cy="64008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57600" y="3474720"/>
            <a:ext cx="4572000" cy="64008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63240" y="4480560"/>
            <a:ext cx="585216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A3 · Interfaces, Snell y conversión P–SV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1280160"/>
            <a:ext cx="6400800" cy="4434840"/>
          </a:xfrm>
          <a:prstGeom prst="roundRect">
            <a:avLst>
              <a:gd name="adj" fmla="val 1649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31470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DIAGRAMA COMPLETO SNELL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60730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P incidente → P/SV reflejadas y transmitidas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0" y="1645920"/>
            <a:ext cx="3383280" cy="685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543800" y="283464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43800" y="2834640"/>
            <a:ext cx="64008" cy="10972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44968" y="2999232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744968" y="3401568"/>
            <a:ext cx="31455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permanece desacoplada de P/SV para interfaz plana e isótropa.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543800" y="420624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543800" y="4206240"/>
            <a:ext cx="64008" cy="10972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44968" y="4370832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Superficie libre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744968" y="4773168"/>
            <a:ext cx="314553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tensión nula → modos superficiales.</a:t>
            </a:r>
            <a:endParaRPr lang="en-US" sz="118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A4 · Relación aproximada entre cᵣ y Vₛ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03120" y="1234440"/>
            <a:ext cx="7955280" cy="8686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4400" y="2834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83464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5568" y="2999232"/>
            <a:ext cx="2002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ν=0.20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15568" y="3401568"/>
            <a:ext cx="200253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cᵣ/Vₛ≈0.91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703320" y="2834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703320" y="283464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904488" y="2999232"/>
            <a:ext cx="2002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ν=0.30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904488" y="3401568"/>
            <a:ext cx="200253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≈0.93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92240" y="2834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92240" y="283464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93408" y="2999232"/>
            <a:ext cx="2002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ν=0.40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93408" y="3401568"/>
            <a:ext cx="200253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≈0.94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9281160" y="2834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81160" y="283464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82328" y="2999232"/>
            <a:ext cx="2002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ν=0.49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9482328" y="3401568"/>
            <a:ext cx="200253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≈0.95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D6978"/>
                </a:solidFill>
              </a:rPr>
              <a:t>La aproximación es para un semiespacio elástico homogéneo; en medios estratificados la relación modal es más compleja.</a:t>
            </a:r>
            <a:endParaRPr lang="en-US" sz="13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A5 · Modos Rayleigh y sensibilidad con profundidad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128016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689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KERNELS / MODOS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5615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fundamental + modos superiores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463040"/>
            <a:ext cx="64008" cy="123444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62763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Modo fundamental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088" y="2029968"/>
            <a:ext cx="424281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dominar, pero no siempre es la única cresta de energía en la imagen de dispersión.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297180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971800"/>
            <a:ext cx="64008" cy="123444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13639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Modos superiores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9088" y="3538728"/>
            <a:ext cx="424281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Pueden aportar información adicional o confundirse si el picking modal no es correcto.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48056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0" y="4480560"/>
            <a:ext cx="64008" cy="123444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19088" y="464515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Implicación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19088" y="5047488"/>
            <a:ext cx="424281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inversión depende también de identificar correctamente las ramas modales.</a:t>
            </a:r>
            <a:endParaRPr lang="en-US" sz="12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A6 · No unicidad e integración de información complementaria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141732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417320"/>
            <a:ext cx="64008" cy="13258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5819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Misma curva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" y="1984248"/>
            <a:ext cx="241401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distintos modelos pueden reproducir aproximadamente cᵣ(f).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11880" y="2057400"/>
            <a:ext cx="96012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09160" y="141732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417320"/>
            <a:ext cx="64008" cy="13258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0328" y="15819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Regularización / prior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10328" y="1984248"/>
            <a:ext cx="241401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 el espacio de soluciones plausibles.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589520" y="2057400"/>
            <a:ext cx="96012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686800" y="141732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0" y="1417320"/>
            <a:ext cx="64008" cy="132588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87968" y="1581912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Contraste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1984248"/>
            <a:ext cx="241401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SPT/CPT, H/V, refracción, downhole/crosshole, geología.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1005840" y="3474720"/>
            <a:ext cx="9966960" cy="2057400"/>
          </a:xfrm>
          <a:prstGeom prst="roundRect">
            <a:avLst>
              <a:gd name="adj" fmla="val 3556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432054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ESQUEMA JOINT / CONSTRAINED INVERSION ]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461314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varios datasets → modelo más restringido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A7 · SASW: fase y velocidad de fase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11680" y="1417320"/>
            <a:ext cx="3840480" cy="59436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2423160"/>
            <a:ext cx="4937760" cy="64008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66560" y="1920240"/>
            <a:ext cx="2926080" cy="6858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84048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914400" y="3840480"/>
            <a:ext cx="64008" cy="1325880"/>
          </a:xfrm>
          <a:prstGeom prst="rect">
            <a:avLst/>
          </a:prstGeom>
          <a:solidFill>
            <a:srgbClr val="B05B3B"/>
          </a:solidFill>
          <a:ln w="12700">
            <a:solidFill>
              <a:srgbClr val="B05B3B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1115568" y="400507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de ambigüedad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115568" y="4407408"/>
            <a:ext cx="415137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entero n representa ciclos completos no observables directamente; distintas separaciones ayudan a resolverlo.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172200" y="384048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172200" y="3840480"/>
            <a:ext cx="64008" cy="13258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373368" y="4005072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eso MASW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373368" y="4407408"/>
            <a:ext cx="415137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añade redundancia espacial y permite analizar el patrón global.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A8 · MASW: del registro U(x,t) a la imagen de dispersión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1371600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37160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53619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· U(x,t)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" y="1938528"/>
            <a:ext cx="186537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trazas ordenadas por posición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17520" y="2011680"/>
            <a:ext cx="68580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94760" y="1371600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94760" y="1371600"/>
            <a:ext cx="64008" cy="128016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95928" y="153619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· Transformar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186537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f–k / phase-shift / τ–p / HLRT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0760" y="2011680"/>
            <a:ext cx="68580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858000" y="1371600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0" y="1371600"/>
            <a:ext cx="64008" cy="128016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59168" y="1536192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· Imagen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59168" y="1938528"/>
            <a:ext cx="186537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 vs f y 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0" y="2011680"/>
            <a:ext cx="685800" cy="0"/>
          </a:xfrm>
          <a:prstGeom prst="line">
            <a:avLst/>
          </a:prstGeom>
          <a:noFill/>
          <a:ln w="25400">
            <a:solidFill>
              <a:srgbClr val="5D697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921240" y="1371600"/>
            <a:ext cx="16459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921240" y="1371600"/>
            <a:ext cx="64008" cy="128016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22408" y="153619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 · Pick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122408" y="1938528"/>
            <a:ext cx="131673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cᵣ(f)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3291840"/>
            <a:ext cx="10241280" cy="2240280"/>
          </a:xfrm>
          <a:prstGeom prst="roundRect">
            <a:avLst>
              <a:gd name="adj" fmla="val 3265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422910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EJEMPLO IMAGEN DE DISPERSIÓN ]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51560" y="452170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reservado para resultado futuro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A9 · Muestreo temporal y espacial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3040" y="1417320"/>
            <a:ext cx="2743200" cy="59436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7880" y="1325880"/>
            <a:ext cx="4480560" cy="6858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2743200"/>
            <a:ext cx="4389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4400" y="2743200"/>
            <a:ext cx="64008" cy="14173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15568" y="290779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Aliasing temporal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115568" y="3310128"/>
            <a:ext cx="405993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componentes por encima de Nyquist se pliegan al espectro medido.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80760" y="2743200"/>
            <a:ext cx="4389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2743200"/>
            <a:ext cx="64008" cy="14173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81928" y="290779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Aliasing espacial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281928" y="3310128"/>
            <a:ext cx="4059936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espaciado excesivo produce velocidades de fase aparentes / crestas falsas.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3063240" y="4709160"/>
            <a:ext cx="6035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063240" y="4709160"/>
            <a:ext cx="64008" cy="100584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264408" y="4873752"/>
            <a:ext cx="5705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de campo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3264408" y="5276088"/>
            <a:ext cx="57058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 del arreglo ↔ resolución en k / profundidad; Δx ↔ límite de frecuencia alta.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A10 · MASW sintetizado con un receptor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1280160"/>
            <a:ext cx="5029200" cy="4389120"/>
          </a:xfrm>
          <a:prstGeom prst="roundRect">
            <a:avLst>
              <a:gd name="adj" fmla="val 1667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918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LIN &amp; ASHLOCK 2016 ]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5844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figura / referencia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72200" y="1417320"/>
            <a:ext cx="475488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Reciprocidad permite intercambiar fuente y receptor bajo hipótesis apropiadas.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traza corresponde a un evento distinto.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repetibilidad / medición de la fuente es crucial.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reemplaza por completo la adquisición simultánea en presencia de cambios temporales.</a:t>
            </a:r>
            <a:endParaRPr lang="en-US" sz="132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A11 · Derivación del modelo SM-24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234440"/>
            <a:ext cx="4572000" cy="6400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0" y="1234440"/>
            <a:ext cx="2560320" cy="59436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4800" y="2240280"/>
            <a:ext cx="292608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03120" y="3246120"/>
            <a:ext cx="7955280" cy="777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2103120" y="4709160"/>
            <a:ext cx="7955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2103120" y="4709160"/>
            <a:ext cx="64008" cy="9601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2304288" y="4873752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física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2304288" y="5276088"/>
            <a:ext cx="762609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Referida a aceleración es pasabanda; referida a velocidad aparece como segundo orden pasa-altos.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A12 · La carga eléctrica modifica el amortiguamiento del geófono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11680" y="1417320"/>
            <a:ext cx="8138160" cy="777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4400" y="27432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743200"/>
            <a:ext cx="64008" cy="137160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5568" y="2907792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Rₗ grande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15568" y="3310128"/>
            <a:ext cx="264261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amortiguamiento eléctrico; mayor pico resonante.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617720" y="27432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17720" y="2743200"/>
            <a:ext cx="64008" cy="137160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18888" y="2907792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Rₗ pequeña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18888" y="3310128"/>
            <a:ext cx="264261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amortiguamiento; menor pico pero mayor carga del sensor.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321040" y="27432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321040" y="2743200"/>
            <a:ext cx="64008" cy="137160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522208" y="2907792"/>
            <a:ext cx="2642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elegido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522208" y="3310128"/>
            <a:ext cx="2642616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alta y simétrica para no introducir diferencias de carga entre unidades.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A13 · ¿Cuánta ganancia exige la región sub-resonante?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417320"/>
          <a:ext cx="9509760" cy="3520440"/>
        </p:xfrm>
        <a:graphic>
          <a:graphicData uri="http://schemas.openxmlformats.org/drawingml/2006/table">
            <a:tbl>
              <a:tblPr/>
              <a:tblGrid>
                <a:gridCol w="1554480"/>
                <a:gridCol w="2286000"/>
                <a:gridCol w="1920240"/>
                <a:gridCol w="34747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 / fₙ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|H|/G₀ (aprox.)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Atenuación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Ganancia para compensar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≈1 (banda)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 dB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1×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≈0.25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−12 dB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≈4×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≈0.04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−28 dB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≈25×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≈0.01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−40 dB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≈100×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1828800" y="516636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978"/>
                </a:solidFill>
              </a:rPr>
              <a:t>Aproximación lejos de resonancia para un segundo orden de velocidad: |H| ∝ (f/fₙ)².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A14 · Comparación ampliada de técnicas de extensión LF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35640" cy="44348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463040"/>
                <a:gridCol w="38862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Método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Actúa sobre sensor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Ruido LF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Complejidad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Observación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Amplificación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corrige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Baja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consume rango dinámico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Carga pasiva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Sí, vía carga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baja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Baja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extensión limitada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Zero-pole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puede aumentar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Media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sensible a offsets/modelo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Force balance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Sí, fuerza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controlable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Alta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estabilidad y consumo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 et al.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evita inversor ideal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Media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requiere ganancia posterior</a:t>
                      </a:r>
                      <a:endParaRPr lang="en-US" sz="10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A15 · Compensación tipo Ma et al.: formulación conceptual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" y="1371600"/>
            <a:ext cx="4114800" cy="6400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69280" y="1325880"/>
            <a:ext cx="5212080" cy="7315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22960" y="274320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60120" y="38176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RESPUESTAS DE RAMAS ]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60120" y="41102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directa · BP · resta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355080" y="38176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RESPUESTA RESULTANTE ]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355080" y="41102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aplanamiento + ganancia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A16 · Esquemático completo del AFE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94360" y="1051560"/>
            <a:ext cx="1097280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11" name="Image 0" descr="/mnt/data/slides_assets/fig5_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572" y="1106424"/>
            <a:ext cx="9678375" cy="514807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6345936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Entrada diferencial · PGA · BP · SUM · LP · VDACs · ADC/MUX.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A17 · Barridos completos del AFE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94360" y="1051560"/>
            <a:ext cx="1097280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11" name="Image 0" descr="/mnt/data/slides_assets/fig9_respo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165" y="1106424"/>
            <a:ext cx="5557190" cy="514807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6345936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Magnitud, fase, tolerancias, potenciómetro y coherencia.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A18 · Cuantización ADC / VDAC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69080" y="1325880"/>
            <a:ext cx="3931920" cy="640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97280" y="27432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097280" y="2743200"/>
            <a:ext cx="64008" cy="15544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98448" y="2907792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ADC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98448" y="3310128"/>
            <a:ext cx="3694176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2¹⁸, span = 5 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q_ADC ≈ 19,1 µV/count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040880" y="27432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0880" y="2743200"/>
            <a:ext cx="64008" cy="15544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42048" y="2907792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VDAC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242048" y="3310128"/>
            <a:ext cx="3694176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2⁸, span = 4,096 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q_DAC = 16 mV/code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63040" y="50292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La resolución finita del VDAC justifica la banda muerta y el refinamiento del código final.</a:t>
            </a:r>
            <a:endParaRPr lang="en-US" sz="1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A19 · PI, deadband y anti-windup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" y="1143000"/>
            <a:ext cx="4480560" cy="123444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0" y="1188720"/>
            <a:ext cx="548640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5840" y="3108960"/>
            <a:ext cx="1014984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limitado a 0…255.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 suspendida si saturación y error empujan más hacia el límite.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Convergencia exige muestras consecutivas dentro de banda muerta.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de código adyacente solo se conserva si reduce el residual.</a:t>
            </a:r>
            <a:endParaRPr lang="en-US" sz="13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A20 · Parámetros y resultados completos del DA-AFE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85800" y="1280160"/>
            <a:ext cx="5349240" cy="4526280"/>
          </a:xfrm>
          <a:prstGeom prst="roundRect">
            <a:avLst>
              <a:gd name="adj" fmla="val 1616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3604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TABLA I PAPER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6530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Ki, Δi, kP, kI, settle/lock/refine, timeout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1280160"/>
            <a:ext cx="5349240" cy="4526280"/>
          </a:xfrm>
          <a:prstGeom prst="roundRect">
            <a:avLst>
              <a:gd name="adj" fmla="val 1616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33604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TABLA II PAPER 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36530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offset %FS por etapa / placa / ganancia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8978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978"/>
                </a:solidFill>
              </a:rPr>
              <a:t>Útil para responder preguntas de tuning, dispersión entre placas y estadística.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A21 · SignalController, DMA y almacenamiento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1188720"/>
            <a:ext cx="71323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11" name="Image 0" descr="/mnt/data/slides_assets/urucon_digi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789708"/>
            <a:ext cx="7022592" cy="33243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5157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Hardware digital del PSoC 5LP.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138160" y="1417320"/>
            <a:ext cx="274320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 ADC→RAM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 ADC→DFB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 DFB→RAM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watchdog / estados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EEPROM + CRC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de VDAC / MUX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A22 · Modelo de error de reloj local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11680" y="1463040"/>
            <a:ext cx="3108960" cy="6400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0760" y="1371600"/>
            <a:ext cx="4023360" cy="7315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51560" y="31089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051560" y="3108960"/>
            <a:ext cx="64008" cy="132588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252728" y="3273552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de inicio t₀,ᵢ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252728" y="3675888"/>
            <a:ext cx="396849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afecta principalmente un desplazamiento temporal / fase inicial.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0" y="31089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0" y="3108960"/>
            <a:ext cx="64008" cy="132588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01968" y="3273552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de tasa εᵢ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601968" y="3675888"/>
            <a:ext cx="396849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acumula deriva relativa a lo largo de la captura.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73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A23 · Error de fase asociado a Δt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23360" y="1234440"/>
            <a:ext cx="4206240" cy="640080"/>
          </a:xfrm>
          <a:prstGeom prst="rect">
            <a:avLst/>
          </a:prstGeom>
        </p:spPr>
      </p:pic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2423160"/>
          <a:ext cx="9418320" cy="278892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828800"/>
                <a:gridCol w="19202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Δt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 Hz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 Hz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50 Hz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 Hz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 µs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0,36°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0,72°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1,8°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3,6°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200 µs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0,72°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1,44°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3,6°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7,2°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400 µs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1,44°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2,88°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7,2°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14,4°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A24 · Nodo HAMMER: cadena analógica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1143000"/>
            <a:ext cx="713232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11" name="Image 0" descr="/mnt/data/slides_assets/fig13_ham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056065"/>
            <a:ext cx="7022592" cy="279158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97296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978"/>
                </a:solidFill>
              </a:rPr>
              <a:t>Sensor ICP → desacople/protección → PGA → LP → ADC.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092440" y="14173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92440" y="1417320"/>
            <a:ext cx="64008" cy="1188720"/>
          </a:xfrm>
          <a:prstGeom prst="rect">
            <a:avLst/>
          </a:prstGeom>
          <a:solidFill>
            <a:srgbClr val="B9683C"/>
          </a:solidFill>
          <a:ln w="12700">
            <a:solidFill>
              <a:srgbClr val="B968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158191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Transductor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93608" y="1984248"/>
            <a:ext cx="2688336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PCB 086D20 ICP; requiere alimentación por corriente constante.</a:t>
            </a:r>
            <a:endParaRPr lang="en-US" sz="1180" dirty="0"/>
          </a:p>
        </p:txBody>
      </p:sp>
      <p:sp>
        <p:nvSpPr>
          <p:cNvPr id="17" name="Shape 14"/>
          <p:cNvSpPr/>
          <p:nvPr/>
        </p:nvSpPr>
        <p:spPr>
          <a:xfrm>
            <a:off x="8092440" y="288036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92440" y="2880360"/>
            <a:ext cx="64008" cy="1188720"/>
          </a:xfrm>
          <a:prstGeom prst="rect">
            <a:avLst/>
          </a:prstGeom>
          <a:solidFill>
            <a:srgbClr val="157A9E"/>
          </a:solidFill>
          <a:ln w="12700">
            <a:solidFill>
              <a:srgbClr val="157A9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04495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93608" y="3447288"/>
            <a:ext cx="2688336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instante y forma del contacto; detectar rebote / impacto múltiple.</a:t>
            </a:r>
            <a:endParaRPr lang="en-US" sz="1180" dirty="0"/>
          </a:p>
        </p:txBody>
      </p:sp>
      <p:sp>
        <p:nvSpPr>
          <p:cNvPr id="21" name="Shape 18"/>
          <p:cNvSpPr/>
          <p:nvPr/>
        </p:nvSpPr>
        <p:spPr>
          <a:xfrm>
            <a:off x="8092440" y="434340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  <a:effectLst>
            <a:outerShdw sx="100000" sy="100000" kx="0" ky="0" algn="bl" rotWithShape="0" blurRad="12700" dist="50800" dir="2700000">
              <a:srgbClr val="AAB3BD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092440" y="4343400"/>
            <a:ext cx="64008" cy="1188720"/>
          </a:xfrm>
          <a:prstGeom prst="rect">
            <a:avLst/>
          </a:prstGeom>
          <a:solidFill>
            <a:srgbClr val="3D7A57"/>
          </a:solidFill>
          <a:ln w="12700">
            <a:solidFill>
              <a:srgbClr val="3D7A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93608" y="45079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293608" y="4910328"/>
            <a:ext cx="2688336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misma estructura de control/adquisición que GEO.</a:t>
            </a:r>
            <a:endParaRPr lang="en-US" sz="118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A25 · Cálculo de SNR aparente en campo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34640" y="1234440"/>
            <a:ext cx="658368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2560320"/>
            <a:ext cx="99669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Ventanas de 1 s antes y después del impacto.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elimina la media y se aplica ventana Hann.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PSD normalizada por energía de ventana y f_s.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Medianas por distancia y por banda.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Resolución efectiva ≈1 Hz; zero-padding solo interpola la visualización.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280160" y="5394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B3B"/>
                </a:solidFill>
              </a:rPr>
              <a:t>“Aparente” porque la ventana post-impacto contiene señal + ruido, no una medida de ruido aislado.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A26 · BOM / costo por nodo — placeholder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22960" y="1325880"/>
            <a:ext cx="10515600" cy="4434840"/>
          </a:xfrm>
          <a:prstGeom prst="roundRect">
            <a:avLst>
              <a:gd name="adj" fmla="val 1649"/>
            </a:avLst>
          </a:prstGeom>
          <a:solidFill>
            <a:srgbClr val="EEF1F4"/>
          </a:solidFill>
          <a:ln w="12700">
            <a:solidFill>
              <a:srgbClr val="BCC7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6042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6727F"/>
                </a:solidFill>
              </a:rPr>
              <a:t>[ TABLA BOM 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65302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F8A95"/>
                </a:solidFill>
              </a:rPr>
              <a:t>SM-24 · PSoC 5LP · ESP32 · SD · PCB · alimentación · conectores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88720" y="585216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978"/>
                </a:solidFill>
              </a:rPr>
              <a:t>Completar cuando se cierre el costo real de fabricación y comparar con instrumentación comercial.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A27 · Metadatos y trazabilidad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141732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47218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ID de nodo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566160" y="141732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157A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147218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7A9E"/>
                </a:solidFill>
              </a:rPr>
              <a:t>posición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41732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47218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fₛ efectiva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44000" y="141732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157A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17152" y="147218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7A9E"/>
                </a:solidFill>
              </a:rPr>
              <a:t>rango ADC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7240" y="246888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523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ganancia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566160" y="246888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157A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39312" y="2523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7A9E"/>
                </a:solidFill>
              </a:rPr>
              <a:t>ruta de señal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246888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523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N muestras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44000" y="246888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157A9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2523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7A9E"/>
                </a:solidFill>
              </a:rPr>
              <a:t>estado calibración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77240" y="352044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57530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versión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566160" y="352044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157A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9312" y="357530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7A9E"/>
                </a:solidFill>
              </a:rPr>
              <a:t>CRC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55080" y="3520440"/>
            <a:ext cx="2331720" cy="310896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15240">
            <a:solidFill>
              <a:srgbClr val="B968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357530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683C"/>
                </a:solidFill>
              </a:rPr>
              <a:t>overflow / cierre incompleto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" y="53492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</a:rPr>
              <a:t>Los archivos originales se preservan; el procesamiento se realiza sobre copias derivadas.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28816"/>
            <a:ext cx="11183112" cy="0"/>
          </a:xfrm>
          <a:prstGeom prst="line">
            <a:avLst/>
          </a:prstGeom>
          <a:noFill/>
          <a:ln w="10160">
            <a:solidFill>
              <a:srgbClr val="D5DD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5562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Auxiliar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5471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32004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22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A28 · Referencias principales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16459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A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SLIDES AUXILIARES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875520" y="274320"/>
            <a:ext cx="1325880" cy="320040"/>
          </a:xfrm>
          <a:prstGeom prst="roundRect">
            <a:avLst>
              <a:gd name="adj" fmla="val 34286"/>
            </a:avLst>
          </a:prstGeom>
          <a:solidFill>
            <a:srgbClr val="6A7280"/>
          </a:solidFill>
          <a:ln w="12700">
            <a:solidFill>
              <a:srgbClr val="6A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8672" y="347472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BACKUP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1325880"/>
            <a:ext cx="10469880" cy="5029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(2014). Surface Wave Methods for Near-Surface Site Characterization.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Foti et al. (2018). Guidelines for the good practice of surface wave analysis.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Park, Miller &amp; Xia (1998, 1999). MASW / dispersion imaging.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 &amp; Ashlock (2016). Surface-wave testing using multichannel simulation with one receiver.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 et al. (2023). An effective method for improving low-frequency response of geophone.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Hakimitoroghi et al. (2017). Compensation Techniques for Geophone Response.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Zhang et al. (2020). Digital low-frequency geophone based on velocity feedback.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Zhang et al. (2025). Force balance and approximate integrator.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Álvarez, González &amp; Vargas Cabral (2026). Digitally Assisted Analog Front-End for Geophone Instrumentation.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5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Nederland B.V. (2006). SM-24 Geophone Element.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Universidad Católica Nuestra Señora de la Asunción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Diseño e implementación de un sistema electrónico multicanal del tipo IoT para caracterización geotécnica del suelo mediante ondas sísmicas</dc:title>
  <dc:subject>Primera presentación — Proyecto Final de Carrera</dc:subject>
  <dc:creator>Elías David Álvarez Martínez</dc:creator>
  <cp:lastModifiedBy>Elías David Álvarez Martínez</cp:lastModifiedBy>
  <cp:revision>1</cp:revision>
  <dcterms:created xsi:type="dcterms:W3CDTF">2026-09-30T01:46:43Z</dcterms:created>
  <dcterms:modified xsi:type="dcterms:W3CDTF">2026-09-30T01:46:43Z</dcterms:modified>
</cp:coreProperties>
</file>