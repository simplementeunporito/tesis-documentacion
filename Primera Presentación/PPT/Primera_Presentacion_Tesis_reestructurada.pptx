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Abrir con una frase: la tesis no presenta un sismógrafo comercial terminado, sino una cadena electrónica accesible y auditable para MASW.
La imagen de portada ya comunica el problema: fuente superficial, geófonos y registro multicanal.
Duración prevista: 45–60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geotecnia no busca la señal por sí misma; la usa para obtener un modelo compatible con datos y resolución.
La ecuación Gmax = rho Vs² justifica por qué toda la presentación se concentra en Vs.
No prometer una “imagen” del terreno. Repetir que es un problema inverso.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brevemente Love antes de Rayleigh: Love es SH horizontal; Rayleigh es movimiento elíptico en el plano vertical.
El objetivo no es decir que Love no sirve, sino que Rayleigh encaja con fuente y sensor disponibles.
Esta slide debe cerrar con la frase: “entonces debemos medir fase de ondas Rayleigh”.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una de las ideas centrales: profundidad no aparece por magia, aparece porque cada frecuencia muestrea un volumen distinto.
Usar la ecuación como compresión. Verbalmente explicar la intuición de longitudes de onda.
Aclarar que z≈λ/2 es orientación, no regla rígida.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slide es el puente entre geofísica y electrónica.
La mesa es electrónica: remarcar que el requisito no es sólo amplitud, sino fase relativa.
Dejar sembrada la relación que después justifica el presupuesto de sincronismo.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explicar cada símbolo. Decir: para cada velocidad candidata, re-fasamos canales y medimos coherencia.
Luego: de la curva a Vs(z) aparece el problema inverso.
Remarcar que esta matemática define requisitos del instrumento.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slide pivote: de ahora en adelante recorremos el pipeline de izquierda a derecha.
La contribución no es un único circuito aislado sino la integración completa y auditable.
No presentar aún resultados; sólo definir el mapa de la presentación.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el martillo PCB como fuente actual: da forma e instante del impacto.
No desarrollar todavía el martillete. Sólo sembrar la pregunta sobre baja frecuencia.
El payoff del martillete viene más adelante, después de ver los resultados espectrales.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decir que se eligió el mejor sensor para profundidad: se usó el disponible.
El mérito de ingeniería empieza al intentar extender el uso de un geófono de 10 Hz hacia frecuencias inferiores.
Conectar con la siguiente slide: una misma tensión puede escribirse respecto a velocidad o aceleración.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Cuidar mucho la frase: el SM-24 no cambia de modo; cambia la variable respecto de la cual interpretamos la salida.
Esto prepara la compensación de Ma et al., que trabaja sobre la respuesta referida a aceleración.
Es una slide más matemática por la audiencia.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una slide central: no ocultar matemática.
Explicar intuitivamente: no invertimos agresivamente hasta DC; atenuamos la región dominante y recuperamos ganancia.
Resaltar camino directo menos BP como idea implementable.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vender la compensación como gratis. El trade-off es el corazón de la tesis.
La pérdida de sensibilidad explica las ganancias altas y prepara la autocalibración.
Si preguntan, aclarar que la medición del Bode es electrónica encadenada con modelo nominal del geófono.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la calibración como una consecuencia necesaria de las ganancias, no como un accesorio.
Explicar el orden secuencial: cada etapa no debe propagar el residuo a la siguiente.
Remarcar que el lazo se apaga durante la captura para no deformar la señal.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para la mesa electrónica: la adquisición no depende de callbacks de software ni de Python.
El CPU queda para comandos y persistencia; muestras y filtros pasan por bloques de hardware y DMA.
No detenerse demasiado, salvo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Defender la decisión: no es que ignoremos CAN/UWB; elegimos una arquitectura barata y flexible con una penalización que debe cuantificarse.
Decir explícitamente que no se interpolan paquetes: fase falsa sería peor que dato perdido.
Preparar la ecuación de la slide siguiente.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Usar la métrica física correcta: error de fase o error de velocidad, no porcentaje de muestra.
Aclarar que 200 µs es el peor caso medido que estamos tomando como referencia.
Esta es una zona donde la mesa puede preguntar fuerte.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que el sistema se puede operar sin estar metido en el microcontrolador.
Separar las dos tareas: campo y análisis.
Metadatos y trazabilidad son parte del valor del sistema.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slide debe respirar. No meter más texto.
El mensaje: sistema funcional de punta a punta, pero todavía no validación geotécnica completa.
Recordar: los resultados de dispersión son preliminares.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que no toda zona coloreada del mapa es interpretable.
Aliasing espacial y apertura definen un dominio de confianza.
Esto evita sobreprometer el resultado.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hallazgo que reordena prioridades.
No culpar solamente a la electrónica: incluye fuente, acoplamiento, terreno, sensor y AFE.
El próximo paso narrativo es volver a la fuente.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sí explicar la fuente repetitiva.
Impactos repetidos permiten sumar coherentemente la contribución de la fuente y no el ruido.
Diferenciar claramente: diseño en desarrollo, evidencia preliminar cualitativa, validación pendiente.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slide evita que la mesa crea que el resto es “sólo correr un programa”.
No meter tablas. Contar los hallazgos conceptuales y dejar los anexos para preguntas.
El benchmark demuestra madurez metodológica.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balanceado: no decir “terminado”, decir “integrado y diagnosticado”.
La sensación final debe ser control del proyecto, no lista de tareas sueltas.
Invitar a discutir qué validación priorizar antes de aceptar Vs(z).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cierre sin lista de conclusiones.
Dejar visible el sistema completo y abrir discusión.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sv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svg"/><Relationship Id="rId4" Type="http://schemas.openxmlformats.org/officeDocument/2006/relationships/image" Target="../media/image-5-4.png"/><Relationship Id="rId5" Type="http://schemas.openxmlformats.org/officeDocument/2006/relationships/image" Target="../media/image-5-5.sv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svg"/><Relationship Id="rId4" Type="http://schemas.openxmlformats.org/officeDocument/2006/relationships/image" Target="../media/image-6-4.png"/><Relationship Id="rId5" Type="http://schemas.openxmlformats.org/officeDocument/2006/relationships/image" Target="../media/image-6-5.sv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jp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svg"/><Relationship Id="rId4" Type="http://schemas.openxmlformats.org/officeDocument/2006/relationships/image" Target="../media/image-10-4.png"/><Relationship Id="rId5" Type="http://schemas.openxmlformats.org/officeDocument/2006/relationships/image" Target="../media/image-10-5.sv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image" Target="../media/image-11-3.png"/><Relationship Id="rId4" Type="http://schemas.openxmlformats.org/officeDocument/2006/relationships/image" Target="../media/image-11-4.svg"/><Relationship Id="rId5" Type="http://schemas.openxmlformats.org/officeDocument/2006/relationships/image" Target="../media/image-11-5.png"/><Relationship Id="rId6" Type="http://schemas.openxmlformats.org/officeDocument/2006/relationships/image" Target="../media/image-11-6.svg"/><Relationship Id="rId7" Type="http://schemas.openxmlformats.org/officeDocument/2006/relationships/image" Target="../media/image-11-7.png"/><Relationship Id="rId8" Type="http://schemas.openxmlformats.org/officeDocument/2006/relationships/slideLayout" Target="../slideLayouts/slideLayout1.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svg"/><Relationship Id="rId3" Type="http://schemas.openxmlformats.org/officeDocument/2006/relationships/image" Target="../media/image-16-3.png"/><Relationship Id="rId4" Type="http://schemas.openxmlformats.org/officeDocument/2006/relationships/image" Target="../media/image-16-4.sv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jp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svg"/><Relationship Id="rId4" Type="http://schemas.openxmlformats.org/officeDocument/2006/relationships/image" Target="../media/image-19-4.png"/><Relationship Id="rId5" Type="http://schemas.openxmlformats.org/officeDocument/2006/relationships/image" Target="../media/image-19-5.sv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794760" cy="6858000"/>
          </a:xfrm>
          <a:prstGeom prst="rect">
            <a:avLst/>
          </a:prstGeom>
          <a:solidFill>
            <a:srgbClr val="17225C"/>
          </a:solidFill>
          <a:ln w="12700">
            <a:solidFill>
              <a:srgbClr val="17225C"/>
            </a:solidFill>
            <a:prstDash val="solid"/>
          </a:ln>
        </p:spPr>
      </p:sp>
      <p:pic>
        <p:nvPicPr>
          <p:cNvPr id="3" name="Image 0" descr="/mnt/data/pptx_unzip/ppt/media/image82.png">    </p:cNvPr>
          <p:cNvPicPr>
            <a:picLocks noChangeAspect="1"/>
          </p:cNvPicPr>
          <p:nvPr/>
        </p:nvPicPr>
        <p:blipFill>
          <a:blip r:embed="rId1"/>
          <a:stretch>
            <a:fillRect/>
          </a:stretch>
        </p:blipFill>
        <p:spPr>
          <a:xfrm>
            <a:off x="3931920" y="834390"/>
            <a:ext cx="8001000" cy="4000500"/>
          </a:xfrm>
          <a:prstGeom prst="rect">
            <a:avLst/>
          </a:prstGeom>
        </p:spPr>
      </p:pic>
      <p:sp>
        <p:nvSpPr>
          <p:cNvPr id="4" name="Text 1"/>
          <p:cNvSpPr/>
          <p:nvPr/>
        </p:nvSpPr>
        <p:spPr>
          <a:xfrm>
            <a:off x="384048" y="713232"/>
            <a:ext cx="2971800" cy="1828800"/>
          </a:xfrm>
          <a:prstGeom prst="rect">
            <a:avLst/>
          </a:prstGeom>
          <a:noFill/>
          <a:ln/>
        </p:spPr>
        <p:txBody>
          <a:bodyPr wrap="square" lIns="254" tIns="254" rIns="254" bIns="254" rtlCol="0" anchor="ctr">
            <a:normAutofit/>
          </a:bodyPr>
          <a:lstStyle/>
          <a:p>
            <a:pPr indent="0" marL="0">
              <a:buNone/>
            </a:pPr>
            <a:r>
              <a:rPr lang="en-US" sz="2050" b="1" dirty="0">
                <a:solidFill>
                  <a:srgbClr val="FFFFFF"/>
                </a:solidFill>
                <a:latin typeface="Aptos Display" pitchFamily="34" charset="0"/>
                <a:ea typeface="Aptos Display" pitchFamily="34" charset="-122"/>
                <a:cs typeface="Aptos Display" pitchFamily="34" charset="-120"/>
              </a:rPr>
              <a:t>Diseño e implementación</a:t>
            </a:r>
            <a:endParaRPr lang="en-US" sz="2050" dirty="0"/>
          </a:p>
          <a:p>
            <a:pPr indent="0" marL="0">
              <a:buNone/>
            </a:pPr>
            <a:r>
              <a:rPr lang="en-US" sz="2050" b="1" dirty="0">
                <a:solidFill>
                  <a:srgbClr val="FFFFFF"/>
                </a:solidFill>
                <a:latin typeface="Aptos Display" pitchFamily="34" charset="0"/>
                <a:ea typeface="Aptos Display" pitchFamily="34" charset="-122"/>
                <a:cs typeface="Aptos Display" pitchFamily="34" charset="-120"/>
              </a:rPr>
              <a:t>de un sistema electrónico</a:t>
            </a:r>
            <a:endParaRPr lang="en-US" sz="2050" dirty="0"/>
          </a:p>
          <a:p>
            <a:pPr indent="0" marL="0">
              <a:buNone/>
            </a:pPr>
            <a:r>
              <a:rPr lang="en-US" sz="2050" b="1" dirty="0">
                <a:solidFill>
                  <a:srgbClr val="FFFFFF"/>
                </a:solidFill>
                <a:latin typeface="Aptos Display" pitchFamily="34" charset="0"/>
                <a:ea typeface="Aptos Display" pitchFamily="34" charset="-122"/>
                <a:cs typeface="Aptos Display" pitchFamily="34" charset="-120"/>
              </a:rPr>
              <a:t>multicanal del tipo IoT</a:t>
            </a:r>
            <a:endParaRPr lang="en-US" sz="2050" dirty="0"/>
          </a:p>
          <a:p>
            <a:pPr indent="0" marL="0">
              <a:buNone/>
            </a:pPr>
            <a:r>
              <a:rPr lang="en-US" sz="2050" b="1" dirty="0">
                <a:solidFill>
                  <a:srgbClr val="FFFFFF"/>
                </a:solidFill>
                <a:latin typeface="Aptos Display" pitchFamily="34" charset="0"/>
                <a:ea typeface="Aptos Display" pitchFamily="34" charset="-122"/>
                <a:cs typeface="Aptos Display" pitchFamily="34" charset="-120"/>
              </a:rPr>
              <a:t>para caracterización</a:t>
            </a:r>
            <a:endParaRPr lang="en-US" sz="2050" dirty="0"/>
          </a:p>
          <a:p>
            <a:pPr indent="0" marL="0">
              <a:buNone/>
            </a:pPr>
            <a:r>
              <a:rPr lang="en-US" sz="2050" b="1" dirty="0">
                <a:solidFill>
                  <a:srgbClr val="FFFFFF"/>
                </a:solidFill>
                <a:latin typeface="Aptos Display" pitchFamily="34" charset="0"/>
                <a:ea typeface="Aptos Display" pitchFamily="34" charset="-122"/>
                <a:cs typeface="Aptos Display" pitchFamily="34" charset="-120"/>
              </a:rPr>
              <a:t>geotécnica del suelo</a:t>
            </a:r>
            <a:endParaRPr lang="en-US" sz="2050" dirty="0"/>
          </a:p>
          <a:p>
            <a:pPr indent="0" marL="0">
              <a:buNone/>
            </a:pPr>
            <a:r>
              <a:rPr lang="en-US" sz="2050" b="1" dirty="0">
                <a:solidFill>
                  <a:srgbClr val="FFFFFF"/>
                </a:solidFill>
                <a:latin typeface="Aptos Display" pitchFamily="34" charset="0"/>
                <a:ea typeface="Aptos Display" pitchFamily="34" charset="-122"/>
                <a:cs typeface="Aptos Display" pitchFamily="34" charset="-120"/>
              </a:rPr>
              <a:t>mediante ondas sísmicas</a:t>
            </a:r>
            <a:endParaRPr lang="en-US" sz="2050" dirty="0"/>
          </a:p>
        </p:txBody>
      </p:sp>
      <p:sp>
        <p:nvSpPr>
          <p:cNvPr id="5" name="Text 2"/>
          <p:cNvSpPr/>
          <p:nvPr/>
        </p:nvSpPr>
        <p:spPr>
          <a:xfrm>
            <a:off x="384048" y="4041648"/>
            <a:ext cx="2926080" cy="1645920"/>
          </a:xfrm>
          <a:prstGeom prst="rect">
            <a:avLst/>
          </a:prstGeom>
          <a:noFill/>
          <a:ln/>
        </p:spPr>
        <p:txBody>
          <a:bodyPr wrap="square" lIns="254" tIns="254" rIns="254" bIns="254" rtlCol="0" anchor="ctr">
            <a:normAutofit/>
          </a:bodyPr>
          <a:lstStyle/>
          <a:p>
            <a:pPr indent="0" marL="0">
              <a:buNone/>
            </a:pPr>
            <a:r>
              <a:rPr lang="en-US" sz="1120" dirty="0">
                <a:solidFill>
                  <a:srgbClr val="FFFFFF"/>
                </a:solidFill>
                <a:latin typeface="Aptos" pitchFamily="34" charset="0"/>
                <a:ea typeface="Aptos" pitchFamily="34" charset="-122"/>
                <a:cs typeface="Aptos" pitchFamily="34" charset="-120"/>
              </a:rPr>
              <a:t>Alumno:</a:t>
            </a:r>
            <a:endParaRPr lang="en-US" sz="1120" dirty="0"/>
          </a:p>
          <a:p>
            <a:pPr indent="0" marL="0">
              <a:buNone/>
            </a:pPr>
            <a:r>
              <a:rPr lang="en-US" sz="1120" dirty="0">
                <a:solidFill>
                  <a:srgbClr val="FFFFFF"/>
                </a:solidFill>
                <a:latin typeface="Aptos" pitchFamily="34" charset="0"/>
                <a:ea typeface="Aptos" pitchFamily="34" charset="-122"/>
                <a:cs typeface="Aptos" pitchFamily="34" charset="-120"/>
              </a:rPr>
              <a:t>Elías David Álvarez Martínez</a:t>
            </a:r>
            <a:endParaRPr lang="en-US" sz="1120" dirty="0"/>
          </a:p>
          <a:p>
            <a:pPr indent="0" marL="0">
              <a:buNone/>
            </a:pPr>
            <a:r>
              <a:rPr lang="en-US" sz="1120" dirty="0">
                <a:solidFill>
                  <a:srgbClr val="FFFFFF"/>
                </a:solidFill>
                <a:latin typeface="Aptos" pitchFamily="34" charset="0"/>
                <a:ea typeface="Aptos" pitchFamily="34" charset="-122"/>
                <a:cs typeface="Aptos" pitchFamily="34" charset="-120"/>
              </a:rPr>
              <a:t>Matrícula: Y24127</a:t>
            </a:r>
            <a:endParaRPr lang="en-US" sz="1120" dirty="0"/>
          </a:p>
          <a:p>
            <a:pPr indent="0" marL="0">
              <a:buNone/>
            </a:pPr>
            <a:endParaRPr lang="en-US" sz="1120" dirty="0"/>
          </a:p>
          <a:p>
            <a:pPr indent="0" marL="0">
              <a:buNone/>
            </a:pPr>
            <a:r>
              <a:rPr lang="en-US" sz="1120" dirty="0">
                <a:solidFill>
                  <a:srgbClr val="FFFFFF"/>
                </a:solidFill>
                <a:latin typeface="Aptos" pitchFamily="34" charset="0"/>
                <a:ea typeface="Aptos" pitchFamily="34" charset="-122"/>
                <a:cs typeface="Aptos" pitchFamily="34" charset="-120"/>
              </a:rPr>
              <a:t>Tutor:</a:t>
            </a:r>
            <a:endParaRPr lang="en-US" sz="1120" dirty="0"/>
          </a:p>
          <a:p>
            <a:pPr indent="0" marL="0">
              <a:buNone/>
            </a:pPr>
            <a:r>
              <a:rPr lang="en-US" sz="1120" dirty="0">
                <a:solidFill>
                  <a:srgbClr val="FFFFFF"/>
                </a:solidFill>
                <a:latin typeface="Aptos" pitchFamily="34" charset="0"/>
                <a:ea typeface="Aptos" pitchFamily="34" charset="-122"/>
                <a:cs typeface="Aptos" pitchFamily="34" charset="-120"/>
              </a:rPr>
              <a:t>Enrique A. Vargas Cabral, Ph.D.</a:t>
            </a:r>
            <a:endParaRPr lang="en-US" sz="1120" dirty="0"/>
          </a:p>
          <a:p>
            <a:pPr indent="0" marL="0">
              <a:buNone/>
            </a:pPr>
            <a:endParaRPr lang="en-US" sz="1120" dirty="0"/>
          </a:p>
          <a:p>
            <a:pPr indent="0" marL="0">
              <a:buNone/>
            </a:pPr>
            <a:r>
              <a:rPr lang="en-US" sz="1120" dirty="0">
                <a:solidFill>
                  <a:srgbClr val="FFFFFF"/>
                </a:solidFill>
                <a:latin typeface="Aptos" pitchFamily="34" charset="0"/>
                <a:ea typeface="Aptos" pitchFamily="34" charset="-122"/>
                <a:cs typeface="Aptos" pitchFamily="34" charset="-120"/>
              </a:rPr>
              <a:t>Carrera:</a:t>
            </a:r>
            <a:endParaRPr lang="en-US" sz="1120" dirty="0"/>
          </a:p>
          <a:p>
            <a:pPr indent="0" marL="0">
              <a:buNone/>
            </a:pPr>
            <a:r>
              <a:rPr lang="en-US" sz="1120" dirty="0">
                <a:solidFill>
                  <a:srgbClr val="FFFFFF"/>
                </a:solidFill>
                <a:latin typeface="Aptos" pitchFamily="34" charset="0"/>
                <a:ea typeface="Aptos" pitchFamily="34" charset="-122"/>
                <a:cs typeface="Aptos" pitchFamily="34" charset="-120"/>
              </a:rPr>
              <a:t>Ingeniería Electrónica</a:t>
            </a:r>
            <a:endParaRPr lang="en-US" sz="1120" dirty="0"/>
          </a:p>
        </p:txBody>
      </p:sp>
      <p:sp>
        <p:nvSpPr>
          <p:cNvPr id="6" name="Text 3"/>
          <p:cNvSpPr/>
          <p:nvPr/>
        </p:nvSpPr>
        <p:spPr>
          <a:xfrm>
            <a:off x="6949440" y="5650992"/>
            <a:ext cx="4572000" cy="137160"/>
          </a:xfrm>
          <a:prstGeom prst="rect">
            <a:avLst/>
          </a:prstGeom>
          <a:noFill/>
          <a:ln/>
        </p:spPr>
        <p:txBody>
          <a:bodyPr wrap="square" lIns="0" tIns="0" rIns="0" bIns="0" rtlCol="0" anchor="ctr"/>
          <a:lstStyle/>
          <a:p>
            <a:pPr algn="r" indent="0" marL="0">
              <a:buNone/>
            </a:pPr>
            <a:r>
              <a:rPr lang="en-US" sz="650" dirty="0">
                <a:solidFill>
                  <a:srgbClr val="5B6472"/>
                </a:solidFill>
              </a:rPr>
              <a:t>Fuente visual: Geostru / Creato da M. Bandini</a:t>
            </a:r>
            <a:endParaRPr lang="en-US" sz="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17225C"/>
          </a:solidFill>
          <a:ln w="12700">
            <a:solidFill>
              <a:srgbClr val="17225C"/>
            </a:solidFill>
            <a:prstDash val="solid"/>
          </a:ln>
        </p:spPr>
      </p:sp>
      <p:sp>
        <p:nvSpPr>
          <p:cNvPr id="3" name="Text 1"/>
          <p:cNvSpPr/>
          <p:nvPr/>
        </p:nvSpPr>
        <p:spPr>
          <a:xfrm>
            <a:off x="411480" y="137160"/>
            <a:ext cx="9418320" cy="365760"/>
          </a:xfrm>
          <a:prstGeom prst="rect">
            <a:avLst/>
          </a:prstGeom>
          <a:noFill/>
          <a:ln/>
        </p:spPr>
        <p:txBody>
          <a:bodyPr wrap="square" lIns="0" tIns="0" rIns="0" bIns="0" rtlCol="0" anchor="ctr">
            <a:normAutofit/>
          </a:bodyPr>
          <a:lstStyle/>
          <a:p>
            <a:pPr indent="0" marL="0">
              <a:buNone/>
            </a:pPr>
            <a:r>
              <a:rPr lang="en-US" sz="2300" b="1" dirty="0">
                <a:solidFill>
                  <a:srgbClr val="FFFFFF"/>
                </a:solidFill>
                <a:latin typeface="Aptos Display" pitchFamily="34" charset="0"/>
                <a:ea typeface="Aptos Display" pitchFamily="34" charset="-122"/>
                <a:cs typeface="Aptos Display" pitchFamily="34" charset="-120"/>
              </a:rPr>
              <a:t>El dato crudo no es el resultado: el resultado es un modelo del subsuelo</a:t>
            </a:r>
            <a:endParaRPr lang="en-US" sz="2300" dirty="0"/>
          </a:p>
        </p:txBody>
      </p:sp>
      <p:sp>
        <p:nvSpPr>
          <p:cNvPr id="4" name="Text 2"/>
          <p:cNvSpPr/>
          <p:nvPr/>
        </p:nvSpPr>
        <p:spPr>
          <a:xfrm>
            <a:off x="10058400" y="201168"/>
            <a:ext cx="1737360" cy="228600"/>
          </a:xfrm>
          <a:prstGeom prst="rect">
            <a:avLst/>
          </a:prstGeom>
          <a:noFill/>
          <a:ln/>
        </p:spPr>
        <p:txBody>
          <a:bodyPr wrap="square" lIns="0" tIns="0" rIns="0" bIns="0" rtlCol="0" anchor="ctr">
            <a:normAutofit/>
          </a:bodyPr>
          <a:lstStyle/>
          <a:p>
            <a:pPr algn="r" indent="0" marL="0">
              <a:buNone/>
            </a:pPr>
            <a:r>
              <a:rPr lang="en-US" sz="850" dirty="0">
                <a:solidFill>
                  <a:srgbClr val="B8C4EA"/>
                </a:solidFill>
                <a:latin typeface="Aptos" pitchFamily="34" charset="0"/>
                <a:ea typeface="Aptos" pitchFamily="34" charset="-122"/>
                <a:cs typeface="Aptos" pitchFamily="34" charset="-120"/>
              </a:rPr>
              <a:t>Física del problema</a:t>
            </a:r>
            <a:endParaRPr lang="en-US" sz="850" dirty="0"/>
          </a:p>
        </p:txBody>
      </p:sp>
      <p:sp>
        <p:nvSpPr>
          <p:cNvPr id="5" name="Text 3"/>
          <p:cNvSpPr/>
          <p:nvPr/>
        </p:nvSpPr>
        <p:spPr>
          <a:xfrm>
            <a:off x="411480" y="768096"/>
            <a:ext cx="2560320" cy="164592"/>
          </a:xfrm>
          <a:prstGeom prst="rect">
            <a:avLst/>
          </a:prstGeom>
          <a:noFill/>
          <a:ln/>
        </p:spPr>
        <p:txBody>
          <a:bodyPr wrap="square" lIns="0" tIns="0" rIns="0" bIns="0" rtlCol="0" anchor="ctr"/>
          <a:lstStyle/>
          <a:p>
            <a:pPr indent="0" marL="0">
              <a:buNone/>
            </a:pPr>
            <a:r>
              <a:rPr lang="en-US" sz="720" b="1" dirty="0">
                <a:solidFill>
                  <a:srgbClr val="19A8C9"/>
                </a:solidFill>
              </a:rPr>
              <a:t>1. OBJETIVO FÍSICO</a:t>
            </a:r>
            <a:endParaRPr lang="en-US" sz="720" dirty="0"/>
          </a:p>
        </p:txBody>
      </p:sp>
      <p:pic>
        <p:nvPicPr>
          <p:cNvPr id="6" name="Image 0" descr="/mnt/data/pptx_unzip/ppt/media/image1.png">    </p:cNvPr>
          <p:cNvPicPr>
            <a:picLocks noChangeAspect="1"/>
          </p:cNvPicPr>
          <p:nvPr/>
        </p:nvPicPr>
        <p:blipFill>
          <a:blip r:embed="rId1"/>
          <a:srcRect l="11262" r="11262" t="0" b="0"/>
          <a:stretch/>
        </p:blipFill>
        <p:spPr>
          <a:xfrm>
            <a:off x="502920" y="960120"/>
            <a:ext cx="6675120" cy="4846320"/>
          </a:xfrm>
          <a:prstGeom prst="rect">
            <a:avLst/>
          </a:prstGeom>
        </p:spPr>
      </p:pic>
      <p:sp>
        <p:nvSpPr>
          <p:cNvPr id="7" name="Shape 4"/>
          <p:cNvSpPr/>
          <p:nvPr/>
        </p:nvSpPr>
        <p:spPr>
          <a:xfrm>
            <a:off x="7452360" y="960120"/>
            <a:ext cx="4251960" cy="1143000"/>
          </a:xfrm>
          <a:prstGeom prst="roundRect">
            <a:avLst>
              <a:gd name="adj" fmla="val 6400"/>
            </a:avLst>
          </a:prstGeom>
          <a:solidFill>
            <a:srgbClr val="FFFFFF"/>
          </a:solidFill>
          <a:ln w="10160">
            <a:solidFill>
              <a:srgbClr val="DCE2EA"/>
            </a:solidFill>
            <a:prstDash val="solid"/>
          </a:ln>
        </p:spPr>
      </p:sp>
      <p:sp>
        <p:nvSpPr>
          <p:cNvPr id="8" name="Text 5"/>
          <p:cNvSpPr/>
          <p:nvPr/>
        </p:nvSpPr>
        <p:spPr>
          <a:xfrm>
            <a:off x="7680960" y="1143000"/>
            <a:ext cx="3794760" cy="384048"/>
          </a:xfrm>
          <a:prstGeom prst="rect">
            <a:avLst/>
          </a:prstGeom>
          <a:noFill/>
          <a:ln/>
        </p:spPr>
        <p:txBody>
          <a:bodyPr wrap="square" lIns="0" tIns="0" rIns="0" bIns="0" rtlCol="0" anchor="ctr">
            <a:normAutofit/>
          </a:bodyPr>
          <a:lstStyle/>
          <a:p>
            <a:pPr indent="0" marL="0">
              <a:buNone/>
            </a:pPr>
            <a:r>
              <a:rPr lang="en-US" sz="1900" b="1" dirty="0">
                <a:solidFill>
                  <a:srgbClr val="121826"/>
                </a:solidFill>
              </a:rPr>
              <a:t>Queremos estimar rigidez y cambios de capas, no “fotografiar” el terreno.</a:t>
            </a:r>
            <a:endParaRPr lang="en-US" sz="1900" dirty="0"/>
          </a:p>
        </p:txBody>
      </p:sp>
      <p:sp>
        <p:nvSpPr>
          <p:cNvPr id="9" name="Shape 6"/>
          <p:cNvSpPr/>
          <p:nvPr/>
        </p:nvSpPr>
        <p:spPr>
          <a:xfrm>
            <a:off x="7699248" y="2404872"/>
            <a:ext cx="3438144" cy="621792"/>
          </a:xfrm>
          <a:prstGeom prst="roundRect">
            <a:avLst>
              <a:gd name="adj" fmla="val 11765"/>
            </a:avLst>
          </a:prstGeom>
          <a:solidFill>
            <a:srgbClr val="FFFFFF"/>
          </a:solidFill>
          <a:ln w="10160">
            <a:solidFill>
              <a:srgbClr val="DCE2EA"/>
            </a:solidFill>
            <a:prstDash val="solid"/>
          </a:ln>
        </p:spPr>
      </p:sp>
      <p:pic>
        <p:nvPicPr>
          <p:cNvPr id="10"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772400" y="2450592"/>
            <a:ext cx="3291840" cy="530352"/>
          </a:xfrm>
          <a:prstGeom prst="rect">
            <a:avLst/>
          </a:prstGeom>
        </p:spPr>
      </p:pic>
      <p:sp>
        <p:nvSpPr>
          <p:cNvPr id="11" name="Text 7"/>
          <p:cNvSpPr/>
          <p:nvPr/>
        </p:nvSpPr>
        <p:spPr>
          <a:xfrm>
            <a:off x="7571232" y="3246120"/>
            <a:ext cx="3931920" cy="594360"/>
          </a:xfrm>
          <a:prstGeom prst="rect">
            <a:avLst/>
          </a:prstGeom>
          <a:noFill/>
          <a:ln/>
        </p:spPr>
        <p:txBody>
          <a:bodyPr wrap="square" lIns="0" tIns="0" rIns="0" bIns="0" rtlCol="0" anchor="ctr">
            <a:normAutofit/>
          </a:bodyPr>
          <a:lstStyle/>
          <a:p>
            <a:pPr indent="0" marL="0">
              <a:buNone/>
            </a:pPr>
            <a:r>
              <a:rPr lang="en-US" sz="1400" dirty="0">
                <a:solidFill>
                  <a:srgbClr val="5B6472"/>
                </a:solidFill>
              </a:rPr>
              <a:t>Vs conecta la señal sísmica con una propiedad geotécnica: rigidez dinámica a pequeñas deformaciones.</a:t>
            </a:r>
            <a:endParaRPr lang="en-US" sz="1400" dirty="0"/>
          </a:p>
        </p:txBody>
      </p:sp>
      <p:sp>
        <p:nvSpPr>
          <p:cNvPr id="12" name="Shape 8"/>
          <p:cNvSpPr/>
          <p:nvPr/>
        </p:nvSpPr>
        <p:spPr>
          <a:xfrm>
            <a:off x="7452360" y="5074920"/>
            <a:ext cx="4251960" cy="685800"/>
          </a:xfrm>
          <a:prstGeom prst="roundRect">
            <a:avLst>
              <a:gd name="adj" fmla="val 10667"/>
            </a:avLst>
          </a:prstGeom>
          <a:solidFill>
            <a:srgbClr val="17225C"/>
          </a:solidFill>
          <a:ln w="12700">
            <a:solidFill>
              <a:srgbClr val="17225C">
                <a:alpha val="0"/>
              </a:srgbClr>
            </a:solidFill>
            <a:prstDash val="solid"/>
          </a:ln>
        </p:spPr>
      </p:sp>
      <p:sp>
        <p:nvSpPr>
          <p:cNvPr id="13" name="Text 9"/>
          <p:cNvSpPr/>
          <p:nvPr/>
        </p:nvSpPr>
        <p:spPr>
          <a:xfrm>
            <a:off x="7616952" y="5175504"/>
            <a:ext cx="3922776" cy="502920"/>
          </a:xfrm>
          <a:prstGeom prst="rect">
            <a:avLst/>
          </a:prstGeom>
          <a:noFill/>
          <a:ln/>
        </p:spPr>
        <p:txBody>
          <a:bodyPr wrap="square" lIns="0" tIns="0" rIns="0" bIns="0" rtlCol="0" anchor="ctr">
            <a:normAutofit/>
          </a:bodyPr>
          <a:lstStyle/>
          <a:p>
            <a:pPr indent="0" marL="0">
              <a:buNone/>
            </a:pPr>
            <a:r>
              <a:rPr lang="en-US" sz="1320" b="1" dirty="0">
                <a:solidFill>
                  <a:srgbClr val="FFFFFF"/>
                </a:solidFill>
                <a:latin typeface="Aptos" pitchFamily="34" charset="0"/>
                <a:ea typeface="Aptos" pitchFamily="34" charset="-122"/>
                <a:cs typeface="Aptos" pitchFamily="34" charset="-120"/>
              </a:rPr>
              <a:t>Pregunta instrumental: ¿cómo preservar la información que permite estimar Vs(z)?</a:t>
            </a:r>
            <a:endParaRPr lang="en-US" sz="1320" dirty="0"/>
          </a:p>
        </p:txBody>
      </p:sp>
      <p:sp>
        <p:nvSpPr>
          <p:cNvPr id="14" name="Text 10"/>
          <p:cNvSpPr/>
          <p:nvPr/>
        </p:nvSpPr>
        <p:spPr>
          <a:xfrm>
            <a:off x="411480" y="6565392"/>
            <a:ext cx="11155680" cy="146304"/>
          </a:xfrm>
          <a:prstGeom prst="rect">
            <a:avLst/>
          </a:prstGeom>
          <a:noFill/>
          <a:ln/>
        </p:spPr>
        <p:txBody>
          <a:bodyPr wrap="square" lIns="0" tIns="0" rIns="0" bIns="0" rtlCol="0" anchor="ctr">
            <a:normAutofit/>
          </a:bodyPr>
          <a:lstStyle/>
          <a:p>
            <a:pPr indent="0" marL="0">
              <a:buNone/>
            </a:pPr>
            <a:r>
              <a:rPr lang="en-US" sz="650" dirty="0">
                <a:solidFill>
                  <a:srgbClr val="5B6472"/>
                </a:solidFill>
                <a:latin typeface="Aptos" pitchFamily="34" charset="0"/>
                <a:ea typeface="Aptos" pitchFamily="34" charset="-122"/>
                <a:cs typeface="Aptos" pitchFamily="34" charset="-120"/>
              </a:rPr>
              <a:t>Fuente: main(3).pdf, Sec. 1.1; Kramer (1996), Foti et al. (2014).</a:t>
            </a:r>
            <a:endParaRPr lang="en-US" sz="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17225C"/>
          </a:solidFill>
          <a:ln w="12700">
            <a:solidFill>
              <a:srgbClr val="17225C"/>
            </a:solidFill>
            <a:prstDash val="solid"/>
          </a:ln>
        </p:spPr>
      </p:sp>
      <p:sp>
        <p:nvSpPr>
          <p:cNvPr id="3" name="Text 1"/>
          <p:cNvSpPr/>
          <p:nvPr/>
        </p:nvSpPr>
        <p:spPr>
          <a:xfrm>
            <a:off x="411480" y="137160"/>
            <a:ext cx="9418320" cy="365760"/>
          </a:xfrm>
          <a:prstGeom prst="rect">
            <a:avLst/>
          </a:prstGeom>
          <a:noFill/>
          <a:ln/>
        </p:spPr>
        <p:txBody>
          <a:bodyPr wrap="square" lIns="0" tIns="0" rIns="0" bIns="0" rtlCol="0" anchor="ctr">
            <a:normAutofit/>
          </a:bodyPr>
          <a:lstStyle/>
          <a:p>
            <a:pPr indent="0" marL="0">
              <a:buNone/>
            </a:pPr>
            <a:r>
              <a:rPr lang="en-US" sz="2300" b="1" dirty="0">
                <a:solidFill>
                  <a:srgbClr val="FFFFFF"/>
                </a:solidFill>
                <a:latin typeface="Aptos Display" pitchFamily="34" charset="0"/>
                <a:ea typeface="Aptos Display" pitchFamily="34" charset="-122"/>
                <a:cs typeface="Aptos Display" pitchFamily="34" charset="-120"/>
              </a:rPr>
              <a:t>Elegimos Rayleigh porque nuestra geometría la genera y la mide naturalmente</a:t>
            </a:r>
            <a:endParaRPr lang="en-US" sz="2300" dirty="0"/>
          </a:p>
        </p:txBody>
      </p:sp>
      <p:sp>
        <p:nvSpPr>
          <p:cNvPr id="4" name="Text 2"/>
          <p:cNvSpPr/>
          <p:nvPr/>
        </p:nvSpPr>
        <p:spPr>
          <a:xfrm>
            <a:off x="10058400" y="201168"/>
            <a:ext cx="1737360" cy="228600"/>
          </a:xfrm>
          <a:prstGeom prst="rect">
            <a:avLst/>
          </a:prstGeom>
          <a:noFill/>
          <a:ln/>
        </p:spPr>
        <p:txBody>
          <a:bodyPr wrap="square" lIns="0" tIns="0" rIns="0" bIns="0" rtlCol="0" anchor="ctr">
            <a:normAutofit/>
          </a:bodyPr>
          <a:lstStyle/>
          <a:p>
            <a:pPr algn="r" indent="0" marL="0">
              <a:buNone/>
            </a:pPr>
            <a:r>
              <a:rPr lang="en-US" sz="850" dirty="0">
                <a:solidFill>
                  <a:srgbClr val="B8C4EA"/>
                </a:solidFill>
                <a:latin typeface="Aptos" pitchFamily="34" charset="0"/>
                <a:ea typeface="Aptos" pitchFamily="34" charset="-122"/>
                <a:cs typeface="Aptos" pitchFamily="34" charset="-120"/>
              </a:rPr>
              <a:t>Física del problema</a:t>
            </a:r>
            <a:endParaRPr lang="en-US" sz="850" dirty="0"/>
          </a:p>
        </p:txBody>
      </p:sp>
      <p:pic>
        <p:nvPicPr>
          <p:cNvPr id="5" name="Image 0" descr="/mnt/data/pptx_unzip/ppt/media/image12.png">    </p:cNvPr>
          <p:cNvPicPr>
            <a:picLocks noChangeAspect="1"/>
          </p:cNvPicPr>
          <p:nvPr/>
        </p:nvPicPr>
        <p:blipFill>
          <a:blip r:embed="rId1"/>
          <a:stretch>
            <a:fillRect/>
          </a:stretch>
        </p:blipFill>
        <p:spPr>
          <a:xfrm>
            <a:off x="502920" y="1533049"/>
            <a:ext cx="5440680" cy="3060383"/>
          </a:xfrm>
          <a:prstGeom prst="rect">
            <a:avLst/>
          </a:prstGeom>
        </p:spPr>
      </p:pic>
      <p:pic>
        <p:nvPicPr>
          <p:cNvPr id="6" name="Image 1" descr="/mnt/data/pptx_unzip/ppt/media/image21.png">    </p:cNvPr>
          <p:cNvPicPr>
            <a:picLocks noChangeAspect="1"/>
          </p:cNvPicPr>
          <p:nvPr/>
        </p:nvPicPr>
        <p:blipFill>
          <a:blip r:embed="rId2"/>
          <a:stretch>
            <a:fillRect/>
          </a:stretch>
        </p:blipFill>
        <p:spPr>
          <a:xfrm>
            <a:off x="6172200" y="1162263"/>
            <a:ext cx="5349240" cy="3756235"/>
          </a:xfrm>
          <a:prstGeom prst="rect">
            <a:avLst/>
          </a:prstGeom>
        </p:spPr>
      </p:pic>
      <p:sp>
        <p:nvSpPr>
          <p:cNvPr id="7" name="Shape 3"/>
          <p:cNvSpPr/>
          <p:nvPr/>
        </p:nvSpPr>
        <p:spPr>
          <a:xfrm>
            <a:off x="1920240" y="5349240"/>
            <a:ext cx="8229600" cy="502920"/>
          </a:xfrm>
          <a:prstGeom prst="roundRect">
            <a:avLst>
              <a:gd name="adj" fmla="val 14545"/>
            </a:avLst>
          </a:prstGeom>
          <a:solidFill>
            <a:srgbClr val="17225C"/>
          </a:solidFill>
          <a:ln w="12700">
            <a:solidFill>
              <a:srgbClr val="17225C">
                <a:alpha val="0"/>
              </a:srgbClr>
            </a:solidFill>
            <a:prstDash val="solid"/>
          </a:ln>
        </p:spPr>
      </p:sp>
      <p:sp>
        <p:nvSpPr>
          <p:cNvPr id="8" name="Text 4"/>
          <p:cNvSpPr/>
          <p:nvPr/>
        </p:nvSpPr>
        <p:spPr>
          <a:xfrm>
            <a:off x="2084832" y="5449824"/>
            <a:ext cx="7900416" cy="320040"/>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Fuente vertical → componente vertical de Rayleigh → geófono vertical</a:t>
            </a:r>
            <a:endParaRPr lang="en-US" sz="1600" dirty="0"/>
          </a:p>
        </p:txBody>
      </p:sp>
      <p:sp>
        <p:nvSpPr>
          <p:cNvPr id="9" name="Text 5"/>
          <p:cNvSpPr/>
          <p:nvPr/>
        </p:nvSpPr>
        <p:spPr>
          <a:xfrm>
            <a:off x="411480" y="6565392"/>
            <a:ext cx="11155680" cy="146304"/>
          </a:xfrm>
          <a:prstGeom prst="rect">
            <a:avLst/>
          </a:prstGeom>
          <a:noFill/>
          <a:ln/>
        </p:spPr>
        <p:txBody>
          <a:bodyPr wrap="square" lIns="0" tIns="0" rIns="0" bIns="0" rtlCol="0" anchor="ctr">
            <a:normAutofit/>
          </a:bodyPr>
          <a:lstStyle/>
          <a:p>
            <a:pPr indent="0" marL="0">
              <a:buNone/>
            </a:pPr>
            <a:r>
              <a:rPr lang="en-US" sz="650" dirty="0">
                <a:solidFill>
                  <a:srgbClr val="5B6472"/>
                </a:solidFill>
                <a:latin typeface="Aptos" pitchFamily="34" charset="0"/>
                <a:ea typeface="Aptos" pitchFamily="34" charset="-122"/>
                <a:cs typeface="Aptos" pitchFamily="34" charset="-120"/>
              </a:rPr>
              <a:t>Fuente: Foti et al. (2014), teoría de ondas superficiales; main(3).pdf, Sec. 1.2.</a:t>
            </a:r>
            <a:endParaRPr lang="en-US" sz="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17225C"/>
          </a:solidFill>
          <a:ln w="12700">
            <a:solidFill>
              <a:srgbClr val="17225C"/>
            </a:solidFill>
            <a:prstDash val="solid"/>
          </a:ln>
        </p:spPr>
      </p:sp>
      <p:sp>
        <p:nvSpPr>
          <p:cNvPr id="3" name="Text 1"/>
          <p:cNvSpPr/>
          <p:nvPr/>
        </p:nvSpPr>
        <p:spPr>
          <a:xfrm>
            <a:off x="411480" y="137160"/>
            <a:ext cx="9418320" cy="365760"/>
          </a:xfrm>
          <a:prstGeom prst="rect">
            <a:avLst/>
          </a:prstGeom>
          <a:noFill/>
          <a:ln/>
        </p:spPr>
        <p:txBody>
          <a:bodyPr wrap="square" lIns="0" tIns="0" rIns="0" bIns="0" rtlCol="0" anchor="ctr">
            <a:normAutofit/>
          </a:bodyPr>
          <a:lstStyle/>
          <a:p>
            <a:pPr indent="0" marL="0">
              <a:buNone/>
            </a:pPr>
            <a:r>
              <a:rPr lang="en-US" sz="2300" b="1" dirty="0">
                <a:solidFill>
                  <a:srgbClr val="FFFFFF"/>
                </a:solidFill>
                <a:latin typeface="Aptos Display" pitchFamily="34" charset="0"/>
                <a:ea typeface="Aptos Display" pitchFamily="34" charset="-122"/>
                <a:cs typeface="Aptos Display" pitchFamily="34" charset="-120"/>
              </a:rPr>
              <a:t>La profundidad aparece como dispersión: baja frecuencia significa longitud de onda grande</a:t>
            </a:r>
            <a:endParaRPr lang="en-US" sz="2300" dirty="0"/>
          </a:p>
        </p:txBody>
      </p:sp>
      <p:sp>
        <p:nvSpPr>
          <p:cNvPr id="4" name="Text 2"/>
          <p:cNvSpPr/>
          <p:nvPr/>
        </p:nvSpPr>
        <p:spPr>
          <a:xfrm>
            <a:off x="10058400" y="201168"/>
            <a:ext cx="1737360" cy="228600"/>
          </a:xfrm>
          <a:prstGeom prst="rect">
            <a:avLst/>
          </a:prstGeom>
          <a:noFill/>
          <a:ln/>
        </p:spPr>
        <p:txBody>
          <a:bodyPr wrap="square" lIns="0" tIns="0" rIns="0" bIns="0" rtlCol="0" anchor="ctr">
            <a:normAutofit/>
          </a:bodyPr>
          <a:lstStyle/>
          <a:p>
            <a:pPr algn="r" indent="0" marL="0">
              <a:buNone/>
            </a:pPr>
            <a:r>
              <a:rPr lang="en-US" sz="850" dirty="0">
                <a:solidFill>
                  <a:srgbClr val="B8C4EA"/>
                </a:solidFill>
                <a:latin typeface="Aptos" pitchFamily="34" charset="0"/>
                <a:ea typeface="Aptos" pitchFamily="34" charset="-122"/>
                <a:cs typeface="Aptos" pitchFamily="34" charset="-120"/>
              </a:rPr>
              <a:t>Física del problema</a:t>
            </a:r>
            <a:endParaRPr lang="en-US" sz="850" dirty="0"/>
          </a:p>
        </p:txBody>
      </p:sp>
      <p:pic>
        <p:nvPicPr>
          <p:cNvPr id="5" name="Image 0" descr="/mnt/data/pptx_unzip/ppt/media/image26.png">    </p:cNvPr>
          <p:cNvPicPr>
            <a:picLocks noChangeAspect="1"/>
          </p:cNvPicPr>
          <p:nvPr/>
        </p:nvPicPr>
        <p:blipFill>
          <a:blip r:embed="rId1"/>
          <a:stretch>
            <a:fillRect/>
          </a:stretch>
        </p:blipFill>
        <p:spPr>
          <a:xfrm>
            <a:off x="502920" y="1557337"/>
            <a:ext cx="5760720" cy="3240405"/>
          </a:xfrm>
          <a:prstGeom prst="rect">
            <a:avLst/>
          </a:prstGeom>
        </p:spPr>
      </p:pic>
      <p:sp>
        <p:nvSpPr>
          <p:cNvPr id="6" name="Shape 3"/>
          <p:cNvSpPr/>
          <p:nvPr/>
        </p:nvSpPr>
        <p:spPr>
          <a:xfrm>
            <a:off x="6556248" y="1097280"/>
            <a:ext cx="3438144" cy="621792"/>
          </a:xfrm>
          <a:prstGeom prst="roundRect">
            <a:avLst>
              <a:gd name="adj" fmla="val 11765"/>
            </a:avLst>
          </a:prstGeom>
          <a:solidFill>
            <a:srgbClr val="FFFFFF"/>
          </a:solidFill>
          <a:ln w="10160">
            <a:solidFill>
              <a:srgbClr val="DCE2EA"/>
            </a:solidFill>
            <a:prstDash val="solid"/>
          </a:ln>
        </p:spPr>
      </p:sp>
      <p:pic>
        <p:nvPicPr>
          <p:cNvPr id="7"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29400" y="1143000"/>
            <a:ext cx="3291840" cy="530352"/>
          </a:xfrm>
          <a:prstGeom prst="rect">
            <a:avLst/>
          </a:prstGeom>
        </p:spPr>
      </p:pic>
      <p:sp>
        <p:nvSpPr>
          <p:cNvPr id="8" name="Text 4"/>
          <p:cNvSpPr/>
          <p:nvPr/>
        </p:nvSpPr>
        <p:spPr>
          <a:xfrm>
            <a:off x="6629400" y="2148840"/>
            <a:ext cx="4572000" cy="640080"/>
          </a:xfrm>
          <a:prstGeom prst="rect">
            <a:avLst/>
          </a:prstGeom>
          <a:noFill/>
          <a:ln/>
        </p:spPr>
        <p:txBody>
          <a:bodyPr wrap="square" lIns="0" tIns="0" rIns="0" bIns="0" rtlCol="0" anchor="ctr">
            <a:normAutofit/>
          </a:bodyPr>
          <a:lstStyle/>
          <a:p>
            <a:pPr indent="0" marL="0">
              <a:buNone/>
            </a:pPr>
            <a:r>
              <a:rPr lang="en-US" sz="1800" b="1" dirty="0">
                <a:solidFill>
                  <a:srgbClr val="121826"/>
                </a:solidFill>
              </a:rPr>
              <a:t>Alta f → λ corta → sensibilidad somera</a:t>
            </a:r>
            <a:endParaRPr lang="en-US" sz="1800" dirty="0"/>
          </a:p>
          <a:p>
            <a:pPr indent="0" marL="0">
              <a:buNone/>
            </a:pPr>
            <a:r>
              <a:rPr lang="en-US" sz="1800" b="1" dirty="0">
                <a:solidFill>
                  <a:srgbClr val="121826"/>
                </a:solidFill>
              </a:rPr>
              <a:t>Baja f → λ larga → mayor volumen del terreno</a:t>
            </a:r>
            <a:endParaRPr lang="en-US" sz="1800" dirty="0"/>
          </a:p>
        </p:txBody>
      </p:sp>
      <p:sp>
        <p:nvSpPr>
          <p:cNvPr id="9" name="Shape 5"/>
          <p:cNvSpPr/>
          <p:nvPr/>
        </p:nvSpPr>
        <p:spPr>
          <a:xfrm>
            <a:off x="6629400" y="3246120"/>
            <a:ext cx="4389120" cy="1234440"/>
          </a:xfrm>
          <a:prstGeom prst="roundRect">
            <a:avLst>
              <a:gd name="adj" fmla="val 5926"/>
            </a:avLst>
          </a:prstGeom>
          <a:solidFill>
            <a:srgbClr val="FFFFFF"/>
          </a:solidFill>
          <a:ln w="10160">
            <a:solidFill>
              <a:srgbClr val="DCE2EA"/>
            </a:solidFill>
            <a:prstDash val="solid"/>
          </a:ln>
        </p:spPr>
      </p:sp>
      <p:sp>
        <p:nvSpPr>
          <p:cNvPr id="10" name="Text 6"/>
          <p:cNvSpPr/>
          <p:nvPr/>
        </p:nvSpPr>
        <p:spPr>
          <a:xfrm>
            <a:off x="6858000" y="3429000"/>
            <a:ext cx="2560320" cy="182880"/>
          </a:xfrm>
          <a:prstGeom prst="rect">
            <a:avLst/>
          </a:prstGeom>
          <a:noFill/>
          <a:ln/>
        </p:spPr>
        <p:txBody>
          <a:bodyPr wrap="square" lIns="0" tIns="0" rIns="0" bIns="0" rtlCol="0" anchor="ctr"/>
          <a:lstStyle/>
          <a:p>
            <a:pPr indent="0" marL="0">
              <a:buNone/>
            </a:pPr>
            <a:r>
              <a:rPr lang="en-US" sz="1250" b="1" dirty="0">
                <a:solidFill>
                  <a:srgbClr val="F28C28"/>
                </a:solidFill>
              </a:rPr>
              <a:t>Advertencia importante</a:t>
            </a:r>
            <a:endParaRPr lang="en-US" sz="1250" dirty="0"/>
          </a:p>
        </p:txBody>
      </p:sp>
      <p:sp>
        <p:nvSpPr>
          <p:cNvPr id="11" name="Text 7"/>
          <p:cNvSpPr/>
          <p:nvPr/>
        </p:nvSpPr>
        <p:spPr>
          <a:xfrm>
            <a:off x="6858000" y="3703320"/>
            <a:ext cx="3931920" cy="393192"/>
          </a:xfrm>
          <a:prstGeom prst="rect">
            <a:avLst/>
          </a:prstGeom>
          <a:noFill/>
          <a:ln/>
        </p:spPr>
        <p:txBody>
          <a:bodyPr wrap="square" lIns="0" tIns="0" rIns="0" bIns="0" rtlCol="0" anchor="ctr">
            <a:normAutofit/>
          </a:bodyPr>
          <a:lstStyle/>
          <a:p>
            <a:pPr indent="0" marL="0">
              <a:buNone/>
            </a:pPr>
            <a:r>
              <a:rPr lang="en-US" sz="1350" dirty="0">
                <a:solidFill>
                  <a:srgbClr val="5B6472"/>
                </a:solidFill>
              </a:rPr>
              <a:t>No hay una igualdad universal z = λ/2. La sensibilidad es distribuida y se solapa entre capas.</a:t>
            </a:r>
            <a:endParaRPr lang="en-US" sz="1350" dirty="0"/>
          </a:p>
        </p:txBody>
      </p:sp>
      <p:sp>
        <p:nvSpPr>
          <p:cNvPr id="12" name="Text 8"/>
          <p:cNvSpPr/>
          <p:nvPr/>
        </p:nvSpPr>
        <p:spPr>
          <a:xfrm>
            <a:off x="411480" y="6565392"/>
            <a:ext cx="11155680" cy="146304"/>
          </a:xfrm>
          <a:prstGeom prst="rect">
            <a:avLst/>
          </a:prstGeom>
          <a:noFill/>
          <a:ln/>
        </p:spPr>
        <p:txBody>
          <a:bodyPr wrap="square" lIns="0" tIns="0" rIns="0" bIns="0" rtlCol="0" anchor="ctr">
            <a:normAutofit/>
          </a:bodyPr>
          <a:lstStyle/>
          <a:p>
            <a:pPr indent="0" marL="0">
              <a:buNone/>
            </a:pPr>
            <a:r>
              <a:rPr lang="en-US" sz="650" dirty="0">
                <a:solidFill>
                  <a:srgbClr val="5B6472"/>
                </a:solidFill>
                <a:latin typeface="Aptos" pitchFamily="34" charset="0"/>
                <a:ea typeface="Aptos" pitchFamily="34" charset="-122"/>
                <a:cs typeface="Aptos" pitchFamily="34" charset="-120"/>
              </a:rPr>
              <a:t>Fuente: main(3).pdf, Sec. 1.6.2; Foti et al. (2014).</a:t>
            </a:r>
            <a:endParaRPr lang="en-US" sz="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17225C"/>
          </a:solidFill>
          <a:ln w="12700">
            <a:solidFill>
              <a:srgbClr val="17225C"/>
            </a:solidFill>
            <a:prstDash val="solid"/>
          </a:ln>
        </p:spPr>
      </p:sp>
      <p:sp>
        <p:nvSpPr>
          <p:cNvPr id="3" name="Text 1"/>
          <p:cNvSpPr/>
          <p:nvPr/>
        </p:nvSpPr>
        <p:spPr>
          <a:xfrm>
            <a:off x="411480" y="137160"/>
            <a:ext cx="9418320" cy="365760"/>
          </a:xfrm>
          <a:prstGeom prst="rect">
            <a:avLst/>
          </a:prstGeom>
          <a:noFill/>
          <a:ln/>
        </p:spPr>
        <p:txBody>
          <a:bodyPr wrap="square" lIns="0" tIns="0" rIns="0" bIns="0" rtlCol="0" anchor="ctr">
            <a:normAutofit/>
          </a:bodyPr>
          <a:lstStyle/>
          <a:p>
            <a:pPr indent="0" marL="0">
              <a:buNone/>
            </a:pPr>
            <a:r>
              <a:rPr lang="en-US" sz="2300" b="1" dirty="0">
                <a:solidFill>
                  <a:srgbClr val="FFFFFF"/>
                </a:solidFill>
                <a:latin typeface="Aptos Display" pitchFamily="34" charset="0"/>
                <a:ea typeface="Aptos Display" pitchFamily="34" charset="-122"/>
                <a:cs typeface="Aptos Display" pitchFamily="34" charset="-120"/>
              </a:rPr>
              <a:t>MASW convierte diferencias de fase en velocidad de fase</a:t>
            </a:r>
            <a:endParaRPr lang="en-US" sz="2300" dirty="0"/>
          </a:p>
        </p:txBody>
      </p:sp>
      <p:sp>
        <p:nvSpPr>
          <p:cNvPr id="4" name="Text 2"/>
          <p:cNvSpPr/>
          <p:nvPr/>
        </p:nvSpPr>
        <p:spPr>
          <a:xfrm>
            <a:off x="10058400" y="201168"/>
            <a:ext cx="1737360" cy="228600"/>
          </a:xfrm>
          <a:prstGeom prst="rect">
            <a:avLst/>
          </a:prstGeom>
          <a:noFill/>
          <a:ln/>
        </p:spPr>
        <p:txBody>
          <a:bodyPr wrap="square" lIns="0" tIns="0" rIns="0" bIns="0" rtlCol="0" anchor="ctr">
            <a:normAutofit/>
          </a:bodyPr>
          <a:lstStyle/>
          <a:p>
            <a:pPr algn="r" indent="0" marL="0">
              <a:buNone/>
            </a:pPr>
            <a:r>
              <a:rPr lang="en-US" sz="850" dirty="0">
                <a:solidFill>
                  <a:srgbClr val="B8C4EA"/>
                </a:solidFill>
                <a:latin typeface="Aptos" pitchFamily="34" charset="0"/>
                <a:ea typeface="Aptos" pitchFamily="34" charset="-122"/>
                <a:cs typeface="Aptos" pitchFamily="34" charset="-120"/>
              </a:rPr>
              <a:t>Física → requisito electrónico</a:t>
            </a:r>
            <a:endParaRPr lang="en-US" sz="850" dirty="0"/>
          </a:p>
        </p:txBody>
      </p:sp>
      <p:pic>
        <p:nvPicPr>
          <p:cNvPr id="5" name="Image 0" descr="/mnt/data/pptx_unzip/ppt/media/image34.png">    </p:cNvPr>
          <p:cNvPicPr>
            <a:picLocks noChangeAspect="1"/>
          </p:cNvPicPr>
          <p:nvPr/>
        </p:nvPicPr>
        <p:blipFill>
          <a:blip r:embed="rId1"/>
          <a:stretch>
            <a:fillRect/>
          </a:stretch>
        </p:blipFill>
        <p:spPr>
          <a:xfrm>
            <a:off x="594360" y="1665013"/>
            <a:ext cx="4754880" cy="2842174"/>
          </a:xfrm>
          <a:prstGeom prst="rect">
            <a:avLst/>
          </a:prstGeom>
        </p:spPr>
      </p:pic>
      <p:sp>
        <p:nvSpPr>
          <p:cNvPr id="6" name="Shape 3"/>
          <p:cNvSpPr/>
          <p:nvPr/>
        </p:nvSpPr>
        <p:spPr>
          <a:xfrm>
            <a:off x="5870448" y="914400"/>
            <a:ext cx="4352544" cy="621792"/>
          </a:xfrm>
          <a:prstGeom prst="roundRect">
            <a:avLst>
              <a:gd name="adj" fmla="val 11765"/>
            </a:avLst>
          </a:prstGeom>
          <a:solidFill>
            <a:srgbClr val="FFFFFF"/>
          </a:solidFill>
          <a:ln w="10160">
            <a:solidFill>
              <a:srgbClr val="DCE2EA"/>
            </a:solidFill>
            <a:prstDash val="solid"/>
          </a:ln>
        </p:spPr>
      </p:sp>
      <p:pic>
        <p:nvPicPr>
          <p:cNvPr id="7"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943600" y="960120"/>
            <a:ext cx="4206240" cy="530352"/>
          </a:xfrm>
          <a:prstGeom prst="rect">
            <a:avLst/>
          </a:prstGeom>
        </p:spPr>
      </p:pic>
      <p:sp>
        <p:nvSpPr>
          <p:cNvPr id="8" name="Shape 4"/>
          <p:cNvSpPr/>
          <p:nvPr/>
        </p:nvSpPr>
        <p:spPr>
          <a:xfrm>
            <a:off x="5870448" y="1874520"/>
            <a:ext cx="4352544" cy="621792"/>
          </a:xfrm>
          <a:prstGeom prst="roundRect">
            <a:avLst>
              <a:gd name="adj" fmla="val 11765"/>
            </a:avLst>
          </a:prstGeom>
          <a:solidFill>
            <a:srgbClr val="FFFFFF"/>
          </a:solidFill>
          <a:ln w="10160">
            <a:solidFill>
              <a:srgbClr val="DCE2EA"/>
            </a:solidFill>
            <a:prstDash val="solid"/>
          </a:ln>
        </p:spPr>
      </p:sp>
      <p:pic>
        <p:nvPicPr>
          <p:cNvPr id="9"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943600" y="1920240"/>
            <a:ext cx="4206240" cy="530352"/>
          </a:xfrm>
          <a:prstGeom prst="rect">
            <a:avLst/>
          </a:prstGeom>
        </p:spPr>
      </p:pic>
      <p:sp>
        <p:nvSpPr>
          <p:cNvPr id="10" name="Shape 5"/>
          <p:cNvSpPr/>
          <p:nvPr/>
        </p:nvSpPr>
        <p:spPr>
          <a:xfrm>
            <a:off x="5715000" y="3246120"/>
            <a:ext cx="5669280" cy="822960"/>
          </a:xfrm>
          <a:prstGeom prst="roundRect">
            <a:avLst>
              <a:gd name="adj" fmla="val 8889"/>
            </a:avLst>
          </a:prstGeom>
          <a:solidFill>
            <a:srgbClr val="17225C"/>
          </a:solidFill>
          <a:ln w="12700">
            <a:solidFill>
              <a:srgbClr val="17225C">
                <a:alpha val="0"/>
              </a:srgbClr>
            </a:solidFill>
            <a:prstDash val="solid"/>
          </a:ln>
        </p:spPr>
      </p:sp>
      <p:sp>
        <p:nvSpPr>
          <p:cNvPr id="11" name="Text 6"/>
          <p:cNvSpPr/>
          <p:nvPr/>
        </p:nvSpPr>
        <p:spPr>
          <a:xfrm>
            <a:off x="5879592" y="3346704"/>
            <a:ext cx="5340096" cy="640080"/>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Consecuencia para la electrónica: no alcanza con “ver señal”; hay que conservar fase y geometría.</a:t>
            </a:r>
            <a:endParaRPr lang="en-US" sz="1600" dirty="0"/>
          </a:p>
        </p:txBody>
      </p:sp>
      <p:sp>
        <p:nvSpPr>
          <p:cNvPr id="12" name="Text 7"/>
          <p:cNvSpPr/>
          <p:nvPr/>
        </p:nvSpPr>
        <p:spPr>
          <a:xfrm>
            <a:off x="5897880" y="4370832"/>
            <a:ext cx="5029200" cy="274320"/>
          </a:xfrm>
          <a:prstGeom prst="rect">
            <a:avLst/>
          </a:prstGeom>
          <a:noFill/>
          <a:ln/>
        </p:spPr>
        <p:txBody>
          <a:bodyPr wrap="square" lIns="0" tIns="0" rIns="0" bIns="0" rtlCol="0" anchor="ctr"/>
          <a:lstStyle/>
          <a:p>
            <a:pPr indent="0" marL="0">
              <a:buNone/>
            </a:pPr>
            <a:r>
              <a:rPr lang="en-US" sz="1200" i="1" dirty="0">
                <a:solidFill>
                  <a:srgbClr val="5B6472"/>
                </a:solidFill>
              </a:rPr>
              <a:t>Esta ecuación volverá al hablar de sincronización.</a:t>
            </a:r>
            <a:endParaRPr lang="en-US" sz="1200" dirty="0"/>
          </a:p>
        </p:txBody>
      </p:sp>
      <p:sp>
        <p:nvSpPr>
          <p:cNvPr id="13" name="Text 8"/>
          <p:cNvSpPr/>
          <p:nvPr/>
        </p:nvSpPr>
        <p:spPr>
          <a:xfrm>
            <a:off x="411480" y="6565392"/>
            <a:ext cx="11155680" cy="146304"/>
          </a:xfrm>
          <a:prstGeom prst="rect">
            <a:avLst/>
          </a:prstGeom>
          <a:noFill/>
          <a:ln/>
        </p:spPr>
        <p:txBody>
          <a:bodyPr wrap="square" lIns="0" tIns="0" rIns="0" bIns="0" rtlCol="0" anchor="ctr">
            <a:normAutofit/>
          </a:bodyPr>
          <a:lstStyle/>
          <a:p>
            <a:pPr indent="0" marL="0">
              <a:buNone/>
            </a:pPr>
            <a:r>
              <a:rPr lang="en-US" sz="650" dirty="0">
                <a:solidFill>
                  <a:srgbClr val="5B6472"/>
                </a:solidFill>
                <a:latin typeface="Aptos" pitchFamily="34" charset="0"/>
                <a:ea typeface="Aptos" pitchFamily="34" charset="-122"/>
                <a:cs typeface="Aptos" pitchFamily="34" charset="-120"/>
              </a:rPr>
              <a:t>Fuente: Park et al. (1998, 1999); main(3).pdf, Ec. 4–6.</a:t>
            </a:r>
            <a:endParaRPr lang="en-US" sz="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17225C"/>
          </a:solidFill>
          <a:ln w="12700">
            <a:solidFill>
              <a:srgbClr val="17225C"/>
            </a:solidFill>
            <a:prstDash val="solid"/>
          </a:ln>
        </p:spPr>
      </p:sp>
      <p:sp>
        <p:nvSpPr>
          <p:cNvPr id="3" name="Text 1"/>
          <p:cNvSpPr/>
          <p:nvPr/>
        </p:nvSpPr>
        <p:spPr>
          <a:xfrm>
            <a:off x="411480" y="137160"/>
            <a:ext cx="9418320" cy="365760"/>
          </a:xfrm>
          <a:prstGeom prst="rect">
            <a:avLst/>
          </a:prstGeom>
          <a:noFill/>
          <a:ln/>
        </p:spPr>
        <p:txBody>
          <a:bodyPr wrap="square" lIns="0" tIns="0" rIns="0" bIns="0" rtlCol="0" anchor="ctr">
            <a:normAutofit/>
          </a:bodyPr>
          <a:lstStyle/>
          <a:p>
            <a:pPr indent="0" marL="0">
              <a:buNone/>
            </a:pPr>
            <a:r>
              <a:rPr lang="en-US" sz="2300" b="1" dirty="0">
                <a:solidFill>
                  <a:srgbClr val="FFFFFF"/>
                </a:solidFill>
                <a:latin typeface="Aptos Display" pitchFamily="34" charset="0"/>
                <a:ea typeface="Aptos Display" pitchFamily="34" charset="-122"/>
                <a:cs typeface="Aptos Display" pitchFamily="34" charset="-120"/>
              </a:rPr>
              <a:t>La imagen de dispersión no es una foto: es un máximo de coherencia</a:t>
            </a:r>
            <a:endParaRPr lang="en-US" sz="2300" dirty="0"/>
          </a:p>
        </p:txBody>
      </p:sp>
      <p:sp>
        <p:nvSpPr>
          <p:cNvPr id="4" name="Text 2"/>
          <p:cNvSpPr/>
          <p:nvPr/>
        </p:nvSpPr>
        <p:spPr>
          <a:xfrm>
            <a:off x="10058400" y="201168"/>
            <a:ext cx="1737360" cy="228600"/>
          </a:xfrm>
          <a:prstGeom prst="rect">
            <a:avLst/>
          </a:prstGeom>
          <a:noFill/>
          <a:ln/>
        </p:spPr>
        <p:txBody>
          <a:bodyPr wrap="square" lIns="0" tIns="0" rIns="0" bIns="0" rtlCol="0" anchor="ctr">
            <a:normAutofit/>
          </a:bodyPr>
          <a:lstStyle/>
          <a:p>
            <a:pPr algn="r" indent="0" marL="0">
              <a:buNone/>
            </a:pPr>
            <a:r>
              <a:rPr lang="en-US" sz="850" dirty="0">
                <a:solidFill>
                  <a:srgbClr val="B8C4EA"/>
                </a:solidFill>
                <a:latin typeface="Aptos" pitchFamily="34" charset="0"/>
                <a:ea typeface="Aptos" pitchFamily="34" charset="-122"/>
                <a:cs typeface="Aptos" pitchFamily="34" charset="-120"/>
              </a:rPr>
              <a:t>Física → procesamiento</a:t>
            </a:r>
            <a:endParaRPr lang="en-US" sz="850" dirty="0"/>
          </a:p>
        </p:txBody>
      </p:sp>
      <p:pic>
        <p:nvPicPr>
          <p:cNvPr id="5" name="Image 0" descr="/mnt/data/pptx_unzip/ppt/media/image77.png">    </p:cNvPr>
          <p:cNvPicPr>
            <a:picLocks noChangeAspect="1"/>
          </p:cNvPicPr>
          <p:nvPr/>
        </p:nvPicPr>
        <p:blipFill>
          <a:blip r:embed="rId1"/>
          <a:stretch>
            <a:fillRect/>
          </a:stretch>
        </p:blipFill>
        <p:spPr>
          <a:xfrm>
            <a:off x="1313023" y="914400"/>
            <a:ext cx="2951794" cy="5166360"/>
          </a:xfrm>
          <a:prstGeom prst="rect">
            <a:avLst/>
          </a:prstGeom>
        </p:spPr>
      </p:pic>
      <p:sp>
        <p:nvSpPr>
          <p:cNvPr id="6" name="Shape 3"/>
          <p:cNvSpPr/>
          <p:nvPr/>
        </p:nvSpPr>
        <p:spPr>
          <a:xfrm>
            <a:off x="5440680" y="932688"/>
            <a:ext cx="6080760" cy="658368"/>
          </a:xfrm>
          <a:prstGeom prst="roundRect">
            <a:avLst>
              <a:gd name="adj" fmla="val 11111"/>
            </a:avLst>
          </a:prstGeom>
          <a:solidFill>
            <a:srgbClr val="FFFFFF"/>
          </a:solidFill>
          <a:ln w="10160">
            <a:solidFill>
              <a:srgbClr val="DCE2EA"/>
            </a:solidFill>
            <a:prstDash val="solid"/>
          </a:ln>
        </p:spPr>
      </p:sp>
      <p:sp>
        <p:nvSpPr>
          <p:cNvPr id="7" name="Text 4"/>
          <p:cNvSpPr/>
          <p:nvPr/>
        </p:nvSpPr>
        <p:spPr>
          <a:xfrm>
            <a:off x="5650992" y="1143000"/>
            <a:ext cx="5669280" cy="182880"/>
          </a:xfrm>
          <a:prstGeom prst="rect">
            <a:avLst/>
          </a:prstGeom>
          <a:noFill/>
          <a:ln/>
        </p:spPr>
        <p:txBody>
          <a:bodyPr wrap="square" lIns="0" tIns="0" rIns="0" bIns="0" rtlCol="0" anchor="ctr">
            <a:normAutofit/>
          </a:bodyPr>
          <a:lstStyle/>
          <a:p>
            <a:pPr indent="0" marL="0">
              <a:buNone/>
            </a:pPr>
            <a:r>
              <a:rPr lang="en-US" sz="1700" b="1" dirty="0">
                <a:solidFill>
                  <a:srgbClr val="121826"/>
                </a:solidFill>
                <a:latin typeface="Aptos" pitchFamily="34" charset="0"/>
                <a:ea typeface="Aptos" pitchFamily="34" charset="-122"/>
                <a:cs typeface="Aptos" pitchFamily="34" charset="-120"/>
              </a:rPr>
              <a:t>S(ω,c) = (1/N) · | Σ [ U(xⱼ,ω)/|U(xⱼ,ω)| · e^{iωxⱼ/c} ] |</a:t>
            </a:r>
            <a:endParaRPr lang="en-US" sz="1700" dirty="0"/>
          </a:p>
        </p:txBody>
      </p:sp>
      <p:sp>
        <p:nvSpPr>
          <p:cNvPr id="8" name="Shape 5"/>
          <p:cNvSpPr/>
          <p:nvPr/>
        </p:nvSpPr>
        <p:spPr>
          <a:xfrm>
            <a:off x="6007608" y="1828800"/>
            <a:ext cx="4718304" cy="566928"/>
          </a:xfrm>
          <a:prstGeom prst="roundRect">
            <a:avLst>
              <a:gd name="adj" fmla="val 12903"/>
            </a:avLst>
          </a:prstGeom>
          <a:solidFill>
            <a:srgbClr val="FFFFFF"/>
          </a:solidFill>
          <a:ln w="10160">
            <a:solidFill>
              <a:srgbClr val="DCE2EA"/>
            </a:solidFill>
            <a:prstDash val="solid"/>
          </a:ln>
        </p:spPr>
      </p:sp>
      <p:pic>
        <p:nvPicPr>
          <p:cNvPr id="9"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80760" y="1874520"/>
            <a:ext cx="4572000" cy="475488"/>
          </a:xfrm>
          <a:prstGeom prst="rect">
            <a:avLst/>
          </a:prstGeom>
        </p:spPr>
      </p:pic>
      <p:sp>
        <p:nvSpPr>
          <p:cNvPr id="10" name="Shape 6"/>
          <p:cNvSpPr/>
          <p:nvPr/>
        </p:nvSpPr>
        <p:spPr>
          <a:xfrm>
            <a:off x="5916168" y="2834640"/>
            <a:ext cx="4901184" cy="694944"/>
          </a:xfrm>
          <a:prstGeom prst="roundRect">
            <a:avLst>
              <a:gd name="adj" fmla="val 10526"/>
            </a:avLst>
          </a:prstGeom>
          <a:solidFill>
            <a:srgbClr val="FFFFFF"/>
          </a:solidFill>
          <a:ln w="10160">
            <a:solidFill>
              <a:srgbClr val="DCE2EA"/>
            </a:solidFill>
            <a:prstDash val="solid"/>
          </a:ln>
        </p:spPr>
      </p:sp>
      <p:pic>
        <p:nvPicPr>
          <p:cNvPr id="11"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989320" y="2880360"/>
            <a:ext cx="4754880" cy="603504"/>
          </a:xfrm>
          <a:prstGeom prst="rect">
            <a:avLst/>
          </a:prstGeom>
        </p:spPr>
      </p:pic>
      <p:sp>
        <p:nvSpPr>
          <p:cNvPr id="12" name="Text 7"/>
          <p:cNvSpPr/>
          <p:nvPr/>
        </p:nvSpPr>
        <p:spPr>
          <a:xfrm>
            <a:off x="5852160" y="3886200"/>
            <a:ext cx="5212080" cy="347472"/>
          </a:xfrm>
          <a:prstGeom prst="rect">
            <a:avLst/>
          </a:prstGeom>
          <a:noFill/>
          <a:ln/>
        </p:spPr>
        <p:txBody>
          <a:bodyPr wrap="square" lIns="0" tIns="0" rIns="0" bIns="0" rtlCol="0" anchor="ctr">
            <a:normAutofit/>
          </a:bodyPr>
          <a:lstStyle/>
          <a:p>
            <a:pPr indent="0" marL="0">
              <a:buNone/>
            </a:pPr>
            <a:r>
              <a:rPr lang="en-US" sz="1700" b="1" dirty="0">
                <a:solidFill>
                  <a:srgbClr val="121826"/>
                </a:solidFill>
              </a:rPr>
              <a:t>La inversión busca modelos Vs(z) compatibles; la solución no es única.</a:t>
            </a:r>
            <a:endParaRPr lang="en-US" sz="1700" dirty="0"/>
          </a:p>
        </p:txBody>
      </p:sp>
      <p:sp>
        <p:nvSpPr>
          <p:cNvPr id="13" name="Shape 8"/>
          <p:cNvSpPr/>
          <p:nvPr/>
        </p:nvSpPr>
        <p:spPr>
          <a:xfrm>
            <a:off x="5806440" y="4800600"/>
            <a:ext cx="5394960" cy="566928"/>
          </a:xfrm>
          <a:prstGeom prst="roundRect">
            <a:avLst>
              <a:gd name="adj" fmla="val 12903"/>
            </a:avLst>
          </a:prstGeom>
          <a:solidFill>
            <a:srgbClr val="17225C"/>
          </a:solidFill>
          <a:ln w="12700">
            <a:solidFill>
              <a:srgbClr val="17225C">
                <a:alpha val="0"/>
              </a:srgbClr>
            </a:solidFill>
            <a:prstDash val="solid"/>
          </a:ln>
        </p:spPr>
      </p:sp>
      <p:sp>
        <p:nvSpPr>
          <p:cNvPr id="14" name="Text 9"/>
          <p:cNvSpPr/>
          <p:nvPr/>
        </p:nvSpPr>
        <p:spPr>
          <a:xfrm>
            <a:off x="5971032" y="4901184"/>
            <a:ext cx="5065776" cy="384048"/>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Por eso la trazabilidad y la incertidumbre no son accesorios.</a:t>
            </a:r>
            <a:endParaRPr lang="en-US" sz="1500" dirty="0"/>
          </a:p>
        </p:txBody>
      </p:sp>
      <p:sp>
        <p:nvSpPr>
          <p:cNvPr id="15" name="Text 10"/>
          <p:cNvSpPr/>
          <p:nvPr/>
        </p:nvSpPr>
        <p:spPr>
          <a:xfrm>
            <a:off x="411480" y="6565392"/>
            <a:ext cx="11155680" cy="146304"/>
          </a:xfrm>
          <a:prstGeom prst="rect">
            <a:avLst/>
          </a:prstGeom>
          <a:noFill/>
          <a:ln/>
        </p:spPr>
        <p:txBody>
          <a:bodyPr wrap="square" lIns="0" tIns="0" rIns="0" bIns="0" rtlCol="0" anchor="ctr">
            <a:normAutofit/>
          </a:bodyPr>
          <a:lstStyle/>
          <a:p>
            <a:pPr indent="0" marL="0">
              <a:buNone/>
            </a:pPr>
            <a:r>
              <a:rPr lang="en-US" sz="650" dirty="0">
                <a:solidFill>
                  <a:srgbClr val="5B6472"/>
                </a:solidFill>
                <a:latin typeface="Aptos" pitchFamily="34" charset="0"/>
                <a:ea typeface="Aptos" pitchFamily="34" charset="-122"/>
                <a:cs typeface="Aptos" pitchFamily="34" charset="-120"/>
              </a:rPr>
              <a:t>Fuente: Park et al. (1998); main(3).pdf, Sec. 1.6.1–1.6.4.</a:t>
            </a:r>
            <a:endParaRPr lang="en-US" sz="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17225C"/>
          </a:solidFill>
          <a:ln w="12700">
            <a:solidFill>
              <a:srgbClr val="17225C"/>
            </a:solidFill>
            <a:prstDash val="solid"/>
          </a:ln>
        </p:spPr>
      </p:sp>
      <p:sp>
        <p:nvSpPr>
          <p:cNvPr id="3" name="Text 1"/>
          <p:cNvSpPr/>
          <p:nvPr/>
        </p:nvSpPr>
        <p:spPr>
          <a:xfrm>
            <a:off x="411480" y="137160"/>
            <a:ext cx="9418320" cy="365760"/>
          </a:xfrm>
          <a:prstGeom prst="rect">
            <a:avLst/>
          </a:prstGeom>
          <a:noFill/>
          <a:ln/>
        </p:spPr>
        <p:txBody>
          <a:bodyPr wrap="square" lIns="0" tIns="0" rIns="0" bIns="0" rtlCol="0" anchor="ctr">
            <a:normAutofit/>
          </a:bodyPr>
          <a:lstStyle/>
          <a:p>
            <a:pPr indent="0" marL="0">
              <a:buNone/>
            </a:pPr>
            <a:r>
              <a:rPr lang="en-US" sz="2300" b="1" dirty="0">
                <a:solidFill>
                  <a:srgbClr val="FFFFFF"/>
                </a:solidFill>
                <a:latin typeface="Aptos Display" pitchFamily="34" charset="0"/>
                <a:ea typeface="Aptos Display" pitchFamily="34" charset="-122"/>
                <a:cs typeface="Aptos Display" pitchFamily="34" charset="-120"/>
              </a:rPr>
              <a:t>Entonces el problema de tesis es preservar información a través de toda la cadena</a:t>
            </a:r>
            <a:endParaRPr lang="en-US" sz="2300" dirty="0"/>
          </a:p>
        </p:txBody>
      </p:sp>
      <p:sp>
        <p:nvSpPr>
          <p:cNvPr id="4" name="Text 2"/>
          <p:cNvSpPr/>
          <p:nvPr/>
        </p:nvSpPr>
        <p:spPr>
          <a:xfrm>
            <a:off x="10058400" y="201168"/>
            <a:ext cx="1737360" cy="228600"/>
          </a:xfrm>
          <a:prstGeom prst="rect">
            <a:avLst/>
          </a:prstGeom>
          <a:noFill/>
          <a:ln/>
        </p:spPr>
        <p:txBody>
          <a:bodyPr wrap="square" lIns="0" tIns="0" rIns="0" bIns="0" rtlCol="0" anchor="ctr">
            <a:normAutofit/>
          </a:bodyPr>
          <a:lstStyle/>
          <a:p>
            <a:pPr algn="r" indent="0" marL="0">
              <a:buNone/>
            </a:pPr>
            <a:r>
              <a:rPr lang="en-US" sz="850" dirty="0">
                <a:solidFill>
                  <a:srgbClr val="B8C4EA"/>
                </a:solidFill>
                <a:latin typeface="Aptos" pitchFamily="34" charset="0"/>
                <a:ea typeface="Aptos" pitchFamily="34" charset="-122"/>
                <a:cs typeface="Aptos" pitchFamily="34" charset="-120"/>
              </a:rPr>
              <a:t>Arquitectura</a:t>
            </a:r>
            <a:endParaRPr lang="en-US" sz="850" dirty="0"/>
          </a:p>
        </p:txBody>
      </p:sp>
      <p:pic>
        <p:nvPicPr>
          <p:cNvPr id="5" name="Image 0" descr="/mnt/data/pptx_unzip/ppt/media/image81.png">    </p:cNvPr>
          <p:cNvPicPr>
            <a:picLocks noChangeAspect="1"/>
          </p:cNvPicPr>
          <p:nvPr/>
        </p:nvPicPr>
        <p:blipFill>
          <a:blip r:embed="rId1"/>
          <a:stretch>
            <a:fillRect/>
          </a:stretch>
        </p:blipFill>
        <p:spPr>
          <a:xfrm>
            <a:off x="502920" y="1068833"/>
            <a:ext cx="11155680" cy="2114293"/>
          </a:xfrm>
          <a:prstGeom prst="rect">
            <a:avLst/>
          </a:prstGeom>
        </p:spPr>
      </p:pic>
      <p:sp>
        <p:nvSpPr>
          <p:cNvPr id="6" name="Text 3"/>
          <p:cNvSpPr/>
          <p:nvPr/>
        </p:nvSpPr>
        <p:spPr>
          <a:xfrm>
            <a:off x="685800" y="3703320"/>
            <a:ext cx="3840480" cy="274320"/>
          </a:xfrm>
          <a:prstGeom prst="rect">
            <a:avLst/>
          </a:prstGeom>
          <a:noFill/>
          <a:ln/>
        </p:spPr>
        <p:txBody>
          <a:bodyPr wrap="square" lIns="0" tIns="0" rIns="0" bIns="0" rtlCol="0" anchor="ctr"/>
          <a:lstStyle/>
          <a:p>
            <a:pPr indent="0" marL="0">
              <a:buNone/>
            </a:pPr>
            <a:r>
              <a:rPr lang="en-US" sz="1800" b="1" dirty="0">
                <a:solidFill>
                  <a:srgbClr val="121826"/>
                </a:solidFill>
              </a:rPr>
              <a:t>Requisitos que vienen de la física</a:t>
            </a:r>
            <a:endParaRPr lang="en-US" sz="1800" dirty="0"/>
          </a:p>
        </p:txBody>
      </p:sp>
      <p:sp>
        <p:nvSpPr>
          <p:cNvPr id="7" name="Shape 4"/>
          <p:cNvSpPr/>
          <p:nvPr/>
        </p:nvSpPr>
        <p:spPr>
          <a:xfrm>
            <a:off x="685800" y="4160520"/>
            <a:ext cx="2331720" cy="960120"/>
          </a:xfrm>
          <a:prstGeom prst="roundRect">
            <a:avLst>
              <a:gd name="adj" fmla="val 7619"/>
            </a:avLst>
          </a:prstGeom>
          <a:solidFill>
            <a:srgbClr val="FFFFFF"/>
          </a:solidFill>
          <a:ln w="10160">
            <a:solidFill>
              <a:srgbClr val="DCE2EA"/>
            </a:solidFill>
            <a:prstDash val="solid"/>
          </a:ln>
        </p:spPr>
      </p:sp>
      <p:sp>
        <p:nvSpPr>
          <p:cNvPr id="8" name="Text 5"/>
          <p:cNvSpPr/>
          <p:nvPr/>
        </p:nvSpPr>
        <p:spPr>
          <a:xfrm>
            <a:off x="850392" y="4343400"/>
            <a:ext cx="2011680" cy="201168"/>
          </a:xfrm>
          <a:prstGeom prst="rect">
            <a:avLst/>
          </a:prstGeom>
          <a:noFill/>
          <a:ln/>
        </p:spPr>
        <p:txBody>
          <a:bodyPr wrap="square" lIns="0" tIns="0" rIns="0" bIns="0" rtlCol="0" anchor="ctr"/>
          <a:lstStyle/>
          <a:p>
            <a:pPr algn="ctr" indent="0" marL="0">
              <a:buNone/>
            </a:pPr>
            <a:r>
              <a:rPr lang="en-US" sz="1600" b="1" dirty="0">
                <a:solidFill>
                  <a:srgbClr val="17225C"/>
                </a:solidFill>
              </a:rPr>
              <a:t>baja frecuencia</a:t>
            </a:r>
            <a:endParaRPr lang="en-US" sz="1600" dirty="0"/>
          </a:p>
        </p:txBody>
      </p:sp>
      <p:sp>
        <p:nvSpPr>
          <p:cNvPr id="9" name="Text 6"/>
          <p:cNvSpPr/>
          <p:nvPr/>
        </p:nvSpPr>
        <p:spPr>
          <a:xfrm>
            <a:off x="850392" y="4709160"/>
            <a:ext cx="2011680" cy="164592"/>
          </a:xfrm>
          <a:prstGeom prst="rect">
            <a:avLst/>
          </a:prstGeom>
          <a:noFill/>
          <a:ln/>
        </p:spPr>
        <p:txBody>
          <a:bodyPr wrap="square" lIns="0" tIns="0" rIns="0" bIns="0" rtlCol="0" anchor="ctr"/>
          <a:lstStyle/>
          <a:p>
            <a:pPr algn="ctr" indent="0" marL="0">
              <a:buNone/>
            </a:pPr>
            <a:r>
              <a:rPr lang="en-US" sz="1050" dirty="0">
                <a:solidFill>
                  <a:srgbClr val="5B6472"/>
                </a:solidFill>
              </a:rPr>
              <a:t>para profundidad</a:t>
            </a:r>
            <a:endParaRPr lang="en-US" sz="1050" dirty="0"/>
          </a:p>
        </p:txBody>
      </p:sp>
      <p:sp>
        <p:nvSpPr>
          <p:cNvPr id="10" name="Shape 7"/>
          <p:cNvSpPr/>
          <p:nvPr/>
        </p:nvSpPr>
        <p:spPr>
          <a:xfrm>
            <a:off x="3474720" y="4160520"/>
            <a:ext cx="2331720" cy="960120"/>
          </a:xfrm>
          <a:prstGeom prst="roundRect">
            <a:avLst>
              <a:gd name="adj" fmla="val 7619"/>
            </a:avLst>
          </a:prstGeom>
          <a:solidFill>
            <a:srgbClr val="FFFFFF"/>
          </a:solidFill>
          <a:ln w="10160">
            <a:solidFill>
              <a:srgbClr val="DCE2EA"/>
            </a:solidFill>
            <a:prstDash val="solid"/>
          </a:ln>
        </p:spPr>
      </p:sp>
      <p:sp>
        <p:nvSpPr>
          <p:cNvPr id="11" name="Text 8"/>
          <p:cNvSpPr/>
          <p:nvPr/>
        </p:nvSpPr>
        <p:spPr>
          <a:xfrm>
            <a:off x="3639312" y="4343400"/>
            <a:ext cx="2011680" cy="201168"/>
          </a:xfrm>
          <a:prstGeom prst="rect">
            <a:avLst/>
          </a:prstGeom>
          <a:noFill/>
          <a:ln/>
        </p:spPr>
        <p:txBody>
          <a:bodyPr wrap="square" lIns="0" tIns="0" rIns="0" bIns="0" rtlCol="0" anchor="ctr"/>
          <a:lstStyle/>
          <a:p>
            <a:pPr algn="ctr" indent="0" marL="0">
              <a:buNone/>
            </a:pPr>
            <a:r>
              <a:rPr lang="en-US" sz="1600" b="1" dirty="0">
                <a:solidFill>
                  <a:srgbClr val="17225C"/>
                </a:solidFill>
              </a:rPr>
              <a:t>fase coherente</a:t>
            </a:r>
            <a:endParaRPr lang="en-US" sz="1600" dirty="0"/>
          </a:p>
        </p:txBody>
      </p:sp>
      <p:sp>
        <p:nvSpPr>
          <p:cNvPr id="12" name="Text 9"/>
          <p:cNvSpPr/>
          <p:nvPr/>
        </p:nvSpPr>
        <p:spPr>
          <a:xfrm>
            <a:off x="3639312" y="4709160"/>
            <a:ext cx="2011680" cy="164592"/>
          </a:xfrm>
          <a:prstGeom prst="rect">
            <a:avLst/>
          </a:prstGeom>
          <a:noFill/>
          <a:ln/>
        </p:spPr>
        <p:txBody>
          <a:bodyPr wrap="square" lIns="0" tIns="0" rIns="0" bIns="0" rtlCol="0" anchor="ctr"/>
          <a:lstStyle/>
          <a:p>
            <a:pPr algn="ctr" indent="0" marL="0">
              <a:buNone/>
            </a:pPr>
            <a:r>
              <a:rPr lang="en-US" sz="1050" dirty="0">
                <a:solidFill>
                  <a:srgbClr val="5B6472"/>
                </a:solidFill>
              </a:rPr>
              <a:t>para cR(f)</a:t>
            </a:r>
            <a:endParaRPr lang="en-US" sz="1050" dirty="0"/>
          </a:p>
        </p:txBody>
      </p:sp>
      <p:sp>
        <p:nvSpPr>
          <p:cNvPr id="13" name="Shape 10"/>
          <p:cNvSpPr/>
          <p:nvPr/>
        </p:nvSpPr>
        <p:spPr>
          <a:xfrm>
            <a:off x="6263640" y="4160520"/>
            <a:ext cx="2331720" cy="960120"/>
          </a:xfrm>
          <a:prstGeom prst="roundRect">
            <a:avLst>
              <a:gd name="adj" fmla="val 7619"/>
            </a:avLst>
          </a:prstGeom>
          <a:solidFill>
            <a:srgbClr val="FFFFFF"/>
          </a:solidFill>
          <a:ln w="10160">
            <a:solidFill>
              <a:srgbClr val="DCE2EA"/>
            </a:solidFill>
            <a:prstDash val="solid"/>
          </a:ln>
        </p:spPr>
      </p:sp>
      <p:sp>
        <p:nvSpPr>
          <p:cNvPr id="14" name="Text 11"/>
          <p:cNvSpPr/>
          <p:nvPr/>
        </p:nvSpPr>
        <p:spPr>
          <a:xfrm>
            <a:off x="6428232" y="4343400"/>
            <a:ext cx="2011680" cy="201168"/>
          </a:xfrm>
          <a:prstGeom prst="rect">
            <a:avLst/>
          </a:prstGeom>
          <a:noFill/>
          <a:ln/>
        </p:spPr>
        <p:txBody>
          <a:bodyPr wrap="square" lIns="0" tIns="0" rIns="0" bIns="0" rtlCol="0" anchor="ctr"/>
          <a:lstStyle/>
          <a:p>
            <a:pPr algn="ctr" indent="0" marL="0">
              <a:buNone/>
            </a:pPr>
            <a:r>
              <a:rPr lang="en-US" sz="1600" b="1" dirty="0">
                <a:solidFill>
                  <a:srgbClr val="17225C"/>
                </a:solidFill>
              </a:rPr>
              <a:t>rango dinámico</a:t>
            </a:r>
            <a:endParaRPr lang="en-US" sz="1600" dirty="0"/>
          </a:p>
        </p:txBody>
      </p:sp>
      <p:sp>
        <p:nvSpPr>
          <p:cNvPr id="15" name="Text 12"/>
          <p:cNvSpPr/>
          <p:nvPr/>
        </p:nvSpPr>
        <p:spPr>
          <a:xfrm>
            <a:off x="6428232" y="4709160"/>
            <a:ext cx="2011680" cy="164592"/>
          </a:xfrm>
          <a:prstGeom prst="rect">
            <a:avLst/>
          </a:prstGeom>
          <a:noFill/>
          <a:ln/>
        </p:spPr>
        <p:txBody>
          <a:bodyPr wrap="square" lIns="0" tIns="0" rIns="0" bIns="0" rtlCol="0" anchor="ctr"/>
          <a:lstStyle/>
          <a:p>
            <a:pPr algn="ctr" indent="0" marL="0">
              <a:buNone/>
            </a:pPr>
            <a:r>
              <a:rPr lang="en-US" sz="1050" dirty="0">
                <a:solidFill>
                  <a:srgbClr val="5B6472"/>
                </a:solidFill>
              </a:rPr>
              <a:t>sin saturar</a:t>
            </a:r>
            <a:endParaRPr lang="en-US" sz="1050" dirty="0"/>
          </a:p>
        </p:txBody>
      </p:sp>
      <p:sp>
        <p:nvSpPr>
          <p:cNvPr id="16" name="Shape 13"/>
          <p:cNvSpPr/>
          <p:nvPr/>
        </p:nvSpPr>
        <p:spPr>
          <a:xfrm>
            <a:off x="9052560" y="4160520"/>
            <a:ext cx="2331720" cy="960120"/>
          </a:xfrm>
          <a:prstGeom prst="roundRect">
            <a:avLst>
              <a:gd name="adj" fmla="val 7619"/>
            </a:avLst>
          </a:prstGeom>
          <a:solidFill>
            <a:srgbClr val="FFFFFF"/>
          </a:solidFill>
          <a:ln w="10160">
            <a:solidFill>
              <a:srgbClr val="DCE2EA"/>
            </a:solidFill>
            <a:prstDash val="solid"/>
          </a:ln>
        </p:spPr>
      </p:sp>
      <p:sp>
        <p:nvSpPr>
          <p:cNvPr id="17" name="Text 14"/>
          <p:cNvSpPr/>
          <p:nvPr/>
        </p:nvSpPr>
        <p:spPr>
          <a:xfrm>
            <a:off x="9217152" y="4343400"/>
            <a:ext cx="2011680" cy="201168"/>
          </a:xfrm>
          <a:prstGeom prst="rect">
            <a:avLst/>
          </a:prstGeom>
          <a:noFill/>
          <a:ln/>
        </p:spPr>
        <p:txBody>
          <a:bodyPr wrap="square" lIns="0" tIns="0" rIns="0" bIns="0" rtlCol="0" anchor="ctr"/>
          <a:lstStyle/>
          <a:p>
            <a:pPr algn="ctr" indent="0" marL="0">
              <a:buNone/>
            </a:pPr>
            <a:r>
              <a:rPr lang="en-US" sz="1600" b="1" dirty="0">
                <a:solidFill>
                  <a:srgbClr val="17225C"/>
                </a:solidFill>
              </a:rPr>
              <a:t>metadatos</a:t>
            </a:r>
            <a:endParaRPr lang="en-US" sz="1600" dirty="0"/>
          </a:p>
        </p:txBody>
      </p:sp>
      <p:sp>
        <p:nvSpPr>
          <p:cNvPr id="18" name="Text 15"/>
          <p:cNvSpPr/>
          <p:nvPr/>
        </p:nvSpPr>
        <p:spPr>
          <a:xfrm>
            <a:off x="9217152" y="4709160"/>
            <a:ext cx="2011680" cy="164592"/>
          </a:xfrm>
          <a:prstGeom prst="rect">
            <a:avLst/>
          </a:prstGeom>
          <a:noFill/>
          <a:ln/>
        </p:spPr>
        <p:txBody>
          <a:bodyPr wrap="square" lIns="0" tIns="0" rIns="0" bIns="0" rtlCol="0" anchor="ctr"/>
          <a:lstStyle/>
          <a:p>
            <a:pPr algn="ctr" indent="0" marL="0">
              <a:buNone/>
            </a:pPr>
            <a:r>
              <a:rPr lang="en-US" sz="1050" dirty="0">
                <a:solidFill>
                  <a:srgbClr val="5B6472"/>
                </a:solidFill>
              </a:rPr>
              <a:t>para reproducibilidad</a:t>
            </a:r>
            <a:endParaRPr lang="en-US" sz="1050" dirty="0"/>
          </a:p>
        </p:txBody>
      </p:sp>
      <p:sp>
        <p:nvSpPr>
          <p:cNvPr id="19" name="Text 16"/>
          <p:cNvSpPr/>
          <p:nvPr/>
        </p:nvSpPr>
        <p:spPr>
          <a:xfrm>
            <a:off x="411480" y="6565392"/>
            <a:ext cx="11155680" cy="146304"/>
          </a:xfrm>
          <a:prstGeom prst="rect">
            <a:avLst/>
          </a:prstGeom>
          <a:noFill/>
          <a:ln/>
        </p:spPr>
        <p:txBody>
          <a:bodyPr wrap="square" lIns="0" tIns="0" rIns="0" bIns="0" rtlCol="0" anchor="ctr">
            <a:normAutofit/>
          </a:bodyPr>
          <a:lstStyle/>
          <a:p>
            <a:pPr indent="0" marL="0">
              <a:buNone/>
            </a:pPr>
            <a:r>
              <a:rPr lang="en-US" sz="650" dirty="0">
                <a:solidFill>
                  <a:srgbClr val="5B6472"/>
                </a:solidFill>
                <a:latin typeface="Aptos" pitchFamily="34" charset="0"/>
                <a:ea typeface="Aptos" pitchFamily="34" charset="-122"/>
                <a:cs typeface="Aptos" pitchFamily="34" charset="-120"/>
              </a:rPr>
              <a:t>Fuente: main(3).pdf, Sec. 1.8–1.9.</a:t>
            </a:r>
            <a:endParaRPr lang="en-US" sz="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17225C"/>
          </a:solidFill>
          <a:ln w="12700">
            <a:solidFill>
              <a:srgbClr val="17225C"/>
            </a:solidFill>
            <a:prstDash val="solid"/>
          </a:ln>
        </p:spPr>
      </p:sp>
      <p:sp>
        <p:nvSpPr>
          <p:cNvPr id="3" name="Text 1"/>
          <p:cNvSpPr/>
          <p:nvPr/>
        </p:nvSpPr>
        <p:spPr>
          <a:xfrm>
            <a:off x="411480" y="137160"/>
            <a:ext cx="9418320" cy="365760"/>
          </a:xfrm>
          <a:prstGeom prst="rect">
            <a:avLst/>
          </a:prstGeom>
          <a:noFill/>
          <a:ln/>
        </p:spPr>
        <p:txBody>
          <a:bodyPr wrap="square" lIns="0" tIns="0" rIns="0" bIns="0" rtlCol="0" anchor="ctr">
            <a:normAutofit/>
          </a:bodyPr>
          <a:lstStyle/>
          <a:p>
            <a:pPr indent="0" marL="0">
              <a:buNone/>
            </a:pPr>
            <a:r>
              <a:rPr lang="en-US" sz="2300" b="1" dirty="0">
                <a:solidFill>
                  <a:srgbClr val="FFFFFF"/>
                </a:solidFill>
                <a:latin typeface="Aptos Display" pitchFamily="34" charset="0"/>
                <a:ea typeface="Aptos Display" pitchFamily="34" charset="-122"/>
                <a:cs typeface="Aptos Display" pitchFamily="34" charset="-120"/>
              </a:rPr>
              <a:t>Generación: hoy medimos el golpe; luego debemos controlar su repetición</a:t>
            </a:r>
            <a:endParaRPr lang="en-US" sz="2300" dirty="0"/>
          </a:p>
        </p:txBody>
      </p:sp>
      <p:sp>
        <p:nvSpPr>
          <p:cNvPr id="4" name="Text 2"/>
          <p:cNvSpPr/>
          <p:nvPr/>
        </p:nvSpPr>
        <p:spPr>
          <a:xfrm>
            <a:off x="10058400" y="201168"/>
            <a:ext cx="1737360" cy="228600"/>
          </a:xfrm>
          <a:prstGeom prst="rect">
            <a:avLst/>
          </a:prstGeom>
          <a:noFill/>
          <a:ln/>
        </p:spPr>
        <p:txBody>
          <a:bodyPr wrap="square" lIns="0" tIns="0" rIns="0" bIns="0" rtlCol="0" anchor="ctr">
            <a:normAutofit/>
          </a:bodyPr>
          <a:lstStyle/>
          <a:p>
            <a:pPr algn="r" indent="0" marL="0">
              <a:buNone/>
            </a:pPr>
            <a:r>
              <a:rPr lang="en-US" sz="850" dirty="0">
                <a:solidFill>
                  <a:srgbClr val="B8C4EA"/>
                </a:solidFill>
                <a:latin typeface="Aptos" pitchFamily="34" charset="0"/>
                <a:ea typeface="Aptos" pitchFamily="34" charset="-122"/>
                <a:cs typeface="Aptos" pitchFamily="34" charset="-120"/>
              </a:rPr>
              <a:t>Fuente</a:t>
            </a:r>
            <a:endParaRPr lang="en-US" sz="850" dirty="0"/>
          </a:p>
        </p:txBody>
      </p:sp>
      <p:sp>
        <p:nvSpPr>
          <p:cNvPr id="5" name="Shape 3"/>
          <p:cNvSpPr/>
          <p:nvPr/>
        </p:nvSpPr>
        <p:spPr>
          <a:xfrm>
            <a:off x="502920" y="5989320"/>
            <a:ext cx="1543115" cy="310896"/>
          </a:xfrm>
          <a:prstGeom prst="roundRect">
            <a:avLst>
              <a:gd name="adj" fmla="val 11765"/>
            </a:avLst>
          </a:prstGeom>
          <a:solidFill>
            <a:srgbClr val="F28C28"/>
          </a:solidFill>
          <a:ln w="12700">
            <a:solidFill>
              <a:srgbClr val="F28C28"/>
            </a:solidFill>
            <a:prstDash val="solid"/>
          </a:ln>
        </p:spPr>
      </p:sp>
      <p:sp>
        <p:nvSpPr>
          <p:cNvPr id="6" name="Text 4"/>
          <p:cNvSpPr/>
          <p:nvPr/>
        </p:nvSpPr>
        <p:spPr>
          <a:xfrm>
            <a:off x="530352"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FFFFFF"/>
                </a:solidFill>
              </a:rPr>
              <a:t>Fuente</a:t>
            </a:r>
            <a:endParaRPr lang="en-US" sz="740" dirty="0"/>
          </a:p>
        </p:txBody>
      </p:sp>
      <p:sp>
        <p:nvSpPr>
          <p:cNvPr id="7" name="Shape 5"/>
          <p:cNvSpPr/>
          <p:nvPr/>
        </p:nvSpPr>
        <p:spPr>
          <a:xfrm>
            <a:off x="2110043" y="5989320"/>
            <a:ext cx="1543115" cy="310896"/>
          </a:xfrm>
          <a:prstGeom prst="roundRect">
            <a:avLst>
              <a:gd name="adj" fmla="val 11765"/>
            </a:avLst>
          </a:prstGeom>
          <a:solidFill>
            <a:srgbClr val="DEE5F2"/>
          </a:solidFill>
          <a:ln w="12700">
            <a:solidFill>
              <a:srgbClr val="DEE5F2"/>
            </a:solidFill>
            <a:prstDash val="solid"/>
          </a:ln>
        </p:spPr>
      </p:sp>
      <p:sp>
        <p:nvSpPr>
          <p:cNvPr id="8" name="Text 6"/>
          <p:cNvSpPr/>
          <p:nvPr/>
        </p:nvSpPr>
        <p:spPr>
          <a:xfrm>
            <a:off x="2137475"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Sensor</a:t>
            </a:r>
            <a:endParaRPr lang="en-US" sz="740" dirty="0"/>
          </a:p>
        </p:txBody>
      </p:sp>
      <p:sp>
        <p:nvSpPr>
          <p:cNvPr id="9" name="Shape 7"/>
          <p:cNvSpPr/>
          <p:nvPr/>
        </p:nvSpPr>
        <p:spPr>
          <a:xfrm>
            <a:off x="3717167" y="5989320"/>
            <a:ext cx="1543115" cy="310896"/>
          </a:xfrm>
          <a:prstGeom prst="roundRect">
            <a:avLst>
              <a:gd name="adj" fmla="val 11765"/>
            </a:avLst>
          </a:prstGeom>
          <a:solidFill>
            <a:srgbClr val="DEE5F2"/>
          </a:solidFill>
          <a:ln w="12700">
            <a:solidFill>
              <a:srgbClr val="DEE5F2"/>
            </a:solidFill>
            <a:prstDash val="solid"/>
          </a:ln>
        </p:spPr>
      </p:sp>
      <p:sp>
        <p:nvSpPr>
          <p:cNvPr id="10" name="Text 8"/>
          <p:cNvSpPr/>
          <p:nvPr/>
        </p:nvSpPr>
        <p:spPr>
          <a:xfrm>
            <a:off x="3744599"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AFE/ADC</a:t>
            </a:r>
            <a:endParaRPr lang="en-US" sz="740" dirty="0"/>
          </a:p>
        </p:txBody>
      </p:sp>
      <p:sp>
        <p:nvSpPr>
          <p:cNvPr id="11" name="Shape 9"/>
          <p:cNvSpPr/>
          <p:nvPr/>
        </p:nvSpPr>
        <p:spPr>
          <a:xfrm>
            <a:off x="5324290" y="5989320"/>
            <a:ext cx="1543115" cy="310896"/>
          </a:xfrm>
          <a:prstGeom prst="roundRect">
            <a:avLst>
              <a:gd name="adj" fmla="val 11765"/>
            </a:avLst>
          </a:prstGeom>
          <a:solidFill>
            <a:srgbClr val="DEE5F2"/>
          </a:solidFill>
          <a:ln w="12700">
            <a:solidFill>
              <a:srgbClr val="DEE5F2"/>
            </a:solidFill>
            <a:prstDash val="solid"/>
          </a:ln>
        </p:spPr>
      </p:sp>
      <p:sp>
        <p:nvSpPr>
          <p:cNvPr id="12" name="Text 10"/>
          <p:cNvSpPr/>
          <p:nvPr/>
        </p:nvSpPr>
        <p:spPr>
          <a:xfrm>
            <a:off x="5351722"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Sync/Red</a:t>
            </a:r>
            <a:endParaRPr lang="en-US" sz="740" dirty="0"/>
          </a:p>
        </p:txBody>
      </p:sp>
      <p:sp>
        <p:nvSpPr>
          <p:cNvPr id="13" name="Shape 11"/>
          <p:cNvSpPr/>
          <p:nvPr/>
        </p:nvSpPr>
        <p:spPr>
          <a:xfrm>
            <a:off x="6931413" y="5989320"/>
            <a:ext cx="1543115" cy="310896"/>
          </a:xfrm>
          <a:prstGeom prst="roundRect">
            <a:avLst>
              <a:gd name="adj" fmla="val 11765"/>
            </a:avLst>
          </a:prstGeom>
          <a:solidFill>
            <a:srgbClr val="DEE5F2"/>
          </a:solidFill>
          <a:ln w="12700">
            <a:solidFill>
              <a:srgbClr val="DEE5F2"/>
            </a:solidFill>
            <a:prstDash val="solid"/>
          </a:ln>
        </p:spPr>
      </p:sp>
      <p:sp>
        <p:nvSpPr>
          <p:cNvPr id="14" name="Text 12"/>
          <p:cNvSpPr/>
          <p:nvPr/>
        </p:nvSpPr>
        <p:spPr>
          <a:xfrm>
            <a:off x="6958845"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Interfaces</a:t>
            </a:r>
            <a:endParaRPr lang="en-US" sz="740" dirty="0"/>
          </a:p>
        </p:txBody>
      </p:sp>
      <p:sp>
        <p:nvSpPr>
          <p:cNvPr id="15" name="Shape 13"/>
          <p:cNvSpPr/>
          <p:nvPr/>
        </p:nvSpPr>
        <p:spPr>
          <a:xfrm>
            <a:off x="8538537" y="5989320"/>
            <a:ext cx="1543115" cy="310896"/>
          </a:xfrm>
          <a:prstGeom prst="roundRect">
            <a:avLst>
              <a:gd name="adj" fmla="val 11765"/>
            </a:avLst>
          </a:prstGeom>
          <a:solidFill>
            <a:srgbClr val="DEE5F2"/>
          </a:solidFill>
          <a:ln w="12700">
            <a:solidFill>
              <a:srgbClr val="DEE5F2"/>
            </a:solidFill>
            <a:prstDash val="solid"/>
          </a:ln>
        </p:spPr>
      </p:sp>
      <p:sp>
        <p:nvSpPr>
          <p:cNvPr id="16" name="Text 14"/>
          <p:cNvSpPr/>
          <p:nvPr/>
        </p:nvSpPr>
        <p:spPr>
          <a:xfrm>
            <a:off x="8565969"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MASW</a:t>
            </a:r>
            <a:endParaRPr lang="en-US" sz="740" dirty="0"/>
          </a:p>
        </p:txBody>
      </p:sp>
      <p:sp>
        <p:nvSpPr>
          <p:cNvPr id="17" name="Shape 15"/>
          <p:cNvSpPr/>
          <p:nvPr/>
        </p:nvSpPr>
        <p:spPr>
          <a:xfrm>
            <a:off x="10145660" y="5989320"/>
            <a:ext cx="1543115" cy="310896"/>
          </a:xfrm>
          <a:prstGeom prst="roundRect">
            <a:avLst>
              <a:gd name="adj" fmla="val 11765"/>
            </a:avLst>
          </a:prstGeom>
          <a:solidFill>
            <a:srgbClr val="DEE5F2"/>
          </a:solidFill>
          <a:ln w="12700">
            <a:solidFill>
              <a:srgbClr val="DEE5F2"/>
            </a:solidFill>
            <a:prstDash val="solid"/>
          </a:ln>
        </p:spPr>
      </p:sp>
      <p:sp>
        <p:nvSpPr>
          <p:cNvPr id="18" name="Text 16"/>
          <p:cNvSpPr/>
          <p:nvPr/>
        </p:nvSpPr>
        <p:spPr>
          <a:xfrm>
            <a:off x="10173092"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Inversión</a:t>
            </a:r>
            <a:endParaRPr lang="en-US" sz="740" dirty="0"/>
          </a:p>
        </p:txBody>
      </p:sp>
      <p:pic>
        <p:nvPicPr>
          <p:cNvPr id="19" name="Image 0" descr="/mnt/data/pptx_unzip/ppt/media/image68.png">    </p:cNvPr>
          <p:cNvPicPr>
            <a:picLocks noChangeAspect="1"/>
          </p:cNvPicPr>
          <p:nvPr/>
        </p:nvPicPr>
        <p:blipFill>
          <a:blip r:embed="rId1"/>
          <a:srcRect l="0" r="0" t="12468" b="12468"/>
          <a:stretch/>
        </p:blipFill>
        <p:spPr>
          <a:xfrm>
            <a:off x="594360" y="914400"/>
            <a:ext cx="3566160" cy="3931920"/>
          </a:xfrm>
          <a:prstGeom prst="rect">
            <a:avLst/>
          </a:prstGeom>
        </p:spPr>
      </p:pic>
      <p:pic>
        <p:nvPicPr>
          <p:cNvPr id="20" name="Image 1" descr="/mnt/data/pptx_unzip/ppt/media/image69.png">    </p:cNvPr>
          <p:cNvPicPr>
            <a:picLocks noChangeAspect="1"/>
          </p:cNvPicPr>
          <p:nvPr/>
        </p:nvPicPr>
        <p:blipFill>
          <a:blip r:embed="rId2"/>
          <a:srcRect l="33041" r="33041" t="0" b="0"/>
          <a:stretch/>
        </p:blipFill>
        <p:spPr>
          <a:xfrm>
            <a:off x="4389120" y="914400"/>
            <a:ext cx="3520440" cy="3931920"/>
          </a:xfrm>
          <a:prstGeom prst="rect">
            <a:avLst/>
          </a:prstGeom>
        </p:spPr>
      </p:pic>
      <p:pic>
        <p:nvPicPr>
          <p:cNvPr id="21" name="Image 2" descr="/mnt/data/pptx_unzip/ppt/media/image79.jpg">    </p:cNvPr>
          <p:cNvPicPr>
            <a:picLocks noChangeAspect="1"/>
          </p:cNvPicPr>
          <p:nvPr/>
        </p:nvPicPr>
        <p:blipFill>
          <a:blip r:embed="rId3"/>
          <a:srcRect l="35327" r="35327" t="0" b="0"/>
          <a:stretch/>
        </p:blipFill>
        <p:spPr>
          <a:xfrm>
            <a:off x="8183880" y="914400"/>
            <a:ext cx="3246120" cy="3931920"/>
          </a:xfrm>
          <a:prstGeom prst="rect">
            <a:avLst/>
          </a:prstGeom>
        </p:spPr>
      </p:pic>
      <p:sp>
        <p:nvSpPr>
          <p:cNvPr id="22" name="Shape 17"/>
          <p:cNvSpPr/>
          <p:nvPr/>
        </p:nvSpPr>
        <p:spPr>
          <a:xfrm>
            <a:off x="1005840" y="5074920"/>
            <a:ext cx="10058400" cy="502920"/>
          </a:xfrm>
          <a:prstGeom prst="roundRect">
            <a:avLst>
              <a:gd name="adj" fmla="val 14545"/>
            </a:avLst>
          </a:prstGeom>
          <a:solidFill>
            <a:srgbClr val="17225C"/>
          </a:solidFill>
          <a:ln w="12700">
            <a:solidFill>
              <a:srgbClr val="17225C">
                <a:alpha val="0"/>
              </a:srgbClr>
            </a:solidFill>
            <a:prstDash val="solid"/>
          </a:ln>
        </p:spPr>
      </p:sp>
      <p:sp>
        <p:nvSpPr>
          <p:cNvPr id="23" name="Text 18"/>
          <p:cNvSpPr/>
          <p:nvPr/>
        </p:nvSpPr>
        <p:spPr>
          <a:xfrm>
            <a:off x="1170432" y="5175504"/>
            <a:ext cx="9729216" cy="320040"/>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Pregunta que queda abierta: ¿inyectamos suficiente energía en baja frecuencia?</a:t>
            </a:r>
            <a:endParaRPr lang="en-US" sz="1500" dirty="0"/>
          </a:p>
        </p:txBody>
      </p:sp>
      <p:sp>
        <p:nvSpPr>
          <p:cNvPr id="24" name="Text 19"/>
          <p:cNvSpPr/>
          <p:nvPr/>
        </p:nvSpPr>
        <p:spPr>
          <a:xfrm>
            <a:off x="411480" y="6565392"/>
            <a:ext cx="11155680" cy="146304"/>
          </a:xfrm>
          <a:prstGeom prst="rect">
            <a:avLst/>
          </a:prstGeom>
          <a:noFill/>
          <a:ln/>
        </p:spPr>
        <p:txBody>
          <a:bodyPr wrap="square" lIns="0" tIns="0" rIns="0" bIns="0" rtlCol="0" anchor="ctr">
            <a:normAutofit/>
          </a:bodyPr>
          <a:lstStyle/>
          <a:p>
            <a:pPr indent="0" marL="0">
              <a:buNone/>
            </a:pPr>
            <a:r>
              <a:rPr lang="en-US" sz="650" dirty="0">
                <a:solidFill>
                  <a:srgbClr val="5B6472"/>
                </a:solidFill>
                <a:latin typeface="Aptos" pitchFamily="34" charset="0"/>
                <a:ea typeface="Aptos" pitchFamily="34" charset="-122"/>
                <a:cs typeface="Aptos" pitchFamily="34" charset="-120"/>
              </a:rPr>
              <a:t>Fuente: main(3).pdf, Sec. 2; PCB Piezotronics 086D20; prototipo propio.</a:t>
            </a:r>
            <a:endParaRPr lang="en-US" sz="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17225C"/>
          </a:solidFill>
          <a:ln w="12700">
            <a:solidFill>
              <a:srgbClr val="17225C"/>
            </a:solidFill>
            <a:prstDash val="solid"/>
          </a:ln>
        </p:spPr>
      </p:sp>
      <p:sp>
        <p:nvSpPr>
          <p:cNvPr id="3" name="Text 1"/>
          <p:cNvSpPr/>
          <p:nvPr/>
        </p:nvSpPr>
        <p:spPr>
          <a:xfrm>
            <a:off x="411480" y="137160"/>
            <a:ext cx="9418320" cy="365760"/>
          </a:xfrm>
          <a:prstGeom prst="rect">
            <a:avLst/>
          </a:prstGeom>
          <a:noFill/>
          <a:ln/>
        </p:spPr>
        <p:txBody>
          <a:bodyPr wrap="square" lIns="0" tIns="0" rIns="0" bIns="0" rtlCol="0" anchor="ctr">
            <a:normAutofit/>
          </a:bodyPr>
          <a:lstStyle/>
          <a:p>
            <a:pPr indent="0" marL="0">
              <a:buNone/>
            </a:pPr>
            <a:r>
              <a:rPr lang="en-US" sz="2300" b="1" dirty="0">
                <a:solidFill>
                  <a:srgbClr val="FFFFFF"/>
                </a:solidFill>
                <a:latin typeface="Aptos Display" pitchFamily="34" charset="0"/>
                <a:ea typeface="Aptos Display" pitchFamily="34" charset="-122"/>
                <a:cs typeface="Aptos Display" pitchFamily="34" charset="-120"/>
              </a:rPr>
              <a:t>Transducción: el SM‑24 disponible fija una restricción de banda</a:t>
            </a:r>
            <a:endParaRPr lang="en-US" sz="2300" dirty="0"/>
          </a:p>
        </p:txBody>
      </p:sp>
      <p:sp>
        <p:nvSpPr>
          <p:cNvPr id="4" name="Text 2"/>
          <p:cNvSpPr/>
          <p:nvPr/>
        </p:nvSpPr>
        <p:spPr>
          <a:xfrm>
            <a:off x="10058400" y="201168"/>
            <a:ext cx="1737360" cy="228600"/>
          </a:xfrm>
          <a:prstGeom prst="rect">
            <a:avLst/>
          </a:prstGeom>
          <a:noFill/>
          <a:ln/>
        </p:spPr>
        <p:txBody>
          <a:bodyPr wrap="square" lIns="0" tIns="0" rIns="0" bIns="0" rtlCol="0" anchor="ctr">
            <a:normAutofit/>
          </a:bodyPr>
          <a:lstStyle/>
          <a:p>
            <a:pPr algn="r" indent="0" marL="0">
              <a:buNone/>
            </a:pPr>
            <a:r>
              <a:rPr lang="en-US" sz="850" dirty="0">
                <a:solidFill>
                  <a:srgbClr val="B8C4EA"/>
                </a:solidFill>
                <a:latin typeface="Aptos" pitchFamily="34" charset="0"/>
                <a:ea typeface="Aptos" pitchFamily="34" charset="-122"/>
                <a:cs typeface="Aptos" pitchFamily="34" charset="-120"/>
              </a:rPr>
              <a:t>Sensor</a:t>
            </a:r>
            <a:endParaRPr lang="en-US" sz="850" dirty="0"/>
          </a:p>
        </p:txBody>
      </p:sp>
      <p:sp>
        <p:nvSpPr>
          <p:cNvPr id="5" name="Shape 3"/>
          <p:cNvSpPr/>
          <p:nvPr/>
        </p:nvSpPr>
        <p:spPr>
          <a:xfrm>
            <a:off x="502920" y="5989320"/>
            <a:ext cx="1543115" cy="310896"/>
          </a:xfrm>
          <a:prstGeom prst="roundRect">
            <a:avLst>
              <a:gd name="adj" fmla="val 11765"/>
            </a:avLst>
          </a:prstGeom>
          <a:solidFill>
            <a:srgbClr val="DEE5F2"/>
          </a:solidFill>
          <a:ln w="12700">
            <a:solidFill>
              <a:srgbClr val="DEE5F2"/>
            </a:solidFill>
            <a:prstDash val="solid"/>
          </a:ln>
        </p:spPr>
      </p:sp>
      <p:sp>
        <p:nvSpPr>
          <p:cNvPr id="6" name="Text 4"/>
          <p:cNvSpPr/>
          <p:nvPr/>
        </p:nvSpPr>
        <p:spPr>
          <a:xfrm>
            <a:off x="530352"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Fuente</a:t>
            </a:r>
            <a:endParaRPr lang="en-US" sz="740" dirty="0"/>
          </a:p>
        </p:txBody>
      </p:sp>
      <p:sp>
        <p:nvSpPr>
          <p:cNvPr id="7" name="Shape 5"/>
          <p:cNvSpPr/>
          <p:nvPr/>
        </p:nvSpPr>
        <p:spPr>
          <a:xfrm>
            <a:off x="2110043" y="5989320"/>
            <a:ext cx="1543115" cy="310896"/>
          </a:xfrm>
          <a:prstGeom prst="roundRect">
            <a:avLst>
              <a:gd name="adj" fmla="val 11765"/>
            </a:avLst>
          </a:prstGeom>
          <a:solidFill>
            <a:srgbClr val="F28C28"/>
          </a:solidFill>
          <a:ln w="12700">
            <a:solidFill>
              <a:srgbClr val="F28C28"/>
            </a:solidFill>
            <a:prstDash val="solid"/>
          </a:ln>
        </p:spPr>
      </p:sp>
      <p:sp>
        <p:nvSpPr>
          <p:cNvPr id="8" name="Text 6"/>
          <p:cNvSpPr/>
          <p:nvPr/>
        </p:nvSpPr>
        <p:spPr>
          <a:xfrm>
            <a:off x="2137475"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FFFFFF"/>
                </a:solidFill>
              </a:rPr>
              <a:t>Sensor</a:t>
            </a:r>
            <a:endParaRPr lang="en-US" sz="740" dirty="0"/>
          </a:p>
        </p:txBody>
      </p:sp>
      <p:sp>
        <p:nvSpPr>
          <p:cNvPr id="9" name="Shape 7"/>
          <p:cNvSpPr/>
          <p:nvPr/>
        </p:nvSpPr>
        <p:spPr>
          <a:xfrm>
            <a:off x="3717167" y="5989320"/>
            <a:ext cx="1543115" cy="310896"/>
          </a:xfrm>
          <a:prstGeom prst="roundRect">
            <a:avLst>
              <a:gd name="adj" fmla="val 11765"/>
            </a:avLst>
          </a:prstGeom>
          <a:solidFill>
            <a:srgbClr val="DEE5F2"/>
          </a:solidFill>
          <a:ln w="12700">
            <a:solidFill>
              <a:srgbClr val="DEE5F2"/>
            </a:solidFill>
            <a:prstDash val="solid"/>
          </a:ln>
        </p:spPr>
      </p:sp>
      <p:sp>
        <p:nvSpPr>
          <p:cNvPr id="10" name="Text 8"/>
          <p:cNvSpPr/>
          <p:nvPr/>
        </p:nvSpPr>
        <p:spPr>
          <a:xfrm>
            <a:off x="3744599"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AFE/ADC</a:t>
            </a:r>
            <a:endParaRPr lang="en-US" sz="740" dirty="0"/>
          </a:p>
        </p:txBody>
      </p:sp>
      <p:sp>
        <p:nvSpPr>
          <p:cNvPr id="11" name="Shape 9"/>
          <p:cNvSpPr/>
          <p:nvPr/>
        </p:nvSpPr>
        <p:spPr>
          <a:xfrm>
            <a:off x="5324290" y="5989320"/>
            <a:ext cx="1543115" cy="310896"/>
          </a:xfrm>
          <a:prstGeom prst="roundRect">
            <a:avLst>
              <a:gd name="adj" fmla="val 11765"/>
            </a:avLst>
          </a:prstGeom>
          <a:solidFill>
            <a:srgbClr val="DEE5F2"/>
          </a:solidFill>
          <a:ln w="12700">
            <a:solidFill>
              <a:srgbClr val="DEE5F2"/>
            </a:solidFill>
            <a:prstDash val="solid"/>
          </a:ln>
        </p:spPr>
      </p:sp>
      <p:sp>
        <p:nvSpPr>
          <p:cNvPr id="12" name="Text 10"/>
          <p:cNvSpPr/>
          <p:nvPr/>
        </p:nvSpPr>
        <p:spPr>
          <a:xfrm>
            <a:off x="5351722"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Sync/Red</a:t>
            </a:r>
            <a:endParaRPr lang="en-US" sz="740" dirty="0"/>
          </a:p>
        </p:txBody>
      </p:sp>
      <p:sp>
        <p:nvSpPr>
          <p:cNvPr id="13" name="Shape 11"/>
          <p:cNvSpPr/>
          <p:nvPr/>
        </p:nvSpPr>
        <p:spPr>
          <a:xfrm>
            <a:off x="6931413" y="5989320"/>
            <a:ext cx="1543115" cy="310896"/>
          </a:xfrm>
          <a:prstGeom prst="roundRect">
            <a:avLst>
              <a:gd name="adj" fmla="val 11765"/>
            </a:avLst>
          </a:prstGeom>
          <a:solidFill>
            <a:srgbClr val="DEE5F2"/>
          </a:solidFill>
          <a:ln w="12700">
            <a:solidFill>
              <a:srgbClr val="DEE5F2"/>
            </a:solidFill>
            <a:prstDash val="solid"/>
          </a:ln>
        </p:spPr>
      </p:sp>
      <p:sp>
        <p:nvSpPr>
          <p:cNvPr id="14" name="Text 12"/>
          <p:cNvSpPr/>
          <p:nvPr/>
        </p:nvSpPr>
        <p:spPr>
          <a:xfrm>
            <a:off x="6958845"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Interfaces</a:t>
            </a:r>
            <a:endParaRPr lang="en-US" sz="740" dirty="0"/>
          </a:p>
        </p:txBody>
      </p:sp>
      <p:sp>
        <p:nvSpPr>
          <p:cNvPr id="15" name="Shape 13"/>
          <p:cNvSpPr/>
          <p:nvPr/>
        </p:nvSpPr>
        <p:spPr>
          <a:xfrm>
            <a:off x="8538537" y="5989320"/>
            <a:ext cx="1543115" cy="310896"/>
          </a:xfrm>
          <a:prstGeom prst="roundRect">
            <a:avLst>
              <a:gd name="adj" fmla="val 11765"/>
            </a:avLst>
          </a:prstGeom>
          <a:solidFill>
            <a:srgbClr val="DEE5F2"/>
          </a:solidFill>
          <a:ln w="12700">
            <a:solidFill>
              <a:srgbClr val="DEE5F2"/>
            </a:solidFill>
            <a:prstDash val="solid"/>
          </a:ln>
        </p:spPr>
      </p:sp>
      <p:sp>
        <p:nvSpPr>
          <p:cNvPr id="16" name="Text 14"/>
          <p:cNvSpPr/>
          <p:nvPr/>
        </p:nvSpPr>
        <p:spPr>
          <a:xfrm>
            <a:off x="8565969"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MASW</a:t>
            </a:r>
            <a:endParaRPr lang="en-US" sz="740" dirty="0"/>
          </a:p>
        </p:txBody>
      </p:sp>
      <p:sp>
        <p:nvSpPr>
          <p:cNvPr id="17" name="Shape 15"/>
          <p:cNvSpPr/>
          <p:nvPr/>
        </p:nvSpPr>
        <p:spPr>
          <a:xfrm>
            <a:off x="10145660" y="5989320"/>
            <a:ext cx="1543115" cy="310896"/>
          </a:xfrm>
          <a:prstGeom prst="roundRect">
            <a:avLst>
              <a:gd name="adj" fmla="val 11765"/>
            </a:avLst>
          </a:prstGeom>
          <a:solidFill>
            <a:srgbClr val="DEE5F2"/>
          </a:solidFill>
          <a:ln w="12700">
            <a:solidFill>
              <a:srgbClr val="DEE5F2"/>
            </a:solidFill>
            <a:prstDash val="solid"/>
          </a:ln>
        </p:spPr>
      </p:sp>
      <p:sp>
        <p:nvSpPr>
          <p:cNvPr id="18" name="Text 16"/>
          <p:cNvSpPr/>
          <p:nvPr/>
        </p:nvSpPr>
        <p:spPr>
          <a:xfrm>
            <a:off x="10173092"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Inversión</a:t>
            </a:r>
            <a:endParaRPr lang="en-US" sz="740" dirty="0"/>
          </a:p>
        </p:txBody>
      </p:sp>
      <p:pic>
        <p:nvPicPr>
          <p:cNvPr id="19" name="Image 0" descr="/mnt/data/pptx_unzip/ppt/media/image47.png">    </p:cNvPr>
          <p:cNvPicPr>
            <a:picLocks noChangeAspect="1"/>
          </p:cNvPicPr>
          <p:nvPr/>
        </p:nvPicPr>
        <p:blipFill>
          <a:blip r:embed="rId1"/>
          <a:stretch>
            <a:fillRect/>
          </a:stretch>
        </p:blipFill>
        <p:spPr>
          <a:xfrm>
            <a:off x="548640" y="1097280"/>
            <a:ext cx="4114800" cy="4114800"/>
          </a:xfrm>
          <a:prstGeom prst="rect">
            <a:avLst/>
          </a:prstGeom>
        </p:spPr>
      </p:pic>
      <p:pic>
        <p:nvPicPr>
          <p:cNvPr id="20" name="Image 1" descr="/mnt/data/pptx_unzip/ppt/media/image48.png">    </p:cNvPr>
          <p:cNvPicPr>
            <a:picLocks noChangeAspect="1"/>
          </p:cNvPicPr>
          <p:nvPr/>
        </p:nvPicPr>
        <p:blipFill>
          <a:blip r:embed="rId2"/>
          <a:stretch>
            <a:fillRect/>
          </a:stretch>
        </p:blipFill>
        <p:spPr>
          <a:xfrm>
            <a:off x="5074920" y="1974022"/>
            <a:ext cx="6217920" cy="2269875"/>
          </a:xfrm>
          <a:prstGeom prst="rect">
            <a:avLst/>
          </a:prstGeom>
        </p:spPr>
      </p:pic>
      <p:sp>
        <p:nvSpPr>
          <p:cNvPr id="21" name="Shape 17"/>
          <p:cNvSpPr/>
          <p:nvPr/>
        </p:nvSpPr>
        <p:spPr>
          <a:xfrm>
            <a:off x="1188720" y="5349240"/>
            <a:ext cx="9875520" cy="502920"/>
          </a:xfrm>
          <a:prstGeom prst="roundRect">
            <a:avLst>
              <a:gd name="adj" fmla="val 14545"/>
            </a:avLst>
          </a:prstGeom>
          <a:solidFill>
            <a:srgbClr val="17225C"/>
          </a:solidFill>
          <a:ln w="12700">
            <a:solidFill>
              <a:srgbClr val="17225C">
                <a:alpha val="0"/>
              </a:srgbClr>
            </a:solidFill>
            <a:prstDash val="solid"/>
          </a:ln>
        </p:spPr>
      </p:sp>
      <p:sp>
        <p:nvSpPr>
          <p:cNvPr id="22" name="Text 18"/>
          <p:cNvSpPr/>
          <p:nvPr/>
        </p:nvSpPr>
        <p:spPr>
          <a:xfrm>
            <a:off x="1353312" y="5449824"/>
            <a:ext cx="9546336" cy="320040"/>
          </a:xfrm>
          <a:prstGeom prst="rect">
            <a:avLst/>
          </a:prstGeom>
          <a:noFill/>
          <a:ln/>
        </p:spPr>
        <p:txBody>
          <a:bodyPr wrap="square" lIns="0" tIns="0" rIns="0" bIns="0" rtlCol="0" anchor="ctr">
            <a:normAutofit/>
          </a:bodyPr>
          <a:lstStyle/>
          <a:p>
            <a:pPr indent="0" marL="0">
              <a:buNone/>
            </a:pPr>
            <a:r>
              <a:rPr lang="en-US" sz="1420" b="1" dirty="0">
                <a:solidFill>
                  <a:srgbClr val="FFFFFF"/>
                </a:solidFill>
                <a:latin typeface="Aptos" pitchFamily="34" charset="0"/>
                <a:ea typeface="Aptos" pitchFamily="34" charset="-122"/>
                <a:cs typeface="Aptos" pitchFamily="34" charset="-120"/>
              </a:rPr>
              <a:t>Disponible y robusto, pero fn≈10 Hz: justo donde empieza el problema de profundidad.</a:t>
            </a:r>
            <a:endParaRPr lang="en-US" sz="1420" dirty="0"/>
          </a:p>
        </p:txBody>
      </p:sp>
      <p:sp>
        <p:nvSpPr>
          <p:cNvPr id="23" name="Text 19"/>
          <p:cNvSpPr/>
          <p:nvPr/>
        </p:nvSpPr>
        <p:spPr>
          <a:xfrm>
            <a:off x="411480" y="6565392"/>
            <a:ext cx="11155680" cy="146304"/>
          </a:xfrm>
          <a:prstGeom prst="rect">
            <a:avLst/>
          </a:prstGeom>
          <a:noFill/>
          <a:ln/>
        </p:spPr>
        <p:txBody>
          <a:bodyPr wrap="square" lIns="0" tIns="0" rIns="0" bIns="0" rtlCol="0" anchor="ctr">
            <a:normAutofit/>
          </a:bodyPr>
          <a:lstStyle/>
          <a:p>
            <a:pPr indent="0" marL="0">
              <a:buNone/>
            </a:pPr>
            <a:r>
              <a:rPr lang="en-US" sz="650" dirty="0">
                <a:solidFill>
                  <a:srgbClr val="5B6472"/>
                </a:solidFill>
                <a:latin typeface="Aptos" pitchFamily="34" charset="0"/>
                <a:ea typeface="Aptos" pitchFamily="34" charset="-122"/>
                <a:cs typeface="Aptos" pitchFamily="34" charset="-120"/>
              </a:rPr>
              <a:t>Fuente: Sensor Nederland SM‑24 brochure; main(3).pdf, Sec. 3.3–3.5.</a:t>
            </a:r>
            <a:endParaRPr lang="en-US" sz="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17225C"/>
          </a:solidFill>
          <a:ln w="12700">
            <a:solidFill>
              <a:srgbClr val="17225C"/>
            </a:solidFill>
            <a:prstDash val="solid"/>
          </a:ln>
        </p:spPr>
      </p:sp>
      <p:sp>
        <p:nvSpPr>
          <p:cNvPr id="3" name="Text 1"/>
          <p:cNvSpPr/>
          <p:nvPr/>
        </p:nvSpPr>
        <p:spPr>
          <a:xfrm>
            <a:off x="411480" y="137160"/>
            <a:ext cx="9418320" cy="365760"/>
          </a:xfrm>
          <a:prstGeom prst="rect">
            <a:avLst/>
          </a:prstGeom>
          <a:noFill/>
          <a:ln/>
        </p:spPr>
        <p:txBody>
          <a:bodyPr wrap="square" lIns="0" tIns="0" rIns="0" bIns="0" rtlCol="0" anchor="ctr">
            <a:normAutofit/>
          </a:bodyPr>
          <a:lstStyle/>
          <a:p>
            <a:pPr indent="0" marL="0">
              <a:buNone/>
            </a:pPr>
            <a:r>
              <a:rPr lang="en-US" sz="2300" b="1" dirty="0">
                <a:solidFill>
                  <a:srgbClr val="FFFFFF"/>
                </a:solidFill>
                <a:latin typeface="Aptos Display" pitchFamily="34" charset="0"/>
                <a:ea typeface="Aptos Display" pitchFamily="34" charset="-122"/>
                <a:cs typeface="Aptos Display" pitchFamily="34" charset="-120"/>
              </a:rPr>
              <a:t>Una misma salida puede expresarse respecto a velocidad o aceleración</a:t>
            </a:r>
            <a:endParaRPr lang="en-US" sz="2300" dirty="0"/>
          </a:p>
        </p:txBody>
      </p:sp>
      <p:sp>
        <p:nvSpPr>
          <p:cNvPr id="4" name="Text 2"/>
          <p:cNvSpPr/>
          <p:nvPr/>
        </p:nvSpPr>
        <p:spPr>
          <a:xfrm>
            <a:off x="10058400" y="201168"/>
            <a:ext cx="1737360" cy="228600"/>
          </a:xfrm>
          <a:prstGeom prst="rect">
            <a:avLst/>
          </a:prstGeom>
          <a:noFill/>
          <a:ln/>
        </p:spPr>
        <p:txBody>
          <a:bodyPr wrap="square" lIns="0" tIns="0" rIns="0" bIns="0" rtlCol="0" anchor="ctr">
            <a:normAutofit/>
          </a:bodyPr>
          <a:lstStyle/>
          <a:p>
            <a:pPr algn="r" indent="0" marL="0">
              <a:buNone/>
            </a:pPr>
            <a:r>
              <a:rPr lang="en-US" sz="850" dirty="0">
                <a:solidFill>
                  <a:srgbClr val="B8C4EA"/>
                </a:solidFill>
                <a:latin typeface="Aptos" pitchFamily="34" charset="0"/>
                <a:ea typeface="Aptos" pitchFamily="34" charset="-122"/>
                <a:cs typeface="Aptos" pitchFamily="34" charset="-120"/>
              </a:rPr>
              <a:t>Sensor</a:t>
            </a:r>
            <a:endParaRPr lang="en-US" sz="850" dirty="0"/>
          </a:p>
        </p:txBody>
      </p:sp>
      <p:sp>
        <p:nvSpPr>
          <p:cNvPr id="5" name="Shape 3"/>
          <p:cNvSpPr/>
          <p:nvPr/>
        </p:nvSpPr>
        <p:spPr>
          <a:xfrm>
            <a:off x="502920" y="5989320"/>
            <a:ext cx="1543115" cy="310896"/>
          </a:xfrm>
          <a:prstGeom prst="roundRect">
            <a:avLst>
              <a:gd name="adj" fmla="val 11765"/>
            </a:avLst>
          </a:prstGeom>
          <a:solidFill>
            <a:srgbClr val="DEE5F2"/>
          </a:solidFill>
          <a:ln w="12700">
            <a:solidFill>
              <a:srgbClr val="DEE5F2"/>
            </a:solidFill>
            <a:prstDash val="solid"/>
          </a:ln>
        </p:spPr>
      </p:sp>
      <p:sp>
        <p:nvSpPr>
          <p:cNvPr id="6" name="Text 4"/>
          <p:cNvSpPr/>
          <p:nvPr/>
        </p:nvSpPr>
        <p:spPr>
          <a:xfrm>
            <a:off x="530352"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Fuente</a:t>
            </a:r>
            <a:endParaRPr lang="en-US" sz="740" dirty="0"/>
          </a:p>
        </p:txBody>
      </p:sp>
      <p:sp>
        <p:nvSpPr>
          <p:cNvPr id="7" name="Shape 5"/>
          <p:cNvSpPr/>
          <p:nvPr/>
        </p:nvSpPr>
        <p:spPr>
          <a:xfrm>
            <a:off x="2110043" y="5989320"/>
            <a:ext cx="1543115" cy="310896"/>
          </a:xfrm>
          <a:prstGeom prst="roundRect">
            <a:avLst>
              <a:gd name="adj" fmla="val 11765"/>
            </a:avLst>
          </a:prstGeom>
          <a:solidFill>
            <a:srgbClr val="F28C28"/>
          </a:solidFill>
          <a:ln w="12700">
            <a:solidFill>
              <a:srgbClr val="F28C28"/>
            </a:solidFill>
            <a:prstDash val="solid"/>
          </a:ln>
        </p:spPr>
      </p:sp>
      <p:sp>
        <p:nvSpPr>
          <p:cNvPr id="8" name="Text 6"/>
          <p:cNvSpPr/>
          <p:nvPr/>
        </p:nvSpPr>
        <p:spPr>
          <a:xfrm>
            <a:off x="2137475"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FFFFFF"/>
                </a:solidFill>
              </a:rPr>
              <a:t>Sensor</a:t>
            </a:r>
            <a:endParaRPr lang="en-US" sz="740" dirty="0"/>
          </a:p>
        </p:txBody>
      </p:sp>
      <p:sp>
        <p:nvSpPr>
          <p:cNvPr id="9" name="Shape 7"/>
          <p:cNvSpPr/>
          <p:nvPr/>
        </p:nvSpPr>
        <p:spPr>
          <a:xfrm>
            <a:off x="3717167" y="5989320"/>
            <a:ext cx="1543115" cy="310896"/>
          </a:xfrm>
          <a:prstGeom prst="roundRect">
            <a:avLst>
              <a:gd name="adj" fmla="val 11765"/>
            </a:avLst>
          </a:prstGeom>
          <a:solidFill>
            <a:srgbClr val="DEE5F2"/>
          </a:solidFill>
          <a:ln w="12700">
            <a:solidFill>
              <a:srgbClr val="DEE5F2"/>
            </a:solidFill>
            <a:prstDash val="solid"/>
          </a:ln>
        </p:spPr>
      </p:sp>
      <p:sp>
        <p:nvSpPr>
          <p:cNvPr id="10" name="Text 8"/>
          <p:cNvSpPr/>
          <p:nvPr/>
        </p:nvSpPr>
        <p:spPr>
          <a:xfrm>
            <a:off x="3744599"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AFE/ADC</a:t>
            </a:r>
            <a:endParaRPr lang="en-US" sz="740" dirty="0"/>
          </a:p>
        </p:txBody>
      </p:sp>
      <p:sp>
        <p:nvSpPr>
          <p:cNvPr id="11" name="Shape 9"/>
          <p:cNvSpPr/>
          <p:nvPr/>
        </p:nvSpPr>
        <p:spPr>
          <a:xfrm>
            <a:off x="5324290" y="5989320"/>
            <a:ext cx="1543115" cy="310896"/>
          </a:xfrm>
          <a:prstGeom prst="roundRect">
            <a:avLst>
              <a:gd name="adj" fmla="val 11765"/>
            </a:avLst>
          </a:prstGeom>
          <a:solidFill>
            <a:srgbClr val="DEE5F2"/>
          </a:solidFill>
          <a:ln w="12700">
            <a:solidFill>
              <a:srgbClr val="DEE5F2"/>
            </a:solidFill>
            <a:prstDash val="solid"/>
          </a:ln>
        </p:spPr>
      </p:sp>
      <p:sp>
        <p:nvSpPr>
          <p:cNvPr id="12" name="Text 10"/>
          <p:cNvSpPr/>
          <p:nvPr/>
        </p:nvSpPr>
        <p:spPr>
          <a:xfrm>
            <a:off x="5351722"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Sync/Red</a:t>
            </a:r>
            <a:endParaRPr lang="en-US" sz="740" dirty="0"/>
          </a:p>
        </p:txBody>
      </p:sp>
      <p:sp>
        <p:nvSpPr>
          <p:cNvPr id="13" name="Shape 11"/>
          <p:cNvSpPr/>
          <p:nvPr/>
        </p:nvSpPr>
        <p:spPr>
          <a:xfrm>
            <a:off x="6931413" y="5989320"/>
            <a:ext cx="1543115" cy="310896"/>
          </a:xfrm>
          <a:prstGeom prst="roundRect">
            <a:avLst>
              <a:gd name="adj" fmla="val 11765"/>
            </a:avLst>
          </a:prstGeom>
          <a:solidFill>
            <a:srgbClr val="DEE5F2"/>
          </a:solidFill>
          <a:ln w="12700">
            <a:solidFill>
              <a:srgbClr val="DEE5F2"/>
            </a:solidFill>
            <a:prstDash val="solid"/>
          </a:ln>
        </p:spPr>
      </p:sp>
      <p:sp>
        <p:nvSpPr>
          <p:cNvPr id="14" name="Text 12"/>
          <p:cNvSpPr/>
          <p:nvPr/>
        </p:nvSpPr>
        <p:spPr>
          <a:xfrm>
            <a:off x="6958845"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Interfaces</a:t>
            </a:r>
            <a:endParaRPr lang="en-US" sz="740" dirty="0"/>
          </a:p>
        </p:txBody>
      </p:sp>
      <p:sp>
        <p:nvSpPr>
          <p:cNvPr id="15" name="Shape 13"/>
          <p:cNvSpPr/>
          <p:nvPr/>
        </p:nvSpPr>
        <p:spPr>
          <a:xfrm>
            <a:off x="8538537" y="5989320"/>
            <a:ext cx="1543115" cy="310896"/>
          </a:xfrm>
          <a:prstGeom prst="roundRect">
            <a:avLst>
              <a:gd name="adj" fmla="val 11765"/>
            </a:avLst>
          </a:prstGeom>
          <a:solidFill>
            <a:srgbClr val="DEE5F2"/>
          </a:solidFill>
          <a:ln w="12700">
            <a:solidFill>
              <a:srgbClr val="DEE5F2"/>
            </a:solidFill>
            <a:prstDash val="solid"/>
          </a:ln>
        </p:spPr>
      </p:sp>
      <p:sp>
        <p:nvSpPr>
          <p:cNvPr id="16" name="Text 14"/>
          <p:cNvSpPr/>
          <p:nvPr/>
        </p:nvSpPr>
        <p:spPr>
          <a:xfrm>
            <a:off x="8565969"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MASW</a:t>
            </a:r>
            <a:endParaRPr lang="en-US" sz="740" dirty="0"/>
          </a:p>
        </p:txBody>
      </p:sp>
      <p:sp>
        <p:nvSpPr>
          <p:cNvPr id="17" name="Shape 15"/>
          <p:cNvSpPr/>
          <p:nvPr/>
        </p:nvSpPr>
        <p:spPr>
          <a:xfrm>
            <a:off x="10145660" y="5989320"/>
            <a:ext cx="1543115" cy="310896"/>
          </a:xfrm>
          <a:prstGeom prst="roundRect">
            <a:avLst>
              <a:gd name="adj" fmla="val 11765"/>
            </a:avLst>
          </a:prstGeom>
          <a:solidFill>
            <a:srgbClr val="DEE5F2"/>
          </a:solidFill>
          <a:ln w="12700">
            <a:solidFill>
              <a:srgbClr val="DEE5F2"/>
            </a:solidFill>
            <a:prstDash val="solid"/>
          </a:ln>
        </p:spPr>
      </p:sp>
      <p:sp>
        <p:nvSpPr>
          <p:cNvPr id="18" name="Text 16"/>
          <p:cNvSpPr/>
          <p:nvPr/>
        </p:nvSpPr>
        <p:spPr>
          <a:xfrm>
            <a:off x="10173092"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Inversión</a:t>
            </a:r>
            <a:endParaRPr lang="en-US" sz="740" dirty="0"/>
          </a:p>
        </p:txBody>
      </p:sp>
      <p:pic>
        <p:nvPicPr>
          <p:cNvPr id="19" name="Image 0" descr="/mnt/data/pptx_unzip/ppt/media/image48.png">    </p:cNvPr>
          <p:cNvPicPr>
            <a:picLocks noChangeAspect="1"/>
          </p:cNvPicPr>
          <p:nvPr/>
        </p:nvPicPr>
        <p:blipFill>
          <a:blip r:embed="rId1"/>
          <a:stretch>
            <a:fillRect/>
          </a:stretch>
        </p:blipFill>
        <p:spPr>
          <a:xfrm>
            <a:off x="548640" y="2149627"/>
            <a:ext cx="4754880" cy="1735787"/>
          </a:xfrm>
          <a:prstGeom prst="rect">
            <a:avLst/>
          </a:prstGeom>
        </p:spPr>
      </p:pic>
      <p:sp>
        <p:nvSpPr>
          <p:cNvPr id="20" name="Shape 17"/>
          <p:cNvSpPr/>
          <p:nvPr/>
        </p:nvSpPr>
        <p:spPr>
          <a:xfrm>
            <a:off x="5596128" y="914400"/>
            <a:ext cx="5221224" cy="594360"/>
          </a:xfrm>
          <a:prstGeom prst="roundRect">
            <a:avLst>
              <a:gd name="adj" fmla="val 12308"/>
            </a:avLst>
          </a:prstGeom>
          <a:solidFill>
            <a:srgbClr val="FFFFFF"/>
          </a:solidFill>
          <a:ln w="10160">
            <a:solidFill>
              <a:srgbClr val="DCE2EA"/>
            </a:solidFill>
            <a:prstDash val="solid"/>
          </a:ln>
        </p:spPr>
      </p:sp>
      <p:pic>
        <p:nvPicPr>
          <p:cNvPr id="21"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669280" y="960120"/>
            <a:ext cx="5074920" cy="502920"/>
          </a:xfrm>
          <a:prstGeom prst="rect">
            <a:avLst/>
          </a:prstGeom>
        </p:spPr>
      </p:pic>
      <p:sp>
        <p:nvSpPr>
          <p:cNvPr id="22" name="Shape 18"/>
          <p:cNvSpPr/>
          <p:nvPr/>
        </p:nvSpPr>
        <p:spPr>
          <a:xfrm>
            <a:off x="5596128" y="1783080"/>
            <a:ext cx="5221224" cy="594360"/>
          </a:xfrm>
          <a:prstGeom prst="roundRect">
            <a:avLst>
              <a:gd name="adj" fmla="val 12308"/>
            </a:avLst>
          </a:prstGeom>
          <a:solidFill>
            <a:srgbClr val="FFFFFF"/>
          </a:solidFill>
          <a:ln w="10160">
            <a:solidFill>
              <a:srgbClr val="DCE2EA"/>
            </a:solidFill>
            <a:prstDash val="solid"/>
          </a:ln>
        </p:spPr>
      </p:sp>
      <p:pic>
        <p:nvPicPr>
          <p:cNvPr id="23"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669280" y="1828800"/>
            <a:ext cx="5074920" cy="502920"/>
          </a:xfrm>
          <a:prstGeom prst="rect">
            <a:avLst/>
          </a:prstGeom>
        </p:spPr>
      </p:pic>
      <p:sp>
        <p:nvSpPr>
          <p:cNvPr id="24" name="Text 19"/>
          <p:cNvSpPr/>
          <p:nvPr/>
        </p:nvSpPr>
        <p:spPr>
          <a:xfrm>
            <a:off x="5897880" y="2880360"/>
            <a:ext cx="685800" cy="182880"/>
          </a:xfrm>
          <a:prstGeom prst="rect">
            <a:avLst/>
          </a:prstGeom>
          <a:noFill/>
          <a:ln/>
        </p:spPr>
        <p:txBody>
          <a:bodyPr wrap="square" lIns="0" tIns="0" rIns="0" bIns="0" rtlCol="0" anchor="ctr"/>
          <a:lstStyle/>
          <a:p>
            <a:pPr indent="0" marL="0">
              <a:buNone/>
            </a:pPr>
            <a:r>
              <a:rPr lang="en-US" sz="1200" b="1" dirty="0">
                <a:solidFill>
                  <a:srgbClr val="5B6472"/>
                </a:solidFill>
              </a:rPr>
              <a:t>Bajo fn:</a:t>
            </a:r>
            <a:endParaRPr lang="en-US" sz="1200" dirty="0"/>
          </a:p>
        </p:txBody>
      </p:sp>
      <p:sp>
        <p:nvSpPr>
          <p:cNvPr id="25" name="Text 20"/>
          <p:cNvSpPr/>
          <p:nvPr/>
        </p:nvSpPr>
        <p:spPr>
          <a:xfrm>
            <a:off x="6903720" y="2788920"/>
            <a:ext cx="3749040" cy="411480"/>
          </a:xfrm>
          <a:prstGeom prst="rect">
            <a:avLst/>
          </a:prstGeom>
          <a:noFill/>
          <a:ln/>
        </p:spPr>
        <p:txBody>
          <a:bodyPr wrap="square" lIns="0" tIns="0" rIns="0" bIns="0" rtlCol="0" anchor="ctr"/>
          <a:lstStyle/>
          <a:p>
            <a:pPr indent="0" marL="0">
              <a:buNone/>
            </a:pPr>
            <a:r>
              <a:rPr lang="en-US" sz="1500" b="1" dirty="0">
                <a:solidFill>
                  <a:srgbClr val="121826"/>
                </a:solidFill>
              </a:rPr>
              <a:t>referida a velocidad: 40 dB/dec</a:t>
            </a:r>
            <a:endParaRPr lang="en-US" sz="1500" dirty="0"/>
          </a:p>
          <a:p>
            <a:pPr indent="0" marL="0">
              <a:buNone/>
            </a:pPr>
            <a:r>
              <a:rPr lang="en-US" sz="1500" b="1" dirty="0">
                <a:solidFill>
                  <a:srgbClr val="121826"/>
                </a:solidFill>
              </a:rPr>
              <a:t>referida a aceleración: 20 dB/dec</a:t>
            </a:r>
            <a:endParaRPr lang="en-US" sz="1500" dirty="0"/>
          </a:p>
        </p:txBody>
      </p:sp>
      <p:sp>
        <p:nvSpPr>
          <p:cNvPr id="26" name="Shape 21"/>
          <p:cNvSpPr/>
          <p:nvPr/>
        </p:nvSpPr>
        <p:spPr>
          <a:xfrm>
            <a:off x="5577840" y="4023360"/>
            <a:ext cx="5303520" cy="640080"/>
          </a:xfrm>
          <a:prstGeom prst="roundRect">
            <a:avLst>
              <a:gd name="adj" fmla="val 11429"/>
            </a:avLst>
          </a:prstGeom>
          <a:solidFill>
            <a:srgbClr val="F28C28"/>
          </a:solidFill>
          <a:ln w="12700">
            <a:solidFill>
              <a:srgbClr val="F28C28">
                <a:alpha val="0"/>
              </a:srgbClr>
            </a:solidFill>
            <a:prstDash val="solid"/>
          </a:ln>
        </p:spPr>
      </p:sp>
      <p:sp>
        <p:nvSpPr>
          <p:cNvPr id="27" name="Text 22"/>
          <p:cNvSpPr/>
          <p:nvPr/>
        </p:nvSpPr>
        <p:spPr>
          <a:xfrm>
            <a:off x="5742432" y="4123944"/>
            <a:ext cx="4974336" cy="457200"/>
          </a:xfrm>
          <a:prstGeom prst="rect">
            <a:avLst/>
          </a:prstGeom>
          <a:noFill/>
          <a:ln/>
        </p:spPr>
        <p:txBody>
          <a:bodyPr wrap="square" lIns="0" tIns="0" rIns="0" bIns="0" rtlCol="0" anchor="ctr">
            <a:normAutofit/>
          </a:bodyPr>
          <a:lstStyle/>
          <a:p>
            <a:pPr indent="0" marL="0">
              <a:buNone/>
            </a:pPr>
            <a:r>
              <a:rPr lang="en-US" sz="1450" b="1" dirty="0">
                <a:solidFill>
                  <a:srgbClr val="FFFFFF"/>
                </a:solidFill>
                <a:latin typeface="Aptos" pitchFamily="34" charset="0"/>
                <a:ea typeface="Aptos" pitchFamily="34" charset="-122"/>
                <a:cs typeface="Aptos" pitchFamily="34" charset="-120"/>
              </a:rPr>
              <a:t>No son dos modos del sensor: es la misma tensión con dos referencias físicas.</a:t>
            </a:r>
            <a:endParaRPr lang="en-US" sz="1450" dirty="0"/>
          </a:p>
        </p:txBody>
      </p:sp>
      <p:sp>
        <p:nvSpPr>
          <p:cNvPr id="28" name="Text 23"/>
          <p:cNvSpPr/>
          <p:nvPr/>
        </p:nvSpPr>
        <p:spPr>
          <a:xfrm>
            <a:off x="411480" y="6565392"/>
            <a:ext cx="11155680" cy="146304"/>
          </a:xfrm>
          <a:prstGeom prst="rect">
            <a:avLst/>
          </a:prstGeom>
          <a:noFill/>
          <a:ln/>
        </p:spPr>
        <p:txBody>
          <a:bodyPr wrap="square" lIns="0" tIns="0" rIns="0" bIns="0" rtlCol="0" anchor="ctr">
            <a:normAutofit/>
          </a:bodyPr>
          <a:lstStyle/>
          <a:p>
            <a:pPr indent="0" marL="0">
              <a:buNone/>
            </a:pPr>
            <a:r>
              <a:rPr lang="en-US" sz="650" dirty="0">
                <a:solidFill>
                  <a:srgbClr val="5B6472"/>
                </a:solidFill>
                <a:latin typeface="Aptos" pitchFamily="34" charset="0"/>
                <a:ea typeface="Aptos" pitchFamily="34" charset="-122"/>
                <a:cs typeface="Aptos" pitchFamily="34" charset="-120"/>
              </a:rPr>
              <a:t>Fuente: main(3).pdf, Ec. 17–20; modelo nominal del SM‑24.</a:t>
            </a:r>
            <a:endParaRPr lang="en-US" sz="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17225C"/>
          </a:solidFill>
          <a:ln w="12700">
            <a:solidFill>
              <a:srgbClr val="17225C"/>
            </a:solidFill>
            <a:prstDash val="solid"/>
          </a:ln>
        </p:spPr>
      </p:sp>
      <p:sp>
        <p:nvSpPr>
          <p:cNvPr id="3" name="Text 1"/>
          <p:cNvSpPr/>
          <p:nvPr/>
        </p:nvSpPr>
        <p:spPr>
          <a:xfrm>
            <a:off x="411480" y="137160"/>
            <a:ext cx="9418320" cy="365760"/>
          </a:xfrm>
          <a:prstGeom prst="rect">
            <a:avLst/>
          </a:prstGeom>
          <a:noFill/>
          <a:ln/>
        </p:spPr>
        <p:txBody>
          <a:bodyPr wrap="square" lIns="0" tIns="0" rIns="0" bIns="0" rtlCol="0" anchor="ctr">
            <a:normAutofit/>
          </a:bodyPr>
          <a:lstStyle/>
          <a:p>
            <a:pPr indent="0" marL="0">
              <a:buNone/>
            </a:pPr>
            <a:r>
              <a:rPr lang="en-US" sz="2300" b="1" dirty="0">
                <a:solidFill>
                  <a:srgbClr val="FFFFFF"/>
                </a:solidFill>
                <a:latin typeface="Aptos Display" pitchFamily="34" charset="0"/>
                <a:ea typeface="Aptos Display" pitchFamily="34" charset="-122"/>
                <a:cs typeface="Aptos Display" pitchFamily="34" charset="-120"/>
              </a:rPr>
              <a:t>Ma et al.: extender banda aumentando el amortiguamiento efectivo</a:t>
            </a:r>
            <a:endParaRPr lang="en-US" sz="2300" dirty="0"/>
          </a:p>
        </p:txBody>
      </p:sp>
      <p:sp>
        <p:nvSpPr>
          <p:cNvPr id="4" name="Text 2"/>
          <p:cNvSpPr/>
          <p:nvPr/>
        </p:nvSpPr>
        <p:spPr>
          <a:xfrm>
            <a:off x="10058400" y="201168"/>
            <a:ext cx="1737360" cy="228600"/>
          </a:xfrm>
          <a:prstGeom prst="rect">
            <a:avLst/>
          </a:prstGeom>
          <a:noFill/>
          <a:ln/>
        </p:spPr>
        <p:txBody>
          <a:bodyPr wrap="square" lIns="0" tIns="0" rIns="0" bIns="0" rtlCol="0" anchor="ctr">
            <a:normAutofit/>
          </a:bodyPr>
          <a:lstStyle/>
          <a:p>
            <a:pPr algn="r" indent="0" marL="0">
              <a:buNone/>
            </a:pPr>
            <a:r>
              <a:rPr lang="en-US" sz="850" dirty="0">
                <a:solidFill>
                  <a:srgbClr val="B8C4EA"/>
                </a:solidFill>
                <a:latin typeface="Aptos" pitchFamily="34" charset="0"/>
                <a:ea typeface="Aptos" pitchFamily="34" charset="-122"/>
                <a:cs typeface="Aptos" pitchFamily="34" charset="-120"/>
              </a:rPr>
              <a:t>AFE</a:t>
            </a:r>
            <a:endParaRPr lang="en-US" sz="850" dirty="0"/>
          </a:p>
        </p:txBody>
      </p:sp>
      <p:sp>
        <p:nvSpPr>
          <p:cNvPr id="5" name="Shape 3"/>
          <p:cNvSpPr/>
          <p:nvPr/>
        </p:nvSpPr>
        <p:spPr>
          <a:xfrm>
            <a:off x="502920" y="5989320"/>
            <a:ext cx="1543115" cy="310896"/>
          </a:xfrm>
          <a:prstGeom prst="roundRect">
            <a:avLst>
              <a:gd name="adj" fmla="val 11765"/>
            </a:avLst>
          </a:prstGeom>
          <a:solidFill>
            <a:srgbClr val="DEE5F2"/>
          </a:solidFill>
          <a:ln w="12700">
            <a:solidFill>
              <a:srgbClr val="DEE5F2"/>
            </a:solidFill>
            <a:prstDash val="solid"/>
          </a:ln>
        </p:spPr>
      </p:sp>
      <p:sp>
        <p:nvSpPr>
          <p:cNvPr id="6" name="Text 4"/>
          <p:cNvSpPr/>
          <p:nvPr/>
        </p:nvSpPr>
        <p:spPr>
          <a:xfrm>
            <a:off x="530352"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Fuente</a:t>
            </a:r>
            <a:endParaRPr lang="en-US" sz="740" dirty="0"/>
          </a:p>
        </p:txBody>
      </p:sp>
      <p:sp>
        <p:nvSpPr>
          <p:cNvPr id="7" name="Shape 5"/>
          <p:cNvSpPr/>
          <p:nvPr/>
        </p:nvSpPr>
        <p:spPr>
          <a:xfrm>
            <a:off x="2110043" y="5989320"/>
            <a:ext cx="1543115" cy="310896"/>
          </a:xfrm>
          <a:prstGeom prst="roundRect">
            <a:avLst>
              <a:gd name="adj" fmla="val 11765"/>
            </a:avLst>
          </a:prstGeom>
          <a:solidFill>
            <a:srgbClr val="DEE5F2"/>
          </a:solidFill>
          <a:ln w="12700">
            <a:solidFill>
              <a:srgbClr val="DEE5F2"/>
            </a:solidFill>
            <a:prstDash val="solid"/>
          </a:ln>
        </p:spPr>
      </p:sp>
      <p:sp>
        <p:nvSpPr>
          <p:cNvPr id="8" name="Text 6"/>
          <p:cNvSpPr/>
          <p:nvPr/>
        </p:nvSpPr>
        <p:spPr>
          <a:xfrm>
            <a:off x="2137475"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Sensor</a:t>
            </a:r>
            <a:endParaRPr lang="en-US" sz="740" dirty="0"/>
          </a:p>
        </p:txBody>
      </p:sp>
      <p:sp>
        <p:nvSpPr>
          <p:cNvPr id="9" name="Shape 7"/>
          <p:cNvSpPr/>
          <p:nvPr/>
        </p:nvSpPr>
        <p:spPr>
          <a:xfrm>
            <a:off x="3717167" y="5989320"/>
            <a:ext cx="1543115" cy="310896"/>
          </a:xfrm>
          <a:prstGeom prst="roundRect">
            <a:avLst>
              <a:gd name="adj" fmla="val 11765"/>
            </a:avLst>
          </a:prstGeom>
          <a:solidFill>
            <a:srgbClr val="F28C28"/>
          </a:solidFill>
          <a:ln w="12700">
            <a:solidFill>
              <a:srgbClr val="F28C28"/>
            </a:solidFill>
            <a:prstDash val="solid"/>
          </a:ln>
        </p:spPr>
      </p:sp>
      <p:sp>
        <p:nvSpPr>
          <p:cNvPr id="10" name="Text 8"/>
          <p:cNvSpPr/>
          <p:nvPr/>
        </p:nvSpPr>
        <p:spPr>
          <a:xfrm>
            <a:off x="3744599"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FFFFFF"/>
                </a:solidFill>
              </a:rPr>
              <a:t>AFE/ADC</a:t>
            </a:r>
            <a:endParaRPr lang="en-US" sz="740" dirty="0"/>
          </a:p>
        </p:txBody>
      </p:sp>
      <p:sp>
        <p:nvSpPr>
          <p:cNvPr id="11" name="Shape 9"/>
          <p:cNvSpPr/>
          <p:nvPr/>
        </p:nvSpPr>
        <p:spPr>
          <a:xfrm>
            <a:off x="5324290" y="5989320"/>
            <a:ext cx="1543115" cy="310896"/>
          </a:xfrm>
          <a:prstGeom prst="roundRect">
            <a:avLst>
              <a:gd name="adj" fmla="val 11765"/>
            </a:avLst>
          </a:prstGeom>
          <a:solidFill>
            <a:srgbClr val="DEE5F2"/>
          </a:solidFill>
          <a:ln w="12700">
            <a:solidFill>
              <a:srgbClr val="DEE5F2"/>
            </a:solidFill>
            <a:prstDash val="solid"/>
          </a:ln>
        </p:spPr>
      </p:sp>
      <p:sp>
        <p:nvSpPr>
          <p:cNvPr id="12" name="Text 10"/>
          <p:cNvSpPr/>
          <p:nvPr/>
        </p:nvSpPr>
        <p:spPr>
          <a:xfrm>
            <a:off x="5351722"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Sync/Red</a:t>
            </a:r>
            <a:endParaRPr lang="en-US" sz="740" dirty="0"/>
          </a:p>
        </p:txBody>
      </p:sp>
      <p:sp>
        <p:nvSpPr>
          <p:cNvPr id="13" name="Shape 11"/>
          <p:cNvSpPr/>
          <p:nvPr/>
        </p:nvSpPr>
        <p:spPr>
          <a:xfrm>
            <a:off x="6931413" y="5989320"/>
            <a:ext cx="1543115" cy="310896"/>
          </a:xfrm>
          <a:prstGeom prst="roundRect">
            <a:avLst>
              <a:gd name="adj" fmla="val 11765"/>
            </a:avLst>
          </a:prstGeom>
          <a:solidFill>
            <a:srgbClr val="DEE5F2"/>
          </a:solidFill>
          <a:ln w="12700">
            <a:solidFill>
              <a:srgbClr val="DEE5F2"/>
            </a:solidFill>
            <a:prstDash val="solid"/>
          </a:ln>
        </p:spPr>
      </p:sp>
      <p:sp>
        <p:nvSpPr>
          <p:cNvPr id="14" name="Text 12"/>
          <p:cNvSpPr/>
          <p:nvPr/>
        </p:nvSpPr>
        <p:spPr>
          <a:xfrm>
            <a:off x="6958845"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Interfaces</a:t>
            </a:r>
            <a:endParaRPr lang="en-US" sz="740" dirty="0"/>
          </a:p>
        </p:txBody>
      </p:sp>
      <p:sp>
        <p:nvSpPr>
          <p:cNvPr id="15" name="Shape 13"/>
          <p:cNvSpPr/>
          <p:nvPr/>
        </p:nvSpPr>
        <p:spPr>
          <a:xfrm>
            <a:off x="8538537" y="5989320"/>
            <a:ext cx="1543115" cy="310896"/>
          </a:xfrm>
          <a:prstGeom prst="roundRect">
            <a:avLst>
              <a:gd name="adj" fmla="val 11765"/>
            </a:avLst>
          </a:prstGeom>
          <a:solidFill>
            <a:srgbClr val="DEE5F2"/>
          </a:solidFill>
          <a:ln w="12700">
            <a:solidFill>
              <a:srgbClr val="DEE5F2"/>
            </a:solidFill>
            <a:prstDash val="solid"/>
          </a:ln>
        </p:spPr>
      </p:sp>
      <p:sp>
        <p:nvSpPr>
          <p:cNvPr id="16" name="Text 14"/>
          <p:cNvSpPr/>
          <p:nvPr/>
        </p:nvSpPr>
        <p:spPr>
          <a:xfrm>
            <a:off x="8565969"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MASW</a:t>
            </a:r>
            <a:endParaRPr lang="en-US" sz="740" dirty="0"/>
          </a:p>
        </p:txBody>
      </p:sp>
      <p:sp>
        <p:nvSpPr>
          <p:cNvPr id="17" name="Shape 15"/>
          <p:cNvSpPr/>
          <p:nvPr/>
        </p:nvSpPr>
        <p:spPr>
          <a:xfrm>
            <a:off x="10145660" y="5989320"/>
            <a:ext cx="1543115" cy="310896"/>
          </a:xfrm>
          <a:prstGeom prst="roundRect">
            <a:avLst>
              <a:gd name="adj" fmla="val 11765"/>
            </a:avLst>
          </a:prstGeom>
          <a:solidFill>
            <a:srgbClr val="DEE5F2"/>
          </a:solidFill>
          <a:ln w="12700">
            <a:solidFill>
              <a:srgbClr val="DEE5F2"/>
            </a:solidFill>
            <a:prstDash val="solid"/>
          </a:ln>
        </p:spPr>
      </p:sp>
      <p:sp>
        <p:nvSpPr>
          <p:cNvPr id="18" name="Text 16"/>
          <p:cNvSpPr/>
          <p:nvPr/>
        </p:nvSpPr>
        <p:spPr>
          <a:xfrm>
            <a:off x="10173092"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Inversión</a:t>
            </a:r>
            <a:endParaRPr lang="en-US" sz="740" dirty="0"/>
          </a:p>
        </p:txBody>
      </p:sp>
      <p:sp>
        <p:nvSpPr>
          <p:cNvPr id="19" name="Shape 17"/>
          <p:cNvSpPr/>
          <p:nvPr/>
        </p:nvSpPr>
        <p:spPr>
          <a:xfrm>
            <a:off x="749808" y="868680"/>
            <a:ext cx="5266944" cy="566928"/>
          </a:xfrm>
          <a:prstGeom prst="roundRect">
            <a:avLst>
              <a:gd name="adj" fmla="val 12903"/>
            </a:avLst>
          </a:prstGeom>
          <a:solidFill>
            <a:srgbClr val="FFFFFF"/>
          </a:solidFill>
          <a:ln w="10160">
            <a:solidFill>
              <a:srgbClr val="DCE2EA"/>
            </a:solidFill>
            <a:prstDash val="solid"/>
          </a:ln>
        </p:spPr>
      </p:sp>
      <p:pic>
        <p:nvPicPr>
          <p:cNvPr id="20"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22960" y="914400"/>
            <a:ext cx="5120640" cy="475488"/>
          </a:xfrm>
          <a:prstGeom prst="rect">
            <a:avLst/>
          </a:prstGeom>
        </p:spPr>
      </p:pic>
      <p:sp>
        <p:nvSpPr>
          <p:cNvPr id="21" name="Shape 18"/>
          <p:cNvSpPr/>
          <p:nvPr/>
        </p:nvSpPr>
        <p:spPr>
          <a:xfrm>
            <a:off x="749808" y="1783080"/>
            <a:ext cx="5266944" cy="566928"/>
          </a:xfrm>
          <a:prstGeom prst="roundRect">
            <a:avLst>
              <a:gd name="adj" fmla="val 12903"/>
            </a:avLst>
          </a:prstGeom>
          <a:solidFill>
            <a:srgbClr val="FFFFFF"/>
          </a:solidFill>
          <a:ln w="10160">
            <a:solidFill>
              <a:srgbClr val="DCE2EA"/>
            </a:solidFill>
            <a:prstDash val="solid"/>
          </a:ln>
        </p:spPr>
      </p:sp>
      <p:pic>
        <p:nvPicPr>
          <p:cNvPr id="2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22960" y="1828800"/>
            <a:ext cx="5120640" cy="475488"/>
          </a:xfrm>
          <a:prstGeom prst="rect">
            <a:avLst/>
          </a:prstGeom>
        </p:spPr>
      </p:pic>
      <p:sp>
        <p:nvSpPr>
          <p:cNvPr id="23" name="Shape 19"/>
          <p:cNvSpPr/>
          <p:nvPr/>
        </p:nvSpPr>
        <p:spPr>
          <a:xfrm>
            <a:off x="749808" y="2743200"/>
            <a:ext cx="5404104" cy="621792"/>
          </a:xfrm>
          <a:prstGeom prst="roundRect">
            <a:avLst>
              <a:gd name="adj" fmla="val 11765"/>
            </a:avLst>
          </a:prstGeom>
          <a:solidFill>
            <a:srgbClr val="FFFFFF"/>
          </a:solidFill>
          <a:ln w="10160">
            <a:solidFill>
              <a:srgbClr val="DCE2EA"/>
            </a:solidFill>
            <a:prstDash val="solid"/>
          </a:ln>
        </p:spPr>
      </p:sp>
      <p:pic>
        <p:nvPicPr>
          <p:cNvPr id="24"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22960" y="2788920"/>
            <a:ext cx="5257800" cy="530352"/>
          </a:xfrm>
          <a:prstGeom prst="rect">
            <a:avLst/>
          </a:prstGeom>
        </p:spPr>
      </p:pic>
      <p:pic>
        <p:nvPicPr>
          <p:cNvPr id="25" name="Image 3" descr="/mnt/data/pptx_unzip/ppt/media/image51.png">    </p:cNvPr>
          <p:cNvPicPr>
            <a:picLocks noChangeAspect="1"/>
          </p:cNvPicPr>
          <p:nvPr/>
        </p:nvPicPr>
        <p:blipFill>
          <a:blip r:embed="rId7"/>
          <a:stretch>
            <a:fillRect/>
          </a:stretch>
        </p:blipFill>
        <p:spPr>
          <a:xfrm>
            <a:off x="6217920" y="1983579"/>
            <a:ext cx="5257800" cy="1199202"/>
          </a:xfrm>
          <a:prstGeom prst="rect">
            <a:avLst/>
          </a:prstGeom>
        </p:spPr>
      </p:pic>
      <p:sp>
        <p:nvSpPr>
          <p:cNvPr id="26" name="Shape 20"/>
          <p:cNvSpPr/>
          <p:nvPr/>
        </p:nvSpPr>
        <p:spPr>
          <a:xfrm>
            <a:off x="6309360" y="4480560"/>
            <a:ext cx="5074920" cy="530352"/>
          </a:xfrm>
          <a:prstGeom prst="roundRect">
            <a:avLst>
              <a:gd name="adj" fmla="val 13793"/>
            </a:avLst>
          </a:prstGeom>
          <a:solidFill>
            <a:srgbClr val="17225C"/>
          </a:solidFill>
          <a:ln w="12700">
            <a:solidFill>
              <a:srgbClr val="17225C">
                <a:alpha val="0"/>
              </a:srgbClr>
            </a:solidFill>
            <a:prstDash val="solid"/>
          </a:ln>
        </p:spPr>
      </p:sp>
      <p:sp>
        <p:nvSpPr>
          <p:cNvPr id="27" name="Text 21"/>
          <p:cNvSpPr/>
          <p:nvPr/>
        </p:nvSpPr>
        <p:spPr>
          <a:xfrm>
            <a:off x="6473952" y="4581144"/>
            <a:ext cx="4745736" cy="34747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Implementación física: camino directo − pasa‑banda ajustable</a:t>
            </a:r>
            <a:endParaRPr lang="en-US" sz="1500" dirty="0"/>
          </a:p>
        </p:txBody>
      </p:sp>
      <p:sp>
        <p:nvSpPr>
          <p:cNvPr id="28" name="Text 22"/>
          <p:cNvSpPr/>
          <p:nvPr/>
        </p:nvSpPr>
        <p:spPr>
          <a:xfrm>
            <a:off x="411480" y="6565392"/>
            <a:ext cx="11155680" cy="146304"/>
          </a:xfrm>
          <a:prstGeom prst="rect">
            <a:avLst/>
          </a:prstGeom>
          <a:noFill/>
          <a:ln/>
        </p:spPr>
        <p:txBody>
          <a:bodyPr wrap="square" lIns="0" tIns="0" rIns="0" bIns="0" rtlCol="0" anchor="ctr">
            <a:normAutofit/>
          </a:bodyPr>
          <a:lstStyle/>
          <a:p>
            <a:pPr indent="0" marL="0">
              <a:buNone/>
            </a:pPr>
            <a:r>
              <a:rPr lang="en-US" sz="650" dirty="0">
                <a:solidFill>
                  <a:srgbClr val="5B6472"/>
                </a:solidFill>
                <a:latin typeface="Aptos" pitchFamily="34" charset="0"/>
                <a:ea typeface="Aptos" pitchFamily="34" charset="-122"/>
                <a:cs typeface="Aptos" pitchFamily="34" charset="-120"/>
              </a:rPr>
              <a:t>Fuente: Ma et al. (2023); main(3).pdf, Sec. 4.1–4.2.</a:t>
            </a:r>
            <a:endParaRPr lang="en-US" sz="6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17225C"/>
          </a:solidFill>
          <a:ln w="12700">
            <a:solidFill>
              <a:srgbClr val="17225C"/>
            </a:solidFill>
            <a:prstDash val="solid"/>
          </a:ln>
        </p:spPr>
      </p:sp>
      <p:sp>
        <p:nvSpPr>
          <p:cNvPr id="3" name="Text 1"/>
          <p:cNvSpPr/>
          <p:nvPr/>
        </p:nvSpPr>
        <p:spPr>
          <a:xfrm>
            <a:off x="411480" y="137160"/>
            <a:ext cx="9418320" cy="365760"/>
          </a:xfrm>
          <a:prstGeom prst="rect">
            <a:avLst/>
          </a:prstGeom>
          <a:noFill/>
          <a:ln/>
        </p:spPr>
        <p:txBody>
          <a:bodyPr wrap="square" lIns="0" tIns="0" rIns="0" bIns="0" rtlCol="0" anchor="ctr">
            <a:normAutofit/>
          </a:bodyPr>
          <a:lstStyle/>
          <a:p>
            <a:pPr indent="0" marL="0">
              <a:buNone/>
            </a:pPr>
            <a:r>
              <a:rPr lang="en-US" sz="2300" b="1" dirty="0">
                <a:solidFill>
                  <a:srgbClr val="FFFFFF"/>
                </a:solidFill>
                <a:latin typeface="Aptos Display" pitchFamily="34" charset="0"/>
                <a:ea typeface="Aptos Display" pitchFamily="34" charset="-122"/>
                <a:cs typeface="Aptos Display" pitchFamily="34" charset="-120"/>
              </a:rPr>
              <a:t>El precio de extender la banda es perder sensibilidad y exigir mucha ganancia</a:t>
            </a:r>
            <a:endParaRPr lang="en-US" sz="2300" dirty="0"/>
          </a:p>
        </p:txBody>
      </p:sp>
      <p:sp>
        <p:nvSpPr>
          <p:cNvPr id="4" name="Text 2"/>
          <p:cNvSpPr/>
          <p:nvPr/>
        </p:nvSpPr>
        <p:spPr>
          <a:xfrm>
            <a:off x="10058400" y="201168"/>
            <a:ext cx="1737360" cy="228600"/>
          </a:xfrm>
          <a:prstGeom prst="rect">
            <a:avLst/>
          </a:prstGeom>
          <a:noFill/>
          <a:ln/>
        </p:spPr>
        <p:txBody>
          <a:bodyPr wrap="square" lIns="0" tIns="0" rIns="0" bIns="0" rtlCol="0" anchor="ctr">
            <a:normAutofit/>
          </a:bodyPr>
          <a:lstStyle/>
          <a:p>
            <a:pPr algn="r" indent="0" marL="0">
              <a:buNone/>
            </a:pPr>
            <a:r>
              <a:rPr lang="en-US" sz="850" dirty="0">
                <a:solidFill>
                  <a:srgbClr val="B8C4EA"/>
                </a:solidFill>
                <a:latin typeface="Aptos" pitchFamily="34" charset="0"/>
                <a:ea typeface="Aptos" pitchFamily="34" charset="-122"/>
                <a:cs typeface="Aptos" pitchFamily="34" charset="-120"/>
              </a:rPr>
              <a:t>AFE</a:t>
            </a:r>
            <a:endParaRPr lang="en-US" sz="850" dirty="0"/>
          </a:p>
        </p:txBody>
      </p:sp>
      <p:sp>
        <p:nvSpPr>
          <p:cNvPr id="5" name="Shape 3"/>
          <p:cNvSpPr/>
          <p:nvPr/>
        </p:nvSpPr>
        <p:spPr>
          <a:xfrm>
            <a:off x="502920" y="5989320"/>
            <a:ext cx="1543115" cy="310896"/>
          </a:xfrm>
          <a:prstGeom prst="roundRect">
            <a:avLst>
              <a:gd name="adj" fmla="val 11765"/>
            </a:avLst>
          </a:prstGeom>
          <a:solidFill>
            <a:srgbClr val="DEE5F2"/>
          </a:solidFill>
          <a:ln w="12700">
            <a:solidFill>
              <a:srgbClr val="DEE5F2"/>
            </a:solidFill>
            <a:prstDash val="solid"/>
          </a:ln>
        </p:spPr>
      </p:sp>
      <p:sp>
        <p:nvSpPr>
          <p:cNvPr id="6" name="Text 4"/>
          <p:cNvSpPr/>
          <p:nvPr/>
        </p:nvSpPr>
        <p:spPr>
          <a:xfrm>
            <a:off x="530352"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Fuente</a:t>
            </a:r>
            <a:endParaRPr lang="en-US" sz="740" dirty="0"/>
          </a:p>
        </p:txBody>
      </p:sp>
      <p:sp>
        <p:nvSpPr>
          <p:cNvPr id="7" name="Shape 5"/>
          <p:cNvSpPr/>
          <p:nvPr/>
        </p:nvSpPr>
        <p:spPr>
          <a:xfrm>
            <a:off x="2110043" y="5989320"/>
            <a:ext cx="1543115" cy="310896"/>
          </a:xfrm>
          <a:prstGeom prst="roundRect">
            <a:avLst>
              <a:gd name="adj" fmla="val 11765"/>
            </a:avLst>
          </a:prstGeom>
          <a:solidFill>
            <a:srgbClr val="DEE5F2"/>
          </a:solidFill>
          <a:ln w="12700">
            <a:solidFill>
              <a:srgbClr val="DEE5F2"/>
            </a:solidFill>
            <a:prstDash val="solid"/>
          </a:ln>
        </p:spPr>
      </p:sp>
      <p:sp>
        <p:nvSpPr>
          <p:cNvPr id="8" name="Text 6"/>
          <p:cNvSpPr/>
          <p:nvPr/>
        </p:nvSpPr>
        <p:spPr>
          <a:xfrm>
            <a:off x="2137475"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Sensor</a:t>
            </a:r>
            <a:endParaRPr lang="en-US" sz="740" dirty="0"/>
          </a:p>
        </p:txBody>
      </p:sp>
      <p:sp>
        <p:nvSpPr>
          <p:cNvPr id="9" name="Shape 7"/>
          <p:cNvSpPr/>
          <p:nvPr/>
        </p:nvSpPr>
        <p:spPr>
          <a:xfrm>
            <a:off x="3717167" y="5989320"/>
            <a:ext cx="1543115" cy="310896"/>
          </a:xfrm>
          <a:prstGeom prst="roundRect">
            <a:avLst>
              <a:gd name="adj" fmla="val 11765"/>
            </a:avLst>
          </a:prstGeom>
          <a:solidFill>
            <a:srgbClr val="F28C28"/>
          </a:solidFill>
          <a:ln w="12700">
            <a:solidFill>
              <a:srgbClr val="F28C28"/>
            </a:solidFill>
            <a:prstDash val="solid"/>
          </a:ln>
        </p:spPr>
      </p:sp>
      <p:sp>
        <p:nvSpPr>
          <p:cNvPr id="10" name="Text 8"/>
          <p:cNvSpPr/>
          <p:nvPr/>
        </p:nvSpPr>
        <p:spPr>
          <a:xfrm>
            <a:off x="3744599"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FFFFFF"/>
                </a:solidFill>
              </a:rPr>
              <a:t>AFE/ADC</a:t>
            </a:r>
            <a:endParaRPr lang="en-US" sz="740" dirty="0"/>
          </a:p>
        </p:txBody>
      </p:sp>
      <p:sp>
        <p:nvSpPr>
          <p:cNvPr id="11" name="Shape 9"/>
          <p:cNvSpPr/>
          <p:nvPr/>
        </p:nvSpPr>
        <p:spPr>
          <a:xfrm>
            <a:off x="5324290" y="5989320"/>
            <a:ext cx="1543115" cy="310896"/>
          </a:xfrm>
          <a:prstGeom prst="roundRect">
            <a:avLst>
              <a:gd name="adj" fmla="val 11765"/>
            </a:avLst>
          </a:prstGeom>
          <a:solidFill>
            <a:srgbClr val="DEE5F2"/>
          </a:solidFill>
          <a:ln w="12700">
            <a:solidFill>
              <a:srgbClr val="DEE5F2"/>
            </a:solidFill>
            <a:prstDash val="solid"/>
          </a:ln>
        </p:spPr>
      </p:sp>
      <p:sp>
        <p:nvSpPr>
          <p:cNvPr id="12" name="Text 10"/>
          <p:cNvSpPr/>
          <p:nvPr/>
        </p:nvSpPr>
        <p:spPr>
          <a:xfrm>
            <a:off x="5351722"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Sync/Red</a:t>
            </a:r>
            <a:endParaRPr lang="en-US" sz="740" dirty="0"/>
          </a:p>
        </p:txBody>
      </p:sp>
      <p:sp>
        <p:nvSpPr>
          <p:cNvPr id="13" name="Shape 11"/>
          <p:cNvSpPr/>
          <p:nvPr/>
        </p:nvSpPr>
        <p:spPr>
          <a:xfrm>
            <a:off x="6931413" y="5989320"/>
            <a:ext cx="1543115" cy="310896"/>
          </a:xfrm>
          <a:prstGeom prst="roundRect">
            <a:avLst>
              <a:gd name="adj" fmla="val 11765"/>
            </a:avLst>
          </a:prstGeom>
          <a:solidFill>
            <a:srgbClr val="DEE5F2"/>
          </a:solidFill>
          <a:ln w="12700">
            <a:solidFill>
              <a:srgbClr val="DEE5F2"/>
            </a:solidFill>
            <a:prstDash val="solid"/>
          </a:ln>
        </p:spPr>
      </p:sp>
      <p:sp>
        <p:nvSpPr>
          <p:cNvPr id="14" name="Text 12"/>
          <p:cNvSpPr/>
          <p:nvPr/>
        </p:nvSpPr>
        <p:spPr>
          <a:xfrm>
            <a:off x="6958845"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Interfaces</a:t>
            </a:r>
            <a:endParaRPr lang="en-US" sz="740" dirty="0"/>
          </a:p>
        </p:txBody>
      </p:sp>
      <p:sp>
        <p:nvSpPr>
          <p:cNvPr id="15" name="Shape 13"/>
          <p:cNvSpPr/>
          <p:nvPr/>
        </p:nvSpPr>
        <p:spPr>
          <a:xfrm>
            <a:off x="8538537" y="5989320"/>
            <a:ext cx="1543115" cy="310896"/>
          </a:xfrm>
          <a:prstGeom prst="roundRect">
            <a:avLst>
              <a:gd name="adj" fmla="val 11765"/>
            </a:avLst>
          </a:prstGeom>
          <a:solidFill>
            <a:srgbClr val="DEE5F2"/>
          </a:solidFill>
          <a:ln w="12700">
            <a:solidFill>
              <a:srgbClr val="DEE5F2"/>
            </a:solidFill>
            <a:prstDash val="solid"/>
          </a:ln>
        </p:spPr>
      </p:sp>
      <p:sp>
        <p:nvSpPr>
          <p:cNvPr id="16" name="Text 14"/>
          <p:cNvSpPr/>
          <p:nvPr/>
        </p:nvSpPr>
        <p:spPr>
          <a:xfrm>
            <a:off x="8565969"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MASW</a:t>
            </a:r>
            <a:endParaRPr lang="en-US" sz="740" dirty="0"/>
          </a:p>
        </p:txBody>
      </p:sp>
      <p:sp>
        <p:nvSpPr>
          <p:cNvPr id="17" name="Shape 15"/>
          <p:cNvSpPr/>
          <p:nvPr/>
        </p:nvSpPr>
        <p:spPr>
          <a:xfrm>
            <a:off x="10145660" y="5989320"/>
            <a:ext cx="1543115" cy="310896"/>
          </a:xfrm>
          <a:prstGeom prst="roundRect">
            <a:avLst>
              <a:gd name="adj" fmla="val 11765"/>
            </a:avLst>
          </a:prstGeom>
          <a:solidFill>
            <a:srgbClr val="DEE5F2"/>
          </a:solidFill>
          <a:ln w="12700">
            <a:solidFill>
              <a:srgbClr val="DEE5F2"/>
            </a:solidFill>
            <a:prstDash val="solid"/>
          </a:ln>
        </p:spPr>
      </p:sp>
      <p:sp>
        <p:nvSpPr>
          <p:cNvPr id="18" name="Text 16"/>
          <p:cNvSpPr/>
          <p:nvPr/>
        </p:nvSpPr>
        <p:spPr>
          <a:xfrm>
            <a:off x="10173092"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Inversión</a:t>
            </a:r>
            <a:endParaRPr lang="en-US" sz="740" dirty="0"/>
          </a:p>
        </p:txBody>
      </p:sp>
      <p:pic>
        <p:nvPicPr>
          <p:cNvPr id="19" name="Image 0" descr="/mnt/data/pptx_unzip/ppt/media/image55.png">    </p:cNvPr>
          <p:cNvPicPr>
            <a:picLocks noChangeAspect="1"/>
          </p:cNvPicPr>
          <p:nvPr/>
        </p:nvPicPr>
        <p:blipFill>
          <a:blip r:embed="rId1"/>
          <a:stretch>
            <a:fillRect/>
          </a:stretch>
        </p:blipFill>
        <p:spPr>
          <a:xfrm>
            <a:off x="502920" y="1361963"/>
            <a:ext cx="6446520" cy="3402554"/>
          </a:xfrm>
          <a:prstGeom prst="rect">
            <a:avLst/>
          </a:prstGeom>
        </p:spPr>
      </p:pic>
      <p:sp>
        <p:nvSpPr>
          <p:cNvPr id="20" name="Shape 17"/>
          <p:cNvSpPr/>
          <p:nvPr/>
        </p:nvSpPr>
        <p:spPr>
          <a:xfrm>
            <a:off x="7315200" y="960120"/>
            <a:ext cx="3794760" cy="1188720"/>
          </a:xfrm>
          <a:prstGeom prst="roundRect">
            <a:avLst>
              <a:gd name="adj" fmla="val 6154"/>
            </a:avLst>
          </a:prstGeom>
          <a:solidFill>
            <a:srgbClr val="FFFFFF"/>
          </a:solidFill>
          <a:ln w="10160">
            <a:solidFill>
              <a:srgbClr val="DCE2EA"/>
            </a:solidFill>
            <a:prstDash val="solid"/>
          </a:ln>
        </p:spPr>
      </p:sp>
      <p:sp>
        <p:nvSpPr>
          <p:cNvPr id="21" name="Text 18"/>
          <p:cNvSpPr/>
          <p:nvPr/>
        </p:nvSpPr>
        <p:spPr>
          <a:xfrm>
            <a:off x="7543800" y="1143000"/>
            <a:ext cx="3108960" cy="201168"/>
          </a:xfrm>
          <a:prstGeom prst="rect">
            <a:avLst/>
          </a:prstGeom>
          <a:noFill/>
          <a:ln/>
        </p:spPr>
        <p:txBody>
          <a:bodyPr wrap="square" lIns="0" tIns="0" rIns="0" bIns="0" rtlCol="0" anchor="ctr"/>
          <a:lstStyle/>
          <a:p>
            <a:pPr indent="0" marL="0">
              <a:buNone/>
            </a:pPr>
            <a:r>
              <a:rPr lang="en-US" sz="1200" b="1" dirty="0">
                <a:solidFill>
                  <a:srgbClr val="5B6472"/>
                </a:solidFill>
              </a:rPr>
              <a:t>Con valores poblados:</a:t>
            </a:r>
            <a:endParaRPr lang="en-US" sz="1200" dirty="0"/>
          </a:p>
        </p:txBody>
      </p:sp>
      <p:sp>
        <p:nvSpPr>
          <p:cNvPr id="22" name="Text 19"/>
          <p:cNvSpPr/>
          <p:nvPr/>
        </p:nvSpPr>
        <p:spPr>
          <a:xfrm>
            <a:off x="7543800" y="1481328"/>
            <a:ext cx="3108960" cy="411480"/>
          </a:xfrm>
          <a:prstGeom prst="rect">
            <a:avLst/>
          </a:prstGeom>
          <a:noFill/>
          <a:ln/>
        </p:spPr>
        <p:txBody>
          <a:bodyPr wrap="square" lIns="0" tIns="0" rIns="0" bIns="0" rtlCol="0" anchor="ctr">
            <a:normAutofit/>
          </a:bodyPr>
          <a:lstStyle/>
          <a:p>
            <a:pPr indent="0" marL="0">
              <a:buNone/>
            </a:pPr>
            <a:r>
              <a:rPr lang="en-US" sz="1800" b="1" dirty="0">
                <a:solidFill>
                  <a:srgbClr val="121826"/>
                </a:solidFill>
              </a:rPr>
              <a:t>ζ₁ ≈ 938</a:t>
            </a:r>
            <a:endParaRPr lang="en-US" sz="1800" dirty="0"/>
          </a:p>
          <a:p>
            <a:pPr indent="0" marL="0">
              <a:buNone/>
            </a:pPr>
            <a:r>
              <a:rPr lang="en-US" sz="1800" b="1" dirty="0">
                <a:solidFill>
                  <a:srgbClr val="121826"/>
                </a:solidFill>
              </a:rPr>
              <a:t>1/(2ζ₁) ≈ 5.3×10⁻⁴</a:t>
            </a:r>
            <a:endParaRPr lang="en-US" sz="1800" dirty="0"/>
          </a:p>
        </p:txBody>
      </p:sp>
      <p:sp>
        <p:nvSpPr>
          <p:cNvPr id="23" name="Shape 20"/>
          <p:cNvSpPr/>
          <p:nvPr/>
        </p:nvSpPr>
        <p:spPr>
          <a:xfrm>
            <a:off x="7315200" y="2487168"/>
            <a:ext cx="3794760" cy="960120"/>
          </a:xfrm>
          <a:prstGeom prst="roundRect">
            <a:avLst>
              <a:gd name="adj" fmla="val 7619"/>
            </a:avLst>
          </a:prstGeom>
          <a:solidFill>
            <a:srgbClr val="FFFFFF"/>
          </a:solidFill>
          <a:ln w="10160">
            <a:solidFill>
              <a:srgbClr val="DCE2EA"/>
            </a:solidFill>
            <a:prstDash val="solid"/>
          </a:ln>
        </p:spPr>
      </p:sp>
      <p:sp>
        <p:nvSpPr>
          <p:cNvPr id="24" name="Text 21"/>
          <p:cNvSpPr/>
          <p:nvPr/>
        </p:nvSpPr>
        <p:spPr>
          <a:xfrm>
            <a:off x="7543800" y="2788920"/>
            <a:ext cx="3337560" cy="246888"/>
          </a:xfrm>
          <a:prstGeom prst="rect">
            <a:avLst/>
          </a:prstGeom>
          <a:noFill/>
          <a:ln/>
        </p:spPr>
        <p:txBody>
          <a:bodyPr wrap="square" lIns="0" tIns="0" rIns="0" bIns="0" rtlCol="0" anchor="ctr">
            <a:normAutofit/>
          </a:bodyPr>
          <a:lstStyle/>
          <a:p>
            <a:pPr indent="0" marL="0">
              <a:buNone/>
            </a:pPr>
            <a:r>
              <a:rPr lang="en-US" sz="1800" b="1" dirty="0">
                <a:solidFill>
                  <a:srgbClr val="17225C"/>
                </a:solidFill>
              </a:rPr>
              <a:t>Ganancia total necesaria ≈ ×1800</a:t>
            </a:r>
            <a:endParaRPr lang="en-US" sz="1800" dirty="0"/>
          </a:p>
        </p:txBody>
      </p:sp>
      <p:sp>
        <p:nvSpPr>
          <p:cNvPr id="25" name="Shape 22"/>
          <p:cNvSpPr/>
          <p:nvPr/>
        </p:nvSpPr>
        <p:spPr>
          <a:xfrm>
            <a:off x="7223760" y="4206240"/>
            <a:ext cx="4023360" cy="685800"/>
          </a:xfrm>
          <a:prstGeom prst="roundRect">
            <a:avLst>
              <a:gd name="adj" fmla="val 10667"/>
            </a:avLst>
          </a:prstGeom>
          <a:solidFill>
            <a:srgbClr val="F28C28"/>
          </a:solidFill>
          <a:ln w="12700">
            <a:solidFill>
              <a:srgbClr val="F28C28">
                <a:alpha val="0"/>
              </a:srgbClr>
            </a:solidFill>
            <a:prstDash val="solid"/>
          </a:ln>
        </p:spPr>
      </p:sp>
      <p:sp>
        <p:nvSpPr>
          <p:cNvPr id="26" name="Text 23"/>
          <p:cNvSpPr/>
          <p:nvPr/>
        </p:nvSpPr>
        <p:spPr>
          <a:xfrm>
            <a:off x="7388352" y="4306824"/>
            <a:ext cx="3694176" cy="502920"/>
          </a:xfrm>
          <a:prstGeom prst="rect">
            <a:avLst/>
          </a:prstGeom>
          <a:noFill/>
          <a:ln/>
        </p:spPr>
        <p:txBody>
          <a:bodyPr wrap="square" lIns="0" tIns="0" rIns="0" bIns="0" rtlCol="0" anchor="ctr">
            <a:normAutofit/>
          </a:bodyPr>
          <a:lstStyle/>
          <a:p>
            <a:pPr indent="0" marL="0">
              <a:buNone/>
            </a:pPr>
            <a:r>
              <a:rPr lang="en-US" sz="1420" b="1" dirty="0">
                <a:solidFill>
                  <a:srgbClr val="FFFFFF"/>
                </a:solidFill>
                <a:latin typeface="Aptos" pitchFamily="34" charset="0"/>
                <a:ea typeface="Aptos" pitchFamily="34" charset="-122"/>
                <a:cs typeface="Aptos" pitchFamily="34" charset="-120"/>
              </a:rPr>
              <a:t>Esto convierte offset y deriva en un problema de primer orden.</a:t>
            </a:r>
            <a:endParaRPr lang="en-US" sz="1420" dirty="0"/>
          </a:p>
        </p:txBody>
      </p:sp>
      <p:sp>
        <p:nvSpPr>
          <p:cNvPr id="27" name="Text 24"/>
          <p:cNvSpPr/>
          <p:nvPr/>
        </p:nvSpPr>
        <p:spPr>
          <a:xfrm>
            <a:off x="411480" y="6565392"/>
            <a:ext cx="11155680" cy="146304"/>
          </a:xfrm>
          <a:prstGeom prst="rect">
            <a:avLst/>
          </a:prstGeom>
          <a:noFill/>
          <a:ln/>
        </p:spPr>
        <p:txBody>
          <a:bodyPr wrap="square" lIns="0" tIns="0" rIns="0" bIns="0" rtlCol="0" anchor="ctr">
            <a:normAutofit/>
          </a:bodyPr>
          <a:lstStyle/>
          <a:p>
            <a:pPr indent="0" marL="0">
              <a:buNone/>
            </a:pPr>
            <a:r>
              <a:rPr lang="en-US" sz="650" dirty="0">
                <a:solidFill>
                  <a:srgbClr val="5B6472"/>
                </a:solidFill>
                <a:latin typeface="Aptos" pitchFamily="34" charset="0"/>
                <a:ea typeface="Aptos" pitchFamily="34" charset="-122"/>
                <a:cs typeface="Aptos" pitchFamily="34" charset="-120"/>
              </a:rPr>
              <a:t>Fuente: main(3).pdf, Sec. 4.2; barrido electrónico GEO→ADC.</a:t>
            </a:r>
            <a:endParaRPr lang="en-US" sz="6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17225C"/>
          </a:solidFill>
          <a:ln w="12700">
            <a:solidFill>
              <a:srgbClr val="17225C"/>
            </a:solidFill>
            <a:prstDash val="solid"/>
          </a:ln>
        </p:spPr>
      </p:sp>
      <p:sp>
        <p:nvSpPr>
          <p:cNvPr id="3" name="Text 1"/>
          <p:cNvSpPr/>
          <p:nvPr/>
        </p:nvSpPr>
        <p:spPr>
          <a:xfrm>
            <a:off x="411480" y="137160"/>
            <a:ext cx="9418320" cy="365760"/>
          </a:xfrm>
          <a:prstGeom prst="rect">
            <a:avLst/>
          </a:prstGeom>
          <a:noFill/>
          <a:ln/>
        </p:spPr>
        <p:txBody>
          <a:bodyPr wrap="square" lIns="0" tIns="0" rIns="0" bIns="0" rtlCol="0" anchor="ctr">
            <a:normAutofit/>
          </a:bodyPr>
          <a:lstStyle/>
          <a:p>
            <a:pPr indent="0" marL="0">
              <a:buNone/>
            </a:pPr>
            <a:r>
              <a:rPr lang="en-US" sz="2300" b="1" dirty="0">
                <a:solidFill>
                  <a:srgbClr val="FFFFFF"/>
                </a:solidFill>
                <a:latin typeface="Aptos Display" pitchFamily="34" charset="0"/>
                <a:ea typeface="Aptos Display" pitchFamily="34" charset="-122"/>
                <a:cs typeface="Aptos Display" pitchFamily="34" charset="-120"/>
              </a:rPr>
              <a:t>Autocalibración foreground: calibrar → congelar → medir</a:t>
            </a:r>
            <a:endParaRPr lang="en-US" sz="2300" dirty="0"/>
          </a:p>
        </p:txBody>
      </p:sp>
      <p:sp>
        <p:nvSpPr>
          <p:cNvPr id="4" name="Text 2"/>
          <p:cNvSpPr/>
          <p:nvPr/>
        </p:nvSpPr>
        <p:spPr>
          <a:xfrm>
            <a:off x="10058400" y="201168"/>
            <a:ext cx="1737360" cy="228600"/>
          </a:xfrm>
          <a:prstGeom prst="rect">
            <a:avLst/>
          </a:prstGeom>
          <a:noFill/>
          <a:ln/>
        </p:spPr>
        <p:txBody>
          <a:bodyPr wrap="square" lIns="0" tIns="0" rIns="0" bIns="0" rtlCol="0" anchor="ctr">
            <a:normAutofit/>
          </a:bodyPr>
          <a:lstStyle/>
          <a:p>
            <a:pPr algn="r" indent="0" marL="0">
              <a:buNone/>
            </a:pPr>
            <a:r>
              <a:rPr lang="en-US" sz="850" dirty="0">
                <a:solidFill>
                  <a:srgbClr val="B8C4EA"/>
                </a:solidFill>
                <a:latin typeface="Aptos" pitchFamily="34" charset="0"/>
                <a:ea typeface="Aptos" pitchFamily="34" charset="-122"/>
                <a:cs typeface="Aptos" pitchFamily="34" charset="-120"/>
              </a:rPr>
              <a:t>AFE</a:t>
            </a:r>
            <a:endParaRPr lang="en-US" sz="850" dirty="0"/>
          </a:p>
        </p:txBody>
      </p:sp>
      <p:sp>
        <p:nvSpPr>
          <p:cNvPr id="5" name="Shape 3"/>
          <p:cNvSpPr/>
          <p:nvPr/>
        </p:nvSpPr>
        <p:spPr>
          <a:xfrm>
            <a:off x="502920" y="5989320"/>
            <a:ext cx="1543115" cy="310896"/>
          </a:xfrm>
          <a:prstGeom prst="roundRect">
            <a:avLst>
              <a:gd name="adj" fmla="val 11765"/>
            </a:avLst>
          </a:prstGeom>
          <a:solidFill>
            <a:srgbClr val="DEE5F2"/>
          </a:solidFill>
          <a:ln w="12700">
            <a:solidFill>
              <a:srgbClr val="DEE5F2"/>
            </a:solidFill>
            <a:prstDash val="solid"/>
          </a:ln>
        </p:spPr>
      </p:sp>
      <p:sp>
        <p:nvSpPr>
          <p:cNvPr id="6" name="Text 4"/>
          <p:cNvSpPr/>
          <p:nvPr/>
        </p:nvSpPr>
        <p:spPr>
          <a:xfrm>
            <a:off x="530352"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Fuente</a:t>
            </a:r>
            <a:endParaRPr lang="en-US" sz="740" dirty="0"/>
          </a:p>
        </p:txBody>
      </p:sp>
      <p:sp>
        <p:nvSpPr>
          <p:cNvPr id="7" name="Shape 5"/>
          <p:cNvSpPr/>
          <p:nvPr/>
        </p:nvSpPr>
        <p:spPr>
          <a:xfrm>
            <a:off x="2110043" y="5989320"/>
            <a:ext cx="1543115" cy="310896"/>
          </a:xfrm>
          <a:prstGeom prst="roundRect">
            <a:avLst>
              <a:gd name="adj" fmla="val 11765"/>
            </a:avLst>
          </a:prstGeom>
          <a:solidFill>
            <a:srgbClr val="DEE5F2"/>
          </a:solidFill>
          <a:ln w="12700">
            <a:solidFill>
              <a:srgbClr val="DEE5F2"/>
            </a:solidFill>
            <a:prstDash val="solid"/>
          </a:ln>
        </p:spPr>
      </p:sp>
      <p:sp>
        <p:nvSpPr>
          <p:cNvPr id="8" name="Text 6"/>
          <p:cNvSpPr/>
          <p:nvPr/>
        </p:nvSpPr>
        <p:spPr>
          <a:xfrm>
            <a:off x="2137475"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Sensor</a:t>
            </a:r>
            <a:endParaRPr lang="en-US" sz="740" dirty="0"/>
          </a:p>
        </p:txBody>
      </p:sp>
      <p:sp>
        <p:nvSpPr>
          <p:cNvPr id="9" name="Shape 7"/>
          <p:cNvSpPr/>
          <p:nvPr/>
        </p:nvSpPr>
        <p:spPr>
          <a:xfrm>
            <a:off x="3717167" y="5989320"/>
            <a:ext cx="1543115" cy="310896"/>
          </a:xfrm>
          <a:prstGeom prst="roundRect">
            <a:avLst>
              <a:gd name="adj" fmla="val 11765"/>
            </a:avLst>
          </a:prstGeom>
          <a:solidFill>
            <a:srgbClr val="F28C28"/>
          </a:solidFill>
          <a:ln w="12700">
            <a:solidFill>
              <a:srgbClr val="F28C28"/>
            </a:solidFill>
            <a:prstDash val="solid"/>
          </a:ln>
        </p:spPr>
      </p:sp>
      <p:sp>
        <p:nvSpPr>
          <p:cNvPr id="10" name="Text 8"/>
          <p:cNvSpPr/>
          <p:nvPr/>
        </p:nvSpPr>
        <p:spPr>
          <a:xfrm>
            <a:off x="3744599"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FFFFFF"/>
                </a:solidFill>
              </a:rPr>
              <a:t>AFE/ADC</a:t>
            </a:r>
            <a:endParaRPr lang="en-US" sz="740" dirty="0"/>
          </a:p>
        </p:txBody>
      </p:sp>
      <p:sp>
        <p:nvSpPr>
          <p:cNvPr id="11" name="Shape 9"/>
          <p:cNvSpPr/>
          <p:nvPr/>
        </p:nvSpPr>
        <p:spPr>
          <a:xfrm>
            <a:off x="5324290" y="5989320"/>
            <a:ext cx="1543115" cy="310896"/>
          </a:xfrm>
          <a:prstGeom prst="roundRect">
            <a:avLst>
              <a:gd name="adj" fmla="val 11765"/>
            </a:avLst>
          </a:prstGeom>
          <a:solidFill>
            <a:srgbClr val="DEE5F2"/>
          </a:solidFill>
          <a:ln w="12700">
            <a:solidFill>
              <a:srgbClr val="DEE5F2"/>
            </a:solidFill>
            <a:prstDash val="solid"/>
          </a:ln>
        </p:spPr>
      </p:sp>
      <p:sp>
        <p:nvSpPr>
          <p:cNvPr id="12" name="Text 10"/>
          <p:cNvSpPr/>
          <p:nvPr/>
        </p:nvSpPr>
        <p:spPr>
          <a:xfrm>
            <a:off x="5351722"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Sync/Red</a:t>
            </a:r>
            <a:endParaRPr lang="en-US" sz="740" dirty="0"/>
          </a:p>
        </p:txBody>
      </p:sp>
      <p:sp>
        <p:nvSpPr>
          <p:cNvPr id="13" name="Shape 11"/>
          <p:cNvSpPr/>
          <p:nvPr/>
        </p:nvSpPr>
        <p:spPr>
          <a:xfrm>
            <a:off x="6931413" y="5989320"/>
            <a:ext cx="1543115" cy="310896"/>
          </a:xfrm>
          <a:prstGeom prst="roundRect">
            <a:avLst>
              <a:gd name="adj" fmla="val 11765"/>
            </a:avLst>
          </a:prstGeom>
          <a:solidFill>
            <a:srgbClr val="DEE5F2"/>
          </a:solidFill>
          <a:ln w="12700">
            <a:solidFill>
              <a:srgbClr val="DEE5F2"/>
            </a:solidFill>
            <a:prstDash val="solid"/>
          </a:ln>
        </p:spPr>
      </p:sp>
      <p:sp>
        <p:nvSpPr>
          <p:cNvPr id="14" name="Text 12"/>
          <p:cNvSpPr/>
          <p:nvPr/>
        </p:nvSpPr>
        <p:spPr>
          <a:xfrm>
            <a:off x="6958845"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Interfaces</a:t>
            </a:r>
            <a:endParaRPr lang="en-US" sz="740" dirty="0"/>
          </a:p>
        </p:txBody>
      </p:sp>
      <p:sp>
        <p:nvSpPr>
          <p:cNvPr id="15" name="Shape 13"/>
          <p:cNvSpPr/>
          <p:nvPr/>
        </p:nvSpPr>
        <p:spPr>
          <a:xfrm>
            <a:off x="8538537" y="5989320"/>
            <a:ext cx="1543115" cy="310896"/>
          </a:xfrm>
          <a:prstGeom prst="roundRect">
            <a:avLst>
              <a:gd name="adj" fmla="val 11765"/>
            </a:avLst>
          </a:prstGeom>
          <a:solidFill>
            <a:srgbClr val="DEE5F2"/>
          </a:solidFill>
          <a:ln w="12700">
            <a:solidFill>
              <a:srgbClr val="DEE5F2"/>
            </a:solidFill>
            <a:prstDash val="solid"/>
          </a:ln>
        </p:spPr>
      </p:sp>
      <p:sp>
        <p:nvSpPr>
          <p:cNvPr id="16" name="Text 14"/>
          <p:cNvSpPr/>
          <p:nvPr/>
        </p:nvSpPr>
        <p:spPr>
          <a:xfrm>
            <a:off x="8565969"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MASW</a:t>
            </a:r>
            <a:endParaRPr lang="en-US" sz="740" dirty="0"/>
          </a:p>
        </p:txBody>
      </p:sp>
      <p:sp>
        <p:nvSpPr>
          <p:cNvPr id="17" name="Shape 15"/>
          <p:cNvSpPr/>
          <p:nvPr/>
        </p:nvSpPr>
        <p:spPr>
          <a:xfrm>
            <a:off x="10145660" y="5989320"/>
            <a:ext cx="1543115" cy="310896"/>
          </a:xfrm>
          <a:prstGeom prst="roundRect">
            <a:avLst>
              <a:gd name="adj" fmla="val 11765"/>
            </a:avLst>
          </a:prstGeom>
          <a:solidFill>
            <a:srgbClr val="DEE5F2"/>
          </a:solidFill>
          <a:ln w="12700">
            <a:solidFill>
              <a:srgbClr val="DEE5F2"/>
            </a:solidFill>
            <a:prstDash val="solid"/>
          </a:ln>
        </p:spPr>
      </p:sp>
      <p:sp>
        <p:nvSpPr>
          <p:cNvPr id="18" name="Text 16"/>
          <p:cNvSpPr/>
          <p:nvPr/>
        </p:nvSpPr>
        <p:spPr>
          <a:xfrm>
            <a:off x="10173092"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Inversión</a:t>
            </a:r>
            <a:endParaRPr lang="en-US" sz="740" dirty="0"/>
          </a:p>
        </p:txBody>
      </p:sp>
      <p:pic>
        <p:nvPicPr>
          <p:cNvPr id="19" name="Image 0" descr="/mnt/data/pptx_unzip/ppt/media/image56.png">    </p:cNvPr>
          <p:cNvPicPr>
            <a:picLocks noChangeAspect="1"/>
          </p:cNvPicPr>
          <p:nvPr/>
        </p:nvPicPr>
        <p:blipFill>
          <a:blip r:embed="rId1"/>
          <a:stretch>
            <a:fillRect/>
          </a:stretch>
        </p:blipFill>
        <p:spPr>
          <a:xfrm>
            <a:off x="502920" y="1323280"/>
            <a:ext cx="7955280" cy="4440041"/>
          </a:xfrm>
          <a:prstGeom prst="rect">
            <a:avLst/>
          </a:prstGeom>
        </p:spPr>
      </p:pic>
      <p:sp>
        <p:nvSpPr>
          <p:cNvPr id="20" name="Shape 17"/>
          <p:cNvSpPr/>
          <p:nvPr/>
        </p:nvSpPr>
        <p:spPr>
          <a:xfrm>
            <a:off x="8732520" y="1188720"/>
            <a:ext cx="2651760" cy="960120"/>
          </a:xfrm>
          <a:prstGeom prst="roundRect">
            <a:avLst>
              <a:gd name="adj" fmla="val 7619"/>
            </a:avLst>
          </a:prstGeom>
          <a:solidFill>
            <a:srgbClr val="17225C"/>
          </a:solidFill>
          <a:ln w="12700">
            <a:solidFill>
              <a:srgbClr val="17225C">
                <a:alpha val="0"/>
              </a:srgbClr>
            </a:solidFill>
            <a:prstDash val="solid"/>
          </a:ln>
        </p:spPr>
      </p:sp>
      <p:sp>
        <p:nvSpPr>
          <p:cNvPr id="21" name="Text 18"/>
          <p:cNvSpPr/>
          <p:nvPr/>
        </p:nvSpPr>
        <p:spPr>
          <a:xfrm>
            <a:off x="8897112" y="1289304"/>
            <a:ext cx="2322576" cy="777240"/>
          </a:xfrm>
          <a:prstGeom prst="rect">
            <a:avLst/>
          </a:prstGeom>
          <a:noFill/>
          <a:ln/>
        </p:spPr>
        <p:txBody>
          <a:bodyPr wrap="square" lIns="0" tIns="0" rIns="0" bIns="0" rtlCol="0" anchor="ctr">
            <a:normAutofit/>
          </a:bodyPr>
          <a:lstStyle/>
          <a:p>
            <a:pPr indent="0" marL="0">
              <a:buNone/>
            </a:pPr>
            <a:r>
              <a:rPr lang="en-US" sz="1280" b="1" dirty="0">
                <a:solidFill>
                  <a:srgbClr val="FFFFFF"/>
                </a:solidFill>
                <a:latin typeface="Aptos" pitchFamily="34" charset="0"/>
                <a:ea typeface="Aptos" pitchFamily="34" charset="-122"/>
                <a:cs typeface="Aptos" pitchFamily="34" charset="-120"/>
              </a:rPr>
              <a:t>AMux + ADC común + FIR + PI por etapa: PGA → BP → SUM → LP</a:t>
            </a:r>
            <a:endParaRPr lang="en-US" sz="1280" dirty="0"/>
          </a:p>
        </p:txBody>
      </p:sp>
      <p:sp>
        <p:nvSpPr>
          <p:cNvPr id="22" name="Shape 19"/>
          <p:cNvSpPr/>
          <p:nvPr/>
        </p:nvSpPr>
        <p:spPr>
          <a:xfrm>
            <a:off x="8732520" y="2743200"/>
            <a:ext cx="2651760" cy="822960"/>
          </a:xfrm>
          <a:prstGeom prst="roundRect">
            <a:avLst>
              <a:gd name="adj" fmla="val 8889"/>
            </a:avLst>
          </a:prstGeom>
          <a:solidFill>
            <a:srgbClr val="F28C28"/>
          </a:solidFill>
          <a:ln w="12700">
            <a:solidFill>
              <a:srgbClr val="F28C28">
                <a:alpha val="0"/>
              </a:srgbClr>
            </a:solidFill>
            <a:prstDash val="solid"/>
          </a:ln>
        </p:spPr>
      </p:sp>
      <p:sp>
        <p:nvSpPr>
          <p:cNvPr id="23" name="Text 20"/>
          <p:cNvSpPr/>
          <p:nvPr/>
        </p:nvSpPr>
        <p:spPr>
          <a:xfrm>
            <a:off x="8897112" y="2843784"/>
            <a:ext cx="2322576" cy="640080"/>
          </a:xfrm>
          <a:prstGeom prst="rect">
            <a:avLst/>
          </a:prstGeom>
          <a:noFill/>
          <a:ln/>
        </p:spPr>
        <p:txBody>
          <a:bodyPr wrap="square" lIns="0" tIns="0" rIns="0" bIns="0" rtlCol="0" anchor="ctr">
            <a:normAutofit/>
          </a:bodyPr>
          <a:lstStyle/>
          <a:p>
            <a:pPr indent="0" marL="0">
              <a:buNone/>
            </a:pPr>
            <a:r>
              <a:rPr lang="en-US" sz="1250" b="1" dirty="0">
                <a:solidFill>
                  <a:srgbClr val="FFFFFF"/>
                </a:solidFill>
                <a:latin typeface="Aptos" pitchFamily="34" charset="0"/>
                <a:ea typeface="Aptos" pitchFamily="34" charset="-122"/>
                <a:cs typeface="Aptos" pitchFamily="34" charset="-120"/>
              </a:rPr>
              <a:t>Durante la captura el lazo se desactiva: los códigos quedan fijos.</a:t>
            </a:r>
            <a:endParaRPr lang="en-US" sz="1250" dirty="0"/>
          </a:p>
        </p:txBody>
      </p:sp>
      <p:sp>
        <p:nvSpPr>
          <p:cNvPr id="24" name="Text 21"/>
          <p:cNvSpPr/>
          <p:nvPr/>
        </p:nvSpPr>
        <p:spPr>
          <a:xfrm>
            <a:off x="8823960" y="4069080"/>
            <a:ext cx="2331720" cy="411480"/>
          </a:xfrm>
          <a:prstGeom prst="rect">
            <a:avLst/>
          </a:prstGeom>
          <a:noFill/>
          <a:ln/>
        </p:spPr>
        <p:txBody>
          <a:bodyPr wrap="square" lIns="0" tIns="0" rIns="0" bIns="0" rtlCol="0" anchor="ctr">
            <a:normAutofit/>
          </a:bodyPr>
          <a:lstStyle/>
          <a:p>
            <a:pPr algn="ctr" indent="0" marL="0">
              <a:buNone/>
            </a:pPr>
            <a:r>
              <a:rPr lang="en-US" sz="1400" b="1" dirty="0">
                <a:solidFill>
                  <a:srgbClr val="121826"/>
                </a:solidFill>
              </a:rPr>
              <a:t>Persistencia por ganancia</a:t>
            </a:r>
            <a:endParaRPr lang="en-US" sz="1400" dirty="0"/>
          </a:p>
          <a:p>
            <a:pPr algn="ctr" indent="0" marL="0">
              <a:buNone/>
            </a:pPr>
            <a:r>
              <a:rPr lang="en-US" sz="1400" b="1" dirty="0">
                <a:solidFill>
                  <a:srgbClr val="121826"/>
                </a:solidFill>
              </a:rPr>
              <a:t>EEPROM + CRC</a:t>
            </a:r>
            <a:endParaRPr lang="en-US" sz="1400" dirty="0"/>
          </a:p>
        </p:txBody>
      </p:sp>
      <p:sp>
        <p:nvSpPr>
          <p:cNvPr id="25" name="Text 22"/>
          <p:cNvSpPr/>
          <p:nvPr/>
        </p:nvSpPr>
        <p:spPr>
          <a:xfrm>
            <a:off x="411480" y="6565392"/>
            <a:ext cx="11155680" cy="146304"/>
          </a:xfrm>
          <a:prstGeom prst="rect">
            <a:avLst/>
          </a:prstGeom>
          <a:noFill/>
          <a:ln/>
        </p:spPr>
        <p:txBody>
          <a:bodyPr wrap="square" lIns="0" tIns="0" rIns="0" bIns="0" rtlCol="0" anchor="ctr">
            <a:normAutofit/>
          </a:bodyPr>
          <a:lstStyle/>
          <a:p>
            <a:pPr indent="0" marL="0">
              <a:buNone/>
            </a:pPr>
            <a:r>
              <a:rPr lang="en-US" sz="650" dirty="0">
                <a:solidFill>
                  <a:srgbClr val="5B6472"/>
                </a:solidFill>
                <a:latin typeface="Aptos" pitchFamily="34" charset="0"/>
                <a:ea typeface="Aptos" pitchFamily="34" charset="-122"/>
                <a:cs typeface="Aptos" pitchFamily="34" charset="-120"/>
              </a:rPr>
              <a:t>Fuente: main(3).pdf, Sec. 4.3; diagrama DA‑AFE propio.</a:t>
            </a:r>
            <a:endParaRPr lang="en-US" sz="6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17225C"/>
          </a:solidFill>
          <a:ln w="12700">
            <a:solidFill>
              <a:srgbClr val="17225C"/>
            </a:solidFill>
            <a:prstDash val="solid"/>
          </a:ln>
        </p:spPr>
      </p:sp>
      <p:sp>
        <p:nvSpPr>
          <p:cNvPr id="3" name="Text 1"/>
          <p:cNvSpPr/>
          <p:nvPr/>
        </p:nvSpPr>
        <p:spPr>
          <a:xfrm>
            <a:off x="411480" y="137160"/>
            <a:ext cx="9418320" cy="365760"/>
          </a:xfrm>
          <a:prstGeom prst="rect">
            <a:avLst/>
          </a:prstGeom>
          <a:noFill/>
          <a:ln/>
        </p:spPr>
        <p:txBody>
          <a:bodyPr wrap="square" lIns="0" tIns="0" rIns="0" bIns="0" rtlCol="0" anchor="ctr">
            <a:normAutofit/>
          </a:bodyPr>
          <a:lstStyle/>
          <a:p>
            <a:pPr indent="0" marL="0">
              <a:buNone/>
            </a:pPr>
            <a:r>
              <a:rPr lang="en-US" sz="2300" b="1" dirty="0">
                <a:solidFill>
                  <a:srgbClr val="FFFFFF"/>
                </a:solidFill>
                <a:latin typeface="Aptos Display" pitchFamily="34" charset="0"/>
                <a:ea typeface="Aptos Display" pitchFamily="34" charset="-122"/>
                <a:cs typeface="Aptos Display" pitchFamily="34" charset="-120"/>
              </a:rPr>
              <a:t>Digitalización: el tiempo crítico queda en hardware local</a:t>
            </a:r>
            <a:endParaRPr lang="en-US" sz="2300" dirty="0"/>
          </a:p>
        </p:txBody>
      </p:sp>
      <p:sp>
        <p:nvSpPr>
          <p:cNvPr id="4" name="Text 2"/>
          <p:cNvSpPr/>
          <p:nvPr/>
        </p:nvSpPr>
        <p:spPr>
          <a:xfrm>
            <a:off x="10058400" y="201168"/>
            <a:ext cx="1737360" cy="228600"/>
          </a:xfrm>
          <a:prstGeom prst="rect">
            <a:avLst/>
          </a:prstGeom>
          <a:noFill/>
          <a:ln/>
        </p:spPr>
        <p:txBody>
          <a:bodyPr wrap="square" lIns="0" tIns="0" rIns="0" bIns="0" rtlCol="0" anchor="ctr">
            <a:normAutofit/>
          </a:bodyPr>
          <a:lstStyle/>
          <a:p>
            <a:pPr algn="r" indent="0" marL="0">
              <a:buNone/>
            </a:pPr>
            <a:r>
              <a:rPr lang="en-US" sz="850" dirty="0">
                <a:solidFill>
                  <a:srgbClr val="B8C4EA"/>
                </a:solidFill>
                <a:latin typeface="Aptos" pitchFamily="34" charset="0"/>
                <a:ea typeface="Aptos" pitchFamily="34" charset="-122"/>
                <a:cs typeface="Aptos" pitchFamily="34" charset="-120"/>
              </a:rPr>
              <a:t>ADC / PSoC</a:t>
            </a:r>
            <a:endParaRPr lang="en-US" sz="850" dirty="0"/>
          </a:p>
        </p:txBody>
      </p:sp>
      <p:sp>
        <p:nvSpPr>
          <p:cNvPr id="5" name="Shape 3"/>
          <p:cNvSpPr/>
          <p:nvPr/>
        </p:nvSpPr>
        <p:spPr>
          <a:xfrm>
            <a:off x="502920" y="5989320"/>
            <a:ext cx="1543115" cy="310896"/>
          </a:xfrm>
          <a:prstGeom prst="roundRect">
            <a:avLst>
              <a:gd name="adj" fmla="val 11765"/>
            </a:avLst>
          </a:prstGeom>
          <a:solidFill>
            <a:srgbClr val="DEE5F2"/>
          </a:solidFill>
          <a:ln w="12700">
            <a:solidFill>
              <a:srgbClr val="DEE5F2"/>
            </a:solidFill>
            <a:prstDash val="solid"/>
          </a:ln>
        </p:spPr>
      </p:sp>
      <p:sp>
        <p:nvSpPr>
          <p:cNvPr id="6" name="Text 4"/>
          <p:cNvSpPr/>
          <p:nvPr/>
        </p:nvSpPr>
        <p:spPr>
          <a:xfrm>
            <a:off x="530352"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Fuente</a:t>
            </a:r>
            <a:endParaRPr lang="en-US" sz="740" dirty="0"/>
          </a:p>
        </p:txBody>
      </p:sp>
      <p:sp>
        <p:nvSpPr>
          <p:cNvPr id="7" name="Shape 5"/>
          <p:cNvSpPr/>
          <p:nvPr/>
        </p:nvSpPr>
        <p:spPr>
          <a:xfrm>
            <a:off x="2110043" y="5989320"/>
            <a:ext cx="1543115" cy="310896"/>
          </a:xfrm>
          <a:prstGeom prst="roundRect">
            <a:avLst>
              <a:gd name="adj" fmla="val 11765"/>
            </a:avLst>
          </a:prstGeom>
          <a:solidFill>
            <a:srgbClr val="DEE5F2"/>
          </a:solidFill>
          <a:ln w="12700">
            <a:solidFill>
              <a:srgbClr val="DEE5F2"/>
            </a:solidFill>
            <a:prstDash val="solid"/>
          </a:ln>
        </p:spPr>
      </p:sp>
      <p:sp>
        <p:nvSpPr>
          <p:cNvPr id="8" name="Text 6"/>
          <p:cNvSpPr/>
          <p:nvPr/>
        </p:nvSpPr>
        <p:spPr>
          <a:xfrm>
            <a:off x="2137475"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Sensor</a:t>
            </a:r>
            <a:endParaRPr lang="en-US" sz="740" dirty="0"/>
          </a:p>
        </p:txBody>
      </p:sp>
      <p:sp>
        <p:nvSpPr>
          <p:cNvPr id="9" name="Shape 7"/>
          <p:cNvSpPr/>
          <p:nvPr/>
        </p:nvSpPr>
        <p:spPr>
          <a:xfrm>
            <a:off x="3717167" y="5989320"/>
            <a:ext cx="1543115" cy="310896"/>
          </a:xfrm>
          <a:prstGeom prst="roundRect">
            <a:avLst>
              <a:gd name="adj" fmla="val 11765"/>
            </a:avLst>
          </a:prstGeom>
          <a:solidFill>
            <a:srgbClr val="F28C28"/>
          </a:solidFill>
          <a:ln w="12700">
            <a:solidFill>
              <a:srgbClr val="F28C28"/>
            </a:solidFill>
            <a:prstDash val="solid"/>
          </a:ln>
        </p:spPr>
      </p:sp>
      <p:sp>
        <p:nvSpPr>
          <p:cNvPr id="10" name="Text 8"/>
          <p:cNvSpPr/>
          <p:nvPr/>
        </p:nvSpPr>
        <p:spPr>
          <a:xfrm>
            <a:off x="3744599"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FFFFFF"/>
                </a:solidFill>
              </a:rPr>
              <a:t>AFE/ADC</a:t>
            </a:r>
            <a:endParaRPr lang="en-US" sz="740" dirty="0"/>
          </a:p>
        </p:txBody>
      </p:sp>
      <p:sp>
        <p:nvSpPr>
          <p:cNvPr id="11" name="Shape 9"/>
          <p:cNvSpPr/>
          <p:nvPr/>
        </p:nvSpPr>
        <p:spPr>
          <a:xfrm>
            <a:off x="5324290" y="5989320"/>
            <a:ext cx="1543115" cy="310896"/>
          </a:xfrm>
          <a:prstGeom prst="roundRect">
            <a:avLst>
              <a:gd name="adj" fmla="val 11765"/>
            </a:avLst>
          </a:prstGeom>
          <a:solidFill>
            <a:srgbClr val="DEE5F2"/>
          </a:solidFill>
          <a:ln w="12700">
            <a:solidFill>
              <a:srgbClr val="DEE5F2"/>
            </a:solidFill>
            <a:prstDash val="solid"/>
          </a:ln>
        </p:spPr>
      </p:sp>
      <p:sp>
        <p:nvSpPr>
          <p:cNvPr id="12" name="Text 10"/>
          <p:cNvSpPr/>
          <p:nvPr/>
        </p:nvSpPr>
        <p:spPr>
          <a:xfrm>
            <a:off x="5351722"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Sync/Red</a:t>
            </a:r>
            <a:endParaRPr lang="en-US" sz="740" dirty="0"/>
          </a:p>
        </p:txBody>
      </p:sp>
      <p:sp>
        <p:nvSpPr>
          <p:cNvPr id="13" name="Shape 11"/>
          <p:cNvSpPr/>
          <p:nvPr/>
        </p:nvSpPr>
        <p:spPr>
          <a:xfrm>
            <a:off x="6931413" y="5989320"/>
            <a:ext cx="1543115" cy="310896"/>
          </a:xfrm>
          <a:prstGeom prst="roundRect">
            <a:avLst>
              <a:gd name="adj" fmla="val 11765"/>
            </a:avLst>
          </a:prstGeom>
          <a:solidFill>
            <a:srgbClr val="DEE5F2"/>
          </a:solidFill>
          <a:ln w="12700">
            <a:solidFill>
              <a:srgbClr val="DEE5F2"/>
            </a:solidFill>
            <a:prstDash val="solid"/>
          </a:ln>
        </p:spPr>
      </p:sp>
      <p:sp>
        <p:nvSpPr>
          <p:cNvPr id="14" name="Text 12"/>
          <p:cNvSpPr/>
          <p:nvPr/>
        </p:nvSpPr>
        <p:spPr>
          <a:xfrm>
            <a:off x="6958845"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Interfaces</a:t>
            </a:r>
            <a:endParaRPr lang="en-US" sz="740" dirty="0"/>
          </a:p>
        </p:txBody>
      </p:sp>
      <p:sp>
        <p:nvSpPr>
          <p:cNvPr id="15" name="Shape 13"/>
          <p:cNvSpPr/>
          <p:nvPr/>
        </p:nvSpPr>
        <p:spPr>
          <a:xfrm>
            <a:off x="8538537" y="5989320"/>
            <a:ext cx="1543115" cy="310896"/>
          </a:xfrm>
          <a:prstGeom prst="roundRect">
            <a:avLst>
              <a:gd name="adj" fmla="val 11765"/>
            </a:avLst>
          </a:prstGeom>
          <a:solidFill>
            <a:srgbClr val="DEE5F2"/>
          </a:solidFill>
          <a:ln w="12700">
            <a:solidFill>
              <a:srgbClr val="DEE5F2"/>
            </a:solidFill>
            <a:prstDash val="solid"/>
          </a:ln>
        </p:spPr>
      </p:sp>
      <p:sp>
        <p:nvSpPr>
          <p:cNvPr id="16" name="Text 14"/>
          <p:cNvSpPr/>
          <p:nvPr/>
        </p:nvSpPr>
        <p:spPr>
          <a:xfrm>
            <a:off x="8565969"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MASW</a:t>
            </a:r>
            <a:endParaRPr lang="en-US" sz="740" dirty="0"/>
          </a:p>
        </p:txBody>
      </p:sp>
      <p:sp>
        <p:nvSpPr>
          <p:cNvPr id="17" name="Shape 15"/>
          <p:cNvSpPr/>
          <p:nvPr/>
        </p:nvSpPr>
        <p:spPr>
          <a:xfrm>
            <a:off x="10145660" y="5989320"/>
            <a:ext cx="1543115" cy="310896"/>
          </a:xfrm>
          <a:prstGeom prst="roundRect">
            <a:avLst>
              <a:gd name="adj" fmla="val 11765"/>
            </a:avLst>
          </a:prstGeom>
          <a:solidFill>
            <a:srgbClr val="DEE5F2"/>
          </a:solidFill>
          <a:ln w="12700">
            <a:solidFill>
              <a:srgbClr val="DEE5F2"/>
            </a:solidFill>
            <a:prstDash val="solid"/>
          </a:ln>
        </p:spPr>
      </p:sp>
      <p:sp>
        <p:nvSpPr>
          <p:cNvPr id="18" name="Text 16"/>
          <p:cNvSpPr/>
          <p:nvPr/>
        </p:nvSpPr>
        <p:spPr>
          <a:xfrm>
            <a:off x="10173092"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Inversión</a:t>
            </a:r>
            <a:endParaRPr lang="en-US" sz="740" dirty="0"/>
          </a:p>
        </p:txBody>
      </p:sp>
      <p:pic>
        <p:nvPicPr>
          <p:cNvPr id="19" name="Image 0" descr="/mnt/data/pptx_unzip/ppt/media/image63.png">    </p:cNvPr>
          <p:cNvPicPr>
            <a:picLocks noChangeAspect="1"/>
          </p:cNvPicPr>
          <p:nvPr/>
        </p:nvPicPr>
        <p:blipFill>
          <a:blip r:embed="rId1"/>
          <a:stretch>
            <a:fillRect/>
          </a:stretch>
        </p:blipFill>
        <p:spPr>
          <a:xfrm>
            <a:off x="1902795" y="914400"/>
            <a:ext cx="8127330" cy="4251960"/>
          </a:xfrm>
          <a:prstGeom prst="rect">
            <a:avLst/>
          </a:prstGeom>
        </p:spPr>
      </p:pic>
      <p:sp>
        <p:nvSpPr>
          <p:cNvPr id="20" name="Shape 17"/>
          <p:cNvSpPr/>
          <p:nvPr/>
        </p:nvSpPr>
        <p:spPr>
          <a:xfrm>
            <a:off x="1097280" y="5230368"/>
            <a:ext cx="9966960" cy="502920"/>
          </a:xfrm>
          <a:prstGeom prst="roundRect">
            <a:avLst>
              <a:gd name="adj" fmla="val 14545"/>
            </a:avLst>
          </a:prstGeom>
          <a:solidFill>
            <a:srgbClr val="17225C"/>
          </a:solidFill>
          <a:ln w="12700">
            <a:solidFill>
              <a:srgbClr val="17225C">
                <a:alpha val="0"/>
              </a:srgbClr>
            </a:solidFill>
            <a:prstDash val="solid"/>
          </a:ln>
        </p:spPr>
      </p:sp>
      <p:sp>
        <p:nvSpPr>
          <p:cNvPr id="21" name="Text 18"/>
          <p:cNvSpPr/>
          <p:nvPr/>
        </p:nvSpPr>
        <p:spPr>
          <a:xfrm>
            <a:off x="1261872" y="5330952"/>
            <a:ext cx="9637776" cy="320040"/>
          </a:xfrm>
          <a:prstGeom prst="rect">
            <a:avLst/>
          </a:prstGeom>
          <a:noFill/>
          <a:ln/>
        </p:spPr>
        <p:txBody>
          <a:bodyPr wrap="square" lIns="0" tIns="0" rIns="0" bIns="0" rtlCol="0" anchor="ctr">
            <a:normAutofit/>
          </a:bodyPr>
          <a:lstStyle/>
          <a:p>
            <a:pPr indent="0" marL="0">
              <a:buNone/>
            </a:pPr>
            <a:r>
              <a:rPr lang="en-US" sz="1400" b="1" dirty="0">
                <a:solidFill>
                  <a:srgbClr val="FFFFFF"/>
                </a:solidFill>
                <a:latin typeface="Aptos" pitchFamily="34" charset="0"/>
                <a:ea typeface="Aptos" pitchFamily="34" charset="-122"/>
                <a:cs typeface="Aptos" pitchFamily="34" charset="-120"/>
              </a:rPr>
              <a:t>ADC ΔΣ 18 bits · 2604 SPS · DFB/FIR · doble DMA · UDB/Verilog</a:t>
            </a:r>
            <a:endParaRPr lang="en-US" sz="1400" dirty="0"/>
          </a:p>
        </p:txBody>
      </p:sp>
      <p:sp>
        <p:nvSpPr>
          <p:cNvPr id="22" name="Text 19"/>
          <p:cNvSpPr/>
          <p:nvPr/>
        </p:nvSpPr>
        <p:spPr>
          <a:xfrm>
            <a:off x="411480" y="6565392"/>
            <a:ext cx="11155680" cy="146304"/>
          </a:xfrm>
          <a:prstGeom prst="rect">
            <a:avLst/>
          </a:prstGeom>
          <a:noFill/>
          <a:ln/>
        </p:spPr>
        <p:txBody>
          <a:bodyPr wrap="square" lIns="0" tIns="0" rIns="0" bIns="0" rtlCol="0" anchor="ctr">
            <a:normAutofit/>
          </a:bodyPr>
          <a:lstStyle/>
          <a:p>
            <a:pPr indent="0" marL="0">
              <a:buNone/>
            </a:pPr>
            <a:r>
              <a:rPr lang="en-US" sz="650" dirty="0">
                <a:solidFill>
                  <a:srgbClr val="5B6472"/>
                </a:solidFill>
                <a:latin typeface="Aptos" pitchFamily="34" charset="0"/>
                <a:ea typeface="Aptos" pitchFamily="34" charset="-122"/>
                <a:cs typeface="Aptos" pitchFamily="34" charset="-120"/>
              </a:rPr>
              <a:t>Fuente: main(3).pdf, Sec. 4.4; arquitectura digital PSoC 5LP propia.</a:t>
            </a:r>
            <a:endParaRPr lang="en-US" sz="6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17225C"/>
          </a:solidFill>
          <a:ln w="12700">
            <a:solidFill>
              <a:srgbClr val="17225C"/>
            </a:solidFill>
            <a:prstDash val="solid"/>
          </a:ln>
        </p:spPr>
      </p:sp>
      <p:sp>
        <p:nvSpPr>
          <p:cNvPr id="3" name="Text 1"/>
          <p:cNvSpPr/>
          <p:nvPr/>
        </p:nvSpPr>
        <p:spPr>
          <a:xfrm>
            <a:off x="411480" y="137160"/>
            <a:ext cx="9418320" cy="365760"/>
          </a:xfrm>
          <a:prstGeom prst="rect">
            <a:avLst/>
          </a:prstGeom>
          <a:noFill/>
          <a:ln/>
        </p:spPr>
        <p:txBody>
          <a:bodyPr wrap="square" lIns="0" tIns="0" rIns="0" bIns="0" rtlCol="0" anchor="ctr">
            <a:normAutofit/>
          </a:bodyPr>
          <a:lstStyle/>
          <a:p>
            <a:pPr indent="0" marL="0">
              <a:buNone/>
            </a:pPr>
            <a:r>
              <a:rPr lang="en-US" sz="2300" b="1" dirty="0">
                <a:solidFill>
                  <a:srgbClr val="FFFFFF"/>
                </a:solidFill>
                <a:latin typeface="Aptos Display" pitchFamily="34" charset="0"/>
                <a:ea typeface="Aptos Display" pitchFamily="34" charset="-122"/>
                <a:cs typeface="Aptos Display" pitchFamily="34" charset="-120"/>
              </a:rPr>
              <a:t>Inalámbrico: más versátil, pero obliga a demostrar sincronismo</a:t>
            </a:r>
            <a:endParaRPr lang="en-US" sz="2300" dirty="0"/>
          </a:p>
        </p:txBody>
      </p:sp>
      <p:sp>
        <p:nvSpPr>
          <p:cNvPr id="4" name="Text 2"/>
          <p:cNvSpPr/>
          <p:nvPr/>
        </p:nvSpPr>
        <p:spPr>
          <a:xfrm>
            <a:off x="10058400" y="201168"/>
            <a:ext cx="1737360" cy="228600"/>
          </a:xfrm>
          <a:prstGeom prst="rect">
            <a:avLst/>
          </a:prstGeom>
          <a:noFill/>
          <a:ln/>
        </p:spPr>
        <p:txBody>
          <a:bodyPr wrap="square" lIns="0" tIns="0" rIns="0" bIns="0" rtlCol="0" anchor="ctr">
            <a:normAutofit/>
          </a:bodyPr>
          <a:lstStyle/>
          <a:p>
            <a:pPr algn="r" indent="0" marL="0">
              <a:buNone/>
            </a:pPr>
            <a:r>
              <a:rPr lang="en-US" sz="850" dirty="0">
                <a:solidFill>
                  <a:srgbClr val="B8C4EA"/>
                </a:solidFill>
                <a:latin typeface="Aptos" pitchFamily="34" charset="0"/>
                <a:ea typeface="Aptos" pitchFamily="34" charset="-122"/>
                <a:cs typeface="Aptos" pitchFamily="34" charset="-120"/>
              </a:rPr>
              <a:t>Red</a:t>
            </a:r>
            <a:endParaRPr lang="en-US" sz="850" dirty="0"/>
          </a:p>
        </p:txBody>
      </p:sp>
      <p:sp>
        <p:nvSpPr>
          <p:cNvPr id="5" name="Shape 3"/>
          <p:cNvSpPr/>
          <p:nvPr/>
        </p:nvSpPr>
        <p:spPr>
          <a:xfrm>
            <a:off x="502920" y="5989320"/>
            <a:ext cx="1543115" cy="310896"/>
          </a:xfrm>
          <a:prstGeom prst="roundRect">
            <a:avLst>
              <a:gd name="adj" fmla="val 11765"/>
            </a:avLst>
          </a:prstGeom>
          <a:solidFill>
            <a:srgbClr val="DEE5F2"/>
          </a:solidFill>
          <a:ln w="12700">
            <a:solidFill>
              <a:srgbClr val="DEE5F2"/>
            </a:solidFill>
            <a:prstDash val="solid"/>
          </a:ln>
        </p:spPr>
      </p:sp>
      <p:sp>
        <p:nvSpPr>
          <p:cNvPr id="6" name="Text 4"/>
          <p:cNvSpPr/>
          <p:nvPr/>
        </p:nvSpPr>
        <p:spPr>
          <a:xfrm>
            <a:off x="530352"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Fuente</a:t>
            </a:r>
            <a:endParaRPr lang="en-US" sz="740" dirty="0"/>
          </a:p>
        </p:txBody>
      </p:sp>
      <p:sp>
        <p:nvSpPr>
          <p:cNvPr id="7" name="Shape 5"/>
          <p:cNvSpPr/>
          <p:nvPr/>
        </p:nvSpPr>
        <p:spPr>
          <a:xfrm>
            <a:off x="2110043" y="5989320"/>
            <a:ext cx="1543115" cy="310896"/>
          </a:xfrm>
          <a:prstGeom prst="roundRect">
            <a:avLst>
              <a:gd name="adj" fmla="val 11765"/>
            </a:avLst>
          </a:prstGeom>
          <a:solidFill>
            <a:srgbClr val="DEE5F2"/>
          </a:solidFill>
          <a:ln w="12700">
            <a:solidFill>
              <a:srgbClr val="DEE5F2"/>
            </a:solidFill>
            <a:prstDash val="solid"/>
          </a:ln>
        </p:spPr>
      </p:sp>
      <p:sp>
        <p:nvSpPr>
          <p:cNvPr id="8" name="Text 6"/>
          <p:cNvSpPr/>
          <p:nvPr/>
        </p:nvSpPr>
        <p:spPr>
          <a:xfrm>
            <a:off x="2137475"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Sensor</a:t>
            </a:r>
            <a:endParaRPr lang="en-US" sz="740" dirty="0"/>
          </a:p>
        </p:txBody>
      </p:sp>
      <p:sp>
        <p:nvSpPr>
          <p:cNvPr id="9" name="Shape 7"/>
          <p:cNvSpPr/>
          <p:nvPr/>
        </p:nvSpPr>
        <p:spPr>
          <a:xfrm>
            <a:off x="3717167" y="5989320"/>
            <a:ext cx="1543115" cy="310896"/>
          </a:xfrm>
          <a:prstGeom prst="roundRect">
            <a:avLst>
              <a:gd name="adj" fmla="val 11765"/>
            </a:avLst>
          </a:prstGeom>
          <a:solidFill>
            <a:srgbClr val="DEE5F2"/>
          </a:solidFill>
          <a:ln w="12700">
            <a:solidFill>
              <a:srgbClr val="DEE5F2"/>
            </a:solidFill>
            <a:prstDash val="solid"/>
          </a:ln>
        </p:spPr>
      </p:sp>
      <p:sp>
        <p:nvSpPr>
          <p:cNvPr id="10" name="Text 8"/>
          <p:cNvSpPr/>
          <p:nvPr/>
        </p:nvSpPr>
        <p:spPr>
          <a:xfrm>
            <a:off x="3744599"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AFE/ADC</a:t>
            </a:r>
            <a:endParaRPr lang="en-US" sz="740" dirty="0"/>
          </a:p>
        </p:txBody>
      </p:sp>
      <p:sp>
        <p:nvSpPr>
          <p:cNvPr id="11" name="Shape 9"/>
          <p:cNvSpPr/>
          <p:nvPr/>
        </p:nvSpPr>
        <p:spPr>
          <a:xfrm>
            <a:off x="5324290" y="5989320"/>
            <a:ext cx="1543115" cy="310896"/>
          </a:xfrm>
          <a:prstGeom prst="roundRect">
            <a:avLst>
              <a:gd name="adj" fmla="val 11765"/>
            </a:avLst>
          </a:prstGeom>
          <a:solidFill>
            <a:srgbClr val="F28C28"/>
          </a:solidFill>
          <a:ln w="12700">
            <a:solidFill>
              <a:srgbClr val="F28C28"/>
            </a:solidFill>
            <a:prstDash val="solid"/>
          </a:ln>
        </p:spPr>
      </p:sp>
      <p:sp>
        <p:nvSpPr>
          <p:cNvPr id="12" name="Text 10"/>
          <p:cNvSpPr/>
          <p:nvPr/>
        </p:nvSpPr>
        <p:spPr>
          <a:xfrm>
            <a:off x="5351722"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FFFFFF"/>
                </a:solidFill>
              </a:rPr>
              <a:t>Sync/Red</a:t>
            </a:r>
            <a:endParaRPr lang="en-US" sz="740" dirty="0"/>
          </a:p>
        </p:txBody>
      </p:sp>
      <p:sp>
        <p:nvSpPr>
          <p:cNvPr id="13" name="Shape 11"/>
          <p:cNvSpPr/>
          <p:nvPr/>
        </p:nvSpPr>
        <p:spPr>
          <a:xfrm>
            <a:off x="6931413" y="5989320"/>
            <a:ext cx="1543115" cy="310896"/>
          </a:xfrm>
          <a:prstGeom prst="roundRect">
            <a:avLst>
              <a:gd name="adj" fmla="val 11765"/>
            </a:avLst>
          </a:prstGeom>
          <a:solidFill>
            <a:srgbClr val="DEE5F2"/>
          </a:solidFill>
          <a:ln w="12700">
            <a:solidFill>
              <a:srgbClr val="DEE5F2"/>
            </a:solidFill>
            <a:prstDash val="solid"/>
          </a:ln>
        </p:spPr>
      </p:sp>
      <p:sp>
        <p:nvSpPr>
          <p:cNvPr id="14" name="Text 12"/>
          <p:cNvSpPr/>
          <p:nvPr/>
        </p:nvSpPr>
        <p:spPr>
          <a:xfrm>
            <a:off x="6958845"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Interfaces</a:t>
            </a:r>
            <a:endParaRPr lang="en-US" sz="740" dirty="0"/>
          </a:p>
        </p:txBody>
      </p:sp>
      <p:sp>
        <p:nvSpPr>
          <p:cNvPr id="15" name="Shape 13"/>
          <p:cNvSpPr/>
          <p:nvPr/>
        </p:nvSpPr>
        <p:spPr>
          <a:xfrm>
            <a:off x="8538537" y="5989320"/>
            <a:ext cx="1543115" cy="310896"/>
          </a:xfrm>
          <a:prstGeom prst="roundRect">
            <a:avLst>
              <a:gd name="adj" fmla="val 11765"/>
            </a:avLst>
          </a:prstGeom>
          <a:solidFill>
            <a:srgbClr val="DEE5F2"/>
          </a:solidFill>
          <a:ln w="12700">
            <a:solidFill>
              <a:srgbClr val="DEE5F2"/>
            </a:solidFill>
            <a:prstDash val="solid"/>
          </a:ln>
        </p:spPr>
      </p:sp>
      <p:sp>
        <p:nvSpPr>
          <p:cNvPr id="16" name="Text 14"/>
          <p:cNvSpPr/>
          <p:nvPr/>
        </p:nvSpPr>
        <p:spPr>
          <a:xfrm>
            <a:off x="8565969"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MASW</a:t>
            </a:r>
            <a:endParaRPr lang="en-US" sz="740" dirty="0"/>
          </a:p>
        </p:txBody>
      </p:sp>
      <p:sp>
        <p:nvSpPr>
          <p:cNvPr id="17" name="Shape 15"/>
          <p:cNvSpPr/>
          <p:nvPr/>
        </p:nvSpPr>
        <p:spPr>
          <a:xfrm>
            <a:off x="10145660" y="5989320"/>
            <a:ext cx="1543115" cy="310896"/>
          </a:xfrm>
          <a:prstGeom prst="roundRect">
            <a:avLst>
              <a:gd name="adj" fmla="val 11765"/>
            </a:avLst>
          </a:prstGeom>
          <a:solidFill>
            <a:srgbClr val="DEE5F2"/>
          </a:solidFill>
          <a:ln w="12700">
            <a:solidFill>
              <a:srgbClr val="DEE5F2"/>
            </a:solidFill>
            <a:prstDash val="solid"/>
          </a:ln>
        </p:spPr>
      </p:sp>
      <p:sp>
        <p:nvSpPr>
          <p:cNvPr id="18" name="Text 16"/>
          <p:cNvSpPr/>
          <p:nvPr/>
        </p:nvSpPr>
        <p:spPr>
          <a:xfrm>
            <a:off x="10173092"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Inversión</a:t>
            </a:r>
            <a:endParaRPr lang="en-US" sz="740" dirty="0"/>
          </a:p>
        </p:txBody>
      </p:sp>
      <p:pic>
        <p:nvPicPr>
          <p:cNvPr id="19" name="Image 0" descr="/mnt/data/pptx_unzip/ppt/media/image67.png">    </p:cNvPr>
          <p:cNvPicPr>
            <a:picLocks noChangeAspect="1"/>
          </p:cNvPicPr>
          <p:nvPr/>
        </p:nvPicPr>
        <p:blipFill>
          <a:blip r:embed="rId1"/>
          <a:stretch>
            <a:fillRect/>
          </a:stretch>
        </p:blipFill>
        <p:spPr>
          <a:xfrm>
            <a:off x="502920" y="2048522"/>
            <a:ext cx="5943600" cy="2303755"/>
          </a:xfrm>
          <a:prstGeom prst="rect">
            <a:avLst/>
          </a:prstGeom>
        </p:spPr>
      </p:pic>
      <p:pic>
        <p:nvPicPr>
          <p:cNvPr id="20" name="Image 1" descr="/mnt/data/pptx_unzip/ppt/media/image66.png">    </p:cNvPr>
          <p:cNvPicPr>
            <a:picLocks noChangeAspect="1"/>
          </p:cNvPicPr>
          <p:nvPr/>
        </p:nvPicPr>
        <p:blipFill>
          <a:blip r:embed="rId2"/>
          <a:stretch>
            <a:fillRect/>
          </a:stretch>
        </p:blipFill>
        <p:spPr>
          <a:xfrm>
            <a:off x="6720840" y="1264502"/>
            <a:ext cx="4572000" cy="2317315"/>
          </a:xfrm>
          <a:prstGeom prst="rect">
            <a:avLst/>
          </a:prstGeom>
        </p:spPr>
      </p:pic>
      <p:sp>
        <p:nvSpPr>
          <p:cNvPr id="21" name="Shape 17"/>
          <p:cNvSpPr/>
          <p:nvPr/>
        </p:nvSpPr>
        <p:spPr>
          <a:xfrm>
            <a:off x="6903720" y="4297680"/>
            <a:ext cx="4251960" cy="566928"/>
          </a:xfrm>
          <a:prstGeom prst="roundRect">
            <a:avLst>
              <a:gd name="adj" fmla="val 12903"/>
            </a:avLst>
          </a:prstGeom>
          <a:solidFill>
            <a:srgbClr val="F28C28"/>
          </a:solidFill>
          <a:ln w="12700">
            <a:solidFill>
              <a:srgbClr val="F28C28">
                <a:alpha val="0"/>
              </a:srgbClr>
            </a:solidFill>
            <a:prstDash val="solid"/>
          </a:ln>
        </p:spPr>
      </p:sp>
      <p:sp>
        <p:nvSpPr>
          <p:cNvPr id="22" name="Text 18"/>
          <p:cNvSpPr/>
          <p:nvPr/>
        </p:nvSpPr>
        <p:spPr>
          <a:xfrm>
            <a:off x="7068312" y="4398264"/>
            <a:ext cx="3922776" cy="384048"/>
          </a:xfrm>
          <a:prstGeom prst="rect">
            <a:avLst/>
          </a:prstGeom>
          <a:noFill/>
          <a:ln/>
        </p:spPr>
        <p:txBody>
          <a:bodyPr wrap="square" lIns="0" tIns="0" rIns="0" bIns="0" rtlCol="0" anchor="ctr">
            <a:normAutofit/>
          </a:bodyPr>
          <a:lstStyle/>
          <a:p>
            <a:pPr indent="0" marL="0">
              <a:buNone/>
            </a:pPr>
            <a:r>
              <a:rPr lang="en-US" sz="1320" b="1" dirty="0">
                <a:solidFill>
                  <a:srgbClr val="FFFFFF"/>
                </a:solidFill>
                <a:latin typeface="Aptos" pitchFamily="34" charset="0"/>
                <a:ea typeface="Aptos" pitchFamily="34" charset="-122"/>
                <a:cs typeface="Aptos" pitchFamily="34" charset="-120"/>
              </a:rPr>
              <a:t>ESP‑NOW no fue elegido por precisión temporal, sino por costo y disponibilidad.</a:t>
            </a:r>
            <a:endParaRPr lang="en-US" sz="1320" dirty="0"/>
          </a:p>
        </p:txBody>
      </p:sp>
      <p:sp>
        <p:nvSpPr>
          <p:cNvPr id="23" name="Shape 19"/>
          <p:cNvSpPr/>
          <p:nvPr/>
        </p:nvSpPr>
        <p:spPr>
          <a:xfrm>
            <a:off x="6903720" y="5074920"/>
            <a:ext cx="4251960" cy="566928"/>
          </a:xfrm>
          <a:prstGeom prst="roundRect">
            <a:avLst>
              <a:gd name="adj" fmla="val 12903"/>
            </a:avLst>
          </a:prstGeom>
          <a:solidFill>
            <a:srgbClr val="17225C"/>
          </a:solidFill>
          <a:ln w="12700">
            <a:solidFill>
              <a:srgbClr val="17225C">
                <a:alpha val="0"/>
              </a:srgbClr>
            </a:solidFill>
            <a:prstDash val="solid"/>
          </a:ln>
        </p:spPr>
      </p:sp>
      <p:sp>
        <p:nvSpPr>
          <p:cNvPr id="24" name="Text 20"/>
          <p:cNvSpPr/>
          <p:nvPr/>
        </p:nvSpPr>
        <p:spPr>
          <a:xfrm>
            <a:off x="7068312" y="5175504"/>
            <a:ext cx="3922776" cy="384048"/>
          </a:xfrm>
          <a:prstGeom prst="rect">
            <a:avLst/>
          </a:prstGeom>
          <a:noFill/>
          <a:ln/>
        </p:spPr>
        <p:txBody>
          <a:bodyPr wrap="square" lIns="0" tIns="0" rIns="0" bIns="0" rtlCol="0" anchor="ctr">
            <a:normAutofit/>
          </a:bodyPr>
          <a:lstStyle/>
          <a:p>
            <a:pPr indent="0" marL="0">
              <a:buNone/>
            </a:pPr>
            <a:r>
              <a:rPr lang="en-US" sz="1320" b="1" dirty="0">
                <a:solidFill>
                  <a:srgbClr val="FFFFFF"/>
                </a:solidFill>
                <a:latin typeface="Aptos" pitchFamily="34" charset="0"/>
                <a:ea typeface="Aptos" pitchFamily="34" charset="-122"/>
                <a:cs typeface="Aptos" pitchFamily="34" charset="-120"/>
              </a:rPr>
              <a:t>Por eso se mide el retardo y se traduce a error físico.</a:t>
            </a:r>
            <a:endParaRPr lang="en-US" sz="1320" dirty="0"/>
          </a:p>
        </p:txBody>
      </p:sp>
      <p:sp>
        <p:nvSpPr>
          <p:cNvPr id="25" name="Text 21"/>
          <p:cNvSpPr/>
          <p:nvPr/>
        </p:nvSpPr>
        <p:spPr>
          <a:xfrm>
            <a:off x="411480" y="6565392"/>
            <a:ext cx="11155680" cy="146304"/>
          </a:xfrm>
          <a:prstGeom prst="rect">
            <a:avLst/>
          </a:prstGeom>
          <a:noFill/>
          <a:ln/>
        </p:spPr>
        <p:txBody>
          <a:bodyPr wrap="square" lIns="0" tIns="0" rIns="0" bIns="0" rtlCol="0" anchor="ctr">
            <a:normAutofit/>
          </a:bodyPr>
          <a:lstStyle/>
          <a:p>
            <a:pPr indent="0" marL="0">
              <a:buNone/>
            </a:pPr>
            <a:r>
              <a:rPr lang="en-US" sz="650" dirty="0">
                <a:solidFill>
                  <a:srgbClr val="5B6472"/>
                </a:solidFill>
                <a:latin typeface="Aptos" pitchFamily="34" charset="0"/>
                <a:ea typeface="Aptos" pitchFamily="34" charset="-122"/>
                <a:cs typeface="Aptos" pitchFamily="34" charset="-120"/>
              </a:rPr>
              <a:t>Fuente: main(3).pdf, Sec. 5.1; mediciones de sincronismo con osciloscopio.</a:t>
            </a:r>
            <a:endParaRPr lang="en-US" sz="6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17225C"/>
          </a:solidFill>
          <a:ln w="12700">
            <a:solidFill>
              <a:srgbClr val="17225C"/>
            </a:solidFill>
            <a:prstDash val="solid"/>
          </a:ln>
        </p:spPr>
      </p:sp>
      <p:sp>
        <p:nvSpPr>
          <p:cNvPr id="3" name="Text 1"/>
          <p:cNvSpPr/>
          <p:nvPr/>
        </p:nvSpPr>
        <p:spPr>
          <a:xfrm>
            <a:off x="411480" y="137160"/>
            <a:ext cx="9418320" cy="365760"/>
          </a:xfrm>
          <a:prstGeom prst="rect">
            <a:avLst/>
          </a:prstGeom>
          <a:noFill/>
          <a:ln/>
        </p:spPr>
        <p:txBody>
          <a:bodyPr wrap="square" lIns="0" tIns="0" rIns="0" bIns="0" rtlCol="0" anchor="ctr">
            <a:normAutofit/>
          </a:bodyPr>
          <a:lstStyle/>
          <a:p>
            <a:pPr indent="0" marL="0">
              <a:buNone/>
            </a:pPr>
            <a:r>
              <a:rPr lang="en-US" sz="2300" b="1" dirty="0">
                <a:solidFill>
                  <a:srgbClr val="FFFFFF"/>
                </a:solidFill>
                <a:latin typeface="Aptos Display" pitchFamily="34" charset="0"/>
                <a:ea typeface="Aptos Display" pitchFamily="34" charset="-122"/>
                <a:cs typeface="Aptos Display" pitchFamily="34" charset="-120"/>
              </a:rPr>
              <a:t>El sincronismo se evalúa por su efecto en fase y velocidad aparente</a:t>
            </a:r>
            <a:endParaRPr lang="en-US" sz="2300" dirty="0"/>
          </a:p>
        </p:txBody>
      </p:sp>
      <p:sp>
        <p:nvSpPr>
          <p:cNvPr id="4" name="Text 2"/>
          <p:cNvSpPr/>
          <p:nvPr/>
        </p:nvSpPr>
        <p:spPr>
          <a:xfrm>
            <a:off x="10058400" y="201168"/>
            <a:ext cx="1737360" cy="228600"/>
          </a:xfrm>
          <a:prstGeom prst="rect">
            <a:avLst/>
          </a:prstGeom>
          <a:noFill/>
          <a:ln/>
        </p:spPr>
        <p:txBody>
          <a:bodyPr wrap="square" lIns="0" tIns="0" rIns="0" bIns="0" rtlCol="0" anchor="ctr">
            <a:normAutofit/>
          </a:bodyPr>
          <a:lstStyle/>
          <a:p>
            <a:pPr algn="r" indent="0" marL="0">
              <a:buNone/>
            </a:pPr>
            <a:r>
              <a:rPr lang="en-US" sz="850" dirty="0">
                <a:solidFill>
                  <a:srgbClr val="B8C4EA"/>
                </a:solidFill>
                <a:latin typeface="Aptos" pitchFamily="34" charset="0"/>
                <a:ea typeface="Aptos" pitchFamily="34" charset="-122"/>
                <a:cs typeface="Aptos" pitchFamily="34" charset="-120"/>
              </a:rPr>
              <a:t>Red</a:t>
            </a:r>
            <a:endParaRPr lang="en-US" sz="850" dirty="0"/>
          </a:p>
        </p:txBody>
      </p:sp>
      <p:sp>
        <p:nvSpPr>
          <p:cNvPr id="5" name="Shape 3"/>
          <p:cNvSpPr/>
          <p:nvPr/>
        </p:nvSpPr>
        <p:spPr>
          <a:xfrm>
            <a:off x="502920" y="5989320"/>
            <a:ext cx="1543115" cy="310896"/>
          </a:xfrm>
          <a:prstGeom prst="roundRect">
            <a:avLst>
              <a:gd name="adj" fmla="val 11765"/>
            </a:avLst>
          </a:prstGeom>
          <a:solidFill>
            <a:srgbClr val="DEE5F2"/>
          </a:solidFill>
          <a:ln w="12700">
            <a:solidFill>
              <a:srgbClr val="DEE5F2"/>
            </a:solidFill>
            <a:prstDash val="solid"/>
          </a:ln>
        </p:spPr>
      </p:sp>
      <p:sp>
        <p:nvSpPr>
          <p:cNvPr id="6" name="Text 4"/>
          <p:cNvSpPr/>
          <p:nvPr/>
        </p:nvSpPr>
        <p:spPr>
          <a:xfrm>
            <a:off x="530352"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Fuente</a:t>
            </a:r>
            <a:endParaRPr lang="en-US" sz="740" dirty="0"/>
          </a:p>
        </p:txBody>
      </p:sp>
      <p:sp>
        <p:nvSpPr>
          <p:cNvPr id="7" name="Shape 5"/>
          <p:cNvSpPr/>
          <p:nvPr/>
        </p:nvSpPr>
        <p:spPr>
          <a:xfrm>
            <a:off x="2110043" y="5989320"/>
            <a:ext cx="1543115" cy="310896"/>
          </a:xfrm>
          <a:prstGeom prst="roundRect">
            <a:avLst>
              <a:gd name="adj" fmla="val 11765"/>
            </a:avLst>
          </a:prstGeom>
          <a:solidFill>
            <a:srgbClr val="DEE5F2"/>
          </a:solidFill>
          <a:ln w="12700">
            <a:solidFill>
              <a:srgbClr val="DEE5F2"/>
            </a:solidFill>
            <a:prstDash val="solid"/>
          </a:ln>
        </p:spPr>
      </p:sp>
      <p:sp>
        <p:nvSpPr>
          <p:cNvPr id="8" name="Text 6"/>
          <p:cNvSpPr/>
          <p:nvPr/>
        </p:nvSpPr>
        <p:spPr>
          <a:xfrm>
            <a:off x="2137475"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Sensor</a:t>
            </a:r>
            <a:endParaRPr lang="en-US" sz="740" dirty="0"/>
          </a:p>
        </p:txBody>
      </p:sp>
      <p:sp>
        <p:nvSpPr>
          <p:cNvPr id="9" name="Shape 7"/>
          <p:cNvSpPr/>
          <p:nvPr/>
        </p:nvSpPr>
        <p:spPr>
          <a:xfrm>
            <a:off x="3717167" y="5989320"/>
            <a:ext cx="1543115" cy="310896"/>
          </a:xfrm>
          <a:prstGeom prst="roundRect">
            <a:avLst>
              <a:gd name="adj" fmla="val 11765"/>
            </a:avLst>
          </a:prstGeom>
          <a:solidFill>
            <a:srgbClr val="DEE5F2"/>
          </a:solidFill>
          <a:ln w="12700">
            <a:solidFill>
              <a:srgbClr val="DEE5F2"/>
            </a:solidFill>
            <a:prstDash val="solid"/>
          </a:ln>
        </p:spPr>
      </p:sp>
      <p:sp>
        <p:nvSpPr>
          <p:cNvPr id="10" name="Text 8"/>
          <p:cNvSpPr/>
          <p:nvPr/>
        </p:nvSpPr>
        <p:spPr>
          <a:xfrm>
            <a:off x="3744599"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AFE/ADC</a:t>
            </a:r>
            <a:endParaRPr lang="en-US" sz="740" dirty="0"/>
          </a:p>
        </p:txBody>
      </p:sp>
      <p:sp>
        <p:nvSpPr>
          <p:cNvPr id="11" name="Shape 9"/>
          <p:cNvSpPr/>
          <p:nvPr/>
        </p:nvSpPr>
        <p:spPr>
          <a:xfrm>
            <a:off x="5324290" y="5989320"/>
            <a:ext cx="1543115" cy="310896"/>
          </a:xfrm>
          <a:prstGeom prst="roundRect">
            <a:avLst>
              <a:gd name="adj" fmla="val 11765"/>
            </a:avLst>
          </a:prstGeom>
          <a:solidFill>
            <a:srgbClr val="F28C28"/>
          </a:solidFill>
          <a:ln w="12700">
            <a:solidFill>
              <a:srgbClr val="F28C28"/>
            </a:solidFill>
            <a:prstDash val="solid"/>
          </a:ln>
        </p:spPr>
      </p:sp>
      <p:sp>
        <p:nvSpPr>
          <p:cNvPr id="12" name="Text 10"/>
          <p:cNvSpPr/>
          <p:nvPr/>
        </p:nvSpPr>
        <p:spPr>
          <a:xfrm>
            <a:off x="5351722"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FFFFFF"/>
                </a:solidFill>
              </a:rPr>
              <a:t>Sync/Red</a:t>
            </a:r>
            <a:endParaRPr lang="en-US" sz="740" dirty="0"/>
          </a:p>
        </p:txBody>
      </p:sp>
      <p:sp>
        <p:nvSpPr>
          <p:cNvPr id="13" name="Shape 11"/>
          <p:cNvSpPr/>
          <p:nvPr/>
        </p:nvSpPr>
        <p:spPr>
          <a:xfrm>
            <a:off x="6931413" y="5989320"/>
            <a:ext cx="1543115" cy="310896"/>
          </a:xfrm>
          <a:prstGeom prst="roundRect">
            <a:avLst>
              <a:gd name="adj" fmla="val 11765"/>
            </a:avLst>
          </a:prstGeom>
          <a:solidFill>
            <a:srgbClr val="DEE5F2"/>
          </a:solidFill>
          <a:ln w="12700">
            <a:solidFill>
              <a:srgbClr val="DEE5F2"/>
            </a:solidFill>
            <a:prstDash val="solid"/>
          </a:ln>
        </p:spPr>
      </p:sp>
      <p:sp>
        <p:nvSpPr>
          <p:cNvPr id="14" name="Text 12"/>
          <p:cNvSpPr/>
          <p:nvPr/>
        </p:nvSpPr>
        <p:spPr>
          <a:xfrm>
            <a:off x="6958845"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Interfaces</a:t>
            </a:r>
            <a:endParaRPr lang="en-US" sz="740" dirty="0"/>
          </a:p>
        </p:txBody>
      </p:sp>
      <p:sp>
        <p:nvSpPr>
          <p:cNvPr id="15" name="Shape 13"/>
          <p:cNvSpPr/>
          <p:nvPr/>
        </p:nvSpPr>
        <p:spPr>
          <a:xfrm>
            <a:off x="8538537" y="5989320"/>
            <a:ext cx="1543115" cy="310896"/>
          </a:xfrm>
          <a:prstGeom prst="roundRect">
            <a:avLst>
              <a:gd name="adj" fmla="val 11765"/>
            </a:avLst>
          </a:prstGeom>
          <a:solidFill>
            <a:srgbClr val="DEE5F2"/>
          </a:solidFill>
          <a:ln w="12700">
            <a:solidFill>
              <a:srgbClr val="DEE5F2"/>
            </a:solidFill>
            <a:prstDash val="solid"/>
          </a:ln>
        </p:spPr>
      </p:sp>
      <p:sp>
        <p:nvSpPr>
          <p:cNvPr id="16" name="Text 14"/>
          <p:cNvSpPr/>
          <p:nvPr/>
        </p:nvSpPr>
        <p:spPr>
          <a:xfrm>
            <a:off x="8565969"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MASW</a:t>
            </a:r>
            <a:endParaRPr lang="en-US" sz="740" dirty="0"/>
          </a:p>
        </p:txBody>
      </p:sp>
      <p:sp>
        <p:nvSpPr>
          <p:cNvPr id="17" name="Shape 15"/>
          <p:cNvSpPr/>
          <p:nvPr/>
        </p:nvSpPr>
        <p:spPr>
          <a:xfrm>
            <a:off x="10145660" y="5989320"/>
            <a:ext cx="1543115" cy="310896"/>
          </a:xfrm>
          <a:prstGeom prst="roundRect">
            <a:avLst>
              <a:gd name="adj" fmla="val 11765"/>
            </a:avLst>
          </a:prstGeom>
          <a:solidFill>
            <a:srgbClr val="DEE5F2"/>
          </a:solidFill>
          <a:ln w="12700">
            <a:solidFill>
              <a:srgbClr val="DEE5F2"/>
            </a:solidFill>
            <a:prstDash val="solid"/>
          </a:ln>
        </p:spPr>
      </p:sp>
      <p:sp>
        <p:nvSpPr>
          <p:cNvPr id="18" name="Text 16"/>
          <p:cNvSpPr/>
          <p:nvPr/>
        </p:nvSpPr>
        <p:spPr>
          <a:xfrm>
            <a:off x="10173092"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Inversión</a:t>
            </a:r>
            <a:endParaRPr lang="en-US" sz="740" dirty="0"/>
          </a:p>
        </p:txBody>
      </p:sp>
      <p:sp>
        <p:nvSpPr>
          <p:cNvPr id="19" name="Shape 17"/>
          <p:cNvSpPr/>
          <p:nvPr/>
        </p:nvSpPr>
        <p:spPr>
          <a:xfrm>
            <a:off x="795528" y="960120"/>
            <a:ext cx="3803904" cy="594360"/>
          </a:xfrm>
          <a:prstGeom prst="roundRect">
            <a:avLst>
              <a:gd name="adj" fmla="val 12308"/>
            </a:avLst>
          </a:prstGeom>
          <a:solidFill>
            <a:srgbClr val="FFFFFF"/>
          </a:solidFill>
          <a:ln w="10160">
            <a:solidFill>
              <a:srgbClr val="DCE2EA"/>
            </a:solidFill>
            <a:prstDash val="solid"/>
          </a:ln>
        </p:spPr>
      </p:sp>
      <p:pic>
        <p:nvPicPr>
          <p:cNvPr id="20"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68680" y="1005840"/>
            <a:ext cx="3657600" cy="502920"/>
          </a:xfrm>
          <a:prstGeom prst="rect">
            <a:avLst/>
          </a:prstGeom>
        </p:spPr>
      </p:pic>
      <p:sp>
        <p:nvSpPr>
          <p:cNvPr id="21" name="Shape 18"/>
          <p:cNvSpPr/>
          <p:nvPr/>
        </p:nvSpPr>
        <p:spPr>
          <a:xfrm>
            <a:off x="795528" y="1920240"/>
            <a:ext cx="3803904" cy="594360"/>
          </a:xfrm>
          <a:prstGeom prst="roundRect">
            <a:avLst>
              <a:gd name="adj" fmla="val 12308"/>
            </a:avLst>
          </a:prstGeom>
          <a:solidFill>
            <a:srgbClr val="FFFFFF"/>
          </a:solidFill>
          <a:ln w="10160">
            <a:solidFill>
              <a:srgbClr val="DCE2EA"/>
            </a:solidFill>
            <a:prstDash val="solid"/>
          </a:ln>
        </p:spPr>
      </p:sp>
      <p:pic>
        <p:nvPicPr>
          <p:cNvPr id="2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68680" y="1965960"/>
            <a:ext cx="3657600" cy="502920"/>
          </a:xfrm>
          <a:prstGeom prst="rect">
            <a:avLst/>
          </a:prstGeom>
        </p:spPr>
      </p:pic>
      <p:sp>
        <p:nvSpPr>
          <p:cNvPr id="23" name="Shape 19"/>
          <p:cNvSpPr/>
          <p:nvPr/>
        </p:nvSpPr>
        <p:spPr>
          <a:xfrm>
            <a:off x="868680" y="3063240"/>
            <a:ext cx="4023360" cy="1051560"/>
          </a:xfrm>
          <a:prstGeom prst="roundRect">
            <a:avLst>
              <a:gd name="adj" fmla="val 6957"/>
            </a:avLst>
          </a:prstGeom>
          <a:solidFill>
            <a:srgbClr val="FFFFFF"/>
          </a:solidFill>
          <a:ln w="10160">
            <a:solidFill>
              <a:srgbClr val="DCE2EA"/>
            </a:solidFill>
            <a:prstDash val="solid"/>
          </a:ln>
        </p:spPr>
      </p:sp>
      <p:sp>
        <p:nvSpPr>
          <p:cNvPr id="24" name="Text 20"/>
          <p:cNvSpPr/>
          <p:nvPr/>
        </p:nvSpPr>
        <p:spPr>
          <a:xfrm>
            <a:off x="1097280" y="3246120"/>
            <a:ext cx="2377440" cy="182880"/>
          </a:xfrm>
          <a:prstGeom prst="rect">
            <a:avLst/>
          </a:prstGeom>
          <a:noFill/>
          <a:ln/>
        </p:spPr>
        <p:txBody>
          <a:bodyPr wrap="square" lIns="0" tIns="0" rIns="0" bIns="0" rtlCol="0" anchor="ctr"/>
          <a:lstStyle/>
          <a:p>
            <a:pPr indent="0" marL="0">
              <a:buNone/>
            </a:pPr>
            <a:r>
              <a:rPr lang="en-US" sz="1200" b="1" dirty="0">
                <a:solidFill>
                  <a:srgbClr val="5B6472"/>
                </a:solidFill>
              </a:rPr>
              <a:t>Caso de referencia</a:t>
            </a:r>
            <a:endParaRPr lang="en-US" sz="1200" dirty="0"/>
          </a:p>
        </p:txBody>
      </p:sp>
      <p:sp>
        <p:nvSpPr>
          <p:cNvPr id="25" name="Text 21"/>
          <p:cNvSpPr/>
          <p:nvPr/>
        </p:nvSpPr>
        <p:spPr>
          <a:xfrm>
            <a:off x="1097280" y="3584448"/>
            <a:ext cx="3520440" cy="228600"/>
          </a:xfrm>
          <a:prstGeom prst="rect">
            <a:avLst/>
          </a:prstGeom>
          <a:noFill/>
          <a:ln/>
        </p:spPr>
        <p:txBody>
          <a:bodyPr wrap="square" lIns="0" tIns="0" rIns="0" bIns="0" rtlCol="0" anchor="ctr">
            <a:normAutofit/>
          </a:bodyPr>
          <a:lstStyle/>
          <a:p>
            <a:pPr indent="0" marL="0">
              <a:buNone/>
            </a:pPr>
            <a:r>
              <a:rPr lang="en-US" sz="1450" b="1" dirty="0">
                <a:solidFill>
                  <a:srgbClr val="121826"/>
                </a:solidFill>
              </a:rPr>
              <a:t>c≈100 m/s, Δx=2 m, Δt=200 µs → Δc/c≈1%</a:t>
            </a:r>
            <a:endParaRPr lang="en-US" sz="1450" dirty="0"/>
          </a:p>
        </p:txBody>
      </p:sp>
      <p:pic>
        <p:nvPicPr>
          <p:cNvPr id="26" name="Image 2" descr="/mnt/data/pptx_unzip/ppt/media/image66.png">    </p:cNvPr>
          <p:cNvPicPr>
            <a:picLocks noChangeAspect="1"/>
          </p:cNvPicPr>
          <p:nvPr/>
        </p:nvPicPr>
        <p:blipFill>
          <a:blip r:embed="rId5"/>
          <a:stretch>
            <a:fillRect/>
          </a:stretch>
        </p:blipFill>
        <p:spPr>
          <a:xfrm>
            <a:off x="5486400" y="1511265"/>
            <a:ext cx="5943600" cy="3012510"/>
          </a:xfrm>
          <a:prstGeom prst="rect">
            <a:avLst/>
          </a:prstGeom>
        </p:spPr>
      </p:pic>
      <p:sp>
        <p:nvSpPr>
          <p:cNvPr id="27" name="Shape 22"/>
          <p:cNvSpPr/>
          <p:nvPr/>
        </p:nvSpPr>
        <p:spPr>
          <a:xfrm>
            <a:off x="914400" y="4983480"/>
            <a:ext cx="10149840" cy="530352"/>
          </a:xfrm>
          <a:prstGeom prst="roundRect">
            <a:avLst>
              <a:gd name="adj" fmla="val 13793"/>
            </a:avLst>
          </a:prstGeom>
          <a:solidFill>
            <a:srgbClr val="17225C"/>
          </a:solidFill>
          <a:ln w="12700">
            <a:solidFill>
              <a:srgbClr val="17225C">
                <a:alpha val="0"/>
              </a:srgbClr>
            </a:solidFill>
            <a:prstDash val="solid"/>
          </a:ln>
        </p:spPr>
      </p:sp>
      <p:sp>
        <p:nvSpPr>
          <p:cNvPr id="28" name="Text 23"/>
          <p:cNvSpPr/>
          <p:nvPr/>
        </p:nvSpPr>
        <p:spPr>
          <a:xfrm>
            <a:off x="1078992" y="5084064"/>
            <a:ext cx="9820656" cy="347472"/>
          </a:xfrm>
          <a:prstGeom prst="rect">
            <a:avLst/>
          </a:prstGeom>
          <a:noFill/>
          <a:ln/>
        </p:spPr>
        <p:txBody>
          <a:bodyPr wrap="square" lIns="0" tIns="0" rIns="0" bIns="0" rtlCol="0" anchor="ctr">
            <a:normAutofit/>
          </a:bodyPr>
          <a:lstStyle/>
          <a:p>
            <a:pPr indent="0" marL="0">
              <a:buNone/>
            </a:pPr>
            <a:r>
              <a:rPr lang="en-US" sz="1400" b="1" dirty="0">
                <a:solidFill>
                  <a:srgbClr val="FFFFFF"/>
                </a:solidFill>
                <a:latin typeface="Aptos" pitchFamily="34" charset="0"/>
                <a:ea typeface="Aptos" pitchFamily="34" charset="-122"/>
                <a:cs typeface="Aptos" pitchFamily="34" charset="-120"/>
              </a:rPr>
              <a:t>100 µs a 100 Hz = 1% del ciclo = 3,6°; no “10% de una muestra”.</a:t>
            </a:r>
            <a:endParaRPr lang="en-US" sz="1400" dirty="0"/>
          </a:p>
        </p:txBody>
      </p:sp>
      <p:sp>
        <p:nvSpPr>
          <p:cNvPr id="29" name="Text 24"/>
          <p:cNvSpPr/>
          <p:nvPr/>
        </p:nvSpPr>
        <p:spPr>
          <a:xfrm>
            <a:off x="411480" y="6565392"/>
            <a:ext cx="11155680" cy="146304"/>
          </a:xfrm>
          <a:prstGeom prst="rect">
            <a:avLst/>
          </a:prstGeom>
          <a:noFill/>
          <a:ln/>
        </p:spPr>
        <p:txBody>
          <a:bodyPr wrap="square" lIns="0" tIns="0" rIns="0" bIns="0" rtlCol="0" anchor="ctr">
            <a:normAutofit/>
          </a:bodyPr>
          <a:lstStyle/>
          <a:p>
            <a:pPr indent="0" marL="0">
              <a:buNone/>
            </a:pPr>
            <a:r>
              <a:rPr lang="en-US" sz="650" dirty="0">
                <a:solidFill>
                  <a:srgbClr val="5B6472"/>
                </a:solidFill>
                <a:latin typeface="Aptos" pitchFamily="34" charset="0"/>
                <a:ea typeface="Aptos" pitchFamily="34" charset="-122"/>
                <a:cs typeface="Aptos" pitchFamily="34" charset="-120"/>
              </a:rPr>
              <a:t>Fuente: main(3).pdf, Ec. 27; medición: 128 disparos, 100–200 µs.</a:t>
            </a:r>
            <a:endParaRPr lang="en-US" sz="6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17225C"/>
          </a:solidFill>
          <a:ln w="12700">
            <a:solidFill>
              <a:srgbClr val="17225C"/>
            </a:solidFill>
            <a:prstDash val="solid"/>
          </a:ln>
        </p:spPr>
      </p:sp>
      <p:sp>
        <p:nvSpPr>
          <p:cNvPr id="3" name="Text 1"/>
          <p:cNvSpPr/>
          <p:nvPr/>
        </p:nvSpPr>
        <p:spPr>
          <a:xfrm>
            <a:off x="411480" y="137160"/>
            <a:ext cx="9418320" cy="365760"/>
          </a:xfrm>
          <a:prstGeom prst="rect">
            <a:avLst/>
          </a:prstGeom>
          <a:noFill/>
          <a:ln/>
        </p:spPr>
        <p:txBody>
          <a:bodyPr wrap="square" lIns="0" tIns="0" rIns="0" bIns="0" rtlCol="0" anchor="ctr">
            <a:normAutofit/>
          </a:bodyPr>
          <a:lstStyle/>
          <a:p>
            <a:pPr indent="0" marL="0">
              <a:buNone/>
            </a:pPr>
            <a:r>
              <a:rPr lang="en-US" sz="2300" b="1" dirty="0">
                <a:solidFill>
                  <a:srgbClr val="FFFFFF"/>
                </a:solidFill>
                <a:latin typeface="Aptos Display" pitchFamily="34" charset="0"/>
                <a:ea typeface="Aptos Display" pitchFamily="34" charset="-122"/>
                <a:cs typeface="Aptos Display" pitchFamily="34" charset="-120"/>
              </a:rPr>
              <a:t>La interfaz no es estética: hace operable y trazable la adquisición</a:t>
            </a:r>
            <a:endParaRPr lang="en-US" sz="2300" dirty="0"/>
          </a:p>
        </p:txBody>
      </p:sp>
      <p:sp>
        <p:nvSpPr>
          <p:cNvPr id="4" name="Text 2"/>
          <p:cNvSpPr/>
          <p:nvPr/>
        </p:nvSpPr>
        <p:spPr>
          <a:xfrm>
            <a:off x="10058400" y="201168"/>
            <a:ext cx="1737360" cy="228600"/>
          </a:xfrm>
          <a:prstGeom prst="rect">
            <a:avLst/>
          </a:prstGeom>
          <a:noFill/>
          <a:ln/>
        </p:spPr>
        <p:txBody>
          <a:bodyPr wrap="square" lIns="0" tIns="0" rIns="0" bIns="0" rtlCol="0" anchor="ctr">
            <a:normAutofit/>
          </a:bodyPr>
          <a:lstStyle/>
          <a:p>
            <a:pPr algn="r" indent="0" marL="0">
              <a:buNone/>
            </a:pPr>
            <a:r>
              <a:rPr lang="en-US" sz="850" dirty="0">
                <a:solidFill>
                  <a:srgbClr val="B8C4EA"/>
                </a:solidFill>
                <a:latin typeface="Aptos" pitchFamily="34" charset="0"/>
                <a:ea typeface="Aptos" pitchFamily="34" charset="-122"/>
                <a:cs typeface="Aptos" pitchFamily="34" charset="-120"/>
              </a:rPr>
              <a:t>Interfaces</a:t>
            </a:r>
            <a:endParaRPr lang="en-US" sz="850" dirty="0"/>
          </a:p>
        </p:txBody>
      </p:sp>
      <p:sp>
        <p:nvSpPr>
          <p:cNvPr id="5" name="Shape 3"/>
          <p:cNvSpPr/>
          <p:nvPr/>
        </p:nvSpPr>
        <p:spPr>
          <a:xfrm>
            <a:off x="502920" y="5989320"/>
            <a:ext cx="1543115" cy="310896"/>
          </a:xfrm>
          <a:prstGeom prst="roundRect">
            <a:avLst>
              <a:gd name="adj" fmla="val 11765"/>
            </a:avLst>
          </a:prstGeom>
          <a:solidFill>
            <a:srgbClr val="DEE5F2"/>
          </a:solidFill>
          <a:ln w="12700">
            <a:solidFill>
              <a:srgbClr val="DEE5F2"/>
            </a:solidFill>
            <a:prstDash val="solid"/>
          </a:ln>
        </p:spPr>
      </p:sp>
      <p:sp>
        <p:nvSpPr>
          <p:cNvPr id="6" name="Text 4"/>
          <p:cNvSpPr/>
          <p:nvPr/>
        </p:nvSpPr>
        <p:spPr>
          <a:xfrm>
            <a:off x="530352"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Fuente</a:t>
            </a:r>
            <a:endParaRPr lang="en-US" sz="740" dirty="0"/>
          </a:p>
        </p:txBody>
      </p:sp>
      <p:sp>
        <p:nvSpPr>
          <p:cNvPr id="7" name="Shape 5"/>
          <p:cNvSpPr/>
          <p:nvPr/>
        </p:nvSpPr>
        <p:spPr>
          <a:xfrm>
            <a:off x="2110043" y="5989320"/>
            <a:ext cx="1543115" cy="310896"/>
          </a:xfrm>
          <a:prstGeom prst="roundRect">
            <a:avLst>
              <a:gd name="adj" fmla="val 11765"/>
            </a:avLst>
          </a:prstGeom>
          <a:solidFill>
            <a:srgbClr val="DEE5F2"/>
          </a:solidFill>
          <a:ln w="12700">
            <a:solidFill>
              <a:srgbClr val="DEE5F2"/>
            </a:solidFill>
            <a:prstDash val="solid"/>
          </a:ln>
        </p:spPr>
      </p:sp>
      <p:sp>
        <p:nvSpPr>
          <p:cNvPr id="8" name="Text 6"/>
          <p:cNvSpPr/>
          <p:nvPr/>
        </p:nvSpPr>
        <p:spPr>
          <a:xfrm>
            <a:off x="2137475"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Sensor</a:t>
            </a:r>
            <a:endParaRPr lang="en-US" sz="740" dirty="0"/>
          </a:p>
        </p:txBody>
      </p:sp>
      <p:sp>
        <p:nvSpPr>
          <p:cNvPr id="9" name="Shape 7"/>
          <p:cNvSpPr/>
          <p:nvPr/>
        </p:nvSpPr>
        <p:spPr>
          <a:xfrm>
            <a:off x="3717167" y="5989320"/>
            <a:ext cx="1543115" cy="310896"/>
          </a:xfrm>
          <a:prstGeom prst="roundRect">
            <a:avLst>
              <a:gd name="adj" fmla="val 11765"/>
            </a:avLst>
          </a:prstGeom>
          <a:solidFill>
            <a:srgbClr val="DEE5F2"/>
          </a:solidFill>
          <a:ln w="12700">
            <a:solidFill>
              <a:srgbClr val="DEE5F2"/>
            </a:solidFill>
            <a:prstDash val="solid"/>
          </a:ln>
        </p:spPr>
      </p:sp>
      <p:sp>
        <p:nvSpPr>
          <p:cNvPr id="10" name="Text 8"/>
          <p:cNvSpPr/>
          <p:nvPr/>
        </p:nvSpPr>
        <p:spPr>
          <a:xfrm>
            <a:off x="3744599"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AFE/ADC</a:t>
            </a:r>
            <a:endParaRPr lang="en-US" sz="740" dirty="0"/>
          </a:p>
        </p:txBody>
      </p:sp>
      <p:sp>
        <p:nvSpPr>
          <p:cNvPr id="11" name="Shape 9"/>
          <p:cNvSpPr/>
          <p:nvPr/>
        </p:nvSpPr>
        <p:spPr>
          <a:xfrm>
            <a:off x="5324290" y="5989320"/>
            <a:ext cx="1543115" cy="310896"/>
          </a:xfrm>
          <a:prstGeom prst="roundRect">
            <a:avLst>
              <a:gd name="adj" fmla="val 11765"/>
            </a:avLst>
          </a:prstGeom>
          <a:solidFill>
            <a:srgbClr val="DEE5F2"/>
          </a:solidFill>
          <a:ln w="12700">
            <a:solidFill>
              <a:srgbClr val="DEE5F2"/>
            </a:solidFill>
            <a:prstDash val="solid"/>
          </a:ln>
        </p:spPr>
      </p:sp>
      <p:sp>
        <p:nvSpPr>
          <p:cNvPr id="12" name="Text 10"/>
          <p:cNvSpPr/>
          <p:nvPr/>
        </p:nvSpPr>
        <p:spPr>
          <a:xfrm>
            <a:off x="5351722"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Sync/Red</a:t>
            </a:r>
            <a:endParaRPr lang="en-US" sz="740" dirty="0"/>
          </a:p>
        </p:txBody>
      </p:sp>
      <p:sp>
        <p:nvSpPr>
          <p:cNvPr id="13" name="Shape 11"/>
          <p:cNvSpPr/>
          <p:nvPr/>
        </p:nvSpPr>
        <p:spPr>
          <a:xfrm>
            <a:off x="6931413" y="5989320"/>
            <a:ext cx="1543115" cy="310896"/>
          </a:xfrm>
          <a:prstGeom prst="roundRect">
            <a:avLst>
              <a:gd name="adj" fmla="val 11765"/>
            </a:avLst>
          </a:prstGeom>
          <a:solidFill>
            <a:srgbClr val="F28C28"/>
          </a:solidFill>
          <a:ln w="12700">
            <a:solidFill>
              <a:srgbClr val="F28C28"/>
            </a:solidFill>
            <a:prstDash val="solid"/>
          </a:ln>
        </p:spPr>
      </p:sp>
      <p:sp>
        <p:nvSpPr>
          <p:cNvPr id="14" name="Text 12"/>
          <p:cNvSpPr/>
          <p:nvPr/>
        </p:nvSpPr>
        <p:spPr>
          <a:xfrm>
            <a:off x="6958845"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FFFFFF"/>
                </a:solidFill>
              </a:rPr>
              <a:t>Interfaces</a:t>
            </a:r>
            <a:endParaRPr lang="en-US" sz="740" dirty="0"/>
          </a:p>
        </p:txBody>
      </p:sp>
      <p:sp>
        <p:nvSpPr>
          <p:cNvPr id="15" name="Shape 13"/>
          <p:cNvSpPr/>
          <p:nvPr/>
        </p:nvSpPr>
        <p:spPr>
          <a:xfrm>
            <a:off x="8538537" y="5989320"/>
            <a:ext cx="1543115" cy="310896"/>
          </a:xfrm>
          <a:prstGeom prst="roundRect">
            <a:avLst>
              <a:gd name="adj" fmla="val 11765"/>
            </a:avLst>
          </a:prstGeom>
          <a:solidFill>
            <a:srgbClr val="DEE5F2"/>
          </a:solidFill>
          <a:ln w="12700">
            <a:solidFill>
              <a:srgbClr val="DEE5F2"/>
            </a:solidFill>
            <a:prstDash val="solid"/>
          </a:ln>
        </p:spPr>
      </p:sp>
      <p:sp>
        <p:nvSpPr>
          <p:cNvPr id="16" name="Text 14"/>
          <p:cNvSpPr/>
          <p:nvPr/>
        </p:nvSpPr>
        <p:spPr>
          <a:xfrm>
            <a:off x="8565969"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MASW</a:t>
            </a:r>
            <a:endParaRPr lang="en-US" sz="740" dirty="0"/>
          </a:p>
        </p:txBody>
      </p:sp>
      <p:sp>
        <p:nvSpPr>
          <p:cNvPr id="17" name="Shape 15"/>
          <p:cNvSpPr/>
          <p:nvPr/>
        </p:nvSpPr>
        <p:spPr>
          <a:xfrm>
            <a:off x="10145660" y="5989320"/>
            <a:ext cx="1543115" cy="310896"/>
          </a:xfrm>
          <a:prstGeom prst="roundRect">
            <a:avLst>
              <a:gd name="adj" fmla="val 11765"/>
            </a:avLst>
          </a:prstGeom>
          <a:solidFill>
            <a:srgbClr val="DEE5F2"/>
          </a:solidFill>
          <a:ln w="12700">
            <a:solidFill>
              <a:srgbClr val="DEE5F2"/>
            </a:solidFill>
            <a:prstDash val="solid"/>
          </a:ln>
        </p:spPr>
      </p:sp>
      <p:sp>
        <p:nvSpPr>
          <p:cNvPr id="18" name="Text 16"/>
          <p:cNvSpPr/>
          <p:nvPr/>
        </p:nvSpPr>
        <p:spPr>
          <a:xfrm>
            <a:off x="10173092"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Inversión</a:t>
            </a:r>
            <a:endParaRPr lang="en-US" sz="740" dirty="0"/>
          </a:p>
        </p:txBody>
      </p:sp>
      <p:pic>
        <p:nvPicPr>
          <p:cNvPr id="19" name="Image 0" descr="/mnt/data/pptx_unzip/ppt/media/image70.png">    </p:cNvPr>
          <p:cNvPicPr>
            <a:picLocks noChangeAspect="1"/>
          </p:cNvPicPr>
          <p:nvPr/>
        </p:nvPicPr>
        <p:blipFill>
          <a:blip r:embed="rId1"/>
          <a:srcRect l="14748" r="14748" t="0" b="0"/>
          <a:stretch/>
        </p:blipFill>
        <p:spPr>
          <a:xfrm>
            <a:off x="502920" y="914400"/>
            <a:ext cx="5440680" cy="4343400"/>
          </a:xfrm>
          <a:prstGeom prst="rect">
            <a:avLst/>
          </a:prstGeom>
        </p:spPr>
      </p:pic>
      <p:pic>
        <p:nvPicPr>
          <p:cNvPr id="20" name="Image 1" descr="/mnt/data/pptx_unzip/ppt/media/image71.jpg">    </p:cNvPr>
          <p:cNvPicPr>
            <a:picLocks noChangeAspect="1"/>
          </p:cNvPicPr>
          <p:nvPr/>
        </p:nvPicPr>
        <p:blipFill>
          <a:blip r:embed="rId2"/>
          <a:srcRect l="14748" r="14748" t="0" b="0"/>
          <a:stretch/>
        </p:blipFill>
        <p:spPr>
          <a:xfrm>
            <a:off x="6263640" y="914400"/>
            <a:ext cx="5440680" cy="4343400"/>
          </a:xfrm>
          <a:prstGeom prst="rect">
            <a:avLst/>
          </a:prstGeom>
        </p:spPr>
      </p:pic>
      <p:sp>
        <p:nvSpPr>
          <p:cNvPr id="21" name="Shape 17"/>
          <p:cNvSpPr/>
          <p:nvPr/>
        </p:nvSpPr>
        <p:spPr>
          <a:xfrm>
            <a:off x="914400" y="5440680"/>
            <a:ext cx="4754880" cy="438912"/>
          </a:xfrm>
          <a:prstGeom prst="roundRect">
            <a:avLst>
              <a:gd name="adj" fmla="val 16667"/>
            </a:avLst>
          </a:prstGeom>
          <a:solidFill>
            <a:srgbClr val="17225C"/>
          </a:solidFill>
          <a:ln w="12700">
            <a:solidFill>
              <a:srgbClr val="17225C">
                <a:alpha val="0"/>
              </a:srgbClr>
            </a:solidFill>
            <a:prstDash val="solid"/>
          </a:ln>
        </p:spPr>
      </p:sp>
      <p:sp>
        <p:nvSpPr>
          <p:cNvPr id="22" name="Text 18"/>
          <p:cNvSpPr/>
          <p:nvPr/>
        </p:nvSpPr>
        <p:spPr>
          <a:xfrm>
            <a:off x="1078992" y="5541264"/>
            <a:ext cx="4425696" cy="256032"/>
          </a:xfrm>
          <a:prstGeom prst="rect">
            <a:avLst/>
          </a:prstGeom>
          <a:noFill/>
          <a:ln/>
        </p:spPr>
        <p:txBody>
          <a:bodyPr wrap="square" lIns="0" tIns="0" rIns="0" bIns="0" rtlCol="0" anchor="ctr">
            <a:normAutofit/>
          </a:bodyPr>
          <a:lstStyle/>
          <a:p>
            <a:pPr indent="0" marL="0">
              <a:buNone/>
            </a:pPr>
            <a:r>
              <a:rPr lang="en-US" sz="1340" b="1" dirty="0">
                <a:solidFill>
                  <a:srgbClr val="FFFFFF"/>
                </a:solidFill>
                <a:latin typeface="Aptos" pitchFamily="34" charset="0"/>
                <a:ea typeface="Aptos" pitchFamily="34" charset="-122"/>
                <a:cs typeface="Aptos" pitchFamily="34" charset="-120"/>
              </a:rPr>
              <a:t>Campo: configurar, calibrar, capturar, revisar.</a:t>
            </a:r>
            <a:endParaRPr lang="en-US" sz="1340" dirty="0"/>
          </a:p>
        </p:txBody>
      </p:sp>
      <p:sp>
        <p:nvSpPr>
          <p:cNvPr id="23" name="Shape 19"/>
          <p:cNvSpPr/>
          <p:nvPr/>
        </p:nvSpPr>
        <p:spPr>
          <a:xfrm>
            <a:off x="6720840" y="5440680"/>
            <a:ext cx="4572000" cy="438912"/>
          </a:xfrm>
          <a:prstGeom prst="roundRect">
            <a:avLst>
              <a:gd name="adj" fmla="val 16667"/>
            </a:avLst>
          </a:prstGeom>
          <a:solidFill>
            <a:srgbClr val="17225C"/>
          </a:solidFill>
          <a:ln w="12700">
            <a:solidFill>
              <a:srgbClr val="17225C">
                <a:alpha val="0"/>
              </a:srgbClr>
            </a:solidFill>
            <a:prstDash val="solid"/>
          </a:ln>
        </p:spPr>
      </p:sp>
      <p:sp>
        <p:nvSpPr>
          <p:cNvPr id="24" name="Text 20"/>
          <p:cNvSpPr/>
          <p:nvPr/>
        </p:nvSpPr>
        <p:spPr>
          <a:xfrm>
            <a:off x="6885432" y="5541264"/>
            <a:ext cx="4242816" cy="256032"/>
          </a:xfrm>
          <a:prstGeom prst="rect">
            <a:avLst/>
          </a:prstGeom>
          <a:noFill/>
          <a:ln/>
        </p:spPr>
        <p:txBody>
          <a:bodyPr wrap="square" lIns="0" tIns="0" rIns="0" bIns="0" rtlCol="0" anchor="ctr">
            <a:normAutofit/>
          </a:bodyPr>
          <a:lstStyle/>
          <a:p>
            <a:pPr indent="0" marL="0">
              <a:buNone/>
            </a:pPr>
            <a:r>
              <a:rPr lang="en-US" sz="1340" b="1" dirty="0">
                <a:solidFill>
                  <a:srgbClr val="FFFFFF"/>
                </a:solidFill>
                <a:latin typeface="Aptos" pitchFamily="34" charset="0"/>
                <a:ea typeface="Aptos" pitchFamily="34" charset="-122"/>
                <a:cs typeface="Aptos" pitchFamily="34" charset="-120"/>
              </a:rPr>
              <a:t>Servidor: validar, agrupar, alinear, invertir.</a:t>
            </a:r>
            <a:endParaRPr lang="en-US" sz="1340" dirty="0"/>
          </a:p>
        </p:txBody>
      </p:sp>
      <p:sp>
        <p:nvSpPr>
          <p:cNvPr id="25" name="Text 21"/>
          <p:cNvSpPr/>
          <p:nvPr/>
        </p:nvSpPr>
        <p:spPr>
          <a:xfrm>
            <a:off x="411480" y="6565392"/>
            <a:ext cx="11155680" cy="146304"/>
          </a:xfrm>
          <a:prstGeom prst="rect">
            <a:avLst/>
          </a:prstGeom>
          <a:noFill/>
          <a:ln/>
        </p:spPr>
        <p:txBody>
          <a:bodyPr wrap="square" lIns="0" tIns="0" rIns="0" bIns="0" rtlCol="0" anchor="ctr">
            <a:normAutofit/>
          </a:bodyPr>
          <a:lstStyle/>
          <a:p>
            <a:pPr indent="0" marL="0">
              <a:buNone/>
            </a:pPr>
            <a:r>
              <a:rPr lang="en-US" sz="650" dirty="0">
                <a:solidFill>
                  <a:srgbClr val="5B6472"/>
                </a:solidFill>
                <a:latin typeface="Aptos" pitchFamily="34" charset="0"/>
                <a:ea typeface="Aptos" pitchFamily="34" charset="-122"/>
                <a:cs typeface="Aptos" pitchFamily="34" charset="-120"/>
              </a:rPr>
              <a:t>Fuente: main(3).pdf, Fig. 8–9; interfaces web propias.</a:t>
            </a:r>
            <a:endParaRPr lang="en-US" sz="6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17225C"/>
          </a:solidFill>
          <a:ln w="12700">
            <a:solidFill>
              <a:srgbClr val="17225C"/>
            </a:solidFill>
            <a:prstDash val="solid"/>
          </a:ln>
        </p:spPr>
      </p:sp>
      <p:sp>
        <p:nvSpPr>
          <p:cNvPr id="3" name="Text 1"/>
          <p:cNvSpPr/>
          <p:nvPr/>
        </p:nvSpPr>
        <p:spPr>
          <a:xfrm>
            <a:off x="411480" y="137160"/>
            <a:ext cx="9418320" cy="365760"/>
          </a:xfrm>
          <a:prstGeom prst="rect">
            <a:avLst/>
          </a:prstGeom>
          <a:noFill/>
          <a:ln/>
        </p:spPr>
        <p:txBody>
          <a:bodyPr wrap="square" lIns="0" tIns="0" rIns="0" bIns="0" rtlCol="0" anchor="ctr">
            <a:normAutofit/>
          </a:bodyPr>
          <a:lstStyle/>
          <a:p>
            <a:pPr indent="0" marL="0">
              <a:buNone/>
            </a:pPr>
            <a:r>
              <a:rPr lang="en-US" sz="2300" b="1" dirty="0">
                <a:solidFill>
                  <a:srgbClr val="FFFFFF"/>
                </a:solidFill>
                <a:latin typeface="Aptos Display" pitchFamily="34" charset="0"/>
                <a:ea typeface="Aptos Display" pitchFamily="34" charset="-122"/>
                <a:cs typeface="Aptos Display" pitchFamily="34" charset="-120"/>
              </a:rPr>
              <a:t>Datos reales: la cadena ya produce registros multicanal analizables</a:t>
            </a:r>
            <a:endParaRPr lang="en-US" sz="2300" dirty="0"/>
          </a:p>
        </p:txBody>
      </p:sp>
      <p:sp>
        <p:nvSpPr>
          <p:cNvPr id="4" name="Text 2"/>
          <p:cNvSpPr/>
          <p:nvPr/>
        </p:nvSpPr>
        <p:spPr>
          <a:xfrm>
            <a:off x="10058400" y="201168"/>
            <a:ext cx="1737360" cy="228600"/>
          </a:xfrm>
          <a:prstGeom prst="rect">
            <a:avLst/>
          </a:prstGeom>
          <a:noFill/>
          <a:ln/>
        </p:spPr>
        <p:txBody>
          <a:bodyPr wrap="square" lIns="0" tIns="0" rIns="0" bIns="0" rtlCol="0" anchor="ctr">
            <a:normAutofit/>
          </a:bodyPr>
          <a:lstStyle/>
          <a:p>
            <a:pPr algn="r" indent="0" marL="0">
              <a:buNone/>
            </a:pPr>
            <a:r>
              <a:rPr lang="en-US" sz="850" dirty="0">
                <a:solidFill>
                  <a:srgbClr val="B8C4EA"/>
                </a:solidFill>
                <a:latin typeface="Aptos" pitchFamily="34" charset="0"/>
                <a:ea typeface="Aptos" pitchFamily="34" charset="-122"/>
                <a:cs typeface="Aptos" pitchFamily="34" charset="-120"/>
              </a:rPr>
              <a:t>Resultados</a:t>
            </a:r>
            <a:endParaRPr lang="en-US" sz="850" dirty="0"/>
          </a:p>
        </p:txBody>
      </p:sp>
      <p:sp>
        <p:nvSpPr>
          <p:cNvPr id="5" name="Shape 3"/>
          <p:cNvSpPr/>
          <p:nvPr/>
        </p:nvSpPr>
        <p:spPr>
          <a:xfrm>
            <a:off x="502920" y="5989320"/>
            <a:ext cx="1543115" cy="310896"/>
          </a:xfrm>
          <a:prstGeom prst="roundRect">
            <a:avLst>
              <a:gd name="adj" fmla="val 11765"/>
            </a:avLst>
          </a:prstGeom>
          <a:solidFill>
            <a:srgbClr val="DEE5F2"/>
          </a:solidFill>
          <a:ln w="12700">
            <a:solidFill>
              <a:srgbClr val="DEE5F2"/>
            </a:solidFill>
            <a:prstDash val="solid"/>
          </a:ln>
        </p:spPr>
      </p:sp>
      <p:sp>
        <p:nvSpPr>
          <p:cNvPr id="6" name="Text 4"/>
          <p:cNvSpPr/>
          <p:nvPr/>
        </p:nvSpPr>
        <p:spPr>
          <a:xfrm>
            <a:off x="530352"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Fuente</a:t>
            </a:r>
            <a:endParaRPr lang="en-US" sz="740" dirty="0"/>
          </a:p>
        </p:txBody>
      </p:sp>
      <p:sp>
        <p:nvSpPr>
          <p:cNvPr id="7" name="Shape 5"/>
          <p:cNvSpPr/>
          <p:nvPr/>
        </p:nvSpPr>
        <p:spPr>
          <a:xfrm>
            <a:off x="2110043" y="5989320"/>
            <a:ext cx="1543115" cy="310896"/>
          </a:xfrm>
          <a:prstGeom prst="roundRect">
            <a:avLst>
              <a:gd name="adj" fmla="val 11765"/>
            </a:avLst>
          </a:prstGeom>
          <a:solidFill>
            <a:srgbClr val="DEE5F2"/>
          </a:solidFill>
          <a:ln w="12700">
            <a:solidFill>
              <a:srgbClr val="DEE5F2"/>
            </a:solidFill>
            <a:prstDash val="solid"/>
          </a:ln>
        </p:spPr>
      </p:sp>
      <p:sp>
        <p:nvSpPr>
          <p:cNvPr id="8" name="Text 6"/>
          <p:cNvSpPr/>
          <p:nvPr/>
        </p:nvSpPr>
        <p:spPr>
          <a:xfrm>
            <a:off x="2137475"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Sensor</a:t>
            </a:r>
            <a:endParaRPr lang="en-US" sz="740" dirty="0"/>
          </a:p>
        </p:txBody>
      </p:sp>
      <p:sp>
        <p:nvSpPr>
          <p:cNvPr id="9" name="Shape 7"/>
          <p:cNvSpPr/>
          <p:nvPr/>
        </p:nvSpPr>
        <p:spPr>
          <a:xfrm>
            <a:off x="3717167" y="5989320"/>
            <a:ext cx="1543115" cy="310896"/>
          </a:xfrm>
          <a:prstGeom prst="roundRect">
            <a:avLst>
              <a:gd name="adj" fmla="val 11765"/>
            </a:avLst>
          </a:prstGeom>
          <a:solidFill>
            <a:srgbClr val="DEE5F2"/>
          </a:solidFill>
          <a:ln w="12700">
            <a:solidFill>
              <a:srgbClr val="DEE5F2"/>
            </a:solidFill>
            <a:prstDash val="solid"/>
          </a:ln>
        </p:spPr>
      </p:sp>
      <p:sp>
        <p:nvSpPr>
          <p:cNvPr id="10" name="Text 8"/>
          <p:cNvSpPr/>
          <p:nvPr/>
        </p:nvSpPr>
        <p:spPr>
          <a:xfrm>
            <a:off x="3744599"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AFE/ADC</a:t>
            </a:r>
            <a:endParaRPr lang="en-US" sz="740" dirty="0"/>
          </a:p>
        </p:txBody>
      </p:sp>
      <p:sp>
        <p:nvSpPr>
          <p:cNvPr id="11" name="Shape 9"/>
          <p:cNvSpPr/>
          <p:nvPr/>
        </p:nvSpPr>
        <p:spPr>
          <a:xfrm>
            <a:off x="5324290" y="5989320"/>
            <a:ext cx="1543115" cy="310896"/>
          </a:xfrm>
          <a:prstGeom prst="roundRect">
            <a:avLst>
              <a:gd name="adj" fmla="val 11765"/>
            </a:avLst>
          </a:prstGeom>
          <a:solidFill>
            <a:srgbClr val="DEE5F2"/>
          </a:solidFill>
          <a:ln w="12700">
            <a:solidFill>
              <a:srgbClr val="DEE5F2"/>
            </a:solidFill>
            <a:prstDash val="solid"/>
          </a:ln>
        </p:spPr>
      </p:sp>
      <p:sp>
        <p:nvSpPr>
          <p:cNvPr id="12" name="Text 10"/>
          <p:cNvSpPr/>
          <p:nvPr/>
        </p:nvSpPr>
        <p:spPr>
          <a:xfrm>
            <a:off x="5351722"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Sync/Red</a:t>
            </a:r>
            <a:endParaRPr lang="en-US" sz="740" dirty="0"/>
          </a:p>
        </p:txBody>
      </p:sp>
      <p:sp>
        <p:nvSpPr>
          <p:cNvPr id="13" name="Shape 11"/>
          <p:cNvSpPr/>
          <p:nvPr/>
        </p:nvSpPr>
        <p:spPr>
          <a:xfrm>
            <a:off x="6931413" y="5989320"/>
            <a:ext cx="1543115" cy="310896"/>
          </a:xfrm>
          <a:prstGeom prst="roundRect">
            <a:avLst>
              <a:gd name="adj" fmla="val 11765"/>
            </a:avLst>
          </a:prstGeom>
          <a:solidFill>
            <a:srgbClr val="DEE5F2"/>
          </a:solidFill>
          <a:ln w="12700">
            <a:solidFill>
              <a:srgbClr val="DEE5F2"/>
            </a:solidFill>
            <a:prstDash val="solid"/>
          </a:ln>
        </p:spPr>
      </p:sp>
      <p:sp>
        <p:nvSpPr>
          <p:cNvPr id="14" name="Text 12"/>
          <p:cNvSpPr/>
          <p:nvPr/>
        </p:nvSpPr>
        <p:spPr>
          <a:xfrm>
            <a:off x="6958845"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Interfaces</a:t>
            </a:r>
            <a:endParaRPr lang="en-US" sz="740" dirty="0"/>
          </a:p>
        </p:txBody>
      </p:sp>
      <p:sp>
        <p:nvSpPr>
          <p:cNvPr id="15" name="Shape 13"/>
          <p:cNvSpPr/>
          <p:nvPr/>
        </p:nvSpPr>
        <p:spPr>
          <a:xfrm>
            <a:off x="8538537" y="5989320"/>
            <a:ext cx="1543115" cy="310896"/>
          </a:xfrm>
          <a:prstGeom prst="roundRect">
            <a:avLst>
              <a:gd name="adj" fmla="val 11765"/>
            </a:avLst>
          </a:prstGeom>
          <a:solidFill>
            <a:srgbClr val="F28C28"/>
          </a:solidFill>
          <a:ln w="12700">
            <a:solidFill>
              <a:srgbClr val="F28C28"/>
            </a:solidFill>
            <a:prstDash val="solid"/>
          </a:ln>
        </p:spPr>
      </p:sp>
      <p:sp>
        <p:nvSpPr>
          <p:cNvPr id="16" name="Text 14"/>
          <p:cNvSpPr/>
          <p:nvPr/>
        </p:nvSpPr>
        <p:spPr>
          <a:xfrm>
            <a:off x="8565969"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FFFFFF"/>
                </a:solidFill>
              </a:rPr>
              <a:t>MASW</a:t>
            </a:r>
            <a:endParaRPr lang="en-US" sz="740" dirty="0"/>
          </a:p>
        </p:txBody>
      </p:sp>
      <p:sp>
        <p:nvSpPr>
          <p:cNvPr id="17" name="Shape 15"/>
          <p:cNvSpPr/>
          <p:nvPr/>
        </p:nvSpPr>
        <p:spPr>
          <a:xfrm>
            <a:off x="10145660" y="5989320"/>
            <a:ext cx="1543115" cy="310896"/>
          </a:xfrm>
          <a:prstGeom prst="roundRect">
            <a:avLst>
              <a:gd name="adj" fmla="val 11765"/>
            </a:avLst>
          </a:prstGeom>
          <a:solidFill>
            <a:srgbClr val="DEE5F2"/>
          </a:solidFill>
          <a:ln w="12700">
            <a:solidFill>
              <a:srgbClr val="DEE5F2"/>
            </a:solidFill>
            <a:prstDash val="solid"/>
          </a:ln>
        </p:spPr>
      </p:sp>
      <p:sp>
        <p:nvSpPr>
          <p:cNvPr id="18" name="Text 16"/>
          <p:cNvSpPr/>
          <p:nvPr/>
        </p:nvSpPr>
        <p:spPr>
          <a:xfrm>
            <a:off x="10173092"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Inversión</a:t>
            </a:r>
            <a:endParaRPr lang="en-US" sz="740" dirty="0"/>
          </a:p>
        </p:txBody>
      </p:sp>
      <p:pic>
        <p:nvPicPr>
          <p:cNvPr id="19" name="Image 0" descr="/mnt/data/pptx_unzip/ppt/media/image78.png">    </p:cNvPr>
          <p:cNvPicPr>
            <a:picLocks noChangeAspect="1"/>
          </p:cNvPicPr>
          <p:nvPr/>
        </p:nvPicPr>
        <p:blipFill>
          <a:blip r:embed="rId1"/>
          <a:stretch>
            <a:fillRect/>
          </a:stretch>
        </p:blipFill>
        <p:spPr>
          <a:xfrm>
            <a:off x="502920" y="1394706"/>
            <a:ext cx="5257800" cy="3199908"/>
          </a:xfrm>
          <a:prstGeom prst="rect">
            <a:avLst/>
          </a:prstGeom>
        </p:spPr>
      </p:pic>
      <p:pic>
        <p:nvPicPr>
          <p:cNvPr id="20" name="Image 1" descr="/mnt/data/pptx_unzip/ppt/media/image77.png">    </p:cNvPr>
          <p:cNvPicPr>
            <a:picLocks noChangeAspect="1"/>
          </p:cNvPicPr>
          <p:nvPr/>
        </p:nvPicPr>
        <p:blipFill>
          <a:blip r:embed="rId2"/>
          <a:stretch>
            <a:fillRect/>
          </a:stretch>
        </p:blipFill>
        <p:spPr>
          <a:xfrm>
            <a:off x="7439477" y="777240"/>
            <a:ext cx="2586085" cy="4526280"/>
          </a:xfrm>
          <a:prstGeom prst="rect">
            <a:avLst/>
          </a:prstGeom>
        </p:spPr>
      </p:pic>
      <p:sp>
        <p:nvSpPr>
          <p:cNvPr id="21" name="Shape 17"/>
          <p:cNvSpPr/>
          <p:nvPr/>
        </p:nvSpPr>
        <p:spPr>
          <a:xfrm>
            <a:off x="1005840" y="5349240"/>
            <a:ext cx="10058400" cy="502920"/>
          </a:xfrm>
          <a:prstGeom prst="roundRect">
            <a:avLst>
              <a:gd name="adj" fmla="val 14545"/>
            </a:avLst>
          </a:prstGeom>
          <a:solidFill>
            <a:srgbClr val="17225C"/>
          </a:solidFill>
          <a:ln w="12700">
            <a:solidFill>
              <a:srgbClr val="17225C">
                <a:alpha val="0"/>
              </a:srgbClr>
            </a:solidFill>
            <a:prstDash val="solid"/>
          </a:ln>
        </p:spPr>
      </p:sp>
      <p:sp>
        <p:nvSpPr>
          <p:cNvPr id="22" name="Text 18"/>
          <p:cNvSpPr/>
          <p:nvPr/>
        </p:nvSpPr>
        <p:spPr>
          <a:xfrm>
            <a:off x="1170432" y="5449824"/>
            <a:ext cx="9729216" cy="320040"/>
          </a:xfrm>
          <a:prstGeom prst="rect">
            <a:avLst/>
          </a:prstGeom>
          <a:noFill/>
          <a:ln/>
        </p:spPr>
        <p:txBody>
          <a:bodyPr wrap="square" lIns="0" tIns="0" rIns="0" bIns="0" rtlCol="0" anchor="ctr">
            <a:normAutofit/>
          </a:bodyPr>
          <a:lstStyle/>
          <a:p>
            <a:pPr indent="0" marL="0">
              <a:buNone/>
            </a:pPr>
            <a:r>
              <a:rPr lang="en-US" sz="1450" b="1" dirty="0">
                <a:solidFill>
                  <a:srgbClr val="FFFFFF"/>
                </a:solidFill>
                <a:latin typeface="Aptos" pitchFamily="34" charset="0"/>
                <a:ea typeface="Aptos" pitchFamily="34" charset="-122"/>
                <a:cs typeface="Aptos" pitchFamily="34" charset="-120"/>
              </a:rPr>
              <a:t>No es una simulación del instrumento: son señales que pasaron por la cadena completa.</a:t>
            </a:r>
            <a:endParaRPr lang="en-US" sz="1450" dirty="0"/>
          </a:p>
        </p:txBody>
      </p:sp>
      <p:sp>
        <p:nvSpPr>
          <p:cNvPr id="23" name="Text 19"/>
          <p:cNvSpPr/>
          <p:nvPr/>
        </p:nvSpPr>
        <p:spPr>
          <a:xfrm>
            <a:off x="411480" y="6565392"/>
            <a:ext cx="11155680" cy="146304"/>
          </a:xfrm>
          <a:prstGeom prst="rect">
            <a:avLst/>
          </a:prstGeom>
          <a:noFill/>
          <a:ln/>
        </p:spPr>
        <p:txBody>
          <a:bodyPr wrap="square" lIns="0" tIns="0" rIns="0" bIns="0" rtlCol="0" anchor="ctr">
            <a:normAutofit/>
          </a:bodyPr>
          <a:lstStyle/>
          <a:p>
            <a:pPr indent="0" marL="0">
              <a:buNone/>
            </a:pPr>
            <a:r>
              <a:rPr lang="en-US" sz="650" dirty="0">
                <a:solidFill>
                  <a:srgbClr val="5B6472"/>
                </a:solidFill>
                <a:latin typeface="Aptos" pitchFamily="34" charset="0"/>
                <a:ea typeface="Aptos" pitchFamily="34" charset="-122"/>
                <a:cs typeface="Aptos" pitchFamily="34" charset="-120"/>
              </a:rPr>
              <a:t>Fuente: datos propios de campo; main(3).pdf, Fig. 10; campaña Canchita.</a:t>
            </a:r>
            <a:endParaRPr lang="en-US" sz="6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17225C"/>
          </a:solidFill>
          <a:ln w="12700">
            <a:solidFill>
              <a:srgbClr val="17225C"/>
            </a:solidFill>
            <a:prstDash val="solid"/>
          </a:ln>
        </p:spPr>
      </p:sp>
      <p:sp>
        <p:nvSpPr>
          <p:cNvPr id="3" name="Text 1"/>
          <p:cNvSpPr/>
          <p:nvPr/>
        </p:nvSpPr>
        <p:spPr>
          <a:xfrm>
            <a:off x="411480" y="137160"/>
            <a:ext cx="9418320" cy="365760"/>
          </a:xfrm>
          <a:prstGeom prst="rect">
            <a:avLst/>
          </a:prstGeom>
          <a:noFill/>
          <a:ln/>
        </p:spPr>
        <p:txBody>
          <a:bodyPr wrap="square" lIns="0" tIns="0" rIns="0" bIns="0" rtlCol="0" anchor="ctr">
            <a:normAutofit/>
          </a:bodyPr>
          <a:lstStyle/>
          <a:p>
            <a:pPr indent="0" marL="0">
              <a:buNone/>
            </a:pPr>
            <a:r>
              <a:rPr lang="en-US" sz="2300" b="1" dirty="0">
                <a:solidFill>
                  <a:srgbClr val="FFFFFF"/>
                </a:solidFill>
                <a:latin typeface="Aptos Display" pitchFamily="34" charset="0"/>
                <a:ea typeface="Aptos Display" pitchFamily="34" charset="-122"/>
                <a:cs typeface="Aptos Display" pitchFamily="34" charset="-120"/>
              </a:rPr>
              <a:t>La dispersión sólo es interpretable dentro de límites geométricos</a:t>
            </a:r>
            <a:endParaRPr lang="en-US" sz="2300" dirty="0"/>
          </a:p>
        </p:txBody>
      </p:sp>
      <p:sp>
        <p:nvSpPr>
          <p:cNvPr id="4" name="Text 2"/>
          <p:cNvSpPr/>
          <p:nvPr/>
        </p:nvSpPr>
        <p:spPr>
          <a:xfrm>
            <a:off x="10058400" y="201168"/>
            <a:ext cx="1737360" cy="228600"/>
          </a:xfrm>
          <a:prstGeom prst="rect">
            <a:avLst/>
          </a:prstGeom>
          <a:noFill/>
          <a:ln/>
        </p:spPr>
        <p:txBody>
          <a:bodyPr wrap="square" lIns="0" tIns="0" rIns="0" bIns="0" rtlCol="0" anchor="ctr">
            <a:normAutofit/>
          </a:bodyPr>
          <a:lstStyle/>
          <a:p>
            <a:pPr algn="r" indent="0" marL="0">
              <a:buNone/>
            </a:pPr>
            <a:r>
              <a:rPr lang="en-US" sz="850" dirty="0">
                <a:solidFill>
                  <a:srgbClr val="B8C4EA"/>
                </a:solidFill>
                <a:latin typeface="Aptos" pitchFamily="34" charset="0"/>
                <a:ea typeface="Aptos" pitchFamily="34" charset="-122"/>
                <a:cs typeface="Aptos" pitchFamily="34" charset="-120"/>
              </a:rPr>
              <a:t>Resultados</a:t>
            </a:r>
            <a:endParaRPr lang="en-US" sz="850" dirty="0"/>
          </a:p>
        </p:txBody>
      </p:sp>
      <p:sp>
        <p:nvSpPr>
          <p:cNvPr id="5" name="Shape 3"/>
          <p:cNvSpPr/>
          <p:nvPr/>
        </p:nvSpPr>
        <p:spPr>
          <a:xfrm>
            <a:off x="502920" y="5989320"/>
            <a:ext cx="1543115" cy="310896"/>
          </a:xfrm>
          <a:prstGeom prst="roundRect">
            <a:avLst>
              <a:gd name="adj" fmla="val 11765"/>
            </a:avLst>
          </a:prstGeom>
          <a:solidFill>
            <a:srgbClr val="DEE5F2"/>
          </a:solidFill>
          <a:ln w="12700">
            <a:solidFill>
              <a:srgbClr val="DEE5F2"/>
            </a:solidFill>
            <a:prstDash val="solid"/>
          </a:ln>
        </p:spPr>
      </p:sp>
      <p:sp>
        <p:nvSpPr>
          <p:cNvPr id="6" name="Text 4"/>
          <p:cNvSpPr/>
          <p:nvPr/>
        </p:nvSpPr>
        <p:spPr>
          <a:xfrm>
            <a:off x="530352"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Fuente</a:t>
            </a:r>
            <a:endParaRPr lang="en-US" sz="740" dirty="0"/>
          </a:p>
        </p:txBody>
      </p:sp>
      <p:sp>
        <p:nvSpPr>
          <p:cNvPr id="7" name="Shape 5"/>
          <p:cNvSpPr/>
          <p:nvPr/>
        </p:nvSpPr>
        <p:spPr>
          <a:xfrm>
            <a:off x="2110043" y="5989320"/>
            <a:ext cx="1543115" cy="310896"/>
          </a:xfrm>
          <a:prstGeom prst="roundRect">
            <a:avLst>
              <a:gd name="adj" fmla="val 11765"/>
            </a:avLst>
          </a:prstGeom>
          <a:solidFill>
            <a:srgbClr val="DEE5F2"/>
          </a:solidFill>
          <a:ln w="12700">
            <a:solidFill>
              <a:srgbClr val="DEE5F2"/>
            </a:solidFill>
            <a:prstDash val="solid"/>
          </a:ln>
        </p:spPr>
      </p:sp>
      <p:sp>
        <p:nvSpPr>
          <p:cNvPr id="8" name="Text 6"/>
          <p:cNvSpPr/>
          <p:nvPr/>
        </p:nvSpPr>
        <p:spPr>
          <a:xfrm>
            <a:off x="2137475"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Sensor</a:t>
            </a:r>
            <a:endParaRPr lang="en-US" sz="740" dirty="0"/>
          </a:p>
        </p:txBody>
      </p:sp>
      <p:sp>
        <p:nvSpPr>
          <p:cNvPr id="9" name="Shape 7"/>
          <p:cNvSpPr/>
          <p:nvPr/>
        </p:nvSpPr>
        <p:spPr>
          <a:xfrm>
            <a:off x="3717167" y="5989320"/>
            <a:ext cx="1543115" cy="310896"/>
          </a:xfrm>
          <a:prstGeom prst="roundRect">
            <a:avLst>
              <a:gd name="adj" fmla="val 11765"/>
            </a:avLst>
          </a:prstGeom>
          <a:solidFill>
            <a:srgbClr val="DEE5F2"/>
          </a:solidFill>
          <a:ln w="12700">
            <a:solidFill>
              <a:srgbClr val="DEE5F2"/>
            </a:solidFill>
            <a:prstDash val="solid"/>
          </a:ln>
        </p:spPr>
      </p:sp>
      <p:sp>
        <p:nvSpPr>
          <p:cNvPr id="10" name="Text 8"/>
          <p:cNvSpPr/>
          <p:nvPr/>
        </p:nvSpPr>
        <p:spPr>
          <a:xfrm>
            <a:off x="3744599"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AFE/ADC</a:t>
            </a:r>
            <a:endParaRPr lang="en-US" sz="740" dirty="0"/>
          </a:p>
        </p:txBody>
      </p:sp>
      <p:sp>
        <p:nvSpPr>
          <p:cNvPr id="11" name="Shape 9"/>
          <p:cNvSpPr/>
          <p:nvPr/>
        </p:nvSpPr>
        <p:spPr>
          <a:xfrm>
            <a:off x="5324290" y="5989320"/>
            <a:ext cx="1543115" cy="310896"/>
          </a:xfrm>
          <a:prstGeom prst="roundRect">
            <a:avLst>
              <a:gd name="adj" fmla="val 11765"/>
            </a:avLst>
          </a:prstGeom>
          <a:solidFill>
            <a:srgbClr val="DEE5F2"/>
          </a:solidFill>
          <a:ln w="12700">
            <a:solidFill>
              <a:srgbClr val="DEE5F2"/>
            </a:solidFill>
            <a:prstDash val="solid"/>
          </a:ln>
        </p:spPr>
      </p:sp>
      <p:sp>
        <p:nvSpPr>
          <p:cNvPr id="12" name="Text 10"/>
          <p:cNvSpPr/>
          <p:nvPr/>
        </p:nvSpPr>
        <p:spPr>
          <a:xfrm>
            <a:off x="5351722"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Sync/Red</a:t>
            </a:r>
            <a:endParaRPr lang="en-US" sz="740" dirty="0"/>
          </a:p>
        </p:txBody>
      </p:sp>
      <p:sp>
        <p:nvSpPr>
          <p:cNvPr id="13" name="Shape 11"/>
          <p:cNvSpPr/>
          <p:nvPr/>
        </p:nvSpPr>
        <p:spPr>
          <a:xfrm>
            <a:off x="6931413" y="5989320"/>
            <a:ext cx="1543115" cy="310896"/>
          </a:xfrm>
          <a:prstGeom prst="roundRect">
            <a:avLst>
              <a:gd name="adj" fmla="val 11765"/>
            </a:avLst>
          </a:prstGeom>
          <a:solidFill>
            <a:srgbClr val="DEE5F2"/>
          </a:solidFill>
          <a:ln w="12700">
            <a:solidFill>
              <a:srgbClr val="DEE5F2"/>
            </a:solidFill>
            <a:prstDash val="solid"/>
          </a:ln>
        </p:spPr>
      </p:sp>
      <p:sp>
        <p:nvSpPr>
          <p:cNvPr id="14" name="Text 12"/>
          <p:cNvSpPr/>
          <p:nvPr/>
        </p:nvSpPr>
        <p:spPr>
          <a:xfrm>
            <a:off x="6958845"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Interfaces</a:t>
            </a:r>
            <a:endParaRPr lang="en-US" sz="740" dirty="0"/>
          </a:p>
        </p:txBody>
      </p:sp>
      <p:sp>
        <p:nvSpPr>
          <p:cNvPr id="15" name="Shape 13"/>
          <p:cNvSpPr/>
          <p:nvPr/>
        </p:nvSpPr>
        <p:spPr>
          <a:xfrm>
            <a:off x="8538537" y="5989320"/>
            <a:ext cx="1543115" cy="310896"/>
          </a:xfrm>
          <a:prstGeom prst="roundRect">
            <a:avLst>
              <a:gd name="adj" fmla="val 11765"/>
            </a:avLst>
          </a:prstGeom>
          <a:solidFill>
            <a:srgbClr val="F28C28"/>
          </a:solidFill>
          <a:ln w="12700">
            <a:solidFill>
              <a:srgbClr val="F28C28"/>
            </a:solidFill>
            <a:prstDash val="solid"/>
          </a:ln>
        </p:spPr>
      </p:sp>
      <p:sp>
        <p:nvSpPr>
          <p:cNvPr id="16" name="Text 14"/>
          <p:cNvSpPr/>
          <p:nvPr/>
        </p:nvSpPr>
        <p:spPr>
          <a:xfrm>
            <a:off x="8565969"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FFFFFF"/>
                </a:solidFill>
              </a:rPr>
              <a:t>MASW</a:t>
            </a:r>
            <a:endParaRPr lang="en-US" sz="740" dirty="0"/>
          </a:p>
        </p:txBody>
      </p:sp>
      <p:sp>
        <p:nvSpPr>
          <p:cNvPr id="17" name="Shape 15"/>
          <p:cNvSpPr/>
          <p:nvPr/>
        </p:nvSpPr>
        <p:spPr>
          <a:xfrm>
            <a:off x="10145660" y="5989320"/>
            <a:ext cx="1543115" cy="310896"/>
          </a:xfrm>
          <a:prstGeom prst="roundRect">
            <a:avLst>
              <a:gd name="adj" fmla="val 11765"/>
            </a:avLst>
          </a:prstGeom>
          <a:solidFill>
            <a:srgbClr val="DEE5F2"/>
          </a:solidFill>
          <a:ln w="12700">
            <a:solidFill>
              <a:srgbClr val="DEE5F2"/>
            </a:solidFill>
            <a:prstDash val="solid"/>
          </a:ln>
        </p:spPr>
      </p:sp>
      <p:sp>
        <p:nvSpPr>
          <p:cNvPr id="18" name="Text 16"/>
          <p:cNvSpPr/>
          <p:nvPr/>
        </p:nvSpPr>
        <p:spPr>
          <a:xfrm>
            <a:off x="10173092"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Inversión</a:t>
            </a:r>
            <a:endParaRPr lang="en-US" sz="740" dirty="0"/>
          </a:p>
        </p:txBody>
      </p:sp>
      <p:pic>
        <p:nvPicPr>
          <p:cNvPr id="19" name="Image 0" descr="/mnt/data/pptx_unzip/ppt/media/image77.png">    </p:cNvPr>
          <p:cNvPicPr>
            <a:picLocks noChangeAspect="1"/>
          </p:cNvPicPr>
          <p:nvPr/>
        </p:nvPicPr>
        <p:blipFill>
          <a:blip r:embed="rId1"/>
          <a:srcRect l="5000" r="22911" t="31000" b="37000"/>
          <a:stretch/>
        </p:blipFill>
        <p:spPr>
          <a:xfrm>
            <a:off x="548640" y="914400"/>
            <a:ext cx="5943600" cy="4617720"/>
          </a:xfrm>
          <a:prstGeom prst="rect">
            <a:avLst/>
          </a:prstGeom>
        </p:spPr>
      </p:pic>
      <p:sp>
        <p:nvSpPr>
          <p:cNvPr id="20" name="Shape 17"/>
          <p:cNvSpPr/>
          <p:nvPr/>
        </p:nvSpPr>
        <p:spPr>
          <a:xfrm>
            <a:off x="6739128" y="1051560"/>
            <a:ext cx="4626864" cy="621792"/>
          </a:xfrm>
          <a:prstGeom prst="roundRect">
            <a:avLst>
              <a:gd name="adj" fmla="val 11765"/>
            </a:avLst>
          </a:prstGeom>
          <a:solidFill>
            <a:srgbClr val="FFFFFF"/>
          </a:solidFill>
          <a:ln w="10160">
            <a:solidFill>
              <a:srgbClr val="DCE2EA"/>
            </a:solidFill>
            <a:prstDash val="solid"/>
          </a:ln>
        </p:spPr>
      </p:sp>
      <p:pic>
        <p:nvPicPr>
          <p:cNvPr id="21"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812280" y="1097280"/>
            <a:ext cx="4480560" cy="530352"/>
          </a:xfrm>
          <a:prstGeom prst="rect">
            <a:avLst/>
          </a:prstGeom>
        </p:spPr>
      </p:pic>
      <p:sp>
        <p:nvSpPr>
          <p:cNvPr id="22" name="Shape 18"/>
          <p:cNvSpPr/>
          <p:nvPr/>
        </p:nvSpPr>
        <p:spPr>
          <a:xfrm>
            <a:off x="7242048" y="2075688"/>
            <a:ext cx="3438144" cy="502920"/>
          </a:xfrm>
          <a:prstGeom prst="roundRect">
            <a:avLst>
              <a:gd name="adj" fmla="val 14545"/>
            </a:avLst>
          </a:prstGeom>
          <a:solidFill>
            <a:srgbClr val="FFFFFF"/>
          </a:solidFill>
          <a:ln w="10160">
            <a:solidFill>
              <a:srgbClr val="DCE2EA"/>
            </a:solidFill>
            <a:prstDash val="solid"/>
          </a:ln>
        </p:spPr>
      </p:sp>
      <p:pic>
        <p:nvPicPr>
          <p:cNvPr id="23"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15200" y="2121408"/>
            <a:ext cx="3291840" cy="411480"/>
          </a:xfrm>
          <a:prstGeom prst="rect">
            <a:avLst/>
          </a:prstGeom>
        </p:spPr>
      </p:pic>
      <p:sp>
        <p:nvSpPr>
          <p:cNvPr id="24" name="Text 19"/>
          <p:cNvSpPr/>
          <p:nvPr/>
        </p:nvSpPr>
        <p:spPr>
          <a:xfrm>
            <a:off x="7086600" y="2971800"/>
            <a:ext cx="3931920" cy="502920"/>
          </a:xfrm>
          <a:prstGeom prst="rect">
            <a:avLst/>
          </a:prstGeom>
          <a:noFill/>
          <a:ln/>
        </p:spPr>
        <p:txBody>
          <a:bodyPr wrap="square" lIns="0" tIns="0" rIns="0" bIns="0" rtlCol="0" anchor="ctr">
            <a:normAutofit/>
          </a:bodyPr>
          <a:lstStyle/>
          <a:p>
            <a:pPr indent="0" marL="0">
              <a:buNone/>
            </a:pPr>
            <a:r>
              <a:rPr lang="en-US" sz="1550" b="1" dirty="0">
                <a:solidFill>
                  <a:srgbClr val="121826"/>
                </a:solidFill>
              </a:rPr>
              <a:t>Con Δx=2 m: c ≥ 4f</a:t>
            </a:r>
            <a:endParaRPr lang="en-US" sz="1550" dirty="0"/>
          </a:p>
          <a:p>
            <a:pPr indent="0" marL="0">
              <a:buNone/>
            </a:pPr>
            <a:r>
              <a:rPr lang="en-US" sz="1550" b="1" dirty="0">
                <a:solidFill>
                  <a:srgbClr val="121826"/>
                </a:solidFill>
              </a:rPr>
              <a:t>Con L=40 m: el piso teórico aún es optimista frente al ruido real.</a:t>
            </a:r>
            <a:endParaRPr lang="en-US" sz="1550" dirty="0"/>
          </a:p>
        </p:txBody>
      </p:sp>
      <p:sp>
        <p:nvSpPr>
          <p:cNvPr id="25" name="Shape 20"/>
          <p:cNvSpPr/>
          <p:nvPr/>
        </p:nvSpPr>
        <p:spPr>
          <a:xfrm>
            <a:off x="6720840" y="4343400"/>
            <a:ext cx="4526280" cy="868680"/>
          </a:xfrm>
          <a:prstGeom prst="roundRect">
            <a:avLst>
              <a:gd name="adj" fmla="val 8421"/>
            </a:avLst>
          </a:prstGeom>
          <a:solidFill>
            <a:srgbClr val="17225C"/>
          </a:solidFill>
          <a:ln w="12700">
            <a:solidFill>
              <a:srgbClr val="17225C">
                <a:alpha val="0"/>
              </a:srgbClr>
            </a:solidFill>
            <a:prstDash val="solid"/>
          </a:ln>
        </p:spPr>
      </p:sp>
      <p:sp>
        <p:nvSpPr>
          <p:cNvPr id="26" name="Text 21"/>
          <p:cNvSpPr/>
          <p:nvPr/>
        </p:nvSpPr>
        <p:spPr>
          <a:xfrm>
            <a:off x="6885432" y="4443984"/>
            <a:ext cx="4197096" cy="685800"/>
          </a:xfrm>
          <a:prstGeom prst="rect">
            <a:avLst/>
          </a:prstGeom>
          <a:noFill/>
          <a:ln/>
        </p:spPr>
        <p:txBody>
          <a:bodyPr wrap="square" lIns="0" tIns="0" rIns="0" bIns="0" rtlCol="0" anchor="ctr">
            <a:normAutofit/>
          </a:bodyPr>
          <a:lstStyle/>
          <a:p>
            <a:pPr indent="0" marL="0">
              <a:buNone/>
            </a:pPr>
            <a:r>
              <a:rPr lang="en-US" sz="1320" b="1" dirty="0">
                <a:solidFill>
                  <a:srgbClr val="FFFFFF"/>
                </a:solidFill>
                <a:latin typeface="Aptos" pitchFamily="34" charset="0"/>
                <a:ea typeface="Aptos" pitchFamily="34" charset="-122"/>
                <a:cs typeface="Aptos" pitchFamily="34" charset="-120"/>
              </a:rPr>
              <a:t>Entre 6–20 Hz aparece una cresta coherente; por encima cruza la cota de aliasing.</a:t>
            </a:r>
            <a:endParaRPr lang="en-US" sz="1320" dirty="0"/>
          </a:p>
        </p:txBody>
      </p:sp>
      <p:sp>
        <p:nvSpPr>
          <p:cNvPr id="27" name="Text 22"/>
          <p:cNvSpPr/>
          <p:nvPr/>
        </p:nvSpPr>
        <p:spPr>
          <a:xfrm>
            <a:off x="411480" y="6565392"/>
            <a:ext cx="11155680" cy="146304"/>
          </a:xfrm>
          <a:prstGeom prst="rect">
            <a:avLst/>
          </a:prstGeom>
          <a:noFill/>
          <a:ln/>
        </p:spPr>
        <p:txBody>
          <a:bodyPr wrap="square" lIns="0" tIns="0" rIns="0" bIns="0" rtlCol="0" anchor="ctr">
            <a:normAutofit/>
          </a:bodyPr>
          <a:lstStyle/>
          <a:p>
            <a:pPr indent="0" marL="0">
              <a:buNone/>
            </a:pPr>
            <a:r>
              <a:rPr lang="en-US" sz="650" dirty="0">
                <a:solidFill>
                  <a:srgbClr val="5B6472"/>
                </a:solidFill>
                <a:latin typeface="Aptos" pitchFamily="34" charset="0"/>
                <a:ea typeface="Aptos" pitchFamily="34" charset="-122"/>
                <a:cs typeface="Aptos" pitchFamily="34" charset="-120"/>
              </a:rPr>
              <a:t>Fuente: main(3).pdf, Sec. 5.3; datos de campo Canchita.</a:t>
            </a:r>
            <a:endParaRPr lang="en-US" sz="6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17225C"/>
          </a:solidFill>
          <a:ln w="12700">
            <a:solidFill>
              <a:srgbClr val="17225C"/>
            </a:solidFill>
            <a:prstDash val="solid"/>
          </a:ln>
        </p:spPr>
      </p:sp>
      <p:sp>
        <p:nvSpPr>
          <p:cNvPr id="3" name="Text 1"/>
          <p:cNvSpPr/>
          <p:nvPr/>
        </p:nvSpPr>
        <p:spPr>
          <a:xfrm>
            <a:off x="411480" y="137160"/>
            <a:ext cx="9418320" cy="365760"/>
          </a:xfrm>
          <a:prstGeom prst="rect">
            <a:avLst/>
          </a:prstGeom>
          <a:noFill/>
          <a:ln/>
        </p:spPr>
        <p:txBody>
          <a:bodyPr wrap="square" lIns="0" tIns="0" rIns="0" bIns="0" rtlCol="0" anchor="ctr">
            <a:normAutofit/>
          </a:bodyPr>
          <a:lstStyle/>
          <a:p>
            <a:pPr indent="0" marL="0">
              <a:buNone/>
            </a:pPr>
            <a:r>
              <a:rPr lang="en-US" sz="2300" b="1" dirty="0">
                <a:solidFill>
                  <a:srgbClr val="FFFFFF"/>
                </a:solidFill>
                <a:latin typeface="Aptos Display" pitchFamily="34" charset="0"/>
                <a:ea typeface="Aptos Display" pitchFamily="34" charset="-122"/>
                <a:cs typeface="Aptos Display" pitchFamily="34" charset="-120"/>
              </a:rPr>
              <a:t>El cuello de botella actual es la energía organizada bajo 5 Hz</a:t>
            </a:r>
            <a:endParaRPr lang="en-US" sz="2300" dirty="0"/>
          </a:p>
        </p:txBody>
      </p:sp>
      <p:sp>
        <p:nvSpPr>
          <p:cNvPr id="4" name="Text 2"/>
          <p:cNvSpPr/>
          <p:nvPr/>
        </p:nvSpPr>
        <p:spPr>
          <a:xfrm>
            <a:off x="10058400" y="201168"/>
            <a:ext cx="1737360" cy="228600"/>
          </a:xfrm>
          <a:prstGeom prst="rect">
            <a:avLst/>
          </a:prstGeom>
          <a:noFill/>
          <a:ln/>
        </p:spPr>
        <p:txBody>
          <a:bodyPr wrap="square" lIns="0" tIns="0" rIns="0" bIns="0" rtlCol="0" anchor="ctr">
            <a:normAutofit/>
          </a:bodyPr>
          <a:lstStyle/>
          <a:p>
            <a:pPr algn="r" indent="0" marL="0">
              <a:buNone/>
            </a:pPr>
            <a:r>
              <a:rPr lang="en-US" sz="850" dirty="0">
                <a:solidFill>
                  <a:srgbClr val="B8C4EA"/>
                </a:solidFill>
                <a:latin typeface="Aptos" pitchFamily="34" charset="0"/>
                <a:ea typeface="Aptos" pitchFamily="34" charset="-122"/>
                <a:cs typeface="Aptos" pitchFamily="34" charset="-120"/>
              </a:rPr>
              <a:t>Resultados</a:t>
            </a:r>
            <a:endParaRPr lang="en-US" sz="850" dirty="0"/>
          </a:p>
        </p:txBody>
      </p:sp>
      <p:sp>
        <p:nvSpPr>
          <p:cNvPr id="5" name="Shape 3"/>
          <p:cNvSpPr/>
          <p:nvPr/>
        </p:nvSpPr>
        <p:spPr>
          <a:xfrm>
            <a:off x="502920" y="5989320"/>
            <a:ext cx="1543115" cy="310896"/>
          </a:xfrm>
          <a:prstGeom prst="roundRect">
            <a:avLst>
              <a:gd name="adj" fmla="val 11765"/>
            </a:avLst>
          </a:prstGeom>
          <a:solidFill>
            <a:srgbClr val="DEE5F2"/>
          </a:solidFill>
          <a:ln w="12700">
            <a:solidFill>
              <a:srgbClr val="DEE5F2"/>
            </a:solidFill>
            <a:prstDash val="solid"/>
          </a:ln>
        </p:spPr>
      </p:sp>
      <p:sp>
        <p:nvSpPr>
          <p:cNvPr id="6" name="Text 4"/>
          <p:cNvSpPr/>
          <p:nvPr/>
        </p:nvSpPr>
        <p:spPr>
          <a:xfrm>
            <a:off x="530352"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Fuente</a:t>
            </a:r>
            <a:endParaRPr lang="en-US" sz="740" dirty="0"/>
          </a:p>
        </p:txBody>
      </p:sp>
      <p:sp>
        <p:nvSpPr>
          <p:cNvPr id="7" name="Shape 5"/>
          <p:cNvSpPr/>
          <p:nvPr/>
        </p:nvSpPr>
        <p:spPr>
          <a:xfrm>
            <a:off x="2110043" y="5989320"/>
            <a:ext cx="1543115" cy="310896"/>
          </a:xfrm>
          <a:prstGeom prst="roundRect">
            <a:avLst>
              <a:gd name="adj" fmla="val 11765"/>
            </a:avLst>
          </a:prstGeom>
          <a:solidFill>
            <a:srgbClr val="DEE5F2"/>
          </a:solidFill>
          <a:ln w="12700">
            <a:solidFill>
              <a:srgbClr val="DEE5F2"/>
            </a:solidFill>
            <a:prstDash val="solid"/>
          </a:ln>
        </p:spPr>
      </p:sp>
      <p:sp>
        <p:nvSpPr>
          <p:cNvPr id="8" name="Text 6"/>
          <p:cNvSpPr/>
          <p:nvPr/>
        </p:nvSpPr>
        <p:spPr>
          <a:xfrm>
            <a:off x="2137475"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Sensor</a:t>
            </a:r>
            <a:endParaRPr lang="en-US" sz="740" dirty="0"/>
          </a:p>
        </p:txBody>
      </p:sp>
      <p:sp>
        <p:nvSpPr>
          <p:cNvPr id="9" name="Shape 7"/>
          <p:cNvSpPr/>
          <p:nvPr/>
        </p:nvSpPr>
        <p:spPr>
          <a:xfrm>
            <a:off x="3717167" y="5989320"/>
            <a:ext cx="1543115" cy="310896"/>
          </a:xfrm>
          <a:prstGeom prst="roundRect">
            <a:avLst>
              <a:gd name="adj" fmla="val 11765"/>
            </a:avLst>
          </a:prstGeom>
          <a:solidFill>
            <a:srgbClr val="DEE5F2"/>
          </a:solidFill>
          <a:ln w="12700">
            <a:solidFill>
              <a:srgbClr val="DEE5F2"/>
            </a:solidFill>
            <a:prstDash val="solid"/>
          </a:ln>
        </p:spPr>
      </p:sp>
      <p:sp>
        <p:nvSpPr>
          <p:cNvPr id="10" name="Text 8"/>
          <p:cNvSpPr/>
          <p:nvPr/>
        </p:nvSpPr>
        <p:spPr>
          <a:xfrm>
            <a:off x="3744599"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AFE/ADC</a:t>
            </a:r>
            <a:endParaRPr lang="en-US" sz="740" dirty="0"/>
          </a:p>
        </p:txBody>
      </p:sp>
      <p:sp>
        <p:nvSpPr>
          <p:cNvPr id="11" name="Shape 9"/>
          <p:cNvSpPr/>
          <p:nvPr/>
        </p:nvSpPr>
        <p:spPr>
          <a:xfrm>
            <a:off x="5324290" y="5989320"/>
            <a:ext cx="1543115" cy="310896"/>
          </a:xfrm>
          <a:prstGeom prst="roundRect">
            <a:avLst>
              <a:gd name="adj" fmla="val 11765"/>
            </a:avLst>
          </a:prstGeom>
          <a:solidFill>
            <a:srgbClr val="DEE5F2"/>
          </a:solidFill>
          <a:ln w="12700">
            <a:solidFill>
              <a:srgbClr val="DEE5F2"/>
            </a:solidFill>
            <a:prstDash val="solid"/>
          </a:ln>
        </p:spPr>
      </p:sp>
      <p:sp>
        <p:nvSpPr>
          <p:cNvPr id="12" name="Text 10"/>
          <p:cNvSpPr/>
          <p:nvPr/>
        </p:nvSpPr>
        <p:spPr>
          <a:xfrm>
            <a:off x="5351722"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Sync/Red</a:t>
            </a:r>
            <a:endParaRPr lang="en-US" sz="740" dirty="0"/>
          </a:p>
        </p:txBody>
      </p:sp>
      <p:sp>
        <p:nvSpPr>
          <p:cNvPr id="13" name="Shape 11"/>
          <p:cNvSpPr/>
          <p:nvPr/>
        </p:nvSpPr>
        <p:spPr>
          <a:xfrm>
            <a:off x="6931413" y="5989320"/>
            <a:ext cx="1543115" cy="310896"/>
          </a:xfrm>
          <a:prstGeom prst="roundRect">
            <a:avLst>
              <a:gd name="adj" fmla="val 11765"/>
            </a:avLst>
          </a:prstGeom>
          <a:solidFill>
            <a:srgbClr val="DEE5F2"/>
          </a:solidFill>
          <a:ln w="12700">
            <a:solidFill>
              <a:srgbClr val="DEE5F2"/>
            </a:solidFill>
            <a:prstDash val="solid"/>
          </a:ln>
        </p:spPr>
      </p:sp>
      <p:sp>
        <p:nvSpPr>
          <p:cNvPr id="14" name="Text 12"/>
          <p:cNvSpPr/>
          <p:nvPr/>
        </p:nvSpPr>
        <p:spPr>
          <a:xfrm>
            <a:off x="6958845"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Interfaces</a:t>
            </a:r>
            <a:endParaRPr lang="en-US" sz="740" dirty="0"/>
          </a:p>
        </p:txBody>
      </p:sp>
      <p:sp>
        <p:nvSpPr>
          <p:cNvPr id="15" name="Shape 13"/>
          <p:cNvSpPr/>
          <p:nvPr/>
        </p:nvSpPr>
        <p:spPr>
          <a:xfrm>
            <a:off x="8538537" y="5989320"/>
            <a:ext cx="1543115" cy="310896"/>
          </a:xfrm>
          <a:prstGeom prst="roundRect">
            <a:avLst>
              <a:gd name="adj" fmla="val 11765"/>
            </a:avLst>
          </a:prstGeom>
          <a:solidFill>
            <a:srgbClr val="F28C28"/>
          </a:solidFill>
          <a:ln w="12700">
            <a:solidFill>
              <a:srgbClr val="F28C28"/>
            </a:solidFill>
            <a:prstDash val="solid"/>
          </a:ln>
        </p:spPr>
      </p:sp>
      <p:sp>
        <p:nvSpPr>
          <p:cNvPr id="16" name="Text 14"/>
          <p:cNvSpPr/>
          <p:nvPr/>
        </p:nvSpPr>
        <p:spPr>
          <a:xfrm>
            <a:off x="8565969"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FFFFFF"/>
                </a:solidFill>
              </a:rPr>
              <a:t>MASW</a:t>
            </a:r>
            <a:endParaRPr lang="en-US" sz="740" dirty="0"/>
          </a:p>
        </p:txBody>
      </p:sp>
      <p:sp>
        <p:nvSpPr>
          <p:cNvPr id="17" name="Shape 15"/>
          <p:cNvSpPr/>
          <p:nvPr/>
        </p:nvSpPr>
        <p:spPr>
          <a:xfrm>
            <a:off x="10145660" y="5989320"/>
            <a:ext cx="1543115" cy="310896"/>
          </a:xfrm>
          <a:prstGeom prst="roundRect">
            <a:avLst>
              <a:gd name="adj" fmla="val 11765"/>
            </a:avLst>
          </a:prstGeom>
          <a:solidFill>
            <a:srgbClr val="DEE5F2"/>
          </a:solidFill>
          <a:ln w="12700">
            <a:solidFill>
              <a:srgbClr val="DEE5F2"/>
            </a:solidFill>
            <a:prstDash val="solid"/>
          </a:ln>
        </p:spPr>
      </p:sp>
      <p:sp>
        <p:nvSpPr>
          <p:cNvPr id="18" name="Text 16"/>
          <p:cNvSpPr/>
          <p:nvPr/>
        </p:nvSpPr>
        <p:spPr>
          <a:xfrm>
            <a:off x="10173092"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Inversión</a:t>
            </a:r>
            <a:endParaRPr lang="en-US" sz="740" dirty="0"/>
          </a:p>
        </p:txBody>
      </p:sp>
      <p:pic>
        <p:nvPicPr>
          <p:cNvPr id="19" name="Image 0" descr="/mnt/data/pptx_unzip/ppt/media/image80.png">    </p:cNvPr>
          <p:cNvPicPr>
            <a:picLocks noChangeAspect="1"/>
          </p:cNvPicPr>
          <p:nvPr/>
        </p:nvPicPr>
        <p:blipFill>
          <a:blip r:embed="rId1"/>
          <a:stretch>
            <a:fillRect/>
          </a:stretch>
        </p:blipFill>
        <p:spPr>
          <a:xfrm>
            <a:off x="502920" y="2473805"/>
            <a:ext cx="6080760" cy="1270309"/>
          </a:xfrm>
          <a:prstGeom prst="rect">
            <a:avLst/>
          </a:prstGeom>
        </p:spPr>
      </p:pic>
      <p:sp>
        <p:nvSpPr>
          <p:cNvPr id="20" name="Shape 17"/>
          <p:cNvSpPr/>
          <p:nvPr/>
        </p:nvSpPr>
        <p:spPr>
          <a:xfrm>
            <a:off x="6995160" y="1051560"/>
            <a:ext cx="4114800" cy="960120"/>
          </a:xfrm>
          <a:prstGeom prst="roundRect">
            <a:avLst>
              <a:gd name="adj" fmla="val 7619"/>
            </a:avLst>
          </a:prstGeom>
          <a:solidFill>
            <a:srgbClr val="FFFFFF"/>
          </a:solidFill>
          <a:ln w="10160">
            <a:solidFill>
              <a:srgbClr val="DCE2EA"/>
            </a:solidFill>
            <a:prstDash val="solid"/>
          </a:ln>
        </p:spPr>
      </p:sp>
      <p:sp>
        <p:nvSpPr>
          <p:cNvPr id="21" name="Text 18"/>
          <p:cNvSpPr/>
          <p:nvPr/>
        </p:nvSpPr>
        <p:spPr>
          <a:xfrm>
            <a:off x="7223760" y="1197864"/>
            <a:ext cx="1234440" cy="210312"/>
          </a:xfrm>
          <a:prstGeom prst="rect">
            <a:avLst/>
          </a:prstGeom>
          <a:noFill/>
          <a:ln/>
        </p:spPr>
        <p:txBody>
          <a:bodyPr wrap="square" lIns="0" tIns="0" rIns="0" bIns="0" rtlCol="0" anchor="ctr">
            <a:normAutofit/>
          </a:bodyPr>
          <a:lstStyle/>
          <a:p>
            <a:pPr indent="0" marL="0">
              <a:buNone/>
            </a:pPr>
            <a:r>
              <a:rPr lang="en-US" sz="1600" b="1" dirty="0">
                <a:solidFill>
                  <a:srgbClr val="B64028"/>
                </a:solidFill>
              </a:rPr>
              <a:t>&lt; 5 Hz</a:t>
            </a:r>
            <a:endParaRPr lang="en-US" sz="1600" dirty="0"/>
          </a:p>
        </p:txBody>
      </p:sp>
      <p:sp>
        <p:nvSpPr>
          <p:cNvPr id="22" name="Text 19"/>
          <p:cNvSpPr/>
          <p:nvPr/>
        </p:nvSpPr>
        <p:spPr>
          <a:xfrm>
            <a:off x="8549640" y="1170432"/>
            <a:ext cx="960120" cy="246888"/>
          </a:xfrm>
          <a:prstGeom prst="rect">
            <a:avLst/>
          </a:prstGeom>
          <a:noFill/>
          <a:ln/>
        </p:spPr>
        <p:txBody>
          <a:bodyPr wrap="square" lIns="0" tIns="0" rIns="0" bIns="0" rtlCol="0" anchor="ctr"/>
          <a:lstStyle/>
          <a:p>
            <a:pPr indent="0" marL="0">
              <a:buNone/>
            </a:pPr>
            <a:r>
              <a:rPr lang="en-US" sz="1900" b="1" dirty="0">
                <a:solidFill>
                  <a:srgbClr val="B64028"/>
                </a:solidFill>
              </a:rPr>
              <a:t>≈0,1%</a:t>
            </a:r>
            <a:endParaRPr lang="en-US" sz="1900" dirty="0"/>
          </a:p>
        </p:txBody>
      </p:sp>
      <p:sp>
        <p:nvSpPr>
          <p:cNvPr id="23" name="Text 20"/>
          <p:cNvSpPr/>
          <p:nvPr/>
        </p:nvSpPr>
        <p:spPr>
          <a:xfrm>
            <a:off x="9646920" y="1252728"/>
            <a:ext cx="1188720" cy="155448"/>
          </a:xfrm>
          <a:prstGeom prst="rect">
            <a:avLst/>
          </a:prstGeom>
          <a:noFill/>
          <a:ln/>
        </p:spPr>
        <p:txBody>
          <a:bodyPr wrap="square" lIns="0" tIns="0" rIns="0" bIns="0" rtlCol="0" anchor="ctr">
            <a:normAutofit/>
          </a:bodyPr>
          <a:lstStyle/>
          <a:p>
            <a:pPr indent="0" marL="0">
              <a:buNone/>
            </a:pPr>
            <a:r>
              <a:rPr lang="en-US" sz="1050" dirty="0">
                <a:solidFill>
                  <a:srgbClr val="5B6472"/>
                </a:solidFill>
              </a:rPr>
              <a:t>profundidad</a:t>
            </a:r>
            <a:endParaRPr lang="en-US" sz="1050" dirty="0"/>
          </a:p>
        </p:txBody>
      </p:sp>
      <p:sp>
        <p:nvSpPr>
          <p:cNvPr id="24" name="Shape 21"/>
          <p:cNvSpPr/>
          <p:nvPr/>
        </p:nvSpPr>
        <p:spPr>
          <a:xfrm>
            <a:off x="6995160" y="2404872"/>
            <a:ext cx="4114800" cy="960120"/>
          </a:xfrm>
          <a:prstGeom prst="roundRect">
            <a:avLst>
              <a:gd name="adj" fmla="val 7619"/>
            </a:avLst>
          </a:prstGeom>
          <a:solidFill>
            <a:srgbClr val="FFFFFF"/>
          </a:solidFill>
          <a:ln w="10160">
            <a:solidFill>
              <a:srgbClr val="DCE2EA"/>
            </a:solidFill>
            <a:prstDash val="solid"/>
          </a:ln>
        </p:spPr>
      </p:sp>
      <p:sp>
        <p:nvSpPr>
          <p:cNvPr id="25" name="Text 22"/>
          <p:cNvSpPr/>
          <p:nvPr/>
        </p:nvSpPr>
        <p:spPr>
          <a:xfrm>
            <a:off x="7223760" y="2551176"/>
            <a:ext cx="1234440" cy="210312"/>
          </a:xfrm>
          <a:prstGeom prst="rect">
            <a:avLst/>
          </a:prstGeom>
          <a:noFill/>
          <a:ln/>
        </p:spPr>
        <p:txBody>
          <a:bodyPr wrap="square" lIns="0" tIns="0" rIns="0" bIns="0" rtlCol="0" anchor="ctr">
            <a:normAutofit/>
          </a:bodyPr>
          <a:lstStyle/>
          <a:p>
            <a:pPr indent="0" marL="0">
              <a:buNone/>
            </a:pPr>
            <a:r>
              <a:rPr lang="en-US" sz="1600" b="1" dirty="0">
                <a:solidFill>
                  <a:srgbClr val="17225C"/>
                </a:solidFill>
              </a:rPr>
              <a:t>5–20 Hz</a:t>
            </a:r>
            <a:endParaRPr lang="en-US" sz="1600" dirty="0"/>
          </a:p>
        </p:txBody>
      </p:sp>
      <p:sp>
        <p:nvSpPr>
          <p:cNvPr id="26" name="Text 23"/>
          <p:cNvSpPr/>
          <p:nvPr/>
        </p:nvSpPr>
        <p:spPr>
          <a:xfrm>
            <a:off x="8549640" y="2523744"/>
            <a:ext cx="960120" cy="246888"/>
          </a:xfrm>
          <a:prstGeom prst="rect">
            <a:avLst/>
          </a:prstGeom>
          <a:noFill/>
          <a:ln/>
        </p:spPr>
        <p:txBody>
          <a:bodyPr wrap="square" lIns="0" tIns="0" rIns="0" bIns="0" rtlCol="0" anchor="ctr"/>
          <a:lstStyle/>
          <a:p>
            <a:pPr indent="0" marL="0">
              <a:buNone/>
            </a:pPr>
            <a:r>
              <a:rPr lang="en-US" sz="1900" b="1" dirty="0">
                <a:solidFill>
                  <a:srgbClr val="121826"/>
                </a:solidFill>
              </a:rPr>
              <a:t>54,3%</a:t>
            </a:r>
            <a:endParaRPr lang="en-US" sz="1900" dirty="0"/>
          </a:p>
        </p:txBody>
      </p:sp>
      <p:sp>
        <p:nvSpPr>
          <p:cNvPr id="27" name="Text 24"/>
          <p:cNvSpPr/>
          <p:nvPr/>
        </p:nvSpPr>
        <p:spPr>
          <a:xfrm>
            <a:off x="9646920" y="2606040"/>
            <a:ext cx="1188720" cy="155448"/>
          </a:xfrm>
          <a:prstGeom prst="rect">
            <a:avLst/>
          </a:prstGeom>
          <a:noFill/>
          <a:ln/>
        </p:spPr>
        <p:txBody>
          <a:bodyPr wrap="square" lIns="0" tIns="0" rIns="0" bIns="0" rtlCol="0" anchor="ctr">
            <a:normAutofit/>
          </a:bodyPr>
          <a:lstStyle/>
          <a:p>
            <a:pPr indent="0" marL="0">
              <a:buNone/>
            </a:pPr>
            <a:r>
              <a:rPr lang="en-US" sz="1050" dirty="0">
                <a:solidFill>
                  <a:srgbClr val="5B6472"/>
                </a:solidFill>
              </a:rPr>
              <a:t>banda dominante</a:t>
            </a:r>
            <a:endParaRPr lang="en-US" sz="1050" dirty="0"/>
          </a:p>
        </p:txBody>
      </p:sp>
      <p:sp>
        <p:nvSpPr>
          <p:cNvPr id="28" name="Shape 25"/>
          <p:cNvSpPr/>
          <p:nvPr/>
        </p:nvSpPr>
        <p:spPr>
          <a:xfrm>
            <a:off x="6995160" y="3758184"/>
            <a:ext cx="4114800" cy="960120"/>
          </a:xfrm>
          <a:prstGeom prst="roundRect">
            <a:avLst>
              <a:gd name="adj" fmla="val 7619"/>
            </a:avLst>
          </a:prstGeom>
          <a:solidFill>
            <a:srgbClr val="FFFFFF"/>
          </a:solidFill>
          <a:ln w="10160">
            <a:solidFill>
              <a:srgbClr val="DCE2EA"/>
            </a:solidFill>
            <a:prstDash val="solid"/>
          </a:ln>
        </p:spPr>
      </p:sp>
      <p:sp>
        <p:nvSpPr>
          <p:cNvPr id="29" name="Text 26"/>
          <p:cNvSpPr/>
          <p:nvPr/>
        </p:nvSpPr>
        <p:spPr>
          <a:xfrm>
            <a:off x="7223760" y="3904488"/>
            <a:ext cx="1234440" cy="210312"/>
          </a:xfrm>
          <a:prstGeom prst="rect">
            <a:avLst/>
          </a:prstGeom>
          <a:noFill/>
          <a:ln/>
        </p:spPr>
        <p:txBody>
          <a:bodyPr wrap="square" lIns="0" tIns="0" rIns="0" bIns="0" rtlCol="0" anchor="ctr">
            <a:normAutofit/>
          </a:bodyPr>
          <a:lstStyle/>
          <a:p>
            <a:pPr indent="0" marL="0">
              <a:buNone/>
            </a:pPr>
            <a:r>
              <a:rPr lang="en-US" sz="1600" b="1" dirty="0">
                <a:solidFill>
                  <a:srgbClr val="17225C"/>
                </a:solidFill>
              </a:rPr>
              <a:t>20–50 Hz</a:t>
            </a:r>
            <a:endParaRPr lang="en-US" sz="1600" dirty="0"/>
          </a:p>
        </p:txBody>
      </p:sp>
      <p:sp>
        <p:nvSpPr>
          <p:cNvPr id="30" name="Text 27"/>
          <p:cNvSpPr/>
          <p:nvPr/>
        </p:nvSpPr>
        <p:spPr>
          <a:xfrm>
            <a:off x="8549640" y="3877056"/>
            <a:ext cx="960120" cy="246888"/>
          </a:xfrm>
          <a:prstGeom prst="rect">
            <a:avLst/>
          </a:prstGeom>
          <a:noFill/>
          <a:ln/>
        </p:spPr>
        <p:txBody>
          <a:bodyPr wrap="square" lIns="0" tIns="0" rIns="0" bIns="0" rtlCol="0" anchor="ctr"/>
          <a:lstStyle/>
          <a:p>
            <a:pPr indent="0" marL="0">
              <a:buNone/>
            </a:pPr>
            <a:r>
              <a:rPr lang="en-US" sz="1900" b="1" dirty="0">
                <a:solidFill>
                  <a:srgbClr val="121826"/>
                </a:solidFill>
              </a:rPr>
              <a:t>43,2%</a:t>
            </a:r>
            <a:endParaRPr lang="en-US" sz="1900" dirty="0"/>
          </a:p>
        </p:txBody>
      </p:sp>
      <p:sp>
        <p:nvSpPr>
          <p:cNvPr id="31" name="Text 28"/>
          <p:cNvSpPr/>
          <p:nvPr/>
        </p:nvSpPr>
        <p:spPr>
          <a:xfrm>
            <a:off x="9646920" y="3959352"/>
            <a:ext cx="1188720" cy="155448"/>
          </a:xfrm>
          <a:prstGeom prst="rect">
            <a:avLst/>
          </a:prstGeom>
          <a:noFill/>
          <a:ln/>
        </p:spPr>
        <p:txBody>
          <a:bodyPr wrap="square" lIns="0" tIns="0" rIns="0" bIns="0" rtlCol="0" anchor="ctr">
            <a:normAutofit/>
          </a:bodyPr>
          <a:lstStyle/>
          <a:p>
            <a:pPr indent="0" marL="0">
              <a:buNone/>
            </a:pPr>
            <a:r>
              <a:rPr lang="en-US" sz="1050" dirty="0">
                <a:solidFill>
                  <a:srgbClr val="5B6472"/>
                </a:solidFill>
              </a:rPr>
              <a:t>cerca de aliasing</a:t>
            </a:r>
            <a:endParaRPr lang="en-US" sz="1050" dirty="0"/>
          </a:p>
        </p:txBody>
      </p:sp>
      <p:sp>
        <p:nvSpPr>
          <p:cNvPr id="32" name="Shape 29"/>
          <p:cNvSpPr/>
          <p:nvPr/>
        </p:nvSpPr>
        <p:spPr>
          <a:xfrm>
            <a:off x="6858000" y="5349240"/>
            <a:ext cx="4343400" cy="566928"/>
          </a:xfrm>
          <a:prstGeom prst="roundRect">
            <a:avLst>
              <a:gd name="adj" fmla="val 12903"/>
            </a:avLst>
          </a:prstGeom>
          <a:solidFill>
            <a:srgbClr val="F28C28"/>
          </a:solidFill>
          <a:ln w="12700">
            <a:solidFill>
              <a:srgbClr val="F28C28">
                <a:alpha val="0"/>
              </a:srgbClr>
            </a:solidFill>
            <a:prstDash val="solid"/>
          </a:ln>
        </p:spPr>
      </p:sp>
      <p:sp>
        <p:nvSpPr>
          <p:cNvPr id="33" name="Text 30"/>
          <p:cNvSpPr/>
          <p:nvPr/>
        </p:nvSpPr>
        <p:spPr>
          <a:xfrm>
            <a:off x="7022592" y="5449824"/>
            <a:ext cx="4014216" cy="384048"/>
          </a:xfrm>
          <a:prstGeom prst="rect">
            <a:avLst/>
          </a:prstGeom>
          <a:noFill/>
          <a:ln/>
        </p:spPr>
        <p:txBody>
          <a:bodyPr wrap="square" lIns="0" tIns="0" rIns="0" bIns="0" rtlCol="0" anchor="ctr">
            <a:normAutofit/>
          </a:bodyPr>
          <a:lstStyle/>
          <a:p>
            <a:pPr indent="0" marL="0">
              <a:buNone/>
            </a:pPr>
            <a:r>
              <a:rPr lang="en-US" sz="1280" b="1" dirty="0">
                <a:solidFill>
                  <a:srgbClr val="FFFFFF"/>
                </a:solidFill>
                <a:latin typeface="Aptos" pitchFamily="34" charset="0"/>
                <a:ea typeface="Aptos" pitchFamily="34" charset="-122"/>
                <a:cs typeface="Aptos" pitchFamily="34" charset="-120"/>
              </a:rPr>
              <a:t>Un filtro digital no recupera información que no superó el piso de ruido antes del ADC.</a:t>
            </a:r>
            <a:endParaRPr lang="en-US" sz="1280" dirty="0"/>
          </a:p>
        </p:txBody>
      </p:sp>
      <p:sp>
        <p:nvSpPr>
          <p:cNvPr id="34" name="Text 31"/>
          <p:cNvSpPr/>
          <p:nvPr/>
        </p:nvSpPr>
        <p:spPr>
          <a:xfrm>
            <a:off x="411480" y="6565392"/>
            <a:ext cx="11155680" cy="146304"/>
          </a:xfrm>
          <a:prstGeom prst="rect">
            <a:avLst/>
          </a:prstGeom>
          <a:noFill/>
          <a:ln/>
        </p:spPr>
        <p:txBody>
          <a:bodyPr wrap="square" lIns="0" tIns="0" rIns="0" bIns="0" rtlCol="0" anchor="ctr">
            <a:normAutofit/>
          </a:bodyPr>
          <a:lstStyle/>
          <a:p>
            <a:pPr indent="0" marL="0">
              <a:buNone/>
            </a:pPr>
            <a:r>
              <a:rPr lang="en-US" sz="650" dirty="0">
                <a:solidFill>
                  <a:srgbClr val="5B6472"/>
                </a:solidFill>
                <a:latin typeface="Aptos" pitchFamily="34" charset="0"/>
                <a:ea typeface="Aptos" pitchFamily="34" charset="-122"/>
                <a:cs typeface="Aptos" pitchFamily="34" charset="-120"/>
              </a:rPr>
              <a:t>Fuente: main(3).pdf, Sec. 5.3–5.4; autopotencia integrada de 21 trazas.</a:t>
            </a:r>
            <a:endParaRPr lang="en-US" sz="6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17225C"/>
          </a:solidFill>
          <a:ln w="12700">
            <a:solidFill>
              <a:srgbClr val="17225C"/>
            </a:solidFill>
            <a:prstDash val="solid"/>
          </a:ln>
        </p:spPr>
      </p:sp>
      <p:sp>
        <p:nvSpPr>
          <p:cNvPr id="3" name="Text 1"/>
          <p:cNvSpPr/>
          <p:nvPr/>
        </p:nvSpPr>
        <p:spPr>
          <a:xfrm>
            <a:off x="411480" y="137160"/>
            <a:ext cx="9418320" cy="365760"/>
          </a:xfrm>
          <a:prstGeom prst="rect">
            <a:avLst/>
          </a:prstGeom>
          <a:noFill/>
          <a:ln/>
        </p:spPr>
        <p:txBody>
          <a:bodyPr wrap="square" lIns="0" tIns="0" rIns="0" bIns="0" rtlCol="0" anchor="ctr">
            <a:normAutofit/>
          </a:bodyPr>
          <a:lstStyle/>
          <a:p>
            <a:pPr indent="0" marL="0">
              <a:buNone/>
            </a:pPr>
            <a:r>
              <a:rPr lang="en-US" sz="2300" b="1" dirty="0">
                <a:solidFill>
                  <a:srgbClr val="FFFFFF"/>
                </a:solidFill>
                <a:latin typeface="Aptos Display" pitchFamily="34" charset="0"/>
                <a:ea typeface="Aptos Display" pitchFamily="34" charset="-122"/>
                <a:cs typeface="Aptos Display" pitchFamily="34" charset="-120"/>
              </a:rPr>
              <a:t>Volvemos a la fuente: la baja frecuencia debe entrar antes del ADC</a:t>
            </a:r>
            <a:endParaRPr lang="en-US" sz="2300" dirty="0"/>
          </a:p>
        </p:txBody>
      </p:sp>
      <p:sp>
        <p:nvSpPr>
          <p:cNvPr id="4" name="Text 2"/>
          <p:cNvSpPr/>
          <p:nvPr/>
        </p:nvSpPr>
        <p:spPr>
          <a:xfrm>
            <a:off x="10058400" y="201168"/>
            <a:ext cx="1737360" cy="228600"/>
          </a:xfrm>
          <a:prstGeom prst="rect">
            <a:avLst/>
          </a:prstGeom>
          <a:noFill/>
          <a:ln/>
        </p:spPr>
        <p:txBody>
          <a:bodyPr wrap="square" lIns="0" tIns="0" rIns="0" bIns="0" rtlCol="0" anchor="ctr">
            <a:normAutofit/>
          </a:bodyPr>
          <a:lstStyle/>
          <a:p>
            <a:pPr algn="r" indent="0" marL="0">
              <a:buNone/>
            </a:pPr>
            <a:r>
              <a:rPr lang="en-US" sz="850" dirty="0">
                <a:solidFill>
                  <a:srgbClr val="B8C4EA"/>
                </a:solidFill>
                <a:latin typeface="Aptos" pitchFamily="34" charset="0"/>
                <a:ea typeface="Aptos" pitchFamily="34" charset="-122"/>
                <a:cs typeface="Aptos" pitchFamily="34" charset="-120"/>
              </a:rPr>
              <a:t>Siguiente iteración</a:t>
            </a:r>
            <a:endParaRPr lang="en-US" sz="850" dirty="0"/>
          </a:p>
        </p:txBody>
      </p:sp>
      <p:sp>
        <p:nvSpPr>
          <p:cNvPr id="5" name="Shape 3"/>
          <p:cNvSpPr/>
          <p:nvPr/>
        </p:nvSpPr>
        <p:spPr>
          <a:xfrm>
            <a:off x="502920" y="5989320"/>
            <a:ext cx="1543115" cy="310896"/>
          </a:xfrm>
          <a:prstGeom prst="roundRect">
            <a:avLst>
              <a:gd name="adj" fmla="val 11765"/>
            </a:avLst>
          </a:prstGeom>
          <a:solidFill>
            <a:srgbClr val="F28C28"/>
          </a:solidFill>
          <a:ln w="12700">
            <a:solidFill>
              <a:srgbClr val="F28C28"/>
            </a:solidFill>
            <a:prstDash val="solid"/>
          </a:ln>
        </p:spPr>
      </p:sp>
      <p:sp>
        <p:nvSpPr>
          <p:cNvPr id="6" name="Text 4"/>
          <p:cNvSpPr/>
          <p:nvPr/>
        </p:nvSpPr>
        <p:spPr>
          <a:xfrm>
            <a:off x="530352"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FFFFFF"/>
                </a:solidFill>
              </a:rPr>
              <a:t>Fuente</a:t>
            </a:r>
            <a:endParaRPr lang="en-US" sz="740" dirty="0"/>
          </a:p>
        </p:txBody>
      </p:sp>
      <p:sp>
        <p:nvSpPr>
          <p:cNvPr id="7" name="Shape 5"/>
          <p:cNvSpPr/>
          <p:nvPr/>
        </p:nvSpPr>
        <p:spPr>
          <a:xfrm>
            <a:off x="2110043" y="5989320"/>
            <a:ext cx="1543115" cy="310896"/>
          </a:xfrm>
          <a:prstGeom prst="roundRect">
            <a:avLst>
              <a:gd name="adj" fmla="val 11765"/>
            </a:avLst>
          </a:prstGeom>
          <a:solidFill>
            <a:srgbClr val="DEE5F2"/>
          </a:solidFill>
          <a:ln w="12700">
            <a:solidFill>
              <a:srgbClr val="DEE5F2"/>
            </a:solidFill>
            <a:prstDash val="solid"/>
          </a:ln>
        </p:spPr>
      </p:sp>
      <p:sp>
        <p:nvSpPr>
          <p:cNvPr id="8" name="Text 6"/>
          <p:cNvSpPr/>
          <p:nvPr/>
        </p:nvSpPr>
        <p:spPr>
          <a:xfrm>
            <a:off x="2137475"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Sensor</a:t>
            </a:r>
            <a:endParaRPr lang="en-US" sz="740" dirty="0"/>
          </a:p>
        </p:txBody>
      </p:sp>
      <p:sp>
        <p:nvSpPr>
          <p:cNvPr id="9" name="Shape 7"/>
          <p:cNvSpPr/>
          <p:nvPr/>
        </p:nvSpPr>
        <p:spPr>
          <a:xfrm>
            <a:off x="3717167" y="5989320"/>
            <a:ext cx="1543115" cy="310896"/>
          </a:xfrm>
          <a:prstGeom prst="roundRect">
            <a:avLst>
              <a:gd name="adj" fmla="val 11765"/>
            </a:avLst>
          </a:prstGeom>
          <a:solidFill>
            <a:srgbClr val="DEE5F2"/>
          </a:solidFill>
          <a:ln w="12700">
            <a:solidFill>
              <a:srgbClr val="DEE5F2"/>
            </a:solidFill>
            <a:prstDash val="solid"/>
          </a:ln>
        </p:spPr>
      </p:sp>
      <p:sp>
        <p:nvSpPr>
          <p:cNvPr id="10" name="Text 8"/>
          <p:cNvSpPr/>
          <p:nvPr/>
        </p:nvSpPr>
        <p:spPr>
          <a:xfrm>
            <a:off x="3744599"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AFE/ADC</a:t>
            </a:r>
            <a:endParaRPr lang="en-US" sz="740" dirty="0"/>
          </a:p>
        </p:txBody>
      </p:sp>
      <p:sp>
        <p:nvSpPr>
          <p:cNvPr id="11" name="Shape 9"/>
          <p:cNvSpPr/>
          <p:nvPr/>
        </p:nvSpPr>
        <p:spPr>
          <a:xfrm>
            <a:off x="5324290" y="5989320"/>
            <a:ext cx="1543115" cy="310896"/>
          </a:xfrm>
          <a:prstGeom prst="roundRect">
            <a:avLst>
              <a:gd name="adj" fmla="val 11765"/>
            </a:avLst>
          </a:prstGeom>
          <a:solidFill>
            <a:srgbClr val="DEE5F2"/>
          </a:solidFill>
          <a:ln w="12700">
            <a:solidFill>
              <a:srgbClr val="DEE5F2"/>
            </a:solidFill>
            <a:prstDash val="solid"/>
          </a:ln>
        </p:spPr>
      </p:sp>
      <p:sp>
        <p:nvSpPr>
          <p:cNvPr id="12" name="Text 10"/>
          <p:cNvSpPr/>
          <p:nvPr/>
        </p:nvSpPr>
        <p:spPr>
          <a:xfrm>
            <a:off x="5351722"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Sync/Red</a:t>
            </a:r>
            <a:endParaRPr lang="en-US" sz="740" dirty="0"/>
          </a:p>
        </p:txBody>
      </p:sp>
      <p:sp>
        <p:nvSpPr>
          <p:cNvPr id="13" name="Shape 11"/>
          <p:cNvSpPr/>
          <p:nvPr/>
        </p:nvSpPr>
        <p:spPr>
          <a:xfrm>
            <a:off x="6931413" y="5989320"/>
            <a:ext cx="1543115" cy="310896"/>
          </a:xfrm>
          <a:prstGeom prst="roundRect">
            <a:avLst>
              <a:gd name="adj" fmla="val 11765"/>
            </a:avLst>
          </a:prstGeom>
          <a:solidFill>
            <a:srgbClr val="DEE5F2"/>
          </a:solidFill>
          <a:ln w="12700">
            <a:solidFill>
              <a:srgbClr val="DEE5F2"/>
            </a:solidFill>
            <a:prstDash val="solid"/>
          </a:ln>
        </p:spPr>
      </p:sp>
      <p:sp>
        <p:nvSpPr>
          <p:cNvPr id="14" name="Text 12"/>
          <p:cNvSpPr/>
          <p:nvPr/>
        </p:nvSpPr>
        <p:spPr>
          <a:xfrm>
            <a:off x="6958845"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Interfaces</a:t>
            </a:r>
            <a:endParaRPr lang="en-US" sz="740" dirty="0"/>
          </a:p>
        </p:txBody>
      </p:sp>
      <p:sp>
        <p:nvSpPr>
          <p:cNvPr id="15" name="Shape 13"/>
          <p:cNvSpPr/>
          <p:nvPr/>
        </p:nvSpPr>
        <p:spPr>
          <a:xfrm>
            <a:off x="8538537" y="5989320"/>
            <a:ext cx="1543115" cy="310896"/>
          </a:xfrm>
          <a:prstGeom prst="roundRect">
            <a:avLst>
              <a:gd name="adj" fmla="val 11765"/>
            </a:avLst>
          </a:prstGeom>
          <a:solidFill>
            <a:srgbClr val="DEE5F2"/>
          </a:solidFill>
          <a:ln w="12700">
            <a:solidFill>
              <a:srgbClr val="DEE5F2"/>
            </a:solidFill>
            <a:prstDash val="solid"/>
          </a:ln>
        </p:spPr>
      </p:sp>
      <p:sp>
        <p:nvSpPr>
          <p:cNvPr id="16" name="Text 14"/>
          <p:cNvSpPr/>
          <p:nvPr/>
        </p:nvSpPr>
        <p:spPr>
          <a:xfrm>
            <a:off x="8565969"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MASW</a:t>
            </a:r>
            <a:endParaRPr lang="en-US" sz="740" dirty="0"/>
          </a:p>
        </p:txBody>
      </p:sp>
      <p:sp>
        <p:nvSpPr>
          <p:cNvPr id="17" name="Shape 15"/>
          <p:cNvSpPr/>
          <p:nvPr/>
        </p:nvSpPr>
        <p:spPr>
          <a:xfrm>
            <a:off x="10145660" y="5989320"/>
            <a:ext cx="1543115" cy="310896"/>
          </a:xfrm>
          <a:prstGeom prst="roundRect">
            <a:avLst>
              <a:gd name="adj" fmla="val 11765"/>
            </a:avLst>
          </a:prstGeom>
          <a:solidFill>
            <a:srgbClr val="DEE5F2"/>
          </a:solidFill>
          <a:ln w="12700">
            <a:solidFill>
              <a:srgbClr val="DEE5F2"/>
            </a:solidFill>
            <a:prstDash val="solid"/>
          </a:ln>
        </p:spPr>
      </p:sp>
      <p:sp>
        <p:nvSpPr>
          <p:cNvPr id="18" name="Text 16"/>
          <p:cNvSpPr/>
          <p:nvPr/>
        </p:nvSpPr>
        <p:spPr>
          <a:xfrm>
            <a:off x="10173092"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Inversión</a:t>
            </a:r>
            <a:endParaRPr lang="en-US" sz="740" dirty="0"/>
          </a:p>
        </p:txBody>
      </p:sp>
      <p:pic>
        <p:nvPicPr>
          <p:cNvPr id="19" name="Image 0" descr="/mnt/data/pptx_unzip/ppt/media/image79.jpg">    </p:cNvPr>
          <p:cNvPicPr>
            <a:picLocks noChangeAspect="1"/>
          </p:cNvPicPr>
          <p:nvPr/>
        </p:nvPicPr>
        <p:blipFill>
          <a:blip r:embed="rId1"/>
          <a:srcRect l="27178" r="27178" t="0" b="0"/>
          <a:stretch/>
        </p:blipFill>
        <p:spPr>
          <a:xfrm>
            <a:off x="502920" y="914400"/>
            <a:ext cx="5166360" cy="4023360"/>
          </a:xfrm>
          <a:prstGeom prst="rect">
            <a:avLst/>
          </a:prstGeom>
        </p:spPr>
      </p:pic>
      <p:pic>
        <p:nvPicPr>
          <p:cNvPr id="20" name="Image 1" descr="/mnt/data/pptx_unzip/ppt/media/image80.png">    </p:cNvPr>
          <p:cNvPicPr>
            <a:picLocks noChangeAspect="1"/>
          </p:cNvPicPr>
          <p:nvPr/>
        </p:nvPicPr>
        <p:blipFill>
          <a:blip r:embed="rId2"/>
          <a:stretch>
            <a:fillRect/>
          </a:stretch>
        </p:blipFill>
        <p:spPr>
          <a:xfrm>
            <a:off x="5989320" y="2394970"/>
            <a:ext cx="5303520" cy="1107939"/>
          </a:xfrm>
          <a:prstGeom prst="rect">
            <a:avLst/>
          </a:prstGeom>
        </p:spPr>
      </p:pic>
      <p:sp>
        <p:nvSpPr>
          <p:cNvPr id="21" name="Shape 17"/>
          <p:cNvSpPr/>
          <p:nvPr/>
        </p:nvSpPr>
        <p:spPr>
          <a:xfrm>
            <a:off x="914400" y="5257800"/>
            <a:ext cx="10424160" cy="530352"/>
          </a:xfrm>
          <a:prstGeom prst="roundRect">
            <a:avLst>
              <a:gd name="adj" fmla="val 13793"/>
            </a:avLst>
          </a:prstGeom>
          <a:solidFill>
            <a:srgbClr val="17225C"/>
          </a:solidFill>
          <a:ln w="12700">
            <a:solidFill>
              <a:srgbClr val="17225C">
                <a:alpha val="0"/>
              </a:srgbClr>
            </a:solidFill>
            <a:prstDash val="solid"/>
          </a:ln>
        </p:spPr>
      </p:sp>
      <p:sp>
        <p:nvSpPr>
          <p:cNvPr id="22" name="Text 18"/>
          <p:cNvSpPr/>
          <p:nvPr/>
        </p:nvSpPr>
        <p:spPr>
          <a:xfrm>
            <a:off x="1078992" y="5358384"/>
            <a:ext cx="10094976" cy="347472"/>
          </a:xfrm>
          <a:prstGeom prst="rect">
            <a:avLst/>
          </a:prstGeom>
          <a:noFill/>
          <a:ln/>
        </p:spPr>
        <p:txBody>
          <a:bodyPr wrap="square" lIns="0" tIns="0" rIns="0" bIns="0" rtlCol="0" anchor="ctr">
            <a:normAutofit/>
          </a:bodyPr>
          <a:lstStyle/>
          <a:p>
            <a:pPr indent="0" marL="0">
              <a:buNone/>
            </a:pPr>
            <a:r>
              <a:rPr lang="en-US" sz="1420" b="1" dirty="0">
                <a:solidFill>
                  <a:srgbClr val="FFFFFF"/>
                </a:solidFill>
                <a:latin typeface="Aptos" pitchFamily="34" charset="0"/>
                <a:ea typeface="Aptos" pitchFamily="34" charset="-122"/>
                <a:cs typeface="Aptos" pitchFamily="34" charset="-120"/>
              </a:rPr>
              <a:t>El martillete no es automatizar por comodidad: responde al déficit medido en baja frecuencia.</a:t>
            </a:r>
            <a:endParaRPr lang="en-US" sz="1420" dirty="0"/>
          </a:p>
        </p:txBody>
      </p:sp>
      <p:sp>
        <p:nvSpPr>
          <p:cNvPr id="23" name="Text 19"/>
          <p:cNvSpPr/>
          <p:nvPr/>
        </p:nvSpPr>
        <p:spPr>
          <a:xfrm>
            <a:off x="411480" y="6565392"/>
            <a:ext cx="11155680" cy="146304"/>
          </a:xfrm>
          <a:prstGeom prst="rect">
            <a:avLst/>
          </a:prstGeom>
          <a:noFill/>
          <a:ln/>
        </p:spPr>
        <p:txBody>
          <a:bodyPr wrap="square" lIns="0" tIns="0" rIns="0" bIns="0" rtlCol="0" anchor="ctr">
            <a:normAutofit/>
          </a:bodyPr>
          <a:lstStyle/>
          <a:p>
            <a:pPr indent="0" marL="0">
              <a:buNone/>
            </a:pPr>
            <a:r>
              <a:rPr lang="en-US" sz="650" dirty="0">
                <a:solidFill>
                  <a:srgbClr val="5B6472"/>
                </a:solidFill>
                <a:latin typeface="Aptos" pitchFamily="34" charset="0"/>
                <a:ea typeface="Aptos" pitchFamily="34" charset="-122"/>
                <a:cs typeface="Aptos" pitchFamily="34" charset="-120"/>
              </a:rPr>
              <a:t>Fuente: main(3).pdf, Sec. 5.4; Park et al. (1996) SIST; Guan et al. (2022) Mini‑Sosie.</a:t>
            </a:r>
            <a:endParaRPr lang="en-US" sz="6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17225C"/>
          </a:solidFill>
          <a:ln w="12700">
            <a:solidFill>
              <a:srgbClr val="17225C"/>
            </a:solidFill>
            <a:prstDash val="solid"/>
          </a:ln>
        </p:spPr>
      </p:sp>
      <p:sp>
        <p:nvSpPr>
          <p:cNvPr id="3" name="Text 1"/>
          <p:cNvSpPr/>
          <p:nvPr/>
        </p:nvSpPr>
        <p:spPr>
          <a:xfrm>
            <a:off x="411480" y="137160"/>
            <a:ext cx="9418320" cy="365760"/>
          </a:xfrm>
          <a:prstGeom prst="rect">
            <a:avLst/>
          </a:prstGeom>
          <a:noFill/>
          <a:ln/>
        </p:spPr>
        <p:txBody>
          <a:bodyPr wrap="square" lIns="0" tIns="0" rIns="0" bIns="0" rtlCol="0" anchor="ctr">
            <a:normAutofit/>
          </a:bodyPr>
          <a:lstStyle/>
          <a:p>
            <a:pPr indent="0" marL="0">
              <a:buNone/>
            </a:pPr>
            <a:r>
              <a:rPr lang="en-US" sz="2300" b="1" dirty="0">
                <a:solidFill>
                  <a:srgbClr val="FFFFFF"/>
                </a:solidFill>
                <a:latin typeface="Aptos Display" pitchFamily="34" charset="0"/>
                <a:ea typeface="Aptos Display" pitchFamily="34" charset="-122"/>
                <a:cs typeface="Aptos Display" pitchFamily="34" charset="-120"/>
              </a:rPr>
              <a:t>Procesar no significa elegir la cresta más bonita</a:t>
            </a:r>
            <a:endParaRPr lang="en-US" sz="2300" dirty="0"/>
          </a:p>
        </p:txBody>
      </p:sp>
      <p:sp>
        <p:nvSpPr>
          <p:cNvPr id="4" name="Text 2"/>
          <p:cNvSpPr/>
          <p:nvPr/>
        </p:nvSpPr>
        <p:spPr>
          <a:xfrm>
            <a:off x="10058400" y="201168"/>
            <a:ext cx="1737360" cy="228600"/>
          </a:xfrm>
          <a:prstGeom prst="rect">
            <a:avLst/>
          </a:prstGeom>
          <a:noFill/>
          <a:ln/>
        </p:spPr>
        <p:txBody>
          <a:bodyPr wrap="square" lIns="0" tIns="0" rIns="0" bIns="0" rtlCol="0" anchor="ctr">
            <a:normAutofit/>
          </a:bodyPr>
          <a:lstStyle/>
          <a:p>
            <a:pPr algn="r" indent="0" marL="0">
              <a:buNone/>
            </a:pPr>
            <a:r>
              <a:rPr lang="en-US" sz="850" dirty="0">
                <a:solidFill>
                  <a:srgbClr val="B8C4EA"/>
                </a:solidFill>
                <a:latin typeface="Aptos" pitchFamily="34" charset="0"/>
                <a:ea typeface="Aptos" pitchFamily="34" charset="-122"/>
                <a:cs typeface="Aptos" pitchFamily="34" charset="-120"/>
              </a:rPr>
              <a:t>Procesamiento / inversión</a:t>
            </a:r>
            <a:endParaRPr lang="en-US" sz="850" dirty="0"/>
          </a:p>
        </p:txBody>
      </p:sp>
      <p:sp>
        <p:nvSpPr>
          <p:cNvPr id="5" name="Shape 3"/>
          <p:cNvSpPr/>
          <p:nvPr/>
        </p:nvSpPr>
        <p:spPr>
          <a:xfrm>
            <a:off x="502920" y="5989320"/>
            <a:ext cx="1543115" cy="310896"/>
          </a:xfrm>
          <a:prstGeom prst="roundRect">
            <a:avLst>
              <a:gd name="adj" fmla="val 11765"/>
            </a:avLst>
          </a:prstGeom>
          <a:solidFill>
            <a:srgbClr val="DEE5F2"/>
          </a:solidFill>
          <a:ln w="12700">
            <a:solidFill>
              <a:srgbClr val="DEE5F2"/>
            </a:solidFill>
            <a:prstDash val="solid"/>
          </a:ln>
        </p:spPr>
      </p:sp>
      <p:sp>
        <p:nvSpPr>
          <p:cNvPr id="6" name="Text 4"/>
          <p:cNvSpPr/>
          <p:nvPr/>
        </p:nvSpPr>
        <p:spPr>
          <a:xfrm>
            <a:off x="530352"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Fuente</a:t>
            </a:r>
            <a:endParaRPr lang="en-US" sz="740" dirty="0"/>
          </a:p>
        </p:txBody>
      </p:sp>
      <p:sp>
        <p:nvSpPr>
          <p:cNvPr id="7" name="Shape 5"/>
          <p:cNvSpPr/>
          <p:nvPr/>
        </p:nvSpPr>
        <p:spPr>
          <a:xfrm>
            <a:off x="2110043" y="5989320"/>
            <a:ext cx="1543115" cy="310896"/>
          </a:xfrm>
          <a:prstGeom prst="roundRect">
            <a:avLst>
              <a:gd name="adj" fmla="val 11765"/>
            </a:avLst>
          </a:prstGeom>
          <a:solidFill>
            <a:srgbClr val="DEE5F2"/>
          </a:solidFill>
          <a:ln w="12700">
            <a:solidFill>
              <a:srgbClr val="DEE5F2"/>
            </a:solidFill>
            <a:prstDash val="solid"/>
          </a:ln>
        </p:spPr>
      </p:sp>
      <p:sp>
        <p:nvSpPr>
          <p:cNvPr id="8" name="Text 6"/>
          <p:cNvSpPr/>
          <p:nvPr/>
        </p:nvSpPr>
        <p:spPr>
          <a:xfrm>
            <a:off x="2137475"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Sensor</a:t>
            </a:r>
            <a:endParaRPr lang="en-US" sz="740" dirty="0"/>
          </a:p>
        </p:txBody>
      </p:sp>
      <p:sp>
        <p:nvSpPr>
          <p:cNvPr id="9" name="Shape 7"/>
          <p:cNvSpPr/>
          <p:nvPr/>
        </p:nvSpPr>
        <p:spPr>
          <a:xfrm>
            <a:off x="3717167" y="5989320"/>
            <a:ext cx="1543115" cy="310896"/>
          </a:xfrm>
          <a:prstGeom prst="roundRect">
            <a:avLst>
              <a:gd name="adj" fmla="val 11765"/>
            </a:avLst>
          </a:prstGeom>
          <a:solidFill>
            <a:srgbClr val="DEE5F2"/>
          </a:solidFill>
          <a:ln w="12700">
            <a:solidFill>
              <a:srgbClr val="DEE5F2"/>
            </a:solidFill>
            <a:prstDash val="solid"/>
          </a:ln>
        </p:spPr>
      </p:sp>
      <p:sp>
        <p:nvSpPr>
          <p:cNvPr id="10" name="Text 8"/>
          <p:cNvSpPr/>
          <p:nvPr/>
        </p:nvSpPr>
        <p:spPr>
          <a:xfrm>
            <a:off x="3744599"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AFE/ADC</a:t>
            </a:r>
            <a:endParaRPr lang="en-US" sz="740" dirty="0"/>
          </a:p>
        </p:txBody>
      </p:sp>
      <p:sp>
        <p:nvSpPr>
          <p:cNvPr id="11" name="Shape 9"/>
          <p:cNvSpPr/>
          <p:nvPr/>
        </p:nvSpPr>
        <p:spPr>
          <a:xfrm>
            <a:off x="5324290" y="5989320"/>
            <a:ext cx="1543115" cy="310896"/>
          </a:xfrm>
          <a:prstGeom prst="roundRect">
            <a:avLst>
              <a:gd name="adj" fmla="val 11765"/>
            </a:avLst>
          </a:prstGeom>
          <a:solidFill>
            <a:srgbClr val="DEE5F2"/>
          </a:solidFill>
          <a:ln w="12700">
            <a:solidFill>
              <a:srgbClr val="DEE5F2"/>
            </a:solidFill>
            <a:prstDash val="solid"/>
          </a:ln>
        </p:spPr>
      </p:sp>
      <p:sp>
        <p:nvSpPr>
          <p:cNvPr id="12" name="Text 10"/>
          <p:cNvSpPr/>
          <p:nvPr/>
        </p:nvSpPr>
        <p:spPr>
          <a:xfrm>
            <a:off x="5351722"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Sync/Red</a:t>
            </a:r>
            <a:endParaRPr lang="en-US" sz="740" dirty="0"/>
          </a:p>
        </p:txBody>
      </p:sp>
      <p:sp>
        <p:nvSpPr>
          <p:cNvPr id="13" name="Shape 11"/>
          <p:cNvSpPr/>
          <p:nvPr/>
        </p:nvSpPr>
        <p:spPr>
          <a:xfrm>
            <a:off x="6931413" y="5989320"/>
            <a:ext cx="1543115" cy="310896"/>
          </a:xfrm>
          <a:prstGeom prst="roundRect">
            <a:avLst>
              <a:gd name="adj" fmla="val 11765"/>
            </a:avLst>
          </a:prstGeom>
          <a:solidFill>
            <a:srgbClr val="DEE5F2"/>
          </a:solidFill>
          <a:ln w="12700">
            <a:solidFill>
              <a:srgbClr val="DEE5F2"/>
            </a:solidFill>
            <a:prstDash val="solid"/>
          </a:ln>
        </p:spPr>
      </p:sp>
      <p:sp>
        <p:nvSpPr>
          <p:cNvPr id="14" name="Text 12"/>
          <p:cNvSpPr/>
          <p:nvPr/>
        </p:nvSpPr>
        <p:spPr>
          <a:xfrm>
            <a:off x="6958845"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Interfaces</a:t>
            </a:r>
            <a:endParaRPr lang="en-US" sz="740" dirty="0"/>
          </a:p>
        </p:txBody>
      </p:sp>
      <p:sp>
        <p:nvSpPr>
          <p:cNvPr id="15" name="Shape 13"/>
          <p:cNvSpPr/>
          <p:nvPr/>
        </p:nvSpPr>
        <p:spPr>
          <a:xfrm>
            <a:off x="8538537" y="5989320"/>
            <a:ext cx="1543115" cy="310896"/>
          </a:xfrm>
          <a:prstGeom prst="roundRect">
            <a:avLst>
              <a:gd name="adj" fmla="val 11765"/>
            </a:avLst>
          </a:prstGeom>
          <a:solidFill>
            <a:srgbClr val="DEE5F2"/>
          </a:solidFill>
          <a:ln w="12700">
            <a:solidFill>
              <a:srgbClr val="DEE5F2"/>
            </a:solidFill>
            <a:prstDash val="solid"/>
          </a:ln>
        </p:spPr>
      </p:sp>
      <p:sp>
        <p:nvSpPr>
          <p:cNvPr id="16" name="Text 14"/>
          <p:cNvSpPr/>
          <p:nvPr/>
        </p:nvSpPr>
        <p:spPr>
          <a:xfrm>
            <a:off x="8565969"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17225C"/>
                </a:solidFill>
              </a:rPr>
              <a:t>MASW</a:t>
            </a:r>
            <a:endParaRPr lang="en-US" sz="740" dirty="0"/>
          </a:p>
        </p:txBody>
      </p:sp>
      <p:sp>
        <p:nvSpPr>
          <p:cNvPr id="17" name="Shape 15"/>
          <p:cNvSpPr/>
          <p:nvPr/>
        </p:nvSpPr>
        <p:spPr>
          <a:xfrm>
            <a:off x="10145660" y="5989320"/>
            <a:ext cx="1543115" cy="310896"/>
          </a:xfrm>
          <a:prstGeom prst="roundRect">
            <a:avLst>
              <a:gd name="adj" fmla="val 11765"/>
            </a:avLst>
          </a:prstGeom>
          <a:solidFill>
            <a:srgbClr val="F28C28"/>
          </a:solidFill>
          <a:ln w="12700">
            <a:solidFill>
              <a:srgbClr val="F28C28"/>
            </a:solidFill>
            <a:prstDash val="solid"/>
          </a:ln>
        </p:spPr>
      </p:sp>
      <p:sp>
        <p:nvSpPr>
          <p:cNvPr id="18" name="Text 16"/>
          <p:cNvSpPr/>
          <p:nvPr/>
        </p:nvSpPr>
        <p:spPr>
          <a:xfrm>
            <a:off x="10173092" y="6062472"/>
            <a:ext cx="1488251" cy="137160"/>
          </a:xfrm>
          <a:prstGeom prst="rect">
            <a:avLst/>
          </a:prstGeom>
          <a:noFill/>
          <a:ln/>
        </p:spPr>
        <p:txBody>
          <a:bodyPr wrap="square" lIns="0" tIns="0" rIns="0" bIns="0" rtlCol="0" anchor="ctr">
            <a:normAutofit/>
          </a:bodyPr>
          <a:lstStyle/>
          <a:p>
            <a:pPr algn="ctr" indent="0" marL="0">
              <a:buNone/>
            </a:pPr>
            <a:r>
              <a:rPr lang="en-US" sz="740" b="1" dirty="0">
                <a:solidFill>
                  <a:srgbClr val="FFFFFF"/>
                </a:solidFill>
              </a:rPr>
              <a:t>Inversión</a:t>
            </a:r>
            <a:endParaRPr lang="en-US" sz="740" dirty="0"/>
          </a:p>
        </p:txBody>
      </p:sp>
      <p:pic>
        <p:nvPicPr>
          <p:cNvPr id="19" name="Image 0" descr="/mnt/data/pdf_pages/benchmark-01.png">    </p:cNvPr>
          <p:cNvPicPr>
            <a:picLocks noChangeAspect="1"/>
          </p:cNvPicPr>
          <p:nvPr/>
        </p:nvPicPr>
        <p:blipFill>
          <a:blip r:embed="rId1"/>
          <a:srcRect l="0" r="0" t="944" b="944"/>
          <a:stretch/>
        </p:blipFill>
        <p:spPr>
          <a:xfrm>
            <a:off x="502920" y="914400"/>
            <a:ext cx="3657600" cy="5074920"/>
          </a:xfrm>
          <a:prstGeom prst="rect">
            <a:avLst/>
          </a:prstGeom>
        </p:spPr>
      </p:pic>
      <p:sp>
        <p:nvSpPr>
          <p:cNvPr id="20" name="Shape 17"/>
          <p:cNvSpPr/>
          <p:nvPr/>
        </p:nvSpPr>
        <p:spPr>
          <a:xfrm>
            <a:off x="4526280" y="1051560"/>
            <a:ext cx="6537960" cy="960120"/>
          </a:xfrm>
          <a:prstGeom prst="roundRect">
            <a:avLst>
              <a:gd name="adj" fmla="val 7619"/>
            </a:avLst>
          </a:prstGeom>
          <a:solidFill>
            <a:srgbClr val="FFFFFF"/>
          </a:solidFill>
          <a:ln w="10160">
            <a:solidFill>
              <a:srgbClr val="DCE2EA"/>
            </a:solidFill>
            <a:prstDash val="solid"/>
          </a:ln>
        </p:spPr>
      </p:sp>
      <p:sp>
        <p:nvSpPr>
          <p:cNvPr id="21" name="Text 18"/>
          <p:cNvSpPr/>
          <p:nvPr/>
        </p:nvSpPr>
        <p:spPr>
          <a:xfrm>
            <a:off x="4800600" y="1307592"/>
            <a:ext cx="5989320" cy="228600"/>
          </a:xfrm>
          <a:prstGeom prst="rect">
            <a:avLst/>
          </a:prstGeom>
          <a:noFill/>
          <a:ln/>
        </p:spPr>
        <p:txBody>
          <a:bodyPr wrap="square" lIns="0" tIns="0" rIns="0" bIns="0" rtlCol="0" anchor="ctr">
            <a:normAutofit/>
          </a:bodyPr>
          <a:lstStyle/>
          <a:p>
            <a:pPr indent="0" marL="0">
              <a:buNone/>
            </a:pPr>
            <a:r>
              <a:rPr lang="en-US" sz="1650" b="1" dirty="0">
                <a:solidFill>
                  <a:srgbClr val="121826"/>
                </a:solidFill>
              </a:rPr>
              <a:t>1640 corridas · 1051 pipelines · 276 pickers · 52 inversiones · 261 adversariales</a:t>
            </a:r>
            <a:endParaRPr lang="en-US" sz="1650" dirty="0"/>
          </a:p>
        </p:txBody>
      </p:sp>
      <p:sp>
        <p:nvSpPr>
          <p:cNvPr id="22" name="Shape 19"/>
          <p:cNvSpPr/>
          <p:nvPr/>
        </p:nvSpPr>
        <p:spPr>
          <a:xfrm>
            <a:off x="4709160" y="2514600"/>
            <a:ext cx="118872" cy="118872"/>
          </a:xfrm>
          <a:prstGeom prst="rect">
            <a:avLst/>
          </a:prstGeom>
          <a:solidFill>
            <a:srgbClr val="F28C28"/>
          </a:solidFill>
          <a:ln w="12700">
            <a:solidFill>
              <a:srgbClr val="F28C28"/>
            </a:solidFill>
            <a:prstDash val="solid"/>
          </a:ln>
        </p:spPr>
      </p:sp>
      <p:sp>
        <p:nvSpPr>
          <p:cNvPr id="23" name="Text 20"/>
          <p:cNvSpPr/>
          <p:nvPr/>
        </p:nvSpPr>
        <p:spPr>
          <a:xfrm>
            <a:off x="4983480" y="2404872"/>
            <a:ext cx="6126480" cy="320040"/>
          </a:xfrm>
          <a:prstGeom prst="rect">
            <a:avLst/>
          </a:prstGeom>
          <a:noFill/>
          <a:ln/>
        </p:spPr>
        <p:txBody>
          <a:bodyPr wrap="square" lIns="0" tIns="0" rIns="0" bIns="0" rtlCol="0" anchor="ctr">
            <a:normAutofit/>
          </a:bodyPr>
          <a:lstStyle/>
          <a:p>
            <a:pPr indent="0" marL="0">
              <a:buNone/>
            </a:pPr>
            <a:r>
              <a:rPr lang="en-US" sz="1550" dirty="0">
                <a:solidFill>
                  <a:srgbClr val="121826"/>
                </a:solidFill>
              </a:rPr>
              <a:t>DP puede inventar curva donde sólo hay ruido: necesita QC.</a:t>
            </a:r>
            <a:endParaRPr lang="en-US" sz="1550" dirty="0"/>
          </a:p>
        </p:txBody>
      </p:sp>
      <p:sp>
        <p:nvSpPr>
          <p:cNvPr id="24" name="Shape 21"/>
          <p:cNvSpPr/>
          <p:nvPr/>
        </p:nvSpPr>
        <p:spPr>
          <a:xfrm>
            <a:off x="4709160" y="3264408"/>
            <a:ext cx="118872" cy="118872"/>
          </a:xfrm>
          <a:prstGeom prst="rect">
            <a:avLst/>
          </a:prstGeom>
          <a:solidFill>
            <a:srgbClr val="F28C28"/>
          </a:solidFill>
          <a:ln w="12700">
            <a:solidFill>
              <a:srgbClr val="F28C28"/>
            </a:solidFill>
            <a:prstDash val="solid"/>
          </a:ln>
        </p:spPr>
      </p:sp>
      <p:sp>
        <p:nvSpPr>
          <p:cNvPr id="25" name="Text 22"/>
          <p:cNvSpPr/>
          <p:nvPr/>
        </p:nvSpPr>
        <p:spPr>
          <a:xfrm>
            <a:off x="4983480" y="3154680"/>
            <a:ext cx="6126480" cy="320040"/>
          </a:xfrm>
          <a:prstGeom prst="rect">
            <a:avLst/>
          </a:prstGeom>
          <a:noFill/>
          <a:ln/>
        </p:spPr>
        <p:txBody>
          <a:bodyPr wrap="square" lIns="0" tIns="0" rIns="0" bIns="0" rtlCol="0" anchor="ctr">
            <a:normAutofit/>
          </a:bodyPr>
          <a:lstStyle/>
          <a:p>
            <a:pPr indent="0" marL="0">
              <a:buNone/>
            </a:pPr>
            <a:r>
              <a:rPr lang="en-US" sz="1550" dirty="0">
                <a:solidFill>
                  <a:srgbClr val="121826"/>
                </a:solidFill>
              </a:rPr>
              <a:t>Más capas no siempre significan más verdad: pueden medir al optimizador.</a:t>
            </a:r>
            <a:endParaRPr lang="en-US" sz="1550" dirty="0"/>
          </a:p>
        </p:txBody>
      </p:sp>
      <p:sp>
        <p:nvSpPr>
          <p:cNvPr id="26" name="Shape 23"/>
          <p:cNvSpPr/>
          <p:nvPr/>
        </p:nvSpPr>
        <p:spPr>
          <a:xfrm>
            <a:off x="4709160" y="4014216"/>
            <a:ext cx="118872" cy="118872"/>
          </a:xfrm>
          <a:prstGeom prst="rect">
            <a:avLst/>
          </a:prstGeom>
          <a:solidFill>
            <a:srgbClr val="F28C28"/>
          </a:solidFill>
          <a:ln w="12700">
            <a:solidFill>
              <a:srgbClr val="F28C28"/>
            </a:solidFill>
            <a:prstDash val="solid"/>
          </a:ln>
        </p:spPr>
      </p:sp>
      <p:sp>
        <p:nvSpPr>
          <p:cNvPr id="27" name="Text 24"/>
          <p:cNvSpPr/>
          <p:nvPr/>
        </p:nvSpPr>
        <p:spPr>
          <a:xfrm>
            <a:off x="4983480" y="3904488"/>
            <a:ext cx="6126480" cy="320040"/>
          </a:xfrm>
          <a:prstGeom prst="rect">
            <a:avLst/>
          </a:prstGeom>
          <a:noFill/>
          <a:ln/>
        </p:spPr>
        <p:txBody>
          <a:bodyPr wrap="square" lIns="0" tIns="0" rIns="0" bIns="0" rtlCol="0" anchor="ctr">
            <a:normAutofit/>
          </a:bodyPr>
          <a:lstStyle/>
          <a:p>
            <a:pPr indent="0" marL="0">
              <a:buNone/>
            </a:pPr>
            <a:r>
              <a:rPr lang="en-US" sz="1550" dirty="0">
                <a:solidFill>
                  <a:srgbClr val="121826"/>
                </a:solidFill>
              </a:rPr>
              <a:t>La profundidad aparente puede ser explotada por métricas mal definidas.</a:t>
            </a:r>
            <a:endParaRPr lang="en-US" sz="1550" dirty="0"/>
          </a:p>
        </p:txBody>
      </p:sp>
      <p:sp>
        <p:nvSpPr>
          <p:cNvPr id="28" name="Shape 25"/>
          <p:cNvSpPr/>
          <p:nvPr/>
        </p:nvSpPr>
        <p:spPr>
          <a:xfrm>
            <a:off x="4572000" y="5166360"/>
            <a:ext cx="6492240" cy="594360"/>
          </a:xfrm>
          <a:prstGeom prst="roundRect">
            <a:avLst>
              <a:gd name="adj" fmla="val 12308"/>
            </a:avLst>
          </a:prstGeom>
          <a:solidFill>
            <a:srgbClr val="17225C"/>
          </a:solidFill>
          <a:ln w="12700">
            <a:solidFill>
              <a:srgbClr val="17225C">
                <a:alpha val="0"/>
              </a:srgbClr>
            </a:solidFill>
            <a:prstDash val="solid"/>
          </a:ln>
        </p:spPr>
      </p:sp>
      <p:sp>
        <p:nvSpPr>
          <p:cNvPr id="29" name="Text 26"/>
          <p:cNvSpPr/>
          <p:nvPr/>
        </p:nvSpPr>
        <p:spPr>
          <a:xfrm>
            <a:off x="4736592" y="5266944"/>
            <a:ext cx="6163056" cy="411480"/>
          </a:xfrm>
          <a:prstGeom prst="rect">
            <a:avLst/>
          </a:prstGeom>
          <a:noFill/>
          <a:ln/>
        </p:spPr>
        <p:txBody>
          <a:bodyPr wrap="square" lIns="0" tIns="0" rIns="0" bIns="0" rtlCol="0" anchor="ctr">
            <a:normAutofit/>
          </a:bodyPr>
          <a:lstStyle/>
          <a:p>
            <a:pPr indent="0" marL="0">
              <a:buNone/>
            </a:pPr>
            <a:r>
              <a:rPr lang="en-US" sz="1400" b="1" dirty="0">
                <a:solidFill>
                  <a:srgbClr val="FFFFFF"/>
                </a:solidFill>
                <a:latin typeface="Aptos" pitchFamily="34" charset="0"/>
                <a:ea typeface="Aptos" pitchFamily="34" charset="-122"/>
                <a:cs typeface="Aptos" pitchFamily="34" charset="-120"/>
              </a:rPr>
              <a:t>La validación debe reportar incertidumbre, no sólo un perfil Vs(z) atractivo.</a:t>
            </a:r>
            <a:endParaRPr lang="en-US" sz="1400" dirty="0"/>
          </a:p>
        </p:txBody>
      </p:sp>
      <p:sp>
        <p:nvSpPr>
          <p:cNvPr id="30" name="Text 27"/>
          <p:cNvSpPr/>
          <p:nvPr/>
        </p:nvSpPr>
        <p:spPr>
          <a:xfrm>
            <a:off x="411480" y="6565392"/>
            <a:ext cx="11155680" cy="146304"/>
          </a:xfrm>
          <a:prstGeom prst="rect">
            <a:avLst/>
          </a:prstGeom>
          <a:noFill/>
          <a:ln/>
        </p:spPr>
        <p:txBody>
          <a:bodyPr wrap="square" lIns="0" tIns="0" rIns="0" bIns="0" rtlCol="0" anchor="ctr">
            <a:normAutofit/>
          </a:bodyPr>
          <a:lstStyle/>
          <a:p>
            <a:pPr indent="0" marL="0">
              <a:buNone/>
            </a:pPr>
            <a:r>
              <a:rPr lang="en-US" sz="650" dirty="0">
                <a:solidFill>
                  <a:srgbClr val="5B6472"/>
                </a:solidFill>
                <a:latin typeface="Aptos" pitchFamily="34" charset="0"/>
                <a:ea typeface="Aptos" pitchFamily="34" charset="-122"/>
                <a:cs typeface="Aptos" pitchFamily="34" charset="-120"/>
              </a:rPr>
              <a:t>Fuente: Benchmark MASW — informe consolidado, 23/08/2026.</a:t>
            </a:r>
            <a:endParaRPr lang="en-US" sz="6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17225C"/>
          </a:solidFill>
          <a:ln w="12700">
            <a:solidFill>
              <a:srgbClr val="17225C"/>
            </a:solidFill>
            <a:prstDash val="solid"/>
          </a:ln>
        </p:spPr>
      </p:sp>
      <p:sp>
        <p:nvSpPr>
          <p:cNvPr id="3" name="Text 1"/>
          <p:cNvSpPr/>
          <p:nvPr/>
        </p:nvSpPr>
        <p:spPr>
          <a:xfrm>
            <a:off x="411480" y="137160"/>
            <a:ext cx="9418320" cy="365760"/>
          </a:xfrm>
          <a:prstGeom prst="rect">
            <a:avLst/>
          </a:prstGeom>
          <a:noFill/>
          <a:ln/>
        </p:spPr>
        <p:txBody>
          <a:bodyPr wrap="square" lIns="0" tIns="0" rIns="0" bIns="0" rtlCol="0" anchor="ctr">
            <a:normAutofit/>
          </a:bodyPr>
          <a:lstStyle/>
          <a:p>
            <a:pPr indent="0" marL="0">
              <a:buNone/>
            </a:pPr>
            <a:r>
              <a:rPr lang="en-US" sz="2300" b="1" dirty="0">
                <a:solidFill>
                  <a:srgbClr val="FFFFFF"/>
                </a:solidFill>
                <a:latin typeface="Aptos Display" pitchFamily="34" charset="0"/>
                <a:ea typeface="Aptos Display" pitchFamily="34" charset="-122"/>
                <a:cs typeface="Aptos Display" pitchFamily="34" charset="-120"/>
              </a:rPr>
              <a:t>Estado actual: sistema integrado, límites identificados, validación en marcha</a:t>
            </a:r>
            <a:endParaRPr lang="en-US" sz="2300" dirty="0"/>
          </a:p>
        </p:txBody>
      </p:sp>
      <p:sp>
        <p:nvSpPr>
          <p:cNvPr id="4" name="Text 2"/>
          <p:cNvSpPr/>
          <p:nvPr/>
        </p:nvSpPr>
        <p:spPr>
          <a:xfrm>
            <a:off x="10058400" y="201168"/>
            <a:ext cx="1737360" cy="228600"/>
          </a:xfrm>
          <a:prstGeom prst="rect">
            <a:avLst/>
          </a:prstGeom>
          <a:noFill/>
          <a:ln/>
        </p:spPr>
        <p:txBody>
          <a:bodyPr wrap="square" lIns="0" tIns="0" rIns="0" bIns="0" rtlCol="0" anchor="ctr">
            <a:normAutofit/>
          </a:bodyPr>
          <a:lstStyle/>
          <a:p>
            <a:pPr algn="r" indent="0" marL="0">
              <a:buNone/>
            </a:pPr>
            <a:r>
              <a:rPr lang="en-US" sz="850" dirty="0">
                <a:solidFill>
                  <a:srgbClr val="B8C4EA"/>
                </a:solidFill>
                <a:latin typeface="Aptos" pitchFamily="34" charset="0"/>
                <a:ea typeface="Aptos" pitchFamily="34" charset="-122"/>
                <a:cs typeface="Aptos" pitchFamily="34" charset="-120"/>
              </a:rPr>
              <a:t>Cierre</a:t>
            </a:r>
            <a:endParaRPr lang="en-US" sz="850" dirty="0"/>
          </a:p>
        </p:txBody>
      </p:sp>
      <p:sp>
        <p:nvSpPr>
          <p:cNvPr id="5" name="Shape 3"/>
          <p:cNvSpPr/>
          <p:nvPr/>
        </p:nvSpPr>
        <p:spPr>
          <a:xfrm>
            <a:off x="685800" y="960120"/>
            <a:ext cx="1874520" cy="438912"/>
          </a:xfrm>
          <a:prstGeom prst="roundRect">
            <a:avLst>
              <a:gd name="adj" fmla="val 12500"/>
            </a:avLst>
          </a:prstGeom>
          <a:solidFill>
            <a:srgbClr val="0D6B5D"/>
          </a:solidFill>
          <a:ln w="12700">
            <a:solidFill>
              <a:srgbClr val="0D6B5D"/>
            </a:solidFill>
            <a:prstDash val="solid"/>
          </a:ln>
        </p:spPr>
      </p:sp>
      <p:sp>
        <p:nvSpPr>
          <p:cNvPr id="6" name="Text 4"/>
          <p:cNvSpPr/>
          <p:nvPr/>
        </p:nvSpPr>
        <p:spPr>
          <a:xfrm>
            <a:off x="804672" y="1078992"/>
            <a:ext cx="1645920" cy="137160"/>
          </a:xfrm>
          <a:prstGeom prst="rect">
            <a:avLst/>
          </a:prstGeom>
          <a:noFill/>
          <a:ln/>
        </p:spPr>
        <p:txBody>
          <a:bodyPr wrap="square" lIns="0" tIns="0" rIns="0" bIns="0" rtlCol="0" anchor="ctr">
            <a:normAutofit/>
          </a:bodyPr>
          <a:lstStyle/>
          <a:p>
            <a:pPr algn="ctr" indent="0" marL="0">
              <a:buNone/>
            </a:pPr>
            <a:r>
              <a:rPr lang="en-US" sz="950" b="1" dirty="0">
                <a:solidFill>
                  <a:srgbClr val="FFFFFF"/>
                </a:solidFill>
              </a:rPr>
              <a:t>Fuente</a:t>
            </a:r>
            <a:endParaRPr lang="en-US" sz="950" dirty="0"/>
          </a:p>
        </p:txBody>
      </p:sp>
      <p:sp>
        <p:nvSpPr>
          <p:cNvPr id="7" name="Text 5"/>
          <p:cNvSpPr/>
          <p:nvPr/>
        </p:nvSpPr>
        <p:spPr>
          <a:xfrm>
            <a:off x="2971800" y="1069848"/>
            <a:ext cx="2011680" cy="146304"/>
          </a:xfrm>
          <a:prstGeom prst="rect">
            <a:avLst/>
          </a:prstGeom>
          <a:noFill/>
          <a:ln/>
        </p:spPr>
        <p:txBody>
          <a:bodyPr wrap="square" lIns="0" tIns="0" rIns="0" bIns="0" rtlCol="0" anchor="ctr">
            <a:normAutofit/>
          </a:bodyPr>
          <a:lstStyle/>
          <a:p>
            <a:pPr indent="0" marL="0">
              <a:buNone/>
            </a:pPr>
            <a:r>
              <a:rPr lang="en-US" sz="1250" b="1" dirty="0">
                <a:solidFill>
                  <a:srgbClr val="121826"/>
                </a:solidFill>
              </a:rPr>
              <a:t>funcional</a:t>
            </a:r>
            <a:endParaRPr lang="en-US" sz="1250" dirty="0"/>
          </a:p>
        </p:txBody>
      </p:sp>
      <p:sp>
        <p:nvSpPr>
          <p:cNvPr id="8" name="Text 6"/>
          <p:cNvSpPr/>
          <p:nvPr/>
        </p:nvSpPr>
        <p:spPr>
          <a:xfrm>
            <a:off x="5212080" y="1069848"/>
            <a:ext cx="5212080" cy="146304"/>
          </a:xfrm>
          <a:prstGeom prst="rect">
            <a:avLst/>
          </a:prstGeom>
          <a:noFill/>
          <a:ln/>
        </p:spPr>
        <p:txBody>
          <a:bodyPr wrap="square" lIns="0" tIns="0" rIns="0" bIns="0" rtlCol="0" anchor="ctr">
            <a:normAutofit/>
          </a:bodyPr>
          <a:lstStyle/>
          <a:p>
            <a:pPr indent="0" marL="0">
              <a:buNone/>
            </a:pPr>
            <a:r>
              <a:rPr lang="en-US" sz="1200" dirty="0">
                <a:solidFill>
                  <a:srgbClr val="5B6472"/>
                </a:solidFill>
              </a:rPr>
              <a:t>baja frecuencia insuficiente</a:t>
            </a:r>
            <a:endParaRPr lang="en-US" sz="1200" dirty="0"/>
          </a:p>
        </p:txBody>
      </p:sp>
      <p:sp>
        <p:nvSpPr>
          <p:cNvPr id="9" name="Shape 7"/>
          <p:cNvSpPr/>
          <p:nvPr/>
        </p:nvSpPr>
        <p:spPr>
          <a:xfrm>
            <a:off x="685800" y="1673352"/>
            <a:ext cx="1874520" cy="438912"/>
          </a:xfrm>
          <a:prstGeom prst="roundRect">
            <a:avLst>
              <a:gd name="adj" fmla="val 12500"/>
            </a:avLst>
          </a:prstGeom>
          <a:solidFill>
            <a:srgbClr val="0D6B5D"/>
          </a:solidFill>
          <a:ln w="12700">
            <a:solidFill>
              <a:srgbClr val="0D6B5D"/>
            </a:solidFill>
            <a:prstDash val="solid"/>
          </a:ln>
        </p:spPr>
      </p:sp>
      <p:sp>
        <p:nvSpPr>
          <p:cNvPr id="10" name="Text 8"/>
          <p:cNvSpPr/>
          <p:nvPr/>
        </p:nvSpPr>
        <p:spPr>
          <a:xfrm>
            <a:off x="804672" y="1792224"/>
            <a:ext cx="1645920" cy="137160"/>
          </a:xfrm>
          <a:prstGeom prst="rect">
            <a:avLst/>
          </a:prstGeom>
          <a:noFill/>
          <a:ln/>
        </p:spPr>
        <p:txBody>
          <a:bodyPr wrap="square" lIns="0" tIns="0" rIns="0" bIns="0" rtlCol="0" anchor="ctr">
            <a:normAutofit/>
          </a:bodyPr>
          <a:lstStyle/>
          <a:p>
            <a:pPr algn="ctr" indent="0" marL="0">
              <a:buNone/>
            </a:pPr>
            <a:r>
              <a:rPr lang="en-US" sz="950" b="1" dirty="0">
                <a:solidFill>
                  <a:srgbClr val="FFFFFF"/>
                </a:solidFill>
              </a:rPr>
              <a:t>Sensor/AFE</a:t>
            </a:r>
            <a:endParaRPr lang="en-US" sz="950" dirty="0"/>
          </a:p>
        </p:txBody>
      </p:sp>
      <p:sp>
        <p:nvSpPr>
          <p:cNvPr id="11" name="Text 9"/>
          <p:cNvSpPr/>
          <p:nvPr/>
        </p:nvSpPr>
        <p:spPr>
          <a:xfrm>
            <a:off x="2971800" y="1783080"/>
            <a:ext cx="2011680" cy="146304"/>
          </a:xfrm>
          <a:prstGeom prst="rect">
            <a:avLst/>
          </a:prstGeom>
          <a:noFill/>
          <a:ln/>
        </p:spPr>
        <p:txBody>
          <a:bodyPr wrap="square" lIns="0" tIns="0" rIns="0" bIns="0" rtlCol="0" anchor="ctr">
            <a:normAutofit/>
          </a:bodyPr>
          <a:lstStyle/>
          <a:p>
            <a:pPr indent="0" marL="0">
              <a:buNone/>
            </a:pPr>
            <a:r>
              <a:rPr lang="en-US" sz="1250" b="1" dirty="0">
                <a:solidFill>
                  <a:srgbClr val="121826"/>
                </a:solidFill>
              </a:rPr>
              <a:t>implementado</a:t>
            </a:r>
            <a:endParaRPr lang="en-US" sz="1250" dirty="0"/>
          </a:p>
        </p:txBody>
      </p:sp>
      <p:sp>
        <p:nvSpPr>
          <p:cNvPr id="12" name="Text 10"/>
          <p:cNvSpPr/>
          <p:nvPr/>
        </p:nvSpPr>
        <p:spPr>
          <a:xfrm>
            <a:off x="5212080" y="1783080"/>
            <a:ext cx="5212080" cy="146304"/>
          </a:xfrm>
          <a:prstGeom prst="rect">
            <a:avLst/>
          </a:prstGeom>
          <a:noFill/>
          <a:ln/>
        </p:spPr>
        <p:txBody>
          <a:bodyPr wrap="square" lIns="0" tIns="0" rIns="0" bIns="0" rtlCol="0" anchor="ctr">
            <a:normAutofit/>
          </a:bodyPr>
          <a:lstStyle/>
          <a:p>
            <a:pPr indent="0" marL="0">
              <a:buNone/>
            </a:pPr>
            <a:r>
              <a:rPr lang="en-US" sz="1200" dirty="0">
                <a:solidFill>
                  <a:srgbClr val="5B6472"/>
                </a:solidFill>
              </a:rPr>
              <a:t>revisión IDAC/PGA pendiente</a:t>
            </a:r>
            <a:endParaRPr lang="en-US" sz="1200" dirty="0"/>
          </a:p>
        </p:txBody>
      </p:sp>
      <p:sp>
        <p:nvSpPr>
          <p:cNvPr id="13" name="Shape 11"/>
          <p:cNvSpPr/>
          <p:nvPr/>
        </p:nvSpPr>
        <p:spPr>
          <a:xfrm>
            <a:off x="685800" y="2386584"/>
            <a:ext cx="1874520" cy="438912"/>
          </a:xfrm>
          <a:prstGeom prst="roundRect">
            <a:avLst>
              <a:gd name="adj" fmla="val 12500"/>
            </a:avLst>
          </a:prstGeom>
          <a:solidFill>
            <a:srgbClr val="0D6B5D"/>
          </a:solidFill>
          <a:ln w="12700">
            <a:solidFill>
              <a:srgbClr val="0D6B5D"/>
            </a:solidFill>
            <a:prstDash val="solid"/>
          </a:ln>
        </p:spPr>
      </p:sp>
      <p:sp>
        <p:nvSpPr>
          <p:cNvPr id="14" name="Text 12"/>
          <p:cNvSpPr/>
          <p:nvPr/>
        </p:nvSpPr>
        <p:spPr>
          <a:xfrm>
            <a:off x="804672" y="2505456"/>
            <a:ext cx="1645920" cy="137160"/>
          </a:xfrm>
          <a:prstGeom prst="rect">
            <a:avLst/>
          </a:prstGeom>
          <a:noFill/>
          <a:ln/>
        </p:spPr>
        <p:txBody>
          <a:bodyPr wrap="square" lIns="0" tIns="0" rIns="0" bIns="0" rtlCol="0" anchor="ctr">
            <a:normAutofit/>
          </a:bodyPr>
          <a:lstStyle/>
          <a:p>
            <a:pPr algn="ctr" indent="0" marL="0">
              <a:buNone/>
            </a:pPr>
            <a:r>
              <a:rPr lang="en-US" sz="950" b="1" dirty="0">
                <a:solidFill>
                  <a:srgbClr val="FFFFFF"/>
                </a:solidFill>
              </a:rPr>
              <a:t>ADC</a:t>
            </a:r>
            <a:endParaRPr lang="en-US" sz="950" dirty="0"/>
          </a:p>
        </p:txBody>
      </p:sp>
      <p:sp>
        <p:nvSpPr>
          <p:cNvPr id="15" name="Text 13"/>
          <p:cNvSpPr/>
          <p:nvPr/>
        </p:nvSpPr>
        <p:spPr>
          <a:xfrm>
            <a:off x="2971800" y="2496312"/>
            <a:ext cx="2011680" cy="146304"/>
          </a:xfrm>
          <a:prstGeom prst="rect">
            <a:avLst/>
          </a:prstGeom>
          <a:noFill/>
          <a:ln/>
        </p:spPr>
        <p:txBody>
          <a:bodyPr wrap="square" lIns="0" tIns="0" rIns="0" bIns="0" rtlCol="0" anchor="ctr">
            <a:normAutofit/>
          </a:bodyPr>
          <a:lstStyle/>
          <a:p>
            <a:pPr indent="0" marL="0">
              <a:buNone/>
            </a:pPr>
            <a:r>
              <a:rPr lang="en-US" sz="1250" b="1" dirty="0">
                <a:solidFill>
                  <a:srgbClr val="121826"/>
                </a:solidFill>
              </a:rPr>
              <a:t>funcional</a:t>
            </a:r>
            <a:endParaRPr lang="en-US" sz="1250" dirty="0"/>
          </a:p>
        </p:txBody>
      </p:sp>
      <p:sp>
        <p:nvSpPr>
          <p:cNvPr id="16" name="Text 14"/>
          <p:cNvSpPr/>
          <p:nvPr/>
        </p:nvSpPr>
        <p:spPr>
          <a:xfrm>
            <a:off x="5212080" y="2496312"/>
            <a:ext cx="5212080" cy="146304"/>
          </a:xfrm>
          <a:prstGeom prst="rect">
            <a:avLst/>
          </a:prstGeom>
          <a:noFill/>
          <a:ln/>
        </p:spPr>
        <p:txBody>
          <a:bodyPr wrap="square" lIns="0" tIns="0" rIns="0" bIns="0" rtlCol="0" anchor="ctr">
            <a:normAutofit/>
          </a:bodyPr>
          <a:lstStyle/>
          <a:p>
            <a:pPr indent="0" marL="0">
              <a:buNone/>
            </a:pPr>
            <a:r>
              <a:rPr lang="en-US" sz="1200" dirty="0">
                <a:solidFill>
                  <a:srgbClr val="5B6472"/>
                </a:solidFill>
              </a:rPr>
              <a:t>caracterización extremo a extremo</a:t>
            </a:r>
            <a:endParaRPr lang="en-US" sz="1200" dirty="0"/>
          </a:p>
        </p:txBody>
      </p:sp>
      <p:sp>
        <p:nvSpPr>
          <p:cNvPr id="17" name="Shape 15"/>
          <p:cNvSpPr/>
          <p:nvPr/>
        </p:nvSpPr>
        <p:spPr>
          <a:xfrm>
            <a:off x="685800" y="3099816"/>
            <a:ext cx="1874520" cy="438912"/>
          </a:xfrm>
          <a:prstGeom prst="roundRect">
            <a:avLst>
              <a:gd name="adj" fmla="val 12500"/>
            </a:avLst>
          </a:prstGeom>
          <a:solidFill>
            <a:srgbClr val="0D6B5D"/>
          </a:solidFill>
          <a:ln w="12700">
            <a:solidFill>
              <a:srgbClr val="0D6B5D"/>
            </a:solidFill>
            <a:prstDash val="solid"/>
          </a:ln>
        </p:spPr>
      </p:sp>
      <p:sp>
        <p:nvSpPr>
          <p:cNvPr id="18" name="Text 16"/>
          <p:cNvSpPr/>
          <p:nvPr/>
        </p:nvSpPr>
        <p:spPr>
          <a:xfrm>
            <a:off x="804672" y="3218688"/>
            <a:ext cx="1645920" cy="137160"/>
          </a:xfrm>
          <a:prstGeom prst="rect">
            <a:avLst/>
          </a:prstGeom>
          <a:noFill/>
          <a:ln/>
        </p:spPr>
        <p:txBody>
          <a:bodyPr wrap="square" lIns="0" tIns="0" rIns="0" bIns="0" rtlCol="0" anchor="ctr">
            <a:normAutofit/>
          </a:bodyPr>
          <a:lstStyle/>
          <a:p>
            <a:pPr algn="ctr" indent="0" marL="0">
              <a:buNone/>
            </a:pPr>
            <a:r>
              <a:rPr lang="en-US" sz="950" b="1" dirty="0">
                <a:solidFill>
                  <a:srgbClr val="FFFFFF"/>
                </a:solidFill>
              </a:rPr>
              <a:t>Red</a:t>
            </a:r>
            <a:endParaRPr lang="en-US" sz="950" dirty="0"/>
          </a:p>
        </p:txBody>
      </p:sp>
      <p:sp>
        <p:nvSpPr>
          <p:cNvPr id="19" name="Text 17"/>
          <p:cNvSpPr/>
          <p:nvPr/>
        </p:nvSpPr>
        <p:spPr>
          <a:xfrm>
            <a:off x="2971800" y="3209544"/>
            <a:ext cx="2011680" cy="146304"/>
          </a:xfrm>
          <a:prstGeom prst="rect">
            <a:avLst/>
          </a:prstGeom>
          <a:noFill/>
          <a:ln/>
        </p:spPr>
        <p:txBody>
          <a:bodyPr wrap="square" lIns="0" tIns="0" rIns="0" bIns="0" rtlCol="0" anchor="ctr">
            <a:normAutofit/>
          </a:bodyPr>
          <a:lstStyle/>
          <a:p>
            <a:pPr indent="0" marL="0">
              <a:buNone/>
            </a:pPr>
            <a:r>
              <a:rPr lang="en-US" sz="1250" b="1" dirty="0">
                <a:solidFill>
                  <a:srgbClr val="121826"/>
                </a:solidFill>
              </a:rPr>
              <a:t>medida</a:t>
            </a:r>
            <a:endParaRPr lang="en-US" sz="1250" dirty="0"/>
          </a:p>
        </p:txBody>
      </p:sp>
      <p:sp>
        <p:nvSpPr>
          <p:cNvPr id="20" name="Text 18"/>
          <p:cNvSpPr/>
          <p:nvPr/>
        </p:nvSpPr>
        <p:spPr>
          <a:xfrm>
            <a:off x="5212080" y="3209544"/>
            <a:ext cx="5212080" cy="146304"/>
          </a:xfrm>
          <a:prstGeom prst="rect">
            <a:avLst/>
          </a:prstGeom>
          <a:noFill/>
          <a:ln/>
        </p:spPr>
        <p:txBody>
          <a:bodyPr wrap="square" lIns="0" tIns="0" rIns="0" bIns="0" rtlCol="0" anchor="ctr">
            <a:normAutofit/>
          </a:bodyPr>
          <a:lstStyle/>
          <a:p>
            <a:pPr indent="0" marL="0">
              <a:buNone/>
            </a:pPr>
            <a:r>
              <a:rPr lang="en-US" sz="1200" dirty="0">
                <a:solidFill>
                  <a:srgbClr val="5B6472"/>
                </a:solidFill>
              </a:rPr>
              <a:t>escalado multinodo completo</a:t>
            </a:r>
            <a:endParaRPr lang="en-US" sz="1200" dirty="0"/>
          </a:p>
        </p:txBody>
      </p:sp>
      <p:sp>
        <p:nvSpPr>
          <p:cNvPr id="21" name="Shape 19"/>
          <p:cNvSpPr/>
          <p:nvPr/>
        </p:nvSpPr>
        <p:spPr>
          <a:xfrm>
            <a:off x="685800" y="3813048"/>
            <a:ext cx="1874520" cy="438912"/>
          </a:xfrm>
          <a:prstGeom prst="roundRect">
            <a:avLst>
              <a:gd name="adj" fmla="val 12500"/>
            </a:avLst>
          </a:prstGeom>
          <a:solidFill>
            <a:srgbClr val="0D6B5D"/>
          </a:solidFill>
          <a:ln w="12700">
            <a:solidFill>
              <a:srgbClr val="0D6B5D"/>
            </a:solidFill>
            <a:prstDash val="solid"/>
          </a:ln>
        </p:spPr>
      </p:sp>
      <p:sp>
        <p:nvSpPr>
          <p:cNvPr id="22" name="Text 20"/>
          <p:cNvSpPr/>
          <p:nvPr/>
        </p:nvSpPr>
        <p:spPr>
          <a:xfrm>
            <a:off x="804672" y="3931920"/>
            <a:ext cx="1645920" cy="137160"/>
          </a:xfrm>
          <a:prstGeom prst="rect">
            <a:avLst/>
          </a:prstGeom>
          <a:noFill/>
          <a:ln/>
        </p:spPr>
        <p:txBody>
          <a:bodyPr wrap="square" lIns="0" tIns="0" rIns="0" bIns="0" rtlCol="0" anchor="ctr">
            <a:normAutofit/>
          </a:bodyPr>
          <a:lstStyle/>
          <a:p>
            <a:pPr algn="ctr" indent="0" marL="0">
              <a:buNone/>
            </a:pPr>
            <a:r>
              <a:rPr lang="en-US" sz="950" b="1" dirty="0">
                <a:solidFill>
                  <a:srgbClr val="FFFFFF"/>
                </a:solidFill>
              </a:rPr>
              <a:t>Interfaces</a:t>
            </a:r>
            <a:endParaRPr lang="en-US" sz="950" dirty="0"/>
          </a:p>
        </p:txBody>
      </p:sp>
      <p:sp>
        <p:nvSpPr>
          <p:cNvPr id="23" name="Text 21"/>
          <p:cNvSpPr/>
          <p:nvPr/>
        </p:nvSpPr>
        <p:spPr>
          <a:xfrm>
            <a:off x="2971800" y="3922776"/>
            <a:ext cx="2011680" cy="146304"/>
          </a:xfrm>
          <a:prstGeom prst="rect">
            <a:avLst/>
          </a:prstGeom>
          <a:noFill/>
          <a:ln/>
        </p:spPr>
        <p:txBody>
          <a:bodyPr wrap="square" lIns="0" tIns="0" rIns="0" bIns="0" rtlCol="0" anchor="ctr">
            <a:normAutofit/>
          </a:bodyPr>
          <a:lstStyle/>
          <a:p>
            <a:pPr indent="0" marL="0">
              <a:buNone/>
            </a:pPr>
            <a:r>
              <a:rPr lang="en-US" sz="1250" b="1" dirty="0">
                <a:solidFill>
                  <a:srgbClr val="121826"/>
                </a:solidFill>
              </a:rPr>
              <a:t>funcionales</a:t>
            </a:r>
            <a:endParaRPr lang="en-US" sz="1250" dirty="0"/>
          </a:p>
        </p:txBody>
      </p:sp>
      <p:sp>
        <p:nvSpPr>
          <p:cNvPr id="24" name="Text 22"/>
          <p:cNvSpPr/>
          <p:nvPr/>
        </p:nvSpPr>
        <p:spPr>
          <a:xfrm>
            <a:off x="5212080" y="3922776"/>
            <a:ext cx="5212080" cy="146304"/>
          </a:xfrm>
          <a:prstGeom prst="rect">
            <a:avLst/>
          </a:prstGeom>
          <a:noFill/>
          <a:ln/>
        </p:spPr>
        <p:txBody>
          <a:bodyPr wrap="square" lIns="0" tIns="0" rIns="0" bIns="0" rtlCol="0" anchor="ctr">
            <a:normAutofit/>
          </a:bodyPr>
          <a:lstStyle/>
          <a:p>
            <a:pPr indent="0" marL="0">
              <a:buNone/>
            </a:pPr>
            <a:r>
              <a:rPr lang="en-US" sz="1200" dirty="0">
                <a:solidFill>
                  <a:srgbClr val="5B6472"/>
                </a:solidFill>
              </a:rPr>
              <a:t>campañas más grandes</a:t>
            </a:r>
            <a:endParaRPr lang="en-US" sz="1200" dirty="0"/>
          </a:p>
        </p:txBody>
      </p:sp>
      <p:sp>
        <p:nvSpPr>
          <p:cNvPr id="25" name="Shape 23"/>
          <p:cNvSpPr/>
          <p:nvPr/>
        </p:nvSpPr>
        <p:spPr>
          <a:xfrm>
            <a:off x="685800" y="4526280"/>
            <a:ext cx="1874520" cy="438912"/>
          </a:xfrm>
          <a:prstGeom prst="roundRect">
            <a:avLst>
              <a:gd name="adj" fmla="val 12500"/>
            </a:avLst>
          </a:prstGeom>
          <a:solidFill>
            <a:srgbClr val="F28C28"/>
          </a:solidFill>
          <a:ln w="12700">
            <a:solidFill>
              <a:srgbClr val="F28C28"/>
            </a:solidFill>
            <a:prstDash val="solid"/>
          </a:ln>
        </p:spPr>
      </p:sp>
      <p:sp>
        <p:nvSpPr>
          <p:cNvPr id="26" name="Text 24"/>
          <p:cNvSpPr/>
          <p:nvPr/>
        </p:nvSpPr>
        <p:spPr>
          <a:xfrm>
            <a:off x="804672" y="4645152"/>
            <a:ext cx="1645920" cy="137160"/>
          </a:xfrm>
          <a:prstGeom prst="rect">
            <a:avLst/>
          </a:prstGeom>
          <a:noFill/>
          <a:ln/>
        </p:spPr>
        <p:txBody>
          <a:bodyPr wrap="square" lIns="0" tIns="0" rIns="0" bIns="0" rtlCol="0" anchor="ctr">
            <a:normAutofit/>
          </a:bodyPr>
          <a:lstStyle/>
          <a:p>
            <a:pPr algn="ctr" indent="0" marL="0">
              <a:buNone/>
            </a:pPr>
            <a:r>
              <a:rPr lang="en-US" sz="950" b="1" dirty="0">
                <a:solidFill>
                  <a:srgbClr val="FFFFFF"/>
                </a:solidFill>
              </a:rPr>
              <a:t>MASW</a:t>
            </a:r>
            <a:endParaRPr lang="en-US" sz="950" dirty="0"/>
          </a:p>
        </p:txBody>
      </p:sp>
      <p:sp>
        <p:nvSpPr>
          <p:cNvPr id="27" name="Text 25"/>
          <p:cNvSpPr/>
          <p:nvPr/>
        </p:nvSpPr>
        <p:spPr>
          <a:xfrm>
            <a:off x="2971800" y="4636008"/>
            <a:ext cx="2011680" cy="146304"/>
          </a:xfrm>
          <a:prstGeom prst="rect">
            <a:avLst/>
          </a:prstGeom>
          <a:noFill/>
          <a:ln/>
        </p:spPr>
        <p:txBody>
          <a:bodyPr wrap="square" lIns="0" tIns="0" rIns="0" bIns="0" rtlCol="0" anchor="ctr">
            <a:normAutofit/>
          </a:bodyPr>
          <a:lstStyle/>
          <a:p>
            <a:pPr indent="0" marL="0">
              <a:buNone/>
            </a:pPr>
            <a:r>
              <a:rPr lang="en-US" sz="1250" b="1" dirty="0">
                <a:solidFill>
                  <a:srgbClr val="121826"/>
                </a:solidFill>
              </a:rPr>
              <a:t>punta a punta</a:t>
            </a:r>
            <a:endParaRPr lang="en-US" sz="1250" dirty="0"/>
          </a:p>
        </p:txBody>
      </p:sp>
      <p:sp>
        <p:nvSpPr>
          <p:cNvPr id="28" name="Text 26"/>
          <p:cNvSpPr/>
          <p:nvPr/>
        </p:nvSpPr>
        <p:spPr>
          <a:xfrm>
            <a:off x="5212080" y="4636008"/>
            <a:ext cx="5212080" cy="146304"/>
          </a:xfrm>
          <a:prstGeom prst="rect">
            <a:avLst/>
          </a:prstGeom>
          <a:noFill/>
          <a:ln/>
        </p:spPr>
        <p:txBody>
          <a:bodyPr wrap="square" lIns="0" tIns="0" rIns="0" bIns="0" rtlCol="0" anchor="ctr">
            <a:normAutofit/>
          </a:bodyPr>
          <a:lstStyle/>
          <a:p>
            <a:pPr indent="0" marL="0">
              <a:buNone/>
            </a:pPr>
            <a:r>
              <a:rPr lang="en-US" sz="1200" dirty="0">
                <a:solidFill>
                  <a:srgbClr val="5B6472"/>
                </a:solidFill>
              </a:rPr>
              <a:t>incertidumbre/picking</a:t>
            </a:r>
            <a:endParaRPr lang="en-US" sz="1200" dirty="0"/>
          </a:p>
        </p:txBody>
      </p:sp>
      <p:sp>
        <p:nvSpPr>
          <p:cNvPr id="29" name="Shape 27"/>
          <p:cNvSpPr/>
          <p:nvPr/>
        </p:nvSpPr>
        <p:spPr>
          <a:xfrm>
            <a:off x="685800" y="5239512"/>
            <a:ext cx="1874520" cy="438912"/>
          </a:xfrm>
          <a:prstGeom prst="roundRect">
            <a:avLst>
              <a:gd name="adj" fmla="val 12500"/>
            </a:avLst>
          </a:prstGeom>
          <a:solidFill>
            <a:srgbClr val="F28C28"/>
          </a:solidFill>
          <a:ln w="12700">
            <a:solidFill>
              <a:srgbClr val="F28C28"/>
            </a:solidFill>
            <a:prstDash val="solid"/>
          </a:ln>
        </p:spPr>
      </p:sp>
      <p:sp>
        <p:nvSpPr>
          <p:cNvPr id="30" name="Text 28"/>
          <p:cNvSpPr/>
          <p:nvPr/>
        </p:nvSpPr>
        <p:spPr>
          <a:xfrm>
            <a:off x="804672" y="5358384"/>
            <a:ext cx="1645920" cy="137160"/>
          </a:xfrm>
          <a:prstGeom prst="rect">
            <a:avLst/>
          </a:prstGeom>
          <a:noFill/>
          <a:ln/>
        </p:spPr>
        <p:txBody>
          <a:bodyPr wrap="square" lIns="0" tIns="0" rIns="0" bIns="0" rtlCol="0" anchor="ctr">
            <a:normAutofit/>
          </a:bodyPr>
          <a:lstStyle/>
          <a:p>
            <a:pPr algn="ctr" indent="0" marL="0">
              <a:buNone/>
            </a:pPr>
            <a:r>
              <a:rPr lang="en-US" sz="950" b="1" dirty="0">
                <a:solidFill>
                  <a:srgbClr val="FFFFFF"/>
                </a:solidFill>
              </a:rPr>
              <a:t>Inversión</a:t>
            </a:r>
            <a:endParaRPr lang="en-US" sz="950" dirty="0"/>
          </a:p>
        </p:txBody>
      </p:sp>
      <p:sp>
        <p:nvSpPr>
          <p:cNvPr id="31" name="Text 29"/>
          <p:cNvSpPr/>
          <p:nvPr/>
        </p:nvSpPr>
        <p:spPr>
          <a:xfrm>
            <a:off x="2971800" y="5349240"/>
            <a:ext cx="2011680" cy="146304"/>
          </a:xfrm>
          <a:prstGeom prst="rect">
            <a:avLst/>
          </a:prstGeom>
          <a:noFill/>
          <a:ln/>
        </p:spPr>
        <p:txBody>
          <a:bodyPr wrap="square" lIns="0" tIns="0" rIns="0" bIns="0" rtlCol="0" anchor="ctr">
            <a:normAutofit/>
          </a:bodyPr>
          <a:lstStyle/>
          <a:p>
            <a:pPr indent="0" marL="0">
              <a:buNone/>
            </a:pPr>
            <a:r>
              <a:rPr lang="en-US" sz="1250" b="1" dirty="0">
                <a:solidFill>
                  <a:srgbClr val="121826"/>
                </a:solidFill>
              </a:rPr>
              <a:t>en validación</a:t>
            </a:r>
            <a:endParaRPr lang="en-US" sz="1250" dirty="0"/>
          </a:p>
        </p:txBody>
      </p:sp>
      <p:sp>
        <p:nvSpPr>
          <p:cNvPr id="32" name="Text 30"/>
          <p:cNvSpPr/>
          <p:nvPr/>
        </p:nvSpPr>
        <p:spPr>
          <a:xfrm>
            <a:off x="5212080" y="5349240"/>
            <a:ext cx="5212080" cy="146304"/>
          </a:xfrm>
          <a:prstGeom prst="rect">
            <a:avLst/>
          </a:prstGeom>
          <a:noFill/>
          <a:ln/>
        </p:spPr>
        <p:txBody>
          <a:bodyPr wrap="square" lIns="0" tIns="0" rIns="0" bIns="0" rtlCol="0" anchor="ctr">
            <a:normAutofit/>
          </a:bodyPr>
          <a:lstStyle/>
          <a:p>
            <a:pPr indent="0" marL="0">
              <a:buNone/>
            </a:pPr>
            <a:r>
              <a:rPr lang="en-US" sz="1200" dirty="0">
                <a:solidFill>
                  <a:srgbClr val="5B6472"/>
                </a:solidFill>
              </a:rPr>
              <a:t>comparación independiente</a:t>
            </a:r>
            <a:endParaRPr lang="en-US" sz="1200" dirty="0"/>
          </a:p>
        </p:txBody>
      </p:sp>
      <p:sp>
        <p:nvSpPr>
          <p:cNvPr id="33" name="Shape 31"/>
          <p:cNvSpPr/>
          <p:nvPr/>
        </p:nvSpPr>
        <p:spPr>
          <a:xfrm>
            <a:off x="914400" y="5989320"/>
            <a:ext cx="10378440" cy="502920"/>
          </a:xfrm>
          <a:prstGeom prst="roundRect">
            <a:avLst>
              <a:gd name="adj" fmla="val 14545"/>
            </a:avLst>
          </a:prstGeom>
          <a:solidFill>
            <a:srgbClr val="17225C"/>
          </a:solidFill>
          <a:ln w="12700">
            <a:solidFill>
              <a:srgbClr val="17225C">
                <a:alpha val="0"/>
              </a:srgbClr>
            </a:solidFill>
            <a:prstDash val="solid"/>
          </a:ln>
        </p:spPr>
      </p:sp>
      <p:sp>
        <p:nvSpPr>
          <p:cNvPr id="34" name="Text 32"/>
          <p:cNvSpPr/>
          <p:nvPr/>
        </p:nvSpPr>
        <p:spPr>
          <a:xfrm>
            <a:off x="1078992" y="6089904"/>
            <a:ext cx="10049256" cy="320040"/>
          </a:xfrm>
          <a:prstGeom prst="rect">
            <a:avLst/>
          </a:prstGeom>
          <a:noFill/>
          <a:ln/>
        </p:spPr>
        <p:txBody>
          <a:bodyPr wrap="square" lIns="0" tIns="0" rIns="0" bIns="0" rtlCol="0" anchor="ctr">
            <a:normAutofit/>
          </a:bodyPr>
          <a:lstStyle/>
          <a:p>
            <a:pPr indent="0" marL="0">
              <a:buNone/>
            </a:pPr>
            <a:r>
              <a:rPr lang="en-US" sz="1420" b="1" dirty="0">
                <a:solidFill>
                  <a:srgbClr val="FFFFFF"/>
                </a:solidFill>
                <a:latin typeface="Aptos" pitchFamily="34" charset="0"/>
                <a:ea typeface="Aptos" pitchFamily="34" charset="-122"/>
                <a:cs typeface="Aptos" pitchFamily="34" charset="-120"/>
              </a:rPr>
              <a:t>La segunda presentación no parte de cero: parte de una cadena que ya reveló dónde falla.</a:t>
            </a:r>
            <a:endParaRPr lang="en-US" sz="1420" dirty="0"/>
          </a:p>
        </p:txBody>
      </p:sp>
      <p:sp>
        <p:nvSpPr>
          <p:cNvPr id="35" name="Text 33"/>
          <p:cNvSpPr/>
          <p:nvPr/>
        </p:nvSpPr>
        <p:spPr>
          <a:xfrm>
            <a:off x="411480" y="6565392"/>
            <a:ext cx="11155680" cy="146304"/>
          </a:xfrm>
          <a:prstGeom prst="rect">
            <a:avLst/>
          </a:prstGeom>
          <a:noFill/>
          <a:ln/>
        </p:spPr>
        <p:txBody>
          <a:bodyPr wrap="square" lIns="0" tIns="0" rIns="0" bIns="0" rtlCol="0" anchor="ctr">
            <a:normAutofit/>
          </a:bodyPr>
          <a:lstStyle/>
          <a:p>
            <a:pPr indent="0" marL="0">
              <a:buNone/>
            </a:pPr>
            <a:r>
              <a:rPr lang="en-US" sz="650" dirty="0">
                <a:solidFill>
                  <a:srgbClr val="5B6472"/>
                </a:solidFill>
                <a:latin typeface="Aptos" pitchFamily="34" charset="0"/>
                <a:ea typeface="Aptos" pitchFamily="34" charset="-122"/>
                <a:cs typeface="Aptos" pitchFamily="34" charset="-120"/>
              </a:rPr>
              <a:t>Fuente: síntesis propia a partir de main(3).pdf y resultados experimentales.</a:t>
            </a:r>
            <a:endParaRPr lang="en-US" sz="6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7225C"/>
        </a:solidFill>
      </p:bgPr>
    </p:bg>
    <p:spTree>
      <p:nvGrpSpPr>
        <p:cNvPr id="1" name=""/>
        <p:cNvGrpSpPr/>
        <p:nvPr/>
      </p:nvGrpSpPr>
      <p:grpSpPr>
        <a:xfrm>
          <a:off x="0" y="0"/>
          <a:ext cx="0" cy="0"/>
          <a:chOff x="0" y="0"/>
          <a:chExt cx="0" cy="0"/>
        </a:xfrm>
      </p:grpSpPr>
      <p:pic>
        <p:nvPicPr>
          <p:cNvPr id="2" name="Image 0" descr="/mnt/data/pptx_unzip/ppt/media/image82.png">    </p:cNvPr>
          <p:cNvPicPr>
            <a:picLocks noChangeAspect="1"/>
          </p:cNvPicPr>
          <p:nvPr/>
        </p:nvPicPr>
        <p:blipFill>
          <a:blip r:embed="rId1"/>
          <a:stretch>
            <a:fillRect/>
          </a:stretch>
        </p:blipFill>
        <p:spPr>
          <a:xfrm>
            <a:off x="2971800" y="800100"/>
            <a:ext cx="8778240" cy="4389120"/>
          </a:xfrm>
          <a:prstGeom prst="rect">
            <a:avLst/>
          </a:prstGeom>
        </p:spPr>
      </p:pic>
      <p:sp>
        <p:nvSpPr>
          <p:cNvPr id="3" name="Text 0"/>
          <p:cNvSpPr/>
          <p:nvPr/>
        </p:nvSpPr>
        <p:spPr>
          <a:xfrm>
            <a:off x="594360" y="1005840"/>
            <a:ext cx="2377440" cy="457200"/>
          </a:xfrm>
          <a:prstGeom prst="rect">
            <a:avLst/>
          </a:prstGeom>
          <a:noFill/>
          <a:ln/>
        </p:spPr>
        <p:txBody>
          <a:bodyPr wrap="square" lIns="0" tIns="0" rIns="0" bIns="0" rtlCol="0" anchor="ctr"/>
          <a:lstStyle/>
          <a:p>
            <a:pPr indent="0" marL="0">
              <a:buNone/>
            </a:pPr>
            <a:r>
              <a:rPr lang="en-US" sz="3400" b="1" dirty="0">
                <a:solidFill>
                  <a:srgbClr val="FFFFFF"/>
                </a:solidFill>
                <a:latin typeface="Aptos Display" pitchFamily="34" charset="0"/>
                <a:ea typeface="Aptos Display" pitchFamily="34" charset="-122"/>
                <a:cs typeface="Aptos Display" pitchFamily="34" charset="-120"/>
              </a:rPr>
              <a:t>Preguntas</a:t>
            </a:r>
            <a:endParaRPr lang="en-US" sz="3400" dirty="0"/>
          </a:p>
        </p:txBody>
      </p:sp>
      <p:sp>
        <p:nvSpPr>
          <p:cNvPr id="4" name="Text 1"/>
          <p:cNvSpPr/>
          <p:nvPr/>
        </p:nvSpPr>
        <p:spPr>
          <a:xfrm>
            <a:off x="594360" y="1691640"/>
            <a:ext cx="2377440" cy="640080"/>
          </a:xfrm>
          <a:prstGeom prst="rect">
            <a:avLst/>
          </a:prstGeom>
          <a:noFill/>
          <a:ln/>
        </p:spPr>
        <p:txBody>
          <a:bodyPr wrap="square" lIns="0" tIns="0" rIns="0" bIns="0" rtlCol="0" anchor="ctr">
            <a:normAutofit/>
          </a:bodyPr>
          <a:lstStyle/>
          <a:p>
            <a:pPr indent="0" marL="0">
              <a:buNone/>
            </a:pPr>
            <a:r>
              <a:rPr lang="en-US" sz="1300" dirty="0">
                <a:solidFill>
                  <a:srgbClr val="DDE7FF"/>
                </a:solidFill>
              </a:rPr>
              <a:t>Discusión sobre física, instrumentación, sincronismo y validación.</a:t>
            </a:r>
            <a:endParaRPr lang="en-US" sz="1300" dirty="0"/>
          </a:p>
        </p:txBody>
      </p:sp>
      <p:sp>
        <p:nvSpPr>
          <p:cNvPr id="5" name="Text 2"/>
          <p:cNvSpPr/>
          <p:nvPr/>
        </p:nvSpPr>
        <p:spPr>
          <a:xfrm>
            <a:off x="6583680" y="5715000"/>
            <a:ext cx="4754880" cy="137160"/>
          </a:xfrm>
          <a:prstGeom prst="rect">
            <a:avLst/>
          </a:prstGeom>
          <a:noFill/>
          <a:ln/>
        </p:spPr>
        <p:txBody>
          <a:bodyPr wrap="square" lIns="0" tIns="0" rIns="0" bIns="0" rtlCol="0" anchor="ctr"/>
          <a:lstStyle/>
          <a:p>
            <a:pPr algn="r" indent="0" marL="0">
              <a:buNone/>
            </a:pPr>
            <a:r>
              <a:rPr lang="en-US" sz="650" dirty="0">
                <a:solidFill>
                  <a:srgbClr val="667095"/>
                </a:solidFill>
              </a:rPr>
              <a:t>Fuente visual: Geostru / Creato da M. Bandini</a:t>
            </a:r>
            <a:endParaRPr lang="en-US" sz="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UCA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Diseño e implementación de un sistema electrónico multicanal IoT para MASW</dc:title>
  <dc:subject>Primera presentación de tesis reestructurada</dc:subject>
  <dc:creator>OpenAI</dc:creator>
  <cp:lastModifiedBy>OpenAI</cp:lastModifiedBy>
  <cp:revision>1</cp:revision>
  <dcterms:created xsi:type="dcterms:W3CDTF">2026-10-05T17:37:52Z</dcterms:created>
  <dcterms:modified xsi:type="dcterms:W3CDTF">2026-10-05T17:37:52Z</dcterms:modified>
</cp:coreProperties>
</file>