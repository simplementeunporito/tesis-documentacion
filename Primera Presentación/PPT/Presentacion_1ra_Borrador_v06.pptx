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Lst>
  <p:notesMasterIdLst>
    <p:notesMasterId r:id="rId4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notesMaster" Target="notesMasters/notesMaster1.xml"/><Relationship Id="rId50" Type="http://schemas.openxmlformats.org/officeDocument/2006/relationships/presProps" Target="presProps.xml"/><Relationship Id="rId51" Type="http://schemas.openxmlformats.org/officeDocument/2006/relationships/viewProps" Target="viewProps.xml"/><Relationship Id="rId52" Type="http://schemas.openxmlformats.org/officeDocument/2006/relationships/theme" Target="theme/theme1.xml"/><Relationship Id="rId53"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Presentación de apertura. Título, carrera, año. Introducir brevemente: plataforma electrónica para adquirir señales sísmicas orientadas a caracterización geotécnica mediante MASW (MultiChannel Analysis of Surface Waves). Mención a tutor y contexto de Proyecto Final de Carrera. Duración: 1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Partir de la utilidad geotécnica, no de MASW. El suelo es un parámetro crítico antes, durante y después de toda obra civil. Mostrar ejemplos concretos: fundaciones profundas vs superficiales, investigación de grietas y asentamientos, control de compactación en rellenos, análisis de estabilidad de taludes. Objetivo: convencer que conocer el subsuelo es un problema real y frecuente. Duración: 1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Mapa rápido del estado del arte por invasividad. Destacar: SPT/CPT dan información valiosa pero requieren intervención física y cobertura puntual. Downhole/crosshole ofrecen Vs directo pero exigen pozos. Ondas superficiales (MASW) no invasivas, multicanal, cobertura extensa. Transición a por qué miramos Rayleigh específicamente. Duración: 1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SPT y CPT son trabajaballos de la geotecnia. Entregan Nspt, qc, u2 y correlaciones directas con parámetros elásticos. Limitación crítica: invasivos, costosos, logística compleja, cobertura localizada. No son 'malos', son referencia. La cuestión es repetibilidad sobre grandes áreas. Duración: 45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Downhole y crosshole ofrecen Vs y Vp casi directamente midiendo tiempos en un pozo o entre pozos. Ventaja: excelente para validar. Limitación: uno o varios pozos, geometría rígida, logística prohibitiva para levantamientos extensos. Conclusión: excelente donde aplicable, insuficiente para cobertura. Duración: 45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Refracción, reflexión y ondas P/S desde superficie abren posibilidades sin perforación. Permiten perfiles largos. Limitación: Vs requiere información complementaria o configuraciones especiales. Transición: si miramos ondas superficiales, ganamos sensibilidad a Vs y observamos el medio entero en el sitio. Duración: 45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Ondas superficiales dominan la respuesta de una fuente vertical en superficie. Love (SH, horizontal) y Rayleigh (elíptica vertical-radial) son los modos interesantes. MASW explota la dispersión (variación de velocidad con frecuencia) de Rayleigh para inferir Vs(z). Ventajas: no invasivo, multicanal, cobertura extensa, relación directa a parámetro geotécnico. Por eso llegamos a MASW. Duración: 90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Explicar ambas familias sin prejuicios. Love es útil pero fuente vertical no es natural para SH. Rayleigh es natural: fuente vertical genera componente vertical; trayectoria elíptica, sensible a Vs, decaimiento geométrico menor que P/S. Conclusión emerge sola: Rayleigh encaja mejor con nuestro problema. Duración: 60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Punto de partida: elasticidad lineal pequeñas deformaciones (γ &lt; 10⁻⁴). P es compresional, S es de corte. Las velocidades Vp y Vs dependen de densidad ρ y constantes de Lamé (λ, μ) o módulos. Esta es la razón por la que estamos interesados en ondas sísmicas: entran en juego parámetros que nos interesan. Duración: 60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Deducción clave: Gmax es el módulo de corte máximo a deformaciones muy pequeñas (γ ~ 10⁻⁴). Directamente proporcional a ρVs². En geotecnia, Gmax es parámetro de diseño para cimentaciones dinámicas, evaluación de licuefacción, respuesta de suelo. Medir Vs es medir una propiedad geotécnica relevante. No es una variable abstracta. Duración: 60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Fundamentos de elastodinámica en estratificación. Ley de Snell controla las direcciones de propagación según velocidades. Conversión P↔SV ocurre en incidencia oblicua. Superficie libre (σ=0) es una condición especial que genera soluciones ligadas a la superficie: ondas Rayleigh y Love. Sin esto, no hay propagación superficial. Duración: 60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Resultado clásico: una fuente puntual vertical en superficie genera ondas cuya energía se distribuye así. Rayleigh es mayoritaria, decae más lentamente en distancia (r⁻¹ vs r⁻² de cuerpo). Esto explica por qué observable en superficie con buena SNR. Consecuencia: relación señal-ruido potencial excelente. Referencia discreta: Miller &amp; Pursey. No universalizar al 90%. Duración: 60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Ondas Love son corte horizontal puro (SH). Existen en multicapas con condiciones adecuadas. Utilidad: sensibles a Vs como Rayleigh. Limitación para nuestro problema: excitarlas con martillo vertical (fuente impulsiva vertical) es ineficiente. Rayleigh es más natural con fuente vertical. Sin descalificar Love, reconocer que Rayleigh es mejor para nuestra geometría. Duración: 60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Rayleigh es combinación acoplada de P y SV en un movimiento elíptico retrogrado. Componente vertical es observable directamente (geófono vertical). Velocidad de fase cR depende de Vs y otras propiedades, pero Vs es dominante. En multicapas, cR varía con frecuencia (dispersión). Esta es la base del método MASW. Duración: 60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Síntesis de la lógica: fuente vertical → Rayleigh dominante. Geófono vertical → observa Rayleigh. Multicapas → Rayleigh dispersivo. Inversión → Vs(z). Es el camino natural del problema geotécnico. Duración: 60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Caso base: un único medio sin capas. Rayleigh viaja a velocidad constante independientemente de f. No hay dispersión. Si el semiespacio es homogéneo, un pulso se propaga sin cambio de forma. Concepto de no-dispersión: base para entender qué pasa cuando agregamos capas. Duración: 45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Rayleigh se propaga más lentamente que S puro: cR/Vs ≈ 0.92 típicamente (varía con ν). Para inversión, aproximación: si conozco cR, puedo estimar Vs. Este es el eslabón clave: de velocidad medida a propiedad geotécnica. Duración: 45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Cambio crucial: estratificación introduce dispersión. Componentes de frecuencia alta sensibles a capas superficiales (λ corta), bajas penetran profundo. Resultado: Rayleigh se dispersa (cR = cR(f)). Este efecto es observable y contiene información sobre estructura. Duración: 45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Heurística útil: λR es la longitud de onda correspondiente a cada f. Penetración típica ≈ λ/2 o profundidad comparable a λ. Alta f → λ corta → información de capas superficiales. Baja f → λ larga → información más profunda. Aclaración importante: no es una equivalencia f↔z rígida, la sensibilidad es distribuida (kernels de sensibilidad). Pero la intuición es válida. Duración: 60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Curva de dispersión experimental es el resultado de medir fase (o velocidad de grupo) en múltiples frecuencias. Es el dato que obtenemos. Contiene información de Vs(z). Problema: la inversión es no-única (muchos Vs(z) posibles pueden reproducir la misma curva). Pero información complementaria (geología, correlaciones, SPT) ayuda a restringir. Duración: 60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Invertir cR(f) para obtener Vs(z) es un problema inverso. Típicamente no-lineal, no-único. Estrategias: búsqueda global (Monte Carlo) explora mucho pero lento; gradiente es rápido pero local. Parámetros auxil: espesor, ν, ρ se fijan o acotan. Información independiente (geología, SPT) restringe. Resultado: perfil Vs(z) candidato. Validación contra otras fuentes. Duración: 60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Método clásico (años 80-90): dos receptores, medir fase relativa entre bandas. De fase y distancia → cR(f). Ventaja: simple. Limitación: ambigüedad (cambios de ciclo), menor redundancia espacial, difícil separar modos. Antecedente para MASW. Duración: 45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Evolución natural: múltiples geófonos (12-48 típico) permiten observar patrones de frente de onda directamente. Transformada f-k separa modos. Redundancia espacial mejora SNR. Estándar moderno para caracterización. El nuestro es una versión experimental con síntesis de apertura. Duración: 60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Nuestro enfoque: geometría física limitada (un geófono), síntesis de apertura. Fuente y receptor se desplazan de forma recíproca y coordinada. Requiere: repetibilidad de excitación, referencia temporal precisa, geometría controlada. Justificación: Lin &amp; Ashlock demostraron que bajo estas condiciones el resultado es comparable a MASW multicanal simultáneo. Requisito electrónico: hardware para coordinar, sincronizar, validar. Duración: 60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Matriz final que usamos: uz(x,t) en 21 posiciones espaciales y muestreo temporal. Esta es la entrada al flujo MASW: preprocesar, FFT 2D, picking de dispersión, inversión. Todo el sistema electrónico está construido para obtener esta matriz con fase preservada, bajo control del operador, documentada y reproducible. Frase clave: 'Todo el sistema presentado hasta acá fue construido para poder obtener esta matriz.' Duración: 60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 la teoría a la práctica: MASW impone requisitos concretos. Banda 10-50 Hz (real de campo). Preservar fase → antialias, muestreo &gt; 2×fmax. Rango dinámico: piso de ruido vs pico de excitación. Referencia temporal precisa entre nodos (error &lt; 400 µs para error de fase &lt; 5°). Almacenamiento en campo (SD). Operación: configuración flexible, validación en vivo, descarga post-misión. Estos requisitos definen la arquitectura de hardware. Duración: 60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Visión de alto nivel antes de detalles. GEO: nodo sensor geófono. MASTER: orquestador, interfaz, almacenamiento coordinado. HAMMER: sensor de fuerza/tiempo de impacto. Nótese: la red NO transporta muestras en tiempo real. Coordina capturas locales, store-and-forward post-adquisición. Esta es una decisión arquitectónica clave. Detalles vienen después. Duración: 60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Especificación del transductor. Resonancia mecánica ~10 Hz. Sensibilidad nominal 28.8 V·s/m (depende de damping). Modelo mecánico: masa, resorte, amortiguador acoplado a bobina móvil. Modelo de transferencia: Hv(s) = G0·s²/(s² + 2ζωn·s + ωn²). Este modelo es base para toda la electrónica que sigue. Duración: 60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Cálculo sencillo muestra problema: sensibilidad cae como (f/fn)² en banda baja. A 1 Hz con fn=10 Hz, pérdida de 40 dB. Amplificación naïf no ayuda: componentes de f &gt;&gt; fn consumen rango dinámico primero, dejando poco margen para LF. Esto motiva el diseño: necesitamos compensación de forma (modificar los polos) o al menos aténuación selectiva. Duración: 60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Revisión de alternativas sin prejuicios. Cada una tiene trade-off. (1) Simple pero rango dinámico insuficiente. (2) Pazos-style: funciona pero extensión ~1 octava, insuficiente para 10-50 Hz desde 10 Hz resonante. (3) Hakimitoroghi-style: compensa polos pero diverge a DC, amplifica offset y ruido. (4) Negative impedance / force balance: activo, excelente pero requiere lazo estable, consumo. Duración: 120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Filosofía Ma et al.: no invertir los polos (evita divergencia DC). En cambio: construir un bandpass inversor alrededor de resonancia, restar del camino directo → efecto global de aténuación en banda dominante, recuperar nivel global con ganancia posterior. Implementación: PGA programable, rama directa, rama BP (restadora), sumador, LP antialias, ADC. Ventaja: linealidad, tolerancia a componentes, control simple por software. Limitación: todavía requiere ganancia (offset acumulado). De ahí DA-AFE. Duración: 120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Arquitectura analógica detallada. PGA (OPA2333) entrada diferencial × 1-100 programable. Rama directa para altas frecuencias. Rama BP (inversor, f0~10 Hz) para atenuar resonancia. Sumador (OPA2333 configurado sumador). LP (Sallen-Key, fc~100 Hz típico para Nyquist-safe con ~2600 Sa/s). ADC ΔΣ PSoC 18-bit. Modelo vs medición: comparar magnitud, fase, tolerancias. Duración: 90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Validación experimental: medir respuesta en frecuencia (barridos senoidales, ruido blanco, impulso). Comparar contra modelo. Variaciones por resistencias, capacitores (1-5% tolerancia típica) → banda de error. Importante: la extensión SM-24 + AFE en LF es por ahora predicción en cascada con modelo nominal, no calibración mecánica extremo a extremo. Se mencionará limitación cuando se presenten resultados. Duración: 60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Realidad electrónica: ganancia × 50-100 amplifica offset de mV a voltios, satura el ADC en banda intermedia. Solución DA-AFE: antes de medir, forzar entrada a cero (desconectar geófono, conectar referencia), leer ADC de salida de cada etapa, usar VDAC para restar offset. Orden: PGA primero (hereda entrada cero), BP (hereda residual PGA), SUM (suma errores previos), LP (último). Cada etapa se calibra secuencialmente. Congelación: escribir offsets VDAC a NV, mantener durante medición. Duración: 90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Matemática: ADC mide Vout de etapa en N bits (16 típico post-procesamiento). Error = Vout_actual - cero_deseado. Convertir a código VDAC (0-255 típico). PI: código_nuevo = código_prev + Kp·error + Ki·∫error. Deadband para evitar oscilación alrededor de cero. Anti-windup: saturar integrador si VDAC está en riel. Convergencia: típicamente &lt;2s por etapa, total &lt;10s para 4 etapas. Duración: 60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Validación real: barridos de calibración en laboratorio sobre 8 configuraciones (PGA x1-5, ganancias downstream x16-50). Offset inicial por etapa varía mucho (ej. PGA residual 35 mV), final &lt; 2 mV en la mayoría. LP residual cae hasta &lt;1% FS en mejores casos. Robustez: UN ÚNICO controller ganancia Kp, Ki funciona para todas porque escalas son proporcionales. Paper URUCON: comunicación científica enviada a congreso. Duración: 60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Implementación PSoC: ADC ΔΣ (delta-sigma, alta resolución). Frecuencia de muestreo ~2604 Sa/s (típico para ΔΣ con decimación). DMA transfiere muestras a RAM RAM sin sobrecarga CPU, timing determinista. DFB (Digital Filter Block) si se desea FIR en hardware (opcional, puede hacerse en software). SignalController: componente PSoC para timestamp, contador para determinismo local. SD: almacenamiento local en tarjeta SD vía FatFs. Store-and-forward: después de captura, transferir a MASTER por SPI. Duración: 90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MASTER no tiene geófono ni HAMMER, solo rol de orquestación. Protocolos: PRESTART chequea disponibilidad nodos, START disparador broadcast, reloj local RTC para timestamps de metadatos. Nodos GEO/HAMMER corren independently después de START, guardan en SD local. Sincronización preliminar observada via GPIO: desembarco entre esclavos ~200-400 µs. Limitación: esto mide tiempo de propagación de comando, no sincronización ADC-ADC. Requiere caracterización de deriva de reloj y latencia interna. Duración: 60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 dos nodos disparan con retraso Δt, las muestras en tiempo relativo van desfasadas. Error de fase: Δφ = 360° × f × Δt. Para Δt=400 µs: @20 Hz → 2.88° ≈ 3°. @ 50 Hz → 7.2° ≈ 7°. Impacto en MASW: dispersión picking basado en fase. 3-7° es tolerable en picking de máximos pero no despreciable. Error de velocidad: δVg/Vg ≈ Δφ/360° × (Vg/Vp), pequeño pero contribuye a incertidumbre. Conclusión: sincronización es limitación preliminar, requiere mejora (relojes de referencia, mejor estimación de latencia). Duración: 60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HAMMER nodo con sensor de fuerza (piezoeléctrico, ICP Piezotronic 086D20). Mide la fuerza del impacto vs tiempo. Objetivos: instante de disparo (trigger para alineación con GEO), forma de pulso (validar que es un impacto aceptable, no rebote múltiple). Cadena: ICP → desacople/protección → PGA → LP → ADC. Mismo framework que GEO, pero sin compensación LF (banda es más ancha, no necesita extensión). Lógica de aceptación: operador revisa en tiempo real, manualmente o por criterio automático, acepta/rechaza para incluir/excluir del análisis. Duración: 60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Operación paso a paso. (1) Configuración: PGA, VDAC, IDAC, rango ADC, nombre de campaña. (2) Calibración: botón 'calibrar offset', el sistema ejecuta DA-AFE automático. (3) ARM: habilitar espera de trigger (START). (4) Impacto: golpe del martillo, system adquiere. (5) Revisión: interfaz muestra HAMMER (instante) y GEO (ventana post-impacto), operador valida. (6) Aceptar/repetir: si OK guarda metadatos y alinea con posición; si no OK, repite impacto. (7) Mover: usuario desplaza geófono Δx=2m, regresa a (3). Duración: 60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Resultado actual: medida de desembarco GPIO ~200-400 µs. Nótese: preliminar, no definitiva. Mide tiempo de propagación de comando, no ciclo cerrado de ADC. Error de fase en MASW asumiendo Δt=400 µs es pequeño (3-7°) pero contribuye. Plan futuro: caracterizar drift de reloj local (RTC vs cristal), implementar hardware timer más preciso, o usar referencia temporal externa. Por ahora, limitación conocida. Duración: 45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Datos de campo real. SNR calculada como potencia señal / potencia ruido en ventanas pre y post-impacto. Banda baja (1-5 Hz) es desafiante, SNR bajo pero no nulo. Bandas medias/altas mejoran. Nótese: SNR aparente no separa contribuciones (es global). Baja SNR LF puede deberse a: (1) sensor débil LF, (2) AFE offset/ruido, (3) terreno bajo movimiento LF (Rayleigh de larga onda penetra profundo, menor amplitud), (4) fuente débil en LF. Conclusión: no atribuir mala SNR &lt;10 Hz solo al dispositivo; validación multifonte necesaria. Duración: 60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Culminación de todo el sistema: matriz U(x,t) real de campo. 21 posiciones de 10 a 50 m (apertura 40 m, pasos 2 m). Cada posición: 10-20 impactos promediados, alineados con HAMMER, metadatos registrados. Frase clave de narrativa: 'Todo el sistema presentado hasta acá fue construido para poder obtener esta matriz.' Está funcional. Próximo: picking de dispersión en f-k, inversión con disba/evodcinv, obtener Vs(z) candidato. Validación pendiente contra SPT/geología. Duración: 60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Resumen de logros: (1) AFE electrónico completamente caracterizado (magnitud, fase, compensación). (2) Auto-calibración DA-AFE en 4 etapas, convergencia ~10s. (3) Captura digital determinista en PSoC, muestreo ~2604 Sa/s, almacenamiento SD. (4) Red multi-nodo coordinada (GEO, MASTER, HAMMER). (5) HAMMER funcional con detección de impacto. (6) Flujo operativo de campo validado. (7) Matriz U(x,t) de 21 posiciones reales, alineada, documentada. Sistema está armado, demuestra capacidad. Duración: 60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Agenda pendiente: (1) Calibración mecánica end-to-end contra sismógrafo de referencia (hoy es predicción en cascada). (2) Excitación LF mejorada (martinete más pesado, optimizar acoplamiento). (3) Sincronización ADC-ADC caracterizada (hoy ~400 µs preliminar). (4) Drift de reloj local quantificado. (5) Validación multi-GEO simultáneo (hoy es síntesis de apertura). (6) Picking de dispersión (f-k, región-polígono). (7) Inversión multimodo con evodcinv/disba. (8) Perfil Vs(z) final. (9) Validación contra SPT. Horizonte: diciembre 2026, presentación final. Duración: 60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de cierre. No es una conclusión numerada. Es una invitación a preguntar y dialogar. El sistema es complejo, hay muchas facetas, esperamos y buscamos retroalimentación.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jpg"/><Relationship Id="rId4" Type="http://schemas.openxmlformats.org/officeDocument/2006/relationships/image" Target="../media/image3.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6.jpg"/><Relationship Id="rId4" Type="http://schemas.openxmlformats.org/officeDocument/2006/relationships/image" Target="../media/image7.jpg"/><Relationship Id="rId5"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8.png"/><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5.png"/><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png"/><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2.png"/><Relationship Id="rId4" Type="http://schemas.openxmlformats.org/officeDocument/2006/relationships/image" Target="../media/image1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4.png"/><Relationship Id="rId4" Type="http://schemas.openxmlformats.org/officeDocument/2006/relationships/image" Target="../media/image1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7.png"/><Relationship Id="rId4" Type="http://schemas.openxmlformats.org/officeDocument/2006/relationships/image" Target="../media/image1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9.png"/><Relationship Id="rId4" Type="http://schemas.openxmlformats.org/officeDocument/2006/relationships/image" Target="../media/image2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2.png"/><Relationship Id="rId4" Type="http://schemas.openxmlformats.org/officeDocument/2006/relationships/image" Target="../media/image2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3.png"/><Relationship Id="rId4" Type="http://schemas.openxmlformats.org/officeDocument/2006/relationships/image" Target="../media/image2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1.png"/><Relationship Id="rId4" Type="http://schemas.openxmlformats.org/officeDocument/2006/relationships/image" Target="../media/image2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24.png"/><Relationship Id="rId4" Type="http://schemas.openxmlformats.org/officeDocument/2006/relationships/image" Target="../media/image2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2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27.png"/><Relationship Id="rId4" Type="http://schemas.openxmlformats.org/officeDocument/2006/relationships/image" Target="../media/image28.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29.png"/><Relationship Id="rId4" Type="http://schemas.openxmlformats.org/officeDocument/2006/relationships/image" Target="../media/image30.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31.png"/><Relationship Id="rId4" Type="http://schemas.openxmlformats.org/officeDocument/2006/relationships/image" Target="../media/image3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33.png"/><Relationship Id="rId4" Type="http://schemas.openxmlformats.org/officeDocument/2006/relationships/image" Target="../media/image34.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35.png"/><Relationship Id="rId4" Type="http://schemas.openxmlformats.org/officeDocument/2006/relationships/image" Target="../media/image36.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37.png"/><Relationship Id="rId4" Type="http://schemas.openxmlformats.org/officeDocument/2006/relationships/image" Target="../media/image38.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39.png"/><Relationship Id="rId4" Type="http://schemas.openxmlformats.org/officeDocument/2006/relationships/image" Target="../media/image40.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41.png"/><Relationship Id="rId4" Type="http://schemas.openxmlformats.org/officeDocument/2006/relationships/image" Target="../media/image42.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43.png"/><Relationship Id="rId4" Type="http://schemas.openxmlformats.org/officeDocument/2006/relationships/image" Target="../media/image44.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45.png"/><Relationship Id="rId4" Type="http://schemas.openxmlformats.org/officeDocument/2006/relationships/image" Target="../media/image46.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47.png"/><Relationship Id="rId4" Type="http://schemas.openxmlformats.org/officeDocument/2006/relationships/image" Target="../media/image48.jp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49.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50.png"/><Relationship Id="rId4" Type="http://schemas.openxmlformats.org/officeDocument/2006/relationships/image" Target="../media/image51.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52.png"/><Relationship Id="rId4" Type="http://schemas.openxmlformats.org/officeDocument/2006/relationships/image" Target="../media/image50.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image53.png"/><Relationship Id="rId4" Type="http://schemas.openxmlformats.org/officeDocument/2006/relationships/image" Target="../media/image54.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image" Target="../media/image55.png"/><Relationship Id="rId4" Type="http://schemas.openxmlformats.org/officeDocument/2006/relationships/image" Target="../media/image56.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 Id="rId3" Type="http://schemas.openxmlformats.org/officeDocument/2006/relationships/image" Target="../media/image57.png"/><Relationship Id="rId4" Type="http://schemas.openxmlformats.org/officeDocument/2006/relationships/image" Target="../media/image58.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 Id="rId3" Type="http://schemas.openxmlformats.org/officeDocument/2006/relationships/image" Target="../media/image59.png"/><Relationship Id="rId4" Type="http://schemas.openxmlformats.org/officeDocument/2006/relationships/image" Target="../media/image60.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 Id="rId3" Type="http://schemas.openxmlformats.org/officeDocument/2006/relationships/image" Target="../media/image61.png"/><Relationship Id="rId4" Type="http://schemas.openxmlformats.org/officeDocument/2006/relationships/image" Target="../media/image62.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 Id="rId3" Type="http://schemas.openxmlformats.org/officeDocument/2006/relationships/image" Target="../media/image63.png"/><Relationship Id="rId4" Type="http://schemas.openxmlformats.org/officeDocument/2006/relationships/image" Target="../media/image64.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 Id="rId3" Type="http://schemas.openxmlformats.org/officeDocument/2006/relationships/image" Target="../media/image65.png"/><Relationship Id="rId4" Type="http://schemas.openxmlformats.org/officeDocument/2006/relationships/image" Target="../media/image66.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 Id="rId3" Type="http://schemas.openxmlformats.org/officeDocument/2006/relationships/image" Target="../media/image67.png"/><Relationship Id="rId4" Type="http://schemas.openxmlformats.org/officeDocument/2006/relationships/image" Target="../media/image68.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 Id="rId3" Type="http://schemas.openxmlformats.org/officeDocument/2006/relationships/image" Target="../media/image69.png"/><Relationship Id="rId4" Type="http://schemas.openxmlformats.org/officeDocument/2006/relationships/image" Target="../media/image70.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 Id="rId3" Type="http://schemas.openxmlformats.org/officeDocument/2006/relationships/image" Target="../media/image71.png"/><Relationship Id="rId4" Type="http://schemas.openxmlformats.org/officeDocument/2006/relationships/image" Target="../media/image72.jp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 Id="rId3" Type="http://schemas.openxmlformats.org/officeDocument/2006/relationships/image" Target="../media/image73.png"/><Relationship Id="rId4" Type="http://schemas.openxmlformats.org/officeDocument/2006/relationships/image" Target="../media/image74.jp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 Id="rId3" Type="http://schemas.openxmlformats.org/officeDocument/2006/relationships/image" Target="../media/image75.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 Id="rId3" Type="http://schemas.openxmlformats.org/officeDocument/2006/relationships/image" Target="../media/image76.png"/><Relationship Id="rId4" Type="http://schemas.openxmlformats.org/officeDocument/2006/relationships/image" Target="../media/image77.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 Id="rId3" Type="http://schemas.openxmlformats.org/officeDocument/2006/relationships/image" Target="../media/image78.png"/><Relationship Id="rId4" Type="http://schemas.openxmlformats.org/officeDocument/2006/relationships/image" Target="../media/image79.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 Id="rId3" Type="http://schemas.openxmlformats.org/officeDocument/2006/relationships/image" Target="../media/image80.jpg"/><Relationship Id="rId4" Type="http://schemas.openxmlformats.org/officeDocument/2006/relationships/image" Target="../media/image81.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 Id="rId3" Type="http://schemas.openxmlformats.org/officeDocument/2006/relationships/image" Target="../media/image82.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0" y="0"/>
            <a:ext cx="6858000" cy="0"/>
          </a:xfrm>
          <a:prstGeom prst="rect">
            <a:avLst/>
          </a:prstGeom>
          <a:noFill/>
          <a:ln/>
        </p:spPr>
        <p:txBody>
          <a:bodyPr wrap="square" lIns="6350" tIns="6350" rIns="6350" bIns="6350" rtlCol="0" anchor="ctr"/>
          <a:lstStyle/>
          <a:p>
            <a:pPr algn="ctr" indent="0" marL="0">
              <a:buNone/>
            </a:pPr>
            <a:r>
              <a:rPr lang="en-US" sz="4400" b="1" dirty="0">
                <a:solidFill>
                  <a:srgbClr val="FFFFFF"/>
                </a:solidFill>
                <a:latin typeface="Cambria" pitchFamily="34" charset="0"/>
                <a:ea typeface="Cambria" pitchFamily="34" charset="-122"/>
                <a:cs typeface="Cambria" pitchFamily="34" charset="-120"/>
              </a:rPr>
              <a:t>Diseño e implementación de un sistema electrónico multicanal del tipo IoT para caracterización geotécnica del suelo mediante ondas sísmicas</a:t>
            </a:r>
            <a:endParaRPr lang="en-US" sz="4400" dirty="0"/>
          </a:p>
        </p:txBody>
      </p:sp>
      <p:sp>
        <p:nvSpPr>
          <p:cNvPr id="3" name="Text 1"/>
          <p:cNvSpPr/>
          <p:nvPr/>
        </p:nvSpPr>
        <p:spPr>
          <a:xfrm>
            <a:off x="457200" y="3200400"/>
            <a:ext cx="8229600" cy="0"/>
          </a:xfrm>
          <a:prstGeom prst="rect">
            <a:avLst/>
          </a:prstGeom>
          <a:noFill/>
          <a:ln/>
        </p:spPr>
        <p:txBody>
          <a:bodyPr wrap="square" rtlCol="0" anchor="ctr"/>
          <a:lstStyle/>
          <a:p>
            <a:pPr algn="ctr" indent="0" marL="0">
              <a:buNone/>
            </a:pPr>
            <a:r>
              <a:rPr lang="en-US" sz="1400" dirty="0">
                <a:solidFill>
                  <a:srgbClr val="F5F5F5"/>
                </a:solidFill>
              </a:rPr>
              <a:t>Elías David Álvarez Martínez | Ingeniera Electrónica | Y24127</a:t>
            </a:r>
            <a:endParaRPr lang="en-US" sz="1400" dirty="0"/>
          </a:p>
        </p:txBody>
      </p:sp>
      <p:sp>
        <p:nvSpPr>
          <p:cNvPr id="4" name="Text 2"/>
          <p:cNvSpPr/>
          <p:nvPr/>
        </p:nvSpPr>
        <p:spPr>
          <a:xfrm>
            <a:off x="457200" y="3657600"/>
            <a:ext cx="8229600" cy="0"/>
          </a:xfrm>
          <a:prstGeom prst="rect">
            <a:avLst/>
          </a:prstGeom>
          <a:noFill/>
          <a:ln/>
        </p:spPr>
        <p:txBody>
          <a:bodyPr wrap="square" rtlCol="0" anchor="ctr"/>
          <a:lstStyle/>
          <a:p>
            <a:pPr algn="ctr" indent="0" marL="0">
              <a:buNone/>
            </a:pPr>
            <a:r>
              <a:rPr lang="en-US" sz="1200" dirty="0">
                <a:solidFill>
                  <a:srgbClr val="028090"/>
                </a:solidFill>
              </a:rPr>
              <a:t>Tutor: Enrique A. Vargas Cabral, Ph.D.</a:t>
            </a:r>
            <a:endParaRPr lang="en-US" sz="1200" dirty="0"/>
          </a:p>
        </p:txBody>
      </p:sp>
      <p:pic>
        <p:nvPicPr>
          <p:cNvPr id="5" name="Picture 4" descr="s06_46c357.png"/>
          <p:cNvPicPr>
            <a:picLocks noChangeAspect="1"/>
          </p:cNvPicPr>
          <p:nvPr/>
        </p:nvPicPr>
        <p:blipFill>
          <a:blip r:embed="rId3"/>
          <a:stretch>
            <a:fillRect/>
          </a:stretch>
        </p:blipFill>
        <p:spPr>
          <a:xfrm>
            <a:off x="5486400" y="454914"/>
            <a:ext cx="3291840" cy="1851660"/>
          </a:xfrm>
          <a:prstGeom prst="rect">
            <a:avLst/>
          </a:prstGeom>
        </p:spPr>
      </p:pic>
      <p:sp>
        <p:nvSpPr>
          <p:cNvPr id="6" name="TextBox 5"/>
          <p:cNvSpPr txBox="1"/>
          <p:nvPr/>
        </p:nvSpPr>
        <p:spPr>
          <a:xfrm>
            <a:off x="5486400" y="2395728"/>
            <a:ext cx="3291840" cy="164592"/>
          </a:xfrm>
          <a:prstGeom prst="rect">
            <a:avLst/>
          </a:prstGeom>
          <a:noFill/>
        </p:spPr>
        <p:txBody>
          <a:bodyPr wrap="none" tIns="0" bIns="0">
            <a:spAutoFit/>
          </a:bodyPr>
          <a:lstStyle/>
          <a:p>
            <a:pPr algn="ctr"/>
            <a:r>
              <a:rPr sz="700" i="1">
                <a:solidFill>
                  <a:srgbClr val="808080"/>
                </a:solidFill>
              </a:rPr>
              <a:t>Placeholder · Esquema Love/Rayleigh (generado)</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1E2761"/>
          </a:solidFill>
          <a:ln/>
        </p:spPr>
      </p:sp>
      <p:sp>
        <p:nvSpPr>
          <p:cNvPr id="3" name="Text 1"/>
          <p:cNvSpPr/>
          <p:nvPr/>
        </p:nvSpPr>
        <p:spPr>
          <a:xfrm>
            <a:off x="457200" y="137160"/>
            <a:ext cx="8229600" cy="457200"/>
          </a:xfrm>
          <a:prstGeom prst="rect">
            <a:avLst/>
          </a:prstGeom>
          <a:noFill/>
          <a:ln/>
        </p:spPr>
        <p:txBody>
          <a:bodyPr wrap="square" rtlCol="0" anchor="ctr"/>
          <a:lstStyle/>
          <a:p>
            <a:pPr algn="l" indent="0" marL="0">
              <a:buNone/>
            </a:pPr>
            <a:r>
              <a:rPr lang="en-US" sz="2800" b="1" dirty="0">
                <a:solidFill>
                  <a:srgbClr val="FFFFFF"/>
                </a:solidFill>
                <a:latin typeface="Cambria" pitchFamily="34" charset="0"/>
                <a:ea typeface="Cambria" pitchFamily="34" charset="-122"/>
                <a:cs typeface="Cambria" pitchFamily="34" charset="-120"/>
              </a:rPr>
              <a:t>¿Para qué necesitamos caracterizar el suelo?</a:t>
            </a:r>
            <a:endParaRPr lang="en-US" sz="2800" dirty="0"/>
          </a:p>
        </p:txBody>
      </p:sp>
      <p:sp>
        <p:nvSpPr>
          <p:cNvPr id="4" name="Text 2"/>
          <p:cNvSpPr/>
          <p:nvPr/>
        </p:nvSpPr>
        <p:spPr>
          <a:xfrm>
            <a:off x="457200" y="914400"/>
            <a:ext cx="3566160" cy="3474720"/>
          </a:xfrm>
          <a:prstGeom prst="rect">
            <a:avLst/>
          </a:prstGeom>
          <a:noFill/>
          <a:ln/>
        </p:spPr>
        <p:txBody>
          <a:bodyPr wrap="square" rtlCol="0" anchor="t"/>
          <a:lstStyle/>
          <a:p>
            <a:pPr algn="l" indent="0" marL="0">
              <a:buNone/>
            </a:pPr>
            <a:r>
              <a:rPr lang="en-US" sz="1600" dirty="0">
                <a:solidFill>
                  <a:srgbClr val="36454F"/>
                </a:solidFill>
                <a:latin typeface="Calibri" pitchFamily="34" charset="0"/>
                <a:ea typeface="Calibri" pitchFamily="34" charset="-122"/>
                <a:cs typeface="Calibri" pitchFamily="34" charset="-120"/>
              </a:rPr>
              <a:t>Terreno condiciona diseño, ejecución y seguimiento. Ejemplos: fundaciones, asentamientos, pavimentos, taludes, estabilidad.</a:t>
            </a:r>
            <a:endParaRPr lang="en-US" sz="1800" dirty="0"/>
          </a:p>
        </p:txBody>
      </p:sp>
      <p:sp>
        <p:nvSpPr>
          <p:cNvPr id="5" name="Text 3"/>
          <p:cNvSpPr/>
          <p:nvPr/>
        </p:nvSpPr>
        <p:spPr>
          <a:xfrm>
            <a:off x="457200" y="4572000"/>
            <a:ext cx="8229600" cy="0"/>
          </a:xfrm>
          <a:prstGeom prst="rect">
            <a:avLst/>
          </a:prstGeom>
          <a:noFill/>
          <a:ln/>
        </p:spPr>
        <p:txBody>
          <a:bodyPr wrap="square" rtlCol="0" anchor="ctr"/>
          <a:lstStyle/>
          <a:p>
            <a:pPr algn="r" indent="0" marL="0">
              <a:buNone/>
            </a:pPr>
            <a:r>
              <a:rPr lang="en-US" sz="1000" dirty="0">
                <a:solidFill>
                  <a:srgbClr val="028090"/>
                </a:solidFill>
              </a:rPr>
              <a:t>Slide 2 | Motivación</a:t>
            </a:r>
            <a:endParaRPr lang="en-US" sz="1000" dirty="0"/>
          </a:p>
        </p:txBody>
      </p:sp>
      <p:pic>
        <p:nvPicPr>
          <p:cNvPr id="6" name="Picture 5" descr="foundation.jpg"/>
          <p:cNvPicPr>
            <a:picLocks noChangeAspect="1"/>
          </p:cNvPicPr>
          <p:nvPr/>
        </p:nvPicPr>
        <p:blipFill>
          <a:blip r:embed="rId3"/>
          <a:stretch>
            <a:fillRect/>
          </a:stretch>
        </p:blipFill>
        <p:spPr>
          <a:xfrm>
            <a:off x="5278374" y="868680"/>
            <a:ext cx="2427732" cy="1618488"/>
          </a:xfrm>
          <a:prstGeom prst="rect">
            <a:avLst/>
          </a:prstGeom>
        </p:spPr>
      </p:pic>
      <p:sp>
        <p:nvSpPr>
          <p:cNvPr id="7" name="TextBox 6"/>
          <p:cNvSpPr txBox="1"/>
          <p:nvPr/>
        </p:nvSpPr>
        <p:spPr>
          <a:xfrm>
            <a:off x="4206240" y="2487168"/>
            <a:ext cx="4572000" cy="164592"/>
          </a:xfrm>
          <a:prstGeom prst="rect">
            <a:avLst/>
          </a:prstGeom>
          <a:noFill/>
        </p:spPr>
        <p:txBody>
          <a:bodyPr wrap="none" tIns="0" bIns="0">
            <a:spAutoFit/>
          </a:bodyPr>
          <a:lstStyle/>
          <a:p>
            <a:pPr algn="ctr"/>
            <a:r>
              <a:rPr sz="700" i="1">
                <a:solidFill>
                  <a:srgbClr val="808080"/>
                </a:solidFill>
              </a:rPr>
              <a:t>Placeholder · Wikimedia Commons, CC BY-SA 4.0</a:t>
            </a:r>
          </a:p>
        </p:txBody>
      </p:sp>
      <p:pic>
        <p:nvPicPr>
          <p:cNvPr id="8" name="Picture 7" descr="landslide.jpg"/>
          <p:cNvPicPr>
            <a:picLocks noChangeAspect="1"/>
          </p:cNvPicPr>
          <p:nvPr/>
        </p:nvPicPr>
        <p:blipFill>
          <a:blip r:embed="rId4"/>
          <a:stretch>
            <a:fillRect/>
          </a:stretch>
        </p:blipFill>
        <p:spPr>
          <a:xfrm>
            <a:off x="5435268" y="2743200"/>
            <a:ext cx="2113943" cy="1618488"/>
          </a:xfrm>
          <a:prstGeom prst="rect">
            <a:avLst/>
          </a:prstGeom>
        </p:spPr>
      </p:pic>
      <p:sp>
        <p:nvSpPr>
          <p:cNvPr id="9" name="TextBox 8"/>
          <p:cNvSpPr txBox="1"/>
          <p:nvPr/>
        </p:nvSpPr>
        <p:spPr>
          <a:xfrm>
            <a:off x="4206240" y="4361688"/>
            <a:ext cx="4572000" cy="164592"/>
          </a:xfrm>
          <a:prstGeom prst="rect">
            <a:avLst/>
          </a:prstGeom>
          <a:noFill/>
        </p:spPr>
        <p:txBody>
          <a:bodyPr wrap="none" tIns="0" bIns="0">
            <a:spAutoFit/>
          </a:bodyPr>
          <a:lstStyle/>
          <a:p>
            <a:pPr algn="ctr"/>
            <a:r>
              <a:rPr sz="700" i="1">
                <a:solidFill>
                  <a:srgbClr val="808080"/>
                </a:solidFill>
              </a:rPr>
              <a:t>Placeholder · Wikimedia Commons, CC BY 4.0</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1E2761"/>
          </a:solidFill>
          <a:ln/>
        </p:spPr>
      </p:sp>
      <p:sp>
        <p:nvSpPr>
          <p:cNvPr id="3" name="Text 1"/>
          <p:cNvSpPr/>
          <p:nvPr/>
        </p:nvSpPr>
        <p:spPr>
          <a:xfrm>
            <a:off x="457200" y="137160"/>
            <a:ext cx="8229600" cy="457200"/>
          </a:xfrm>
          <a:prstGeom prst="rect">
            <a:avLst/>
          </a:prstGeom>
          <a:noFill/>
          <a:ln/>
        </p:spPr>
        <p:txBody>
          <a:bodyPr wrap="square" rtlCol="0" anchor="ctr"/>
          <a:lstStyle/>
          <a:p>
            <a:pPr algn="l" indent="0" marL="0">
              <a:buNone/>
            </a:pPr>
            <a:r>
              <a:rPr lang="en-US" sz="2800" b="1" dirty="0">
                <a:solidFill>
                  <a:srgbClr val="FFFFFF"/>
                </a:solidFill>
                <a:latin typeface="Cambria" pitchFamily="34" charset="0"/>
                <a:ea typeface="Cambria" pitchFamily="34" charset="-122"/>
                <a:cs typeface="Cambria" pitchFamily="34" charset="-120"/>
              </a:rPr>
              <a:t>Métodos para caracterizar el suelo: invasivos vs no invasivos</a:t>
            </a:r>
            <a:endParaRPr lang="en-US" sz="2800" dirty="0"/>
          </a:p>
        </p:txBody>
      </p:sp>
      <p:sp>
        <p:nvSpPr>
          <p:cNvPr id="4" name="Text 2"/>
          <p:cNvSpPr/>
          <p:nvPr/>
        </p:nvSpPr>
        <p:spPr>
          <a:xfrm>
            <a:off x="457200" y="914400"/>
            <a:ext cx="3566160" cy="3474720"/>
          </a:xfrm>
          <a:prstGeom prst="rect">
            <a:avLst/>
          </a:prstGeom>
          <a:noFill/>
          <a:ln/>
        </p:spPr>
        <p:txBody>
          <a:bodyPr wrap="square" rtlCol="0" anchor="t"/>
          <a:lstStyle/>
          <a:p>
            <a:pPr algn="l" indent="0" marL="0">
              <a:buNone/>
            </a:pPr>
            <a:r>
              <a:rPr lang="en-US" sz="1600" dirty="0">
                <a:solidFill>
                  <a:srgbClr val="36454F"/>
                </a:solidFill>
                <a:latin typeface="Calibri" pitchFamily="34" charset="0"/>
                <a:ea typeface="Calibri" pitchFamily="34" charset="-122"/>
                <a:cs typeface="Calibri" pitchFamily="34" charset="-120"/>
              </a:rPr>
              <a:t>SPT/CPT invasivos, downhole, refracción/reflexión, ondas superficiales (Love, Rayleigh, MASW).</a:t>
            </a:r>
            <a:endParaRPr lang="en-US" sz="1800" dirty="0"/>
          </a:p>
        </p:txBody>
      </p:sp>
      <p:sp>
        <p:nvSpPr>
          <p:cNvPr id="5" name="Text 3"/>
          <p:cNvSpPr/>
          <p:nvPr/>
        </p:nvSpPr>
        <p:spPr>
          <a:xfrm>
            <a:off x="457200" y="4572000"/>
            <a:ext cx="8229600" cy="0"/>
          </a:xfrm>
          <a:prstGeom prst="rect">
            <a:avLst/>
          </a:prstGeom>
          <a:noFill/>
          <a:ln/>
        </p:spPr>
        <p:txBody>
          <a:bodyPr wrap="square" rtlCol="0" anchor="ctr"/>
          <a:lstStyle/>
          <a:p>
            <a:pPr algn="r" indent="0" marL="0">
              <a:buNone/>
            </a:pPr>
            <a:r>
              <a:rPr lang="en-US" sz="1000" dirty="0">
                <a:solidFill>
                  <a:srgbClr val="028090"/>
                </a:solidFill>
              </a:rPr>
              <a:t>Slide 3 | Motivación</a:t>
            </a:r>
            <a:endParaRPr lang="en-US" sz="1000" dirty="0"/>
          </a:p>
        </p:txBody>
      </p:sp>
      <p:pic>
        <p:nvPicPr>
          <p:cNvPr id="6" name="Picture 5" descr="s03_4093d7.png"/>
          <p:cNvPicPr>
            <a:picLocks noChangeAspect="1"/>
          </p:cNvPicPr>
          <p:nvPr/>
        </p:nvPicPr>
        <p:blipFill>
          <a:blip r:embed="rId3"/>
          <a:stretch>
            <a:fillRect/>
          </a:stretch>
        </p:blipFill>
        <p:spPr>
          <a:xfrm>
            <a:off x="5608997" y="868680"/>
            <a:ext cx="1766485" cy="993648"/>
          </a:xfrm>
          <a:prstGeom prst="rect">
            <a:avLst/>
          </a:prstGeom>
        </p:spPr>
      </p:pic>
      <p:sp>
        <p:nvSpPr>
          <p:cNvPr id="7" name="TextBox 6"/>
          <p:cNvSpPr txBox="1"/>
          <p:nvPr/>
        </p:nvSpPr>
        <p:spPr>
          <a:xfrm>
            <a:off x="4206240" y="1862328"/>
            <a:ext cx="4572000" cy="164592"/>
          </a:xfrm>
          <a:prstGeom prst="rect">
            <a:avLst/>
          </a:prstGeom>
          <a:noFill/>
        </p:spPr>
        <p:txBody>
          <a:bodyPr wrap="none" tIns="0" bIns="0">
            <a:spAutoFit/>
          </a:bodyPr>
          <a:lstStyle/>
          <a:p>
            <a:pPr algn="ctr"/>
            <a:r>
              <a:rPr sz="700" i="1">
                <a:solidFill>
                  <a:srgbClr val="808080"/>
                </a:solidFill>
              </a:rPr>
              <a:t>Placeholder · SPT / CPT (generado)</a:t>
            </a:r>
          </a:p>
        </p:txBody>
      </p:sp>
      <p:pic>
        <p:nvPicPr>
          <p:cNvPr id="8" name="Picture 7" descr="s05_2f069b.png"/>
          <p:cNvPicPr>
            <a:picLocks noChangeAspect="1"/>
          </p:cNvPicPr>
          <p:nvPr/>
        </p:nvPicPr>
        <p:blipFill>
          <a:blip r:embed="rId4"/>
          <a:stretch>
            <a:fillRect/>
          </a:stretch>
        </p:blipFill>
        <p:spPr>
          <a:xfrm>
            <a:off x="5608997" y="2118360"/>
            <a:ext cx="1766485" cy="993648"/>
          </a:xfrm>
          <a:prstGeom prst="rect">
            <a:avLst/>
          </a:prstGeom>
        </p:spPr>
      </p:pic>
      <p:sp>
        <p:nvSpPr>
          <p:cNvPr id="9" name="TextBox 8"/>
          <p:cNvSpPr txBox="1"/>
          <p:nvPr/>
        </p:nvSpPr>
        <p:spPr>
          <a:xfrm>
            <a:off x="4206240" y="3112008"/>
            <a:ext cx="4572000" cy="164592"/>
          </a:xfrm>
          <a:prstGeom prst="rect">
            <a:avLst/>
          </a:prstGeom>
          <a:noFill/>
        </p:spPr>
        <p:txBody>
          <a:bodyPr wrap="none" tIns="0" bIns="0">
            <a:spAutoFit/>
          </a:bodyPr>
          <a:lstStyle/>
          <a:p>
            <a:pPr algn="ctr"/>
            <a:r>
              <a:rPr sz="700" i="1">
                <a:solidFill>
                  <a:srgbClr val="808080"/>
                </a:solidFill>
              </a:rPr>
              <a:t>Placeholder · Ondas de cuerpo (generado)</a:t>
            </a:r>
          </a:p>
        </p:txBody>
      </p:sp>
      <p:pic>
        <p:nvPicPr>
          <p:cNvPr id="10" name="Picture 9" descr="s06_46c357.png"/>
          <p:cNvPicPr>
            <a:picLocks noChangeAspect="1"/>
          </p:cNvPicPr>
          <p:nvPr/>
        </p:nvPicPr>
        <p:blipFill>
          <a:blip r:embed="rId5"/>
          <a:stretch>
            <a:fillRect/>
          </a:stretch>
        </p:blipFill>
        <p:spPr>
          <a:xfrm>
            <a:off x="5608997" y="3368040"/>
            <a:ext cx="1766485" cy="993648"/>
          </a:xfrm>
          <a:prstGeom prst="rect">
            <a:avLst/>
          </a:prstGeom>
        </p:spPr>
      </p:pic>
      <p:sp>
        <p:nvSpPr>
          <p:cNvPr id="11" name="TextBox 10"/>
          <p:cNvSpPr txBox="1"/>
          <p:nvPr/>
        </p:nvSpPr>
        <p:spPr>
          <a:xfrm>
            <a:off x="4206240" y="4361688"/>
            <a:ext cx="4572000" cy="164592"/>
          </a:xfrm>
          <a:prstGeom prst="rect">
            <a:avLst/>
          </a:prstGeom>
          <a:noFill/>
        </p:spPr>
        <p:txBody>
          <a:bodyPr wrap="none" tIns="0" bIns="0">
            <a:spAutoFit/>
          </a:bodyPr>
          <a:lstStyle/>
          <a:p>
            <a:pPr algn="ctr"/>
            <a:r>
              <a:rPr sz="700" i="1">
                <a:solidFill>
                  <a:srgbClr val="808080"/>
                </a:solidFill>
              </a:rPr>
              <a:t>Placeholder · Ondas superficiales (generado)</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1E2761"/>
          </a:solidFill>
          <a:ln/>
        </p:spPr>
      </p:sp>
      <p:sp>
        <p:nvSpPr>
          <p:cNvPr id="3" name="Text 1"/>
          <p:cNvSpPr/>
          <p:nvPr/>
        </p:nvSpPr>
        <p:spPr>
          <a:xfrm>
            <a:off x="457200" y="137160"/>
            <a:ext cx="8229600" cy="457200"/>
          </a:xfrm>
          <a:prstGeom prst="rect">
            <a:avLst/>
          </a:prstGeom>
          <a:noFill/>
          <a:ln/>
        </p:spPr>
        <p:txBody>
          <a:bodyPr wrap="square" rtlCol="0" anchor="ctr"/>
          <a:lstStyle/>
          <a:p>
            <a:pPr algn="l" indent="0" marL="0">
              <a:buNone/>
            </a:pPr>
            <a:r>
              <a:rPr lang="en-US" sz="2800" b="1" dirty="0">
                <a:solidFill>
                  <a:srgbClr val="FFFFFF"/>
                </a:solidFill>
                <a:latin typeface="Cambria" pitchFamily="34" charset="0"/>
                <a:ea typeface="Cambria" pitchFamily="34" charset="-122"/>
                <a:cs typeface="Cambria" pitchFamily="34" charset="-120"/>
              </a:rPr>
              <a:t>Métodos invasivos: medición directa del terreno (SPT, CPT)</a:t>
            </a:r>
            <a:endParaRPr lang="en-US" sz="2800" dirty="0"/>
          </a:p>
        </p:txBody>
      </p:sp>
      <p:sp>
        <p:nvSpPr>
          <p:cNvPr id="4" name="Text 2"/>
          <p:cNvSpPr/>
          <p:nvPr/>
        </p:nvSpPr>
        <p:spPr>
          <a:xfrm>
            <a:off x="457200" y="914400"/>
            <a:ext cx="3566160" cy="3474720"/>
          </a:xfrm>
          <a:prstGeom prst="rect">
            <a:avLst/>
          </a:prstGeom>
          <a:noFill/>
          <a:ln/>
        </p:spPr>
        <p:txBody>
          <a:bodyPr wrap="square" rtlCol="0" anchor="t"/>
          <a:lstStyle/>
          <a:p>
            <a:pPr algn="l" indent="0" marL="0">
              <a:buNone/>
            </a:pPr>
            <a:r>
              <a:rPr lang="en-US" sz="1600" dirty="0">
                <a:solidFill>
                  <a:srgbClr val="36454F"/>
                </a:solidFill>
                <a:latin typeface="Calibri" pitchFamily="34" charset="0"/>
                <a:ea typeface="Calibri" pitchFamily="34" charset="-122"/>
                <a:cs typeface="Calibri" pitchFamily="34" charset="-120"/>
              </a:rPr>
              <a:t>Resistencia a penetración, estratigrafía, recuperación de muestra. Referencia clásica; cobertura puntual y alto costo logístico.</a:t>
            </a:r>
            <a:endParaRPr lang="en-US" sz="1800" dirty="0"/>
          </a:p>
        </p:txBody>
      </p:sp>
      <p:sp>
        <p:nvSpPr>
          <p:cNvPr id="5" name="Text 3"/>
          <p:cNvSpPr/>
          <p:nvPr/>
        </p:nvSpPr>
        <p:spPr>
          <a:xfrm>
            <a:off x="457200" y="4572000"/>
            <a:ext cx="8229600" cy="0"/>
          </a:xfrm>
          <a:prstGeom prst="rect">
            <a:avLst/>
          </a:prstGeom>
          <a:noFill/>
          <a:ln/>
        </p:spPr>
        <p:txBody>
          <a:bodyPr wrap="square" rtlCol="0" anchor="ctr"/>
          <a:lstStyle/>
          <a:p>
            <a:pPr algn="r" indent="0" marL="0">
              <a:buNone/>
            </a:pPr>
            <a:r>
              <a:rPr lang="en-US" sz="1000" dirty="0">
                <a:solidFill>
                  <a:srgbClr val="028090"/>
                </a:solidFill>
              </a:rPr>
              <a:t>Slide 4 | Estado del arte</a:t>
            </a:r>
            <a:endParaRPr lang="en-US" sz="1000" dirty="0"/>
          </a:p>
        </p:txBody>
      </p:sp>
      <p:pic>
        <p:nvPicPr>
          <p:cNvPr id="6" name="Picture 5" descr="spt.jpg"/>
          <p:cNvPicPr>
            <a:picLocks noChangeAspect="1"/>
          </p:cNvPicPr>
          <p:nvPr/>
        </p:nvPicPr>
        <p:blipFill>
          <a:blip r:embed="rId3"/>
          <a:stretch>
            <a:fillRect/>
          </a:stretch>
        </p:blipFill>
        <p:spPr>
          <a:xfrm>
            <a:off x="6119622" y="868680"/>
            <a:ext cx="745236" cy="993648"/>
          </a:xfrm>
          <a:prstGeom prst="rect">
            <a:avLst/>
          </a:prstGeom>
        </p:spPr>
      </p:pic>
      <p:sp>
        <p:nvSpPr>
          <p:cNvPr id="7" name="TextBox 6"/>
          <p:cNvSpPr txBox="1"/>
          <p:nvPr/>
        </p:nvSpPr>
        <p:spPr>
          <a:xfrm>
            <a:off x="4206240" y="1862328"/>
            <a:ext cx="4572000" cy="164592"/>
          </a:xfrm>
          <a:prstGeom prst="rect">
            <a:avLst/>
          </a:prstGeom>
          <a:noFill/>
        </p:spPr>
        <p:txBody>
          <a:bodyPr wrap="none" tIns="0" bIns="0">
            <a:spAutoFit/>
          </a:bodyPr>
          <a:lstStyle/>
          <a:p>
            <a:pPr algn="ctr"/>
            <a:r>
              <a:rPr sz="700" i="1">
                <a:solidFill>
                  <a:srgbClr val="808080"/>
                </a:solidFill>
              </a:rPr>
              <a:t>Placeholder · SPT, Wikimedia Commons, CC BY 4.0</a:t>
            </a:r>
          </a:p>
        </p:txBody>
      </p:sp>
      <p:pic>
        <p:nvPicPr>
          <p:cNvPr id="8" name="Picture 7" descr="cpt_truck.jpg"/>
          <p:cNvPicPr>
            <a:picLocks noChangeAspect="1"/>
          </p:cNvPicPr>
          <p:nvPr/>
        </p:nvPicPr>
        <p:blipFill>
          <a:blip r:embed="rId4"/>
          <a:stretch>
            <a:fillRect/>
          </a:stretch>
        </p:blipFill>
        <p:spPr>
          <a:xfrm>
            <a:off x="5829808" y="2118360"/>
            <a:ext cx="1324864" cy="993648"/>
          </a:xfrm>
          <a:prstGeom prst="rect">
            <a:avLst/>
          </a:prstGeom>
        </p:spPr>
      </p:pic>
      <p:sp>
        <p:nvSpPr>
          <p:cNvPr id="9" name="TextBox 8"/>
          <p:cNvSpPr txBox="1"/>
          <p:nvPr/>
        </p:nvSpPr>
        <p:spPr>
          <a:xfrm>
            <a:off x="4206240" y="3112008"/>
            <a:ext cx="4572000" cy="164592"/>
          </a:xfrm>
          <a:prstGeom prst="rect">
            <a:avLst/>
          </a:prstGeom>
          <a:noFill/>
        </p:spPr>
        <p:txBody>
          <a:bodyPr wrap="none" tIns="0" bIns="0">
            <a:spAutoFit/>
          </a:bodyPr>
          <a:lstStyle/>
          <a:p>
            <a:pPr algn="ctr"/>
            <a:r>
              <a:rPr sz="700" i="1">
                <a:solidFill>
                  <a:srgbClr val="808080"/>
                </a:solidFill>
              </a:rPr>
              <a:t>Placeholder · CPT, Wikimedia Commons (geograph)</a:t>
            </a:r>
          </a:p>
        </p:txBody>
      </p:sp>
      <p:pic>
        <p:nvPicPr>
          <p:cNvPr id="10" name="Picture 9" descr="s03_4093d7.png"/>
          <p:cNvPicPr>
            <a:picLocks noChangeAspect="1"/>
          </p:cNvPicPr>
          <p:nvPr/>
        </p:nvPicPr>
        <p:blipFill>
          <a:blip r:embed="rId5"/>
          <a:stretch>
            <a:fillRect/>
          </a:stretch>
        </p:blipFill>
        <p:spPr>
          <a:xfrm>
            <a:off x="5608997" y="3368040"/>
            <a:ext cx="1766485" cy="993648"/>
          </a:xfrm>
          <a:prstGeom prst="rect">
            <a:avLst/>
          </a:prstGeom>
        </p:spPr>
      </p:pic>
      <p:sp>
        <p:nvSpPr>
          <p:cNvPr id="11" name="TextBox 10"/>
          <p:cNvSpPr txBox="1"/>
          <p:nvPr/>
        </p:nvSpPr>
        <p:spPr>
          <a:xfrm>
            <a:off x="4206240" y="4361688"/>
            <a:ext cx="4572000" cy="164592"/>
          </a:xfrm>
          <a:prstGeom prst="rect">
            <a:avLst/>
          </a:prstGeom>
          <a:noFill/>
        </p:spPr>
        <p:txBody>
          <a:bodyPr wrap="none" tIns="0" bIns="0">
            <a:spAutoFit/>
          </a:bodyPr>
          <a:lstStyle/>
          <a:p>
            <a:pPr algn="ctr"/>
            <a:r>
              <a:rPr sz="700" i="1">
                <a:solidFill>
                  <a:srgbClr val="808080"/>
                </a:solidFill>
              </a:rPr>
              <a:t>Placeholder · Esquema (generado)</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1E2761"/>
          </a:solidFill>
          <a:ln/>
        </p:spPr>
      </p:sp>
      <p:sp>
        <p:nvSpPr>
          <p:cNvPr id="3" name="Text 1"/>
          <p:cNvSpPr/>
          <p:nvPr/>
        </p:nvSpPr>
        <p:spPr>
          <a:xfrm>
            <a:off x="457200" y="137160"/>
            <a:ext cx="8229600" cy="457200"/>
          </a:xfrm>
          <a:prstGeom prst="rect">
            <a:avLst/>
          </a:prstGeom>
          <a:noFill/>
          <a:ln/>
        </p:spPr>
        <p:txBody>
          <a:bodyPr wrap="square" rtlCol="0" anchor="ctr"/>
          <a:lstStyle/>
          <a:p>
            <a:pPr algn="l" indent="0" marL="0">
              <a:buNone/>
            </a:pPr>
            <a:r>
              <a:rPr lang="en-US" sz="2800" b="1" dirty="0">
                <a:solidFill>
                  <a:srgbClr val="FFFFFF"/>
                </a:solidFill>
                <a:latin typeface="Cambria" pitchFamily="34" charset="0"/>
                <a:ea typeface="Cambria" pitchFamily="34" charset="-122"/>
                <a:cs typeface="Cambria" pitchFamily="34" charset="-120"/>
              </a:rPr>
              <a:t>Métodos invasivos: medición de ondas dentro del terreno (downhole, crosshole)</a:t>
            </a:r>
            <a:endParaRPr lang="en-US" sz="2800" dirty="0"/>
          </a:p>
        </p:txBody>
      </p:sp>
      <p:sp>
        <p:nvSpPr>
          <p:cNvPr id="4" name="Text 2"/>
          <p:cNvSpPr/>
          <p:nvPr/>
        </p:nvSpPr>
        <p:spPr>
          <a:xfrm>
            <a:off x="457200" y="914400"/>
            <a:ext cx="3566160" cy="3474720"/>
          </a:xfrm>
          <a:prstGeom prst="rect">
            <a:avLst/>
          </a:prstGeom>
          <a:noFill/>
          <a:ln/>
        </p:spPr>
        <p:txBody>
          <a:bodyPr wrap="square" rtlCol="0" anchor="t"/>
          <a:lstStyle/>
          <a:p>
            <a:pPr algn="l" indent="0" marL="0">
              <a:buNone/>
            </a:pPr>
            <a:r>
              <a:rPr lang="en-US" sz="1600" dirty="0">
                <a:solidFill>
                  <a:srgbClr val="36454F"/>
                </a:solidFill>
                <a:latin typeface="Calibri" pitchFamily="34" charset="0"/>
                <a:ea typeface="Calibri" pitchFamily="34" charset="-122"/>
                <a:cs typeface="Calibri" pitchFamily="34" charset="-120"/>
              </a:rPr>
              <a:t>Velocidades dinámicas Vs directas con geometría conocida. Logística, costo.</a:t>
            </a:r>
            <a:endParaRPr lang="en-US" sz="1800" dirty="0"/>
          </a:p>
        </p:txBody>
      </p:sp>
      <p:sp>
        <p:nvSpPr>
          <p:cNvPr id="5" name="Text 3"/>
          <p:cNvSpPr/>
          <p:nvPr/>
        </p:nvSpPr>
        <p:spPr>
          <a:xfrm>
            <a:off x="457200" y="4572000"/>
            <a:ext cx="8229600" cy="0"/>
          </a:xfrm>
          <a:prstGeom prst="rect">
            <a:avLst/>
          </a:prstGeom>
          <a:noFill/>
          <a:ln/>
        </p:spPr>
        <p:txBody>
          <a:bodyPr wrap="square" rtlCol="0" anchor="ctr"/>
          <a:lstStyle/>
          <a:p>
            <a:pPr algn="r" indent="0" marL="0">
              <a:buNone/>
            </a:pPr>
            <a:r>
              <a:rPr lang="en-US" sz="1000" dirty="0">
                <a:solidFill>
                  <a:srgbClr val="028090"/>
                </a:solidFill>
              </a:rPr>
              <a:t>Slide 5 | Estado del arte</a:t>
            </a:r>
            <a:endParaRPr lang="en-US" sz="1000" dirty="0"/>
          </a:p>
        </p:txBody>
      </p:sp>
      <p:pic>
        <p:nvPicPr>
          <p:cNvPr id="6" name="Picture 5" descr="s04_7b0b76.png"/>
          <p:cNvPicPr>
            <a:picLocks noChangeAspect="1"/>
          </p:cNvPicPr>
          <p:nvPr/>
        </p:nvPicPr>
        <p:blipFill>
          <a:blip r:embed="rId3"/>
          <a:stretch>
            <a:fillRect/>
          </a:stretch>
        </p:blipFill>
        <p:spPr>
          <a:xfrm>
            <a:off x="5053584" y="868680"/>
            <a:ext cx="2877312" cy="1618488"/>
          </a:xfrm>
          <a:prstGeom prst="rect">
            <a:avLst/>
          </a:prstGeom>
        </p:spPr>
      </p:pic>
      <p:sp>
        <p:nvSpPr>
          <p:cNvPr id="7" name="TextBox 6"/>
          <p:cNvSpPr txBox="1"/>
          <p:nvPr/>
        </p:nvSpPr>
        <p:spPr>
          <a:xfrm>
            <a:off x="4206240" y="2487168"/>
            <a:ext cx="4572000" cy="164592"/>
          </a:xfrm>
          <a:prstGeom prst="rect">
            <a:avLst/>
          </a:prstGeom>
          <a:noFill/>
        </p:spPr>
        <p:txBody>
          <a:bodyPr wrap="none" tIns="0" bIns="0">
            <a:spAutoFit/>
          </a:bodyPr>
          <a:lstStyle/>
          <a:p>
            <a:pPr algn="ctr"/>
            <a:r>
              <a:rPr sz="700" i="1">
                <a:solidFill>
                  <a:srgbClr val="808080"/>
                </a:solidFill>
              </a:rPr>
              <a:t>Placeholder · Downhole / crosshole (generado)</a:t>
            </a:r>
          </a:p>
        </p:txBody>
      </p:sp>
      <p:pic>
        <p:nvPicPr>
          <p:cNvPr id="8" name="Picture 7" descr="ch1_crosshole_testing.png"/>
          <p:cNvPicPr>
            <a:picLocks noChangeAspect="1"/>
          </p:cNvPicPr>
          <p:nvPr/>
        </p:nvPicPr>
        <p:blipFill>
          <a:blip r:embed="rId4"/>
          <a:stretch>
            <a:fillRect/>
          </a:stretch>
        </p:blipFill>
        <p:spPr>
          <a:xfrm>
            <a:off x="5411858" y="2743200"/>
            <a:ext cx="2160764" cy="1618488"/>
          </a:xfrm>
          <a:prstGeom prst="rect">
            <a:avLst/>
          </a:prstGeom>
        </p:spPr>
      </p:pic>
      <p:sp>
        <p:nvSpPr>
          <p:cNvPr id="9" name="TextBox 8"/>
          <p:cNvSpPr txBox="1"/>
          <p:nvPr/>
        </p:nvSpPr>
        <p:spPr>
          <a:xfrm>
            <a:off x="4206240" y="4361688"/>
            <a:ext cx="4572000" cy="164592"/>
          </a:xfrm>
          <a:prstGeom prst="rect">
            <a:avLst/>
          </a:prstGeom>
          <a:noFill/>
        </p:spPr>
        <p:txBody>
          <a:bodyPr wrap="none" tIns="0" bIns="0">
            <a:spAutoFit/>
          </a:bodyPr>
          <a:lstStyle/>
          <a:p>
            <a:pPr algn="ctr"/>
            <a:r>
              <a:rPr sz="700" i="1">
                <a:solidFill>
                  <a:srgbClr val="808080"/>
                </a:solidFill>
              </a:rPr>
              <a:t>Placeholder · Foti et al. 2014, cap. 1</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1E2761"/>
          </a:solidFill>
          <a:ln/>
        </p:spPr>
      </p:sp>
      <p:sp>
        <p:nvSpPr>
          <p:cNvPr id="3" name="Text 1"/>
          <p:cNvSpPr/>
          <p:nvPr/>
        </p:nvSpPr>
        <p:spPr>
          <a:xfrm>
            <a:off x="457200" y="137160"/>
            <a:ext cx="8229600" cy="457200"/>
          </a:xfrm>
          <a:prstGeom prst="rect">
            <a:avLst/>
          </a:prstGeom>
          <a:noFill/>
          <a:ln/>
        </p:spPr>
        <p:txBody>
          <a:bodyPr wrap="square" rtlCol="0" anchor="ctr"/>
          <a:lstStyle/>
          <a:p>
            <a:pPr algn="l" indent="0" marL="0">
              <a:buNone/>
            </a:pPr>
            <a:r>
              <a:rPr lang="en-US" sz="2800" b="1" dirty="0">
                <a:solidFill>
                  <a:srgbClr val="FFFFFF"/>
                </a:solidFill>
                <a:latin typeface="Cambria" pitchFamily="34" charset="0"/>
                <a:ea typeface="Cambria" pitchFamily="34" charset="-122"/>
                <a:cs typeface="Cambria" pitchFamily="34" charset="-120"/>
              </a:rPr>
              <a:t>Métodos no invasivos: ondas de cuerpo desde superficie (refracción, reflexión, P/S)</a:t>
            </a:r>
            <a:endParaRPr lang="en-US" sz="2800" dirty="0"/>
          </a:p>
        </p:txBody>
      </p:sp>
      <p:sp>
        <p:nvSpPr>
          <p:cNvPr id="4" name="Text 2"/>
          <p:cNvSpPr/>
          <p:nvPr/>
        </p:nvSpPr>
        <p:spPr>
          <a:xfrm>
            <a:off x="457200" y="914400"/>
            <a:ext cx="3566160" cy="3474720"/>
          </a:xfrm>
          <a:prstGeom prst="rect">
            <a:avLst/>
          </a:prstGeom>
          <a:noFill/>
          <a:ln/>
        </p:spPr>
        <p:txBody>
          <a:bodyPr wrap="square" rtlCol="0" anchor="t"/>
          <a:lstStyle/>
          <a:p>
            <a:pPr algn="l" indent="0" marL="0">
              <a:buNone/>
            </a:pPr>
            <a:r>
              <a:rPr lang="en-US" sz="1600" dirty="0">
                <a:solidFill>
                  <a:srgbClr val="36454F"/>
                </a:solidFill>
                <a:latin typeface="Calibri" pitchFamily="34" charset="0"/>
                <a:ea typeface="Calibri" pitchFamily="34" charset="-122"/>
                <a:cs typeface="Calibri" pitchFamily="34" charset="-120"/>
              </a:rPr>
              <a:t>Sin penetración, perfiles continuos. Exigen configuraciones específicas para Vs directo.</a:t>
            </a:r>
            <a:endParaRPr lang="en-US" sz="1800" dirty="0"/>
          </a:p>
        </p:txBody>
      </p:sp>
      <p:sp>
        <p:nvSpPr>
          <p:cNvPr id="5" name="Text 3"/>
          <p:cNvSpPr/>
          <p:nvPr/>
        </p:nvSpPr>
        <p:spPr>
          <a:xfrm>
            <a:off x="457200" y="4572000"/>
            <a:ext cx="8229600" cy="0"/>
          </a:xfrm>
          <a:prstGeom prst="rect">
            <a:avLst/>
          </a:prstGeom>
          <a:noFill/>
          <a:ln/>
        </p:spPr>
        <p:txBody>
          <a:bodyPr wrap="square" rtlCol="0" anchor="ctr"/>
          <a:lstStyle/>
          <a:p>
            <a:pPr algn="r" indent="0" marL="0">
              <a:buNone/>
            </a:pPr>
            <a:r>
              <a:rPr lang="en-US" sz="1000" dirty="0">
                <a:solidFill>
                  <a:srgbClr val="028090"/>
                </a:solidFill>
              </a:rPr>
              <a:t>Slide 6 | Estado del arte</a:t>
            </a:r>
            <a:endParaRPr lang="en-US" sz="1000" dirty="0"/>
          </a:p>
        </p:txBody>
      </p:sp>
      <p:pic>
        <p:nvPicPr>
          <p:cNvPr id="6" name="Picture 5" descr="s05_2f069b.png"/>
          <p:cNvPicPr>
            <a:picLocks noChangeAspect="1"/>
          </p:cNvPicPr>
          <p:nvPr/>
        </p:nvPicPr>
        <p:blipFill>
          <a:blip r:embed="rId3"/>
          <a:stretch>
            <a:fillRect/>
          </a:stretch>
        </p:blipFill>
        <p:spPr>
          <a:xfrm>
            <a:off x="5053584" y="868680"/>
            <a:ext cx="2877312" cy="1618488"/>
          </a:xfrm>
          <a:prstGeom prst="rect">
            <a:avLst/>
          </a:prstGeom>
        </p:spPr>
      </p:pic>
      <p:sp>
        <p:nvSpPr>
          <p:cNvPr id="7" name="TextBox 6"/>
          <p:cNvSpPr txBox="1"/>
          <p:nvPr/>
        </p:nvSpPr>
        <p:spPr>
          <a:xfrm>
            <a:off x="4206240" y="2487168"/>
            <a:ext cx="4572000" cy="164592"/>
          </a:xfrm>
          <a:prstGeom prst="rect">
            <a:avLst/>
          </a:prstGeom>
          <a:noFill/>
        </p:spPr>
        <p:txBody>
          <a:bodyPr wrap="none" tIns="0" bIns="0">
            <a:spAutoFit/>
          </a:bodyPr>
          <a:lstStyle/>
          <a:p>
            <a:pPr algn="ctr"/>
            <a:r>
              <a:rPr sz="700" i="1">
                <a:solidFill>
                  <a:srgbClr val="808080"/>
                </a:solidFill>
              </a:rPr>
              <a:t>Placeholder · Refracción/reflexión (generado)</a:t>
            </a:r>
          </a:p>
        </p:txBody>
      </p:sp>
      <p:pic>
        <p:nvPicPr>
          <p:cNvPr id="8" name="Picture 7" descr="refraction.png"/>
          <p:cNvPicPr>
            <a:picLocks noChangeAspect="1"/>
          </p:cNvPicPr>
          <p:nvPr/>
        </p:nvPicPr>
        <p:blipFill>
          <a:blip r:embed="rId4"/>
          <a:stretch>
            <a:fillRect/>
          </a:stretch>
        </p:blipFill>
        <p:spPr>
          <a:xfrm>
            <a:off x="5609820" y="2743200"/>
            <a:ext cx="1764840" cy="1618487"/>
          </a:xfrm>
          <a:prstGeom prst="rect">
            <a:avLst/>
          </a:prstGeom>
        </p:spPr>
      </p:pic>
      <p:sp>
        <p:nvSpPr>
          <p:cNvPr id="9" name="TextBox 8"/>
          <p:cNvSpPr txBox="1"/>
          <p:nvPr/>
        </p:nvSpPr>
        <p:spPr>
          <a:xfrm>
            <a:off x="4206240" y="4361688"/>
            <a:ext cx="4572000" cy="164592"/>
          </a:xfrm>
          <a:prstGeom prst="rect">
            <a:avLst/>
          </a:prstGeom>
          <a:noFill/>
        </p:spPr>
        <p:txBody>
          <a:bodyPr wrap="none" tIns="0" bIns="0">
            <a:spAutoFit/>
          </a:bodyPr>
          <a:lstStyle/>
          <a:p>
            <a:pPr algn="ctr"/>
            <a:r>
              <a:rPr sz="700" i="1">
                <a:solidFill>
                  <a:srgbClr val="808080"/>
                </a:solidFill>
              </a:rPr>
              <a:t>Placeholder · Wikimedia Commons, dominio público</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1E2761"/>
          </a:solidFill>
          <a:ln/>
        </p:spPr>
      </p:sp>
      <p:sp>
        <p:nvSpPr>
          <p:cNvPr id="3" name="Text 1"/>
          <p:cNvSpPr/>
          <p:nvPr/>
        </p:nvSpPr>
        <p:spPr>
          <a:xfrm>
            <a:off x="457200" y="137160"/>
            <a:ext cx="8229600" cy="457200"/>
          </a:xfrm>
          <a:prstGeom prst="rect">
            <a:avLst/>
          </a:prstGeom>
          <a:noFill/>
          <a:ln/>
        </p:spPr>
        <p:txBody>
          <a:bodyPr wrap="square" rtlCol="0" anchor="ctr"/>
          <a:lstStyle/>
          <a:p>
            <a:pPr algn="l" indent="0" marL="0">
              <a:buNone/>
            </a:pPr>
            <a:r>
              <a:rPr lang="en-US" sz="2800" b="1" dirty="0">
                <a:solidFill>
                  <a:srgbClr val="FFFFFF"/>
                </a:solidFill>
                <a:latin typeface="Cambria" pitchFamily="34" charset="0"/>
                <a:ea typeface="Cambria" pitchFamily="34" charset="-122"/>
                <a:cs typeface="Cambria" pitchFamily="34" charset="-120"/>
              </a:rPr>
              <a:t>Métodos no invasivos: ondas superficiales (Love, Rayleigh, MASW)</a:t>
            </a:r>
            <a:endParaRPr lang="en-US" sz="2800" dirty="0"/>
          </a:p>
        </p:txBody>
      </p:sp>
      <p:sp>
        <p:nvSpPr>
          <p:cNvPr id="4" name="Text 2"/>
          <p:cNvSpPr/>
          <p:nvPr/>
        </p:nvSpPr>
        <p:spPr>
          <a:xfrm>
            <a:off x="457200" y="914400"/>
            <a:ext cx="3566160" cy="3474720"/>
          </a:xfrm>
          <a:prstGeom prst="rect">
            <a:avLst/>
          </a:prstGeom>
          <a:noFill/>
          <a:ln/>
        </p:spPr>
        <p:txBody>
          <a:bodyPr wrap="square" rtlCol="0" anchor="t"/>
          <a:lstStyle/>
          <a:p>
            <a:pPr algn="l" indent="0" marL="0">
              <a:buNone/>
            </a:pPr>
            <a:r>
              <a:rPr lang="en-US" sz="1600" dirty="0">
                <a:solidFill>
                  <a:srgbClr val="36454F"/>
                </a:solidFill>
                <a:latin typeface="Calibri" pitchFamily="34" charset="0"/>
                <a:ea typeface="Calibri" pitchFamily="34" charset="-122"/>
                <a:cs typeface="Calibri" pitchFamily="34" charset="-120"/>
              </a:rPr>
              <a:t>Dispersión geométrica → cambio de propiedades con profundidad. Multicanal, no invasivo, relación directa a Vs.</a:t>
            </a:r>
            <a:endParaRPr lang="en-US" sz="1800" dirty="0"/>
          </a:p>
        </p:txBody>
      </p:sp>
      <p:sp>
        <p:nvSpPr>
          <p:cNvPr id="5" name="Text 3"/>
          <p:cNvSpPr/>
          <p:nvPr/>
        </p:nvSpPr>
        <p:spPr>
          <a:xfrm>
            <a:off x="457200" y="4572000"/>
            <a:ext cx="8229600" cy="0"/>
          </a:xfrm>
          <a:prstGeom prst="rect">
            <a:avLst/>
          </a:prstGeom>
          <a:noFill/>
          <a:ln/>
        </p:spPr>
        <p:txBody>
          <a:bodyPr wrap="square" rtlCol="0" anchor="ctr"/>
          <a:lstStyle/>
          <a:p>
            <a:pPr algn="r" indent="0" marL="0">
              <a:buNone/>
            </a:pPr>
            <a:r>
              <a:rPr lang="en-US" sz="1000" dirty="0">
                <a:solidFill>
                  <a:srgbClr val="028090"/>
                </a:solidFill>
              </a:rPr>
              <a:t>Slide 7 | Estado del arte</a:t>
            </a:r>
            <a:endParaRPr lang="en-US" sz="1000" dirty="0"/>
          </a:p>
        </p:txBody>
      </p:sp>
      <p:pic>
        <p:nvPicPr>
          <p:cNvPr id="6" name="Picture 5" descr="s06_46c357.png"/>
          <p:cNvPicPr>
            <a:picLocks noChangeAspect="1"/>
          </p:cNvPicPr>
          <p:nvPr/>
        </p:nvPicPr>
        <p:blipFill>
          <a:blip r:embed="rId3"/>
          <a:stretch>
            <a:fillRect/>
          </a:stretch>
        </p:blipFill>
        <p:spPr>
          <a:xfrm>
            <a:off x="5053584" y="868680"/>
            <a:ext cx="2877312" cy="1618488"/>
          </a:xfrm>
          <a:prstGeom prst="rect">
            <a:avLst/>
          </a:prstGeom>
        </p:spPr>
      </p:pic>
      <p:sp>
        <p:nvSpPr>
          <p:cNvPr id="7" name="TextBox 6"/>
          <p:cNvSpPr txBox="1"/>
          <p:nvPr/>
        </p:nvSpPr>
        <p:spPr>
          <a:xfrm>
            <a:off x="4206240" y="2487168"/>
            <a:ext cx="4572000" cy="164592"/>
          </a:xfrm>
          <a:prstGeom prst="rect">
            <a:avLst/>
          </a:prstGeom>
          <a:noFill/>
        </p:spPr>
        <p:txBody>
          <a:bodyPr wrap="none" tIns="0" bIns="0">
            <a:spAutoFit/>
          </a:bodyPr>
          <a:lstStyle/>
          <a:p>
            <a:pPr algn="ctr"/>
            <a:r>
              <a:rPr sz="700" i="1">
                <a:solidFill>
                  <a:srgbClr val="808080"/>
                </a:solidFill>
              </a:rPr>
              <a:t>Placeholder · Love/Rayleigh en superficie (generado)</a:t>
            </a:r>
          </a:p>
        </p:txBody>
      </p:sp>
      <p:pic>
        <p:nvPicPr>
          <p:cNvPr id="8" name="Picture 7" descr="ch1_2D_radiation_pattern_Rayleigh_surface.png"/>
          <p:cNvPicPr>
            <a:picLocks noChangeAspect="1"/>
          </p:cNvPicPr>
          <p:nvPr/>
        </p:nvPicPr>
        <p:blipFill>
          <a:blip r:embed="rId4"/>
          <a:stretch>
            <a:fillRect/>
          </a:stretch>
        </p:blipFill>
        <p:spPr>
          <a:xfrm>
            <a:off x="5408194" y="2743200"/>
            <a:ext cx="2168091" cy="1618488"/>
          </a:xfrm>
          <a:prstGeom prst="rect">
            <a:avLst/>
          </a:prstGeom>
        </p:spPr>
      </p:pic>
      <p:sp>
        <p:nvSpPr>
          <p:cNvPr id="9" name="TextBox 8"/>
          <p:cNvSpPr txBox="1"/>
          <p:nvPr/>
        </p:nvSpPr>
        <p:spPr>
          <a:xfrm>
            <a:off x="4206240" y="4361688"/>
            <a:ext cx="4572000" cy="164592"/>
          </a:xfrm>
          <a:prstGeom prst="rect">
            <a:avLst/>
          </a:prstGeom>
          <a:noFill/>
        </p:spPr>
        <p:txBody>
          <a:bodyPr wrap="none" tIns="0" bIns="0">
            <a:spAutoFit/>
          </a:bodyPr>
          <a:lstStyle/>
          <a:p>
            <a:pPr algn="ctr"/>
            <a:r>
              <a:rPr sz="700" i="1">
                <a:solidFill>
                  <a:srgbClr val="808080"/>
                </a:solidFill>
              </a:rPr>
              <a:t>Placeholder · Foti et al. 2014, Fig. 1.1</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1E2761"/>
          </a:solidFill>
          <a:ln/>
        </p:spPr>
      </p:sp>
      <p:sp>
        <p:nvSpPr>
          <p:cNvPr id="3" name="Text 1"/>
          <p:cNvSpPr/>
          <p:nvPr/>
        </p:nvSpPr>
        <p:spPr>
          <a:xfrm>
            <a:off x="457200" y="137160"/>
            <a:ext cx="8229600" cy="457200"/>
          </a:xfrm>
          <a:prstGeom prst="rect">
            <a:avLst/>
          </a:prstGeom>
          <a:noFill/>
          <a:ln/>
        </p:spPr>
        <p:txBody>
          <a:bodyPr wrap="square" rtlCol="0" anchor="ctr"/>
          <a:lstStyle/>
          <a:p>
            <a:pPr algn="l" indent="0" marL="0">
              <a:buNone/>
            </a:pPr>
            <a:r>
              <a:rPr lang="en-US" sz="2800" b="1" dirty="0">
                <a:solidFill>
                  <a:srgbClr val="FFFFFF"/>
                </a:solidFill>
                <a:latin typeface="Cambria" pitchFamily="34" charset="0"/>
                <a:ea typeface="Cambria" pitchFamily="34" charset="-122"/>
                <a:cs typeface="Cambria" pitchFamily="34" charset="-120"/>
              </a:rPr>
              <a:t>Orden de la narrativa: Love primero, luego Rayleigh, luego ¿por qué?</a:t>
            </a:r>
            <a:endParaRPr lang="en-US" sz="2800" dirty="0"/>
          </a:p>
        </p:txBody>
      </p:sp>
      <p:sp>
        <p:nvSpPr>
          <p:cNvPr id="4" name="Text 2"/>
          <p:cNvSpPr/>
          <p:nvPr/>
        </p:nvSpPr>
        <p:spPr>
          <a:xfrm>
            <a:off x="457200" y="914400"/>
            <a:ext cx="3566160" cy="3474720"/>
          </a:xfrm>
          <a:prstGeom prst="rect">
            <a:avLst/>
          </a:prstGeom>
          <a:noFill/>
          <a:ln/>
        </p:spPr>
        <p:txBody>
          <a:bodyPr wrap="square" rtlCol="0" anchor="t"/>
          <a:lstStyle/>
          <a:p>
            <a:pPr algn="l" indent="0" marL="0">
              <a:buNone/>
            </a:pPr>
            <a:r>
              <a:rPr lang="en-US" sz="1600" dirty="0">
                <a:solidFill>
                  <a:srgbClr val="36454F"/>
                </a:solidFill>
                <a:latin typeface="Calibri" pitchFamily="34" charset="0"/>
                <a:ea typeface="Calibri" pitchFamily="34" charset="-122"/>
                <a:cs typeface="Calibri" pitchFamily="34" charset="-120"/>
              </a:rPr>
              <a:t>Love: SH, horizontal, transversal. Rayleigh: elíptica, componente vertical. Rayleigh se mide mejor con fuente vertical.</a:t>
            </a:r>
            <a:endParaRPr lang="en-US" sz="1800" dirty="0"/>
          </a:p>
        </p:txBody>
      </p:sp>
      <p:sp>
        <p:nvSpPr>
          <p:cNvPr id="5" name="Text 3"/>
          <p:cNvSpPr/>
          <p:nvPr/>
        </p:nvSpPr>
        <p:spPr>
          <a:xfrm>
            <a:off x="457200" y="4572000"/>
            <a:ext cx="8229600" cy="0"/>
          </a:xfrm>
          <a:prstGeom prst="rect">
            <a:avLst/>
          </a:prstGeom>
          <a:noFill/>
          <a:ln/>
        </p:spPr>
        <p:txBody>
          <a:bodyPr wrap="square" rtlCol="0" anchor="ctr"/>
          <a:lstStyle/>
          <a:p>
            <a:pPr algn="r" indent="0" marL="0">
              <a:buNone/>
            </a:pPr>
            <a:r>
              <a:rPr lang="en-US" sz="1000" dirty="0">
                <a:solidFill>
                  <a:srgbClr val="028090"/>
                </a:solidFill>
              </a:rPr>
              <a:t>Slide 8 | Estado del arte</a:t>
            </a:r>
            <a:endParaRPr lang="en-US" sz="1000" dirty="0"/>
          </a:p>
        </p:txBody>
      </p:sp>
      <p:pic>
        <p:nvPicPr>
          <p:cNvPr id="6" name="Picture 5" descr="s11_607714.png"/>
          <p:cNvPicPr>
            <a:picLocks noChangeAspect="1"/>
          </p:cNvPicPr>
          <p:nvPr/>
        </p:nvPicPr>
        <p:blipFill>
          <a:blip r:embed="rId3"/>
          <a:stretch>
            <a:fillRect/>
          </a:stretch>
        </p:blipFill>
        <p:spPr>
          <a:xfrm>
            <a:off x="5053584" y="868680"/>
            <a:ext cx="2877312" cy="1618488"/>
          </a:xfrm>
          <a:prstGeom prst="rect">
            <a:avLst/>
          </a:prstGeom>
        </p:spPr>
      </p:pic>
      <p:sp>
        <p:nvSpPr>
          <p:cNvPr id="7" name="TextBox 6"/>
          <p:cNvSpPr txBox="1"/>
          <p:nvPr/>
        </p:nvSpPr>
        <p:spPr>
          <a:xfrm>
            <a:off x="4206240" y="2487168"/>
            <a:ext cx="4572000" cy="164592"/>
          </a:xfrm>
          <a:prstGeom prst="rect">
            <a:avLst/>
          </a:prstGeom>
          <a:noFill/>
        </p:spPr>
        <p:txBody>
          <a:bodyPr wrap="none" tIns="0" bIns="0">
            <a:spAutoFit/>
          </a:bodyPr>
          <a:lstStyle/>
          <a:p>
            <a:pPr algn="ctr"/>
            <a:r>
              <a:rPr sz="700" i="1">
                <a:solidFill>
                  <a:srgbClr val="808080"/>
                </a:solidFill>
              </a:rPr>
              <a:t>Placeholder · Love (generado)</a:t>
            </a:r>
          </a:p>
        </p:txBody>
      </p:sp>
      <p:pic>
        <p:nvPicPr>
          <p:cNvPr id="8" name="Picture 7" descr="s12_15a820.png"/>
          <p:cNvPicPr>
            <a:picLocks noChangeAspect="1"/>
          </p:cNvPicPr>
          <p:nvPr/>
        </p:nvPicPr>
        <p:blipFill>
          <a:blip r:embed="rId4"/>
          <a:stretch>
            <a:fillRect/>
          </a:stretch>
        </p:blipFill>
        <p:spPr>
          <a:xfrm>
            <a:off x="5053584" y="2743200"/>
            <a:ext cx="2877312" cy="1618488"/>
          </a:xfrm>
          <a:prstGeom prst="rect">
            <a:avLst/>
          </a:prstGeom>
        </p:spPr>
      </p:pic>
      <p:sp>
        <p:nvSpPr>
          <p:cNvPr id="9" name="TextBox 8"/>
          <p:cNvSpPr txBox="1"/>
          <p:nvPr/>
        </p:nvSpPr>
        <p:spPr>
          <a:xfrm>
            <a:off x="4206240" y="4361688"/>
            <a:ext cx="4572000" cy="164592"/>
          </a:xfrm>
          <a:prstGeom prst="rect">
            <a:avLst/>
          </a:prstGeom>
          <a:noFill/>
        </p:spPr>
        <p:txBody>
          <a:bodyPr wrap="none" tIns="0" bIns="0">
            <a:spAutoFit/>
          </a:bodyPr>
          <a:lstStyle/>
          <a:p>
            <a:pPr algn="ctr"/>
            <a:r>
              <a:rPr sz="700" i="1">
                <a:solidFill>
                  <a:srgbClr val="808080"/>
                </a:solidFill>
              </a:rPr>
              <a:t>Placeholder · Rayleigh (generado)</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1E2761"/>
          </a:solidFill>
          <a:ln/>
        </p:spPr>
      </p:sp>
      <p:sp>
        <p:nvSpPr>
          <p:cNvPr id="3" name="Text 1"/>
          <p:cNvSpPr/>
          <p:nvPr/>
        </p:nvSpPr>
        <p:spPr>
          <a:xfrm>
            <a:off x="457200" y="137160"/>
            <a:ext cx="8229600" cy="457200"/>
          </a:xfrm>
          <a:prstGeom prst="rect">
            <a:avLst/>
          </a:prstGeom>
          <a:noFill/>
          <a:ln/>
        </p:spPr>
        <p:txBody>
          <a:bodyPr wrap="square" rtlCol="0" anchor="ctr"/>
          <a:lstStyle/>
          <a:p>
            <a:pPr algn="l" indent="0" marL="0">
              <a:buNone/>
            </a:pPr>
            <a:r>
              <a:rPr lang="en-US" sz="2800" b="1" dirty="0">
                <a:solidFill>
                  <a:srgbClr val="FFFFFF"/>
                </a:solidFill>
                <a:latin typeface="Cambria" pitchFamily="34" charset="0"/>
                <a:ea typeface="Cambria" pitchFamily="34" charset="-122"/>
                <a:cs typeface="Cambria" pitchFamily="34" charset="-120"/>
              </a:rPr>
              <a:t>Un medio elástico admite ondas P (compresionales) y S (de corte)</a:t>
            </a:r>
            <a:endParaRPr lang="en-US" sz="2800" dirty="0"/>
          </a:p>
        </p:txBody>
      </p:sp>
      <p:sp>
        <p:nvSpPr>
          <p:cNvPr id="4" name="Text 2"/>
          <p:cNvSpPr/>
          <p:nvPr/>
        </p:nvSpPr>
        <p:spPr>
          <a:xfrm>
            <a:off x="457200" y="914400"/>
            <a:ext cx="3566160" cy="3474720"/>
          </a:xfrm>
          <a:prstGeom prst="rect">
            <a:avLst/>
          </a:prstGeom>
          <a:noFill/>
          <a:ln/>
        </p:spPr>
        <p:txBody>
          <a:bodyPr wrap="square" rtlCol="0" anchor="t"/>
          <a:lstStyle/>
          <a:p>
            <a:pPr algn="l" indent="0" marL="0">
              <a:buNone/>
            </a:pPr>
            <a:r>
              <a:rPr lang="en-US" sz="1600" dirty="0">
                <a:solidFill>
                  <a:srgbClr val="36454F"/>
                </a:solidFill>
                <a:latin typeface="Calibri" pitchFamily="34" charset="0"/>
                <a:ea typeface="Calibri" pitchFamily="34" charset="-122"/>
                <a:cs typeface="Calibri" pitchFamily="34" charset="-120"/>
              </a:rPr>
              <a:t>Vp = √((λ+2μ)/ρ), Vs = √(μ/ρ). Velocidades relacionadas a módulos elásticos.</a:t>
            </a:r>
            <a:endParaRPr lang="en-US" sz="1800" dirty="0"/>
          </a:p>
        </p:txBody>
      </p:sp>
      <p:sp>
        <p:nvSpPr>
          <p:cNvPr id="5" name="Text 3"/>
          <p:cNvSpPr/>
          <p:nvPr/>
        </p:nvSpPr>
        <p:spPr>
          <a:xfrm>
            <a:off x="457200" y="4572000"/>
            <a:ext cx="8229600" cy="0"/>
          </a:xfrm>
          <a:prstGeom prst="rect">
            <a:avLst/>
          </a:prstGeom>
          <a:noFill/>
          <a:ln/>
        </p:spPr>
        <p:txBody>
          <a:bodyPr wrap="square" rtlCol="0" anchor="ctr"/>
          <a:lstStyle/>
          <a:p>
            <a:pPr algn="r" indent="0" marL="0">
              <a:buNone/>
            </a:pPr>
            <a:r>
              <a:rPr lang="en-US" sz="1000" dirty="0">
                <a:solidFill>
                  <a:srgbClr val="028090"/>
                </a:solidFill>
              </a:rPr>
              <a:t>Slide 9 | Física</a:t>
            </a:r>
            <a:endParaRPr lang="en-US" sz="1000" dirty="0"/>
          </a:p>
        </p:txBody>
      </p:sp>
      <p:pic>
        <p:nvPicPr>
          <p:cNvPr id="6" name="Picture 5" descr="fig01_ondas_p_s_es.png"/>
          <p:cNvPicPr>
            <a:picLocks noChangeAspect="1"/>
          </p:cNvPicPr>
          <p:nvPr/>
        </p:nvPicPr>
        <p:blipFill>
          <a:blip r:embed="rId3"/>
          <a:stretch>
            <a:fillRect/>
          </a:stretch>
        </p:blipFill>
        <p:spPr>
          <a:xfrm>
            <a:off x="5406523" y="868680"/>
            <a:ext cx="2171434" cy="1618488"/>
          </a:xfrm>
          <a:prstGeom prst="rect">
            <a:avLst/>
          </a:prstGeom>
        </p:spPr>
      </p:pic>
      <p:sp>
        <p:nvSpPr>
          <p:cNvPr id="7" name="TextBox 6"/>
          <p:cNvSpPr txBox="1"/>
          <p:nvPr/>
        </p:nvSpPr>
        <p:spPr>
          <a:xfrm>
            <a:off x="4206240" y="2487168"/>
            <a:ext cx="4572000" cy="164592"/>
          </a:xfrm>
          <a:prstGeom prst="rect">
            <a:avLst/>
          </a:prstGeom>
          <a:noFill/>
        </p:spPr>
        <p:txBody>
          <a:bodyPr wrap="none" tIns="0" bIns="0">
            <a:spAutoFit/>
          </a:bodyPr>
          <a:lstStyle/>
          <a:p>
            <a:pPr algn="ctr"/>
            <a:r>
              <a:rPr sz="700" i="1">
                <a:solidFill>
                  <a:srgbClr val="808080"/>
                </a:solidFill>
              </a:rPr>
              <a:t>Placeholder · Ondas P y S (propio)</a:t>
            </a:r>
          </a:p>
        </p:txBody>
      </p:sp>
      <p:pic>
        <p:nvPicPr>
          <p:cNvPr id="8" name="Picture 7" descr="Pasted image 20260316135658.png"/>
          <p:cNvPicPr>
            <a:picLocks noChangeAspect="1"/>
          </p:cNvPicPr>
          <p:nvPr/>
        </p:nvPicPr>
        <p:blipFill>
          <a:blip r:embed="rId4"/>
          <a:stretch>
            <a:fillRect/>
          </a:stretch>
        </p:blipFill>
        <p:spPr>
          <a:xfrm>
            <a:off x="4881268" y="2743200"/>
            <a:ext cx="3221943" cy="1618488"/>
          </a:xfrm>
          <a:prstGeom prst="rect">
            <a:avLst/>
          </a:prstGeom>
        </p:spPr>
      </p:pic>
      <p:sp>
        <p:nvSpPr>
          <p:cNvPr id="9" name="TextBox 8"/>
          <p:cNvSpPr txBox="1"/>
          <p:nvPr/>
        </p:nvSpPr>
        <p:spPr>
          <a:xfrm>
            <a:off x="4206240" y="4361688"/>
            <a:ext cx="4572000" cy="164592"/>
          </a:xfrm>
          <a:prstGeom prst="rect">
            <a:avLst/>
          </a:prstGeom>
          <a:noFill/>
        </p:spPr>
        <p:txBody>
          <a:bodyPr wrap="none" tIns="0" bIns="0">
            <a:spAutoFit/>
          </a:bodyPr>
          <a:lstStyle/>
          <a:p>
            <a:pPr algn="ctr"/>
            <a:r>
              <a:rPr sz="700" i="1">
                <a:solidFill>
                  <a:srgbClr val="808080"/>
                </a:solidFill>
              </a:rPr>
              <a:t>Placeholder · Foti et al. 2014, Fig. 2.7</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1E2761"/>
          </a:solidFill>
          <a:ln/>
        </p:spPr>
      </p:sp>
      <p:sp>
        <p:nvSpPr>
          <p:cNvPr id="3" name="Text 1"/>
          <p:cNvSpPr/>
          <p:nvPr/>
        </p:nvSpPr>
        <p:spPr>
          <a:xfrm>
            <a:off x="457200" y="137160"/>
            <a:ext cx="8229600" cy="457200"/>
          </a:xfrm>
          <a:prstGeom prst="rect">
            <a:avLst/>
          </a:prstGeom>
          <a:noFill/>
          <a:ln/>
        </p:spPr>
        <p:txBody>
          <a:bodyPr wrap="square" rtlCol="0" anchor="ctr"/>
          <a:lstStyle/>
          <a:p>
            <a:pPr algn="l" indent="0" marL="0">
              <a:buNone/>
            </a:pPr>
            <a:r>
              <a:rPr lang="en-US" sz="2800" b="1" dirty="0">
                <a:solidFill>
                  <a:srgbClr val="FFFFFF"/>
                </a:solidFill>
                <a:latin typeface="Cambria" pitchFamily="34" charset="0"/>
                <a:ea typeface="Cambria" pitchFamily="34" charset="-122"/>
                <a:cs typeface="Cambria" pitchFamily="34" charset="-120"/>
              </a:rPr>
              <a:t>Vs nos interesa porque está directamente ligada a la rigidez del terreno</a:t>
            </a:r>
            <a:endParaRPr lang="en-US" sz="2800" dirty="0"/>
          </a:p>
        </p:txBody>
      </p:sp>
      <p:sp>
        <p:nvSpPr>
          <p:cNvPr id="4" name="Text 2"/>
          <p:cNvSpPr/>
          <p:nvPr/>
        </p:nvSpPr>
        <p:spPr>
          <a:xfrm>
            <a:off x="457200" y="914400"/>
            <a:ext cx="3566160" cy="3474720"/>
          </a:xfrm>
          <a:prstGeom prst="rect">
            <a:avLst/>
          </a:prstGeom>
          <a:noFill/>
          <a:ln/>
        </p:spPr>
        <p:txBody>
          <a:bodyPr wrap="square" rtlCol="0" anchor="t"/>
          <a:lstStyle/>
          <a:p>
            <a:pPr algn="l" indent="0" marL="0">
              <a:buNone/>
            </a:pPr>
            <a:r>
              <a:rPr lang="en-US" sz="1600" dirty="0">
                <a:solidFill>
                  <a:srgbClr val="36454F"/>
                </a:solidFill>
                <a:latin typeface="Calibri" pitchFamily="34" charset="0"/>
                <a:ea typeface="Calibri" pitchFamily="34" charset="-122"/>
                <a:cs typeface="Calibri" pitchFamily="34" charset="-120"/>
              </a:rPr>
              <a:t>Gmax = ρ Vs². Rigidez a pequeñas deformaciones; pequeño amortiguamiento.</a:t>
            </a:r>
            <a:endParaRPr lang="en-US" sz="1800" dirty="0"/>
          </a:p>
        </p:txBody>
      </p:sp>
      <p:sp>
        <p:nvSpPr>
          <p:cNvPr id="5" name="Text 3"/>
          <p:cNvSpPr/>
          <p:nvPr/>
        </p:nvSpPr>
        <p:spPr>
          <a:xfrm>
            <a:off x="457200" y="4572000"/>
            <a:ext cx="8229600" cy="0"/>
          </a:xfrm>
          <a:prstGeom prst="rect">
            <a:avLst/>
          </a:prstGeom>
          <a:noFill/>
          <a:ln/>
        </p:spPr>
        <p:txBody>
          <a:bodyPr wrap="square" rtlCol="0" anchor="ctr"/>
          <a:lstStyle/>
          <a:p>
            <a:pPr algn="r" indent="0" marL="0">
              <a:buNone/>
            </a:pPr>
            <a:r>
              <a:rPr lang="en-US" sz="1000" dirty="0">
                <a:solidFill>
                  <a:srgbClr val="028090"/>
                </a:solidFill>
              </a:rPr>
              <a:t>Slide 10 | Física</a:t>
            </a:r>
            <a:endParaRPr lang="en-US" sz="1000" dirty="0"/>
          </a:p>
        </p:txBody>
      </p:sp>
      <p:pic>
        <p:nvPicPr>
          <p:cNvPr id="6" name="Picture 5" descr="gen_gmax_degradacion.png"/>
          <p:cNvPicPr>
            <a:picLocks noChangeAspect="1"/>
          </p:cNvPicPr>
          <p:nvPr/>
        </p:nvPicPr>
        <p:blipFill>
          <a:blip r:embed="rId3"/>
          <a:stretch>
            <a:fillRect/>
          </a:stretch>
        </p:blipFill>
        <p:spPr>
          <a:xfrm>
            <a:off x="4206240" y="1091184"/>
            <a:ext cx="4572000" cy="3048000"/>
          </a:xfrm>
          <a:prstGeom prst="rect">
            <a:avLst/>
          </a:prstGeom>
        </p:spPr>
      </p:pic>
      <p:sp>
        <p:nvSpPr>
          <p:cNvPr id="7" name="TextBox 6"/>
          <p:cNvSpPr txBox="1"/>
          <p:nvPr/>
        </p:nvSpPr>
        <p:spPr>
          <a:xfrm>
            <a:off x="4206240" y="4361688"/>
            <a:ext cx="4572000" cy="164592"/>
          </a:xfrm>
          <a:prstGeom prst="rect">
            <a:avLst/>
          </a:prstGeom>
          <a:noFill/>
        </p:spPr>
        <p:txBody>
          <a:bodyPr wrap="none" tIns="0" bIns="0">
            <a:spAutoFit/>
          </a:bodyPr>
          <a:lstStyle/>
          <a:p>
            <a:pPr algn="ctr"/>
            <a:r>
              <a:rPr sz="700" i="1">
                <a:solidFill>
                  <a:srgbClr val="808080"/>
                </a:solidFill>
              </a:rPr>
              <a:t>Placeholder · Generado (esquema)</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1E2761"/>
          </a:solidFill>
          <a:ln/>
        </p:spPr>
      </p:sp>
      <p:sp>
        <p:nvSpPr>
          <p:cNvPr id="3" name="Text 1"/>
          <p:cNvSpPr/>
          <p:nvPr/>
        </p:nvSpPr>
        <p:spPr>
          <a:xfrm>
            <a:off x="457200" y="137160"/>
            <a:ext cx="8229600" cy="457200"/>
          </a:xfrm>
          <a:prstGeom prst="rect">
            <a:avLst/>
          </a:prstGeom>
          <a:noFill/>
          <a:ln/>
        </p:spPr>
        <p:txBody>
          <a:bodyPr wrap="square" rtlCol="0" anchor="ctr"/>
          <a:lstStyle/>
          <a:p>
            <a:pPr algn="l" indent="0" marL="0">
              <a:buNone/>
            </a:pPr>
            <a:r>
              <a:rPr lang="en-US" sz="2800" b="1" dirty="0">
                <a:solidFill>
                  <a:srgbClr val="FFFFFF"/>
                </a:solidFill>
                <a:latin typeface="Cambria" pitchFamily="34" charset="0"/>
                <a:ea typeface="Cambria" pitchFamily="34" charset="-122"/>
                <a:cs typeface="Cambria" pitchFamily="34" charset="-120"/>
              </a:rPr>
              <a:t>Las interfaces cambian la propagación: Snell, conversión P↔SV, superficie libre</a:t>
            </a:r>
            <a:endParaRPr lang="en-US" sz="2800" dirty="0"/>
          </a:p>
        </p:txBody>
      </p:sp>
      <p:sp>
        <p:nvSpPr>
          <p:cNvPr id="4" name="Text 2"/>
          <p:cNvSpPr/>
          <p:nvPr/>
        </p:nvSpPr>
        <p:spPr>
          <a:xfrm>
            <a:off x="457200" y="914400"/>
            <a:ext cx="3566160" cy="3474720"/>
          </a:xfrm>
          <a:prstGeom prst="rect">
            <a:avLst/>
          </a:prstGeom>
          <a:noFill/>
          <a:ln/>
        </p:spPr>
        <p:txBody>
          <a:bodyPr wrap="square" rtlCol="0" anchor="t"/>
          <a:lstStyle/>
          <a:p>
            <a:pPr algn="l" indent="0" marL="0">
              <a:buNone/>
            </a:pPr>
            <a:r>
              <a:rPr lang="en-US" sz="1600" dirty="0">
                <a:solidFill>
                  <a:srgbClr val="36454F"/>
                </a:solidFill>
                <a:latin typeface="Calibri" pitchFamily="34" charset="0"/>
                <a:ea typeface="Calibri" pitchFamily="34" charset="-122"/>
                <a:cs typeface="Calibri" pitchFamily="34" charset="-120"/>
              </a:rPr>
              <a:t>Ley de Snell: cambio de dirección. Conversión modal en incidencia oblicua. Condición de tensión nula en superficie → modos ligados.</a:t>
            </a:r>
            <a:endParaRPr lang="en-US" sz="1800" dirty="0"/>
          </a:p>
        </p:txBody>
      </p:sp>
      <p:sp>
        <p:nvSpPr>
          <p:cNvPr id="5" name="Text 3"/>
          <p:cNvSpPr/>
          <p:nvPr/>
        </p:nvSpPr>
        <p:spPr>
          <a:xfrm>
            <a:off x="457200" y="4572000"/>
            <a:ext cx="8229600" cy="0"/>
          </a:xfrm>
          <a:prstGeom prst="rect">
            <a:avLst/>
          </a:prstGeom>
          <a:noFill/>
          <a:ln/>
        </p:spPr>
        <p:txBody>
          <a:bodyPr wrap="square" rtlCol="0" anchor="ctr"/>
          <a:lstStyle/>
          <a:p>
            <a:pPr algn="r" indent="0" marL="0">
              <a:buNone/>
            </a:pPr>
            <a:r>
              <a:rPr lang="en-US" sz="1000" dirty="0">
                <a:solidFill>
                  <a:srgbClr val="028090"/>
                </a:solidFill>
              </a:rPr>
              <a:t>Slide 11 | Física</a:t>
            </a:r>
            <a:endParaRPr lang="en-US" sz="1000" dirty="0"/>
          </a:p>
        </p:txBody>
      </p:sp>
      <p:pic>
        <p:nvPicPr>
          <p:cNvPr id="6" name="Picture 5" descr="fig02_conversion_interfaz_es.png"/>
          <p:cNvPicPr>
            <a:picLocks noChangeAspect="1"/>
          </p:cNvPicPr>
          <p:nvPr/>
        </p:nvPicPr>
        <p:blipFill>
          <a:blip r:embed="rId3"/>
          <a:stretch>
            <a:fillRect/>
          </a:stretch>
        </p:blipFill>
        <p:spPr>
          <a:xfrm>
            <a:off x="5631087" y="868680"/>
            <a:ext cx="1722305" cy="1618488"/>
          </a:xfrm>
          <a:prstGeom prst="rect">
            <a:avLst/>
          </a:prstGeom>
        </p:spPr>
      </p:pic>
      <p:sp>
        <p:nvSpPr>
          <p:cNvPr id="7" name="TextBox 6"/>
          <p:cNvSpPr txBox="1"/>
          <p:nvPr/>
        </p:nvSpPr>
        <p:spPr>
          <a:xfrm>
            <a:off x="4206240" y="2487168"/>
            <a:ext cx="4572000" cy="164592"/>
          </a:xfrm>
          <a:prstGeom prst="rect">
            <a:avLst/>
          </a:prstGeom>
          <a:noFill/>
        </p:spPr>
        <p:txBody>
          <a:bodyPr wrap="none" tIns="0" bIns="0">
            <a:spAutoFit/>
          </a:bodyPr>
          <a:lstStyle/>
          <a:p>
            <a:pPr algn="ctr"/>
            <a:r>
              <a:rPr sz="700" i="1">
                <a:solidFill>
                  <a:srgbClr val="808080"/>
                </a:solidFill>
              </a:rPr>
              <a:t>Placeholder · Conversión en interfaz (propio)</a:t>
            </a:r>
          </a:p>
        </p:txBody>
      </p:sp>
      <p:pic>
        <p:nvPicPr>
          <p:cNvPr id="8" name="Picture 7" descr="Pasted image 20260316141217.png"/>
          <p:cNvPicPr>
            <a:picLocks noChangeAspect="1"/>
          </p:cNvPicPr>
          <p:nvPr/>
        </p:nvPicPr>
        <p:blipFill>
          <a:blip r:embed="rId4"/>
          <a:stretch>
            <a:fillRect/>
          </a:stretch>
        </p:blipFill>
        <p:spPr>
          <a:xfrm>
            <a:off x="5841239" y="2743200"/>
            <a:ext cx="1302001" cy="1618488"/>
          </a:xfrm>
          <a:prstGeom prst="rect">
            <a:avLst/>
          </a:prstGeom>
        </p:spPr>
      </p:pic>
      <p:sp>
        <p:nvSpPr>
          <p:cNvPr id="9" name="TextBox 8"/>
          <p:cNvSpPr txBox="1"/>
          <p:nvPr/>
        </p:nvSpPr>
        <p:spPr>
          <a:xfrm>
            <a:off x="4206240" y="4361688"/>
            <a:ext cx="4572000" cy="164592"/>
          </a:xfrm>
          <a:prstGeom prst="rect">
            <a:avLst/>
          </a:prstGeom>
          <a:noFill/>
        </p:spPr>
        <p:txBody>
          <a:bodyPr wrap="none" tIns="0" bIns="0">
            <a:spAutoFit/>
          </a:bodyPr>
          <a:lstStyle/>
          <a:p>
            <a:pPr algn="ctr"/>
            <a:r>
              <a:rPr sz="700" i="1">
                <a:solidFill>
                  <a:srgbClr val="808080"/>
                </a:solidFill>
              </a:rPr>
              <a:t>Placeholder · Foti et al. 2014, Fig. 2.10</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1E2761"/>
          </a:solidFill>
          <a:ln/>
        </p:spPr>
      </p:sp>
      <p:sp>
        <p:nvSpPr>
          <p:cNvPr id="3" name="Text 1"/>
          <p:cNvSpPr/>
          <p:nvPr/>
        </p:nvSpPr>
        <p:spPr>
          <a:xfrm>
            <a:off x="457200" y="137160"/>
            <a:ext cx="8229600" cy="457200"/>
          </a:xfrm>
          <a:prstGeom prst="rect">
            <a:avLst/>
          </a:prstGeom>
          <a:noFill/>
          <a:ln/>
        </p:spPr>
        <p:txBody>
          <a:bodyPr wrap="square" rtlCol="0" anchor="ctr"/>
          <a:lstStyle/>
          <a:p>
            <a:pPr algn="l" indent="0" marL="0">
              <a:buNone/>
            </a:pPr>
            <a:r>
              <a:rPr lang="en-US" sz="2800" b="1" dirty="0">
                <a:solidFill>
                  <a:srgbClr val="FFFFFF"/>
                </a:solidFill>
                <a:latin typeface="Cambria" pitchFamily="34" charset="0"/>
                <a:ea typeface="Cambria" pitchFamily="34" charset="-122"/>
                <a:cs typeface="Cambria" pitchFamily="34" charset="-120"/>
              </a:rPr>
              <a:t>¿Por qué mirar ondas superficiales? Porque dominan una fuente vertical de superficie</a:t>
            </a:r>
            <a:endParaRPr lang="en-US" sz="2800" dirty="0"/>
          </a:p>
        </p:txBody>
      </p:sp>
      <p:sp>
        <p:nvSpPr>
          <p:cNvPr id="4" name="Text 2"/>
          <p:cNvSpPr/>
          <p:nvPr/>
        </p:nvSpPr>
        <p:spPr>
          <a:xfrm>
            <a:off x="457200" y="914400"/>
            <a:ext cx="3566160" cy="3474720"/>
          </a:xfrm>
          <a:prstGeom prst="rect">
            <a:avLst/>
          </a:prstGeom>
          <a:noFill/>
          <a:ln/>
        </p:spPr>
        <p:txBody>
          <a:bodyPr wrap="square" rtlCol="0" anchor="t"/>
          <a:lstStyle/>
          <a:p>
            <a:pPr algn="l" indent="0" marL="0">
              <a:buNone/>
            </a:pPr>
            <a:r>
              <a:rPr lang="en-US" sz="1600" dirty="0">
                <a:solidFill>
                  <a:srgbClr val="36454F"/>
                </a:solidFill>
                <a:latin typeface="Calibri" pitchFamily="34" charset="0"/>
                <a:ea typeface="Calibri" pitchFamily="34" charset="-122"/>
                <a:cs typeface="Calibri" pitchFamily="34" charset="-120"/>
              </a:rPr>
              <a:t>~67% Rayleigh, ~26% S, ~7% P en semiespacio homogéneo (Miller &amp; Pursey).</a:t>
            </a:r>
            <a:endParaRPr lang="en-US" sz="1800" dirty="0"/>
          </a:p>
        </p:txBody>
      </p:sp>
      <p:sp>
        <p:nvSpPr>
          <p:cNvPr id="5" name="Text 3"/>
          <p:cNvSpPr/>
          <p:nvPr/>
        </p:nvSpPr>
        <p:spPr>
          <a:xfrm>
            <a:off x="457200" y="4572000"/>
            <a:ext cx="8229600" cy="0"/>
          </a:xfrm>
          <a:prstGeom prst="rect">
            <a:avLst/>
          </a:prstGeom>
          <a:noFill/>
          <a:ln/>
        </p:spPr>
        <p:txBody>
          <a:bodyPr wrap="square" rtlCol="0" anchor="ctr"/>
          <a:lstStyle/>
          <a:p>
            <a:pPr algn="r" indent="0" marL="0">
              <a:buNone/>
            </a:pPr>
            <a:r>
              <a:rPr lang="en-US" sz="1000" dirty="0">
                <a:solidFill>
                  <a:srgbClr val="028090"/>
                </a:solidFill>
              </a:rPr>
              <a:t>Slide 12 | Física</a:t>
            </a:r>
            <a:endParaRPr lang="en-US" sz="1000" dirty="0"/>
          </a:p>
        </p:txBody>
      </p:sp>
      <p:pic>
        <p:nvPicPr>
          <p:cNvPr id="6" name="Picture 5" descr="gen_energia_miller_pursey.png"/>
          <p:cNvPicPr>
            <a:picLocks noChangeAspect="1"/>
          </p:cNvPicPr>
          <p:nvPr/>
        </p:nvPicPr>
        <p:blipFill>
          <a:blip r:embed="rId3"/>
          <a:stretch>
            <a:fillRect/>
          </a:stretch>
        </p:blipFill>
        <p:spPr>
          <a:xfrm>
            <a:off x="5581840" y="868680"/>
            <a:ext cx="1820799" cy="1618488"/>
          </a:xfrm>
          <a:prstGeom prst="rect">
            <a:avLst/>
          </a:prstGeom>
        </p:spPr>
      </p:pic>
      <p:sp>
        <p:nvSpPr>
          <p:cNvPr id="7" name="TextBox 6"/>
          <p:cNvSpPr txBox="1"/>
          <p:nvPr/>
        </p:nvSpPr>
        <p:spPr>
          <a:xfrm>
            <a:off x="4206240" y="2487168"/>
            <a:ext cx="4572000" cy="164592"/>
          </a:xfrm>
          <a:prstGeom prst="rect">
            <a:avLst/>
          </a:prstGeom>
          <a:noFill/>
        </p:spPr>
        <p:txBody>
          <a:bodyPr wrap="none" tIns="0" bIns="0">
            <a:spAutoFit/>
          </a:bodyPr>
          <a:lstStyle/>
          <a:p>
            <a:pPr algn="ctr"/>
            <a:r>
              <a:rPr sz="700" i="1">
                <a:solidFill>
                  <a:srgbClr val="808080"/>
                </a:solidFill>
              </a:rPr>
              <a:t>Placeholder · Generado, datos Miller &amp; Pursey</a:t>
            </a:r>
          </a:p>
        </p:txBody>
      </p:sp>
      <p:pic>
        <p:nvPicPr>
          <p:cNvPr id="8" name="Picture 7" descr="Pasted image 20260316143212.png"/>
          <p:cNvPicPr>
            <a:picLocks noChangeAspect="1"/>
          </p:cNvPicPr>
          <p:nvPr/>
        </p:nvPicPr>
        <p:blipFill>
          <a:blip r:embed="rId4"/>
          <a:stretch>
            <a:fillRect/>
          </a:stretch>
        </p:blipFill>
        <p:spPr>
          <a:xfrm>
            <a:off x="4927702" y="2743200"/>
            <a:ext cx="3129076" cy="1618488"/>
          </a:xfrm>
          <a:prstGeom prst="rect">
            <a:avLst/>
          </a:prstGeom>
        </p:spPr>
      </p:pic>
      <p:sp>
        <p:nvSpPr>
          <p:cNvPr id="9" name="TextBox 8"/>
          <p:cNvSpPr txBox="1"/>
          <p:nvPr/>
        </p:nvSpPr>
        <p:spPr>
          <a:xfrm>
            <a:off x="4206240" y="4361688"/>
            <a:ext cx="4572000" cy="164592"/>
          </a:xfrm>
          <a:prstGeom prst="rect">
            <a:avLst/>
          </a:prstGeom>
          <a:noFill/>
        </p:spPr>
        <p:txBody>
          <a:bodyPr wrap="none" tIns="0" bIns="0">
            <a:spAutoFit/>
          </a:bodyPr>
          <a:lstStyle/>
          <a:p>
            <a:pPr algn="ctr"/>
            <a:r>
              <a:rPr sz="700" i="1">
                <a:solidFill>
                  <a:srgbClr val="808080"/>
                </a:solidFill>
              </a:rPr>
              <a:t>Placeholder · Foti et al. 2014, Fig. 2.12</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1E2761"/>
          </a:solidFill>
          <a:ln/>
        </p:spPr>
      </p:sp>
      <p:sp>
        <p:nvSpPr>
          <p:cNvPr id="3" name="Text 1"/>
          <p:cNvSpPr/>
          <p:nvPr/>
        </p:nvSpPr>
        <p:spPr>
          <a:xfrm>
            <a:off x="457200" y="137160"/>
            <a:ext cx="8229600" cy="457200"/>
          </a:xfrm>
          <a:prstGeom prst="rect">
            <a:avLst/>
          </a:prstGeom>
          <a:noFill/>
          <a:ln/>
        </p:spPr>
        <p:txBody>
          <a:bodyPr wrap="square" rtlCol="0" anchor="ctr"/>
          <a:lstStyle/>
          <a:p>
            <a:pPr algn="l" indent="0" marL="0">
              <a:buNone/>
            </a:pPr>
            <a:r>
              <a:rPr lang="en-US" sz="2800" b="1" dirty="0">
                <a:solidFill>
                  <a:srgbClr val="FFFFFF"/>
                </a:solidFill>
                <a:latin typeface="Cambria" pitchFamily="34" charset="0"/>
                <a:ea typeface="Cambria" pitchFamily="34" charset="-122"/>
                <a:cs typeface="Cambria" pitchFamily="34" charset="-120"/>
              </a:rPr>
              <a:t>Ondas Love: movimiento SH horizontal, transversal a la propagación</a:t>
            </a:r>
            <a:endParaRPr lang="en-US" sz="2800" dirty="0"/>
          </a:p>
        </p:txBody>
      </p:sp>
      <p:sp>
        <p:nvSpPr>
          <p:cNvPr id="4" name="Text 2"/>
          <p:cNvSpPr/>
          <p:nvPr/>
        </p:nvSpPr>
        <p:spPr>
          <a:xfrm>
            <a:off x="457200" y="914400"/>
            <a:ext cx="3566160" cy="3474720"/>
          </a:xfrm>
          <a:prstGeom prst="rect">
            <a:avLst/>
          </a:prstGeom>
          <a:noFill/>
          <a:ln/>
        </p:spPr>
        <p:txBody>
          <a:bodyPr wrap="square" rtlCol="0" anchor="t"/>
          <a:lstStyle/>
          <a:p>
            <a:pPr algn="l" indent="0" marL="0">
              <a:buNone/>
            </a:pPr>
            <a:r>
              <a:rPr lang="en-US" sz="1600" dirty="0">
                <a:solidFill>
                  <a:srgbClr val="36454F"/>
                </a:solidFill>
                <a:latin typeface="Calibri" pitchFamily="34" charset="0"/>
                <a:ea typeface="Calibri" pitchFamily="34" charset="-122"/>
                <a:cs typeface="Calibri" pitchFamily="34" charset="-120"/>
              </a:rPr>
              <a:t>Útiles para información Vs en multicapas. Fuente vertical no genera Love naturalmente.</a:t>
            </a:r>
            <a:endParaRPr lang="en-US" sz="1800" dirty="0"/>
          </a:p>
        </p:txBody>
      </p:sp>
      <p:sp>
        <p:nvSpPr>
          <p:cNvPr id="5" name="Text 3"/>
          <p:cNvSpPr/>
          <p:nvPr/>
        </p:nvSpPr>
        <p:spPr>
          <a:xfrm>
            <a:off x="457200" y="4572000"/>
            <a:ext cx="8229600" cy="0"/>
          </a:xfrm>
          <a:prstGeom prst="rect">
            <a:avLst/>
          </a:prstGeom>
          <a:noFill/>
          <a:ln/>
        </p:spPr>
        <p:txBody>
          <a:bodyPr wrap="square" rtlCol="0" anchor="ctr"/>
          <a:lstStyle/>
          <a:p>
            <a:pPr algn="r" indent="0" marL="0">
              <a:buNone/>
            </a:pPr>
            <a:r>
              <a:rPr lang="en-US" sz="1000" dirty="0">
                <a:solidFill>
                  <a:srgbClr val="028090"/>
                </a:solidFill>
              </a:rPr>
              <a:t>Slide 13 | Física</a:t>
            </a:r>
            <a:endParaRPr lang="en-US" sz="1000" dirty="0"/>
          </a:p>
        </p:txBody>
      </p:sp>
      <p:pic>
        <p:nvPicPr>
          <p:cNvPr id="6" name="Picture 5" descr="s11_607714.png"/>
          <p:cNvPicPr>
            <a:picLocks noChangeAspect="1"/>
          </p:cNvPicPr>
          <p:nvPr/>
        </p:nvPicPr>
        <p:blipFill>
          <a:blip r:embed="rId3"/>
          <a:stretch>
            <a:fillRect/>
          </a:stretch>
        </p:blipFill>
        <p:spPr>
          <a:xfrm>
            <a:off x="5053584" y="868680"/>
            <a:ext cx="2877312" cy="1618488"/>
          </a:xfrm>
          <a:prstGeom prst="rect">
            <a:avLst/>
          </a:prstGeom>
        </p:spPr>
      </p:pic>
      <p:sp>
        <p:nvSpPr>
          <p:cNvPr id="7" name="TextBox 6"/>
          <p:cNvSpPr txBox="1"/>
          <p:nvPr/>
        </p:nvSpPr>
        <p:spPr>
          <a:xfrm>
            <a:off x="4206240" y="2487168"/>
            <a:ext cx="4572000" cy="164592"/>
          </a:xfrm>
          <a:prstGeom prst="rect">
            <a:avLst/>
          </a:prstGeom>
          <a:noFill/>
        </p:spPr>
        <p:txBody>
          <a:bodyPr wrap="none" tIns="0" bIns="0">
            <a:spAutoFit/>
          </a:bodyPr>
          <a:lstStyle/>
          <a:p>
            <a:pPr algn="ctr"/>
            <a:r>
              <a:rPr sz="700" i="1">
                <a:solidFill>
                  <a:srgbClr val="808080"/>
                </a:solidFill>
              </a:rPr>
              <a:t>Placeholder · Love (generado)</a:t>
            </a:r>
          </a:p>
        </p:txBody>
      </p:sp>
      <p:pic>
        <p:nvPicPr>
          <p:cNvPr id="8" name="Picture 7" descr="Pasted image 20260316140712.png"/>
          <p:cNvPicPr>
            <a:picLocks noChangeAspect="1"/>
          </p:cNvPicPr>
          <p:nvPr/>
        </p:nvPicPr>
        <p:blipFill>
          <a:blip r:embed="rId4"/>
          <a:stretch>
            <a:fillRect/>
          </a:stretch>
        </p:blipFill>
        <p:spPr>
          <a:xfrm>
            <a:off x="5135136" y="2743200"/>
            <a:ext cx="2714208" cy="1618488"/>
          </a:xfrm>
          <a:prstGeom prst="rect">
            <a:avLst/>
          </a:prstGeom>
        </p:spPr>
      </p:pic>
      <p:sp>
        <p:nvSpPr>
          <p:cNvPr id="9" name="TextBox 8"/>
          <p:cNvSpPr txBox="1"/>
          <p:nvPr/>
        </p:nvSpPr>
        <p:spPr>
          <a:xfrm>
            <a:off x="4206240" y="4361688"/>
            <a:ext cx="4572000" cy="164592"/>
          </a:xfrm>
          <a:prstGeom prst="rect">
            <a:avLst/>
          </a:prstGeom>
          <a:noFill/>
        </p:spPr>
        <p:txBody>
          <a:bodyPr wrap="none" tIns="0" bIns="0">
            <a:spAutoFit/>
          </a:bodyPr>
          <a:lstStyle/>
          <a:p>
            <a:pPr algn="ctr"/>
            <a:r>
              <a:rPr sz="700" i="1">
                <a:solidFill>
                  <a:srgbClr val="808080"/>
                </a:solidFill>
              </a:rPr>
              <a:t>Placeholder · Foti et al. 2014, Fig. 2.9</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1E2761"/>
          </a:solidFill>
          <a:ln/>
        </p:spPr>
      </p:sp>
      <p:sp>
        <p:nvSpPr>
          <p:cNvPr id="3" name="Text 1"/>
          <p:cNvSpPr/>
          <p:nvPr/>
        </p:nvSpPr>
        <p:spPr>
          <a:xfrm>
            <a:off x="457200" y="137160"/>
            <a:ext cx="8229600" cy="457200"/>
          </a:xfrm>
          <a:prstGeom prst="rect">
            <a:avLst/>
          </a:prstGeom>
          <a:noFill/>
          <a:ln/>
        </p:spPr>
        <p:txBody>
          <a:bodyPr wrap="square" rtlCol="0" anchor="ctr"/>
          <a:lstStyle/>
          <a:p>
            <a:pPr algn="l" indent="0" marL="0">
              <a:buNone/>
            </a:pPr>
            <a:r>
              <a:rPr lang="en-US" sz="2800" b="1" dirty="0">
                <a:solidFill>
                  <a:srgbClr val="FFFFFF"/>
                </a:solidFill>
                <a:latin typeface="Cambria" pitchFamily="34" charset="0"/>
                <a:ea typeface="Cambria" pitchFamily="34" charset="-122"/>
                <a:cs typeface="Cambria" pitchFamily="34" charset="-120"/>
              </a:rPr>
              <a:t>Ondas Rayleigh: movimiento elíptico en plano vertical, relación directa a Vs</a:t>
            </a:r>
            <a:endParaRPr lang="en-US" sz="2800" dirty="0"/>
          </a:p>
        </p:txBody>
      </p:sp>
      <p:sp>
        <p:nvSpPr>
          <p:cNvPr id="4" name="Text 2"/>
          <p:cNvSpPr/>
          <p:nvPr/>
        </p:nvSpPr>
        <p:spPr>
          <a:xfrm>
            <a:off x="457200" y="914400"/>
            <a:ext cx="3566160" cy="3474720"/>
          </a:xfrm>
          <a:prstGeom prst="rect">
            <a:avLst/>
          </a:prstGeom>
          <a:noFill/>
          <a:ln/>
        </p:spPr>
        <p:txBody>
          <a:bodyPr wrap="square" rtlCol="0" anchor="t"/>
          <a:lstStyle/>
          <a:p>
            <a:pPr algn="l" indent="0" marL="0">
              <a:buNone/>
            </a:pPr>
            <a:r>
              <a:rPr lang="en-US" sz="1600" dirty="0">
                <a:solidFill>
                  <a:srgbClr val="36454F"/>
                </a:solidFill>
                <a:latin typeface="Calibri" pitchFamily="34" charset="0"/>
                <a:ea typeface="Calibri" pitchFamily="34" charset="-122"/>
                <a:cs typeface="Calibri" pitchFamily="34" charset="-120"/>
              </a:rPr>
              <a:t>Acoplamiento P-SV. Componente vertical dominante y fácil de medir. cR ≈ 0.9 Vs (aproximadamente).</a:t>
            </a:r>
            <a:endParaRPr lang="en-US" sz="1800" dirty="0"/>
          </a:p>
        </p:txBody>
      </p:sp>
      <p:sp>
        <p:nvSpPr>
          <p:cNvPr id="5" name="Text 3"/>
          <p:cNvSpPr/>
          <p:nvPr/>
        </p:nvSpPr>
        <p:spPr>
          <a:xfrm>
            <a:off x="457200" y="4572000"/>
            <a:ext cx="8229600" cy="0"/>
          </a:xfrm>
          <a:prstGeom prst="rect">
            <a:avLst/>
          </a:prstGeom>
          <a:noFill/>
          <a:ln/>
        </p:spPr>
        <p:txBody>
          <a:bodyPr wrap="square" rtlCol="0" anchor="ctr"/>
          <a:lstStyle/>
          <a:p>
            <a:pPr algn="r" indent="0" marL="0">
              <a:buNone/>
            </a:pPr>
            <a:r>
              <a:rPr lang="en-US" sz="1000" dirty="0">
                <a:solidFill>
                  <a:srgbClr val="028090"/>
                </a:solidFill>
              </a:rPr>
              <a:t>Slide 14 | Física</a:t>
            </a:r>
            <a:endParaRPr lang="en-US" sz="1000" dirty="0"/>
          </a:p>
        </p:txBody>
      </p:sp>
      <p:pic>
        <p:nvPicPr>
          <p:cNvPr id="6" name="Picture 5" descr="s12_15a820.png"/>
          <p:cNvPicPr>
            <a:picLocks noChangeAspect="1"/>
          </p:cNvPicPr>
          <p:nvPr/>
        </p:nvPicPr>
        <p:blipFill>
          <a:blip r:embed="rId3"/>
          <a:stretch>
            <a:fillRect/>
          </a:stretch>
        </p:blipFill>
        <p:spPr>
          <a:xfrm>
            <a:off x="5053584" y="868680"/>
            <a:ext cx="2877312" cy="1618488"/>
          </a:xfrm>
          <a:prstGeom prst="rect">
            <a:avLst/>
          </a:prstGeom>
        </p:spPr>
      </p:pic>
      <p:sp>
        <p:nvSpPr>
          <p:cNvPr id="7" name="TextBox 6"/>
          <p:cNvSpPr txBox="1"/>
          <p:nvPr/>
        </p:nvSpPr>
        <p:spPr>
          <a:xfrm>
            <a:off x="4206240" y="2487168"/>
            <a:ext cx="4572000" cy="164592"/>
          </a:xfrm>
          <a:prstGeom prst="rect">
            <a:avLst/>
          </a:prstGeom>
          <a:noFill/>
        </p:spPr>
        <p:txBody>
          <a:bodyPr wrap="none" tIns="0" bIns="0">
            <a:spAutoFit/>
          </a:bodyPr>
          <a:lstStyle/>
          <a:p>
            <a:pPr algn="ctr"/>
            <a:r>
              <a:rPr sz="700" i="1">
                <a:solidFill>
                  <a:srgbClr val="808080"/>
                </a:solidFill>
              </a:rPr>
              <a:t>Placeholder · Rayleigh (generado)</a:t>
            </a:r>
          </a:p>
        </p:txBody>
      </p:sp>
      <p:pic>
        <p:nvPicPr>
          <p:cNvPr id="8" name="Picture 7" descr="Pasted image 20260316144208.png"/>
          <p:cNvPicPr>
            <a:picLocks noChangeAspect="1"/>
          </p:cNvPicPr>
          <p:nvPr/>
        </p:nvPicPr>
        <p:blipFill>
          <a:blip r:embed="rId4"/>
          <a:stretch>
            <a:fillRect/>
          </a:stretch>
        </p:blipFill>
        <p:spPr>
          <a:xfrm>
            <a:off x="5339799" y="2743200"/>
            <a:ext cx="2304882" cy="1618488"/>
          </a:xfrm>
          <a:prstGeom prst="rect">
            <a:avLst/>
          </a:prstGeom>
        </p:spPr>
      </p:pic>
      <p:sp>
        <p:nvSpPr>
          <p:cNvPr id="9" name="TextBox 8"/>
          <p:cNvSpPr txBox="1"/>
          <p:nvPr/>
        </p:nvSpPr>
        <p:spPr>
          <a:xfrm>
            <a:off x="4206240" y="4361688"/>
            <a:ext cx="4572000" cy="164592"/>
          </a:xfrm>
          <a:prstGeom prst="rect">
            <a:avLst/>
          </a:prstGeom>
          <a:noFill/>
        </p:spPr>
        <p:txBody>
          <a:bodyPr wrap="none" tIns="0" bIns="0">
            <a:spAutoFit/>
          </a:bodyPr>
          <a:lstStyle/>
          <a:p>
            <a:pPr algn="ctr"/>
            <a:r>
              <a:rPr sz="700" i="1">
                <a:solidFill>
                  <a:srgbClr val="808080"/>
                </a:solidFill>
              </a:rPr>
              <a:t>Placeholder · Foti et al. 2014, Fig. 2.13</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1E2761"/>
          </a:solidFill>
          <a:ln/>
        </p:spPr>
      </p:sp>
      <p:sp>
        <p:nvSpPr>
          <p:cNvPr id="3" name="Text 1"/>
          <p:cNvSpPr/>
          <p:nvPr/>
        </p:nvSpPr>
        <p:spPr>
          <a:xfrm>
            <a:off x="457200" y="137160"/>
            <a:ext cx="8229600" cy="457200"/>
          </a:xfrm>
          <a:prstGeom prst="rect">
            <a:avLst/>
          </a:prstGeom>
          <a:noFill/>
          <a:ln/>
        </p:spPr>
        <p:txBody>
          <a:bodyPr wrap="square" rtlCol="0" anchor="ctr"/>
          <a:lstStyle/>
          <a:p>
            <a:pPr algn="l" indent="0" marL="0">
              <a:buNone/>
            </a:pPr>
            <a:r>
              <a:rPr lang="en-US" sz="2800" b="1" dirty="0">
                <a:solidFill>
                  <a:srgbClr val="FFFFFF"/>
                </a:solidFill>
                <a:latin typeface="Cambria" pitchFamily="34" charset="0"/>
                <a:ea typeface="Cambria" pitchFamily="34" charset="-122"/>
                <a:cs typeface="Cambria" pitchFamily="34" charset="-120"/>
              </a:rPr>
              <a:t>Rayleigh encaja con el problema</a:t>
            </a:r>
            <a:endParaRPr lang="en-US" sz="2800" dirty="0"/>
          </a:p>
        </p:txBody>
      </p:sp>
      <p:sp>
        <p:nvSpPr>
          <p:cNvPr id="4" name="Text 2"/>
          <p:cNvSpPr/>
          <p:nvPr/>
        </p:nvSpPr>
        <p:spPr>
          <a:xfrm>
            <a:off x="457200" y="914400"/>
            <a:ext cx="3566160" cy="3474720"/>
          </a:xfrm>
          <a:prstGeom prst="rect">
            <a:avLst/>
          </a:prstGeom>
          <a:noFill/>
          <a:ln/>
        </p:spPr>
        <p:txBody>
          <a:bodyPr wrap="square" rtlCol="0" anchor="t"/>
          <a:lstStyle/>
          <a:p>
            <a:pPr algn="l" indent="0" marL="0">
              <a:buNone/>
            </a:pPr>
            <a:r>
              <a:rPr lang="en-US" sz="1600" dirty="0">
                <a:solidFill>
                  <a:srgbClr val="36454F"/>
                </a:solidFill>
                <a:latin typeface="Calibri" pitchFamily="34" charset="0"/>
                <a:ea typeface="Calibri" pitchFamily="34" charset="-122"/>
                <a:cs typeface="Calibri" pitchFamily="34" charset="-120"/>
              </a:rPr>
              <a:t>Fácil de generar (fuente vertical), fácil de medir (componente vertical), sensible a Vs(z) vía dispersión.</a:t>
            </a:r>
            <a:endParaRPr lang="en-US" sz="1800" dirty="0"/>
          </a:p>
        </p:txBody>
      </p:sp>
      <p:sp>
        <p:nvSpPr>
          <p:cNvPr id="5" name="Text 3"/>
          <p:cNvSpPr/>
          <p:nvPr/>
        </p:nvSpPr>
        <p:spPr>
          <a:xfrm>
            <a:off x="457200" y="4572000"/>
            <a:ext cx="8229600" cy="0"/>
          </a:xfrm>
          <a:prstGeom prst="rect">
            <a:avLst/>
          </a:prstGeom>
          <a:noFill/>
          <a:ln/>
        </p:spPr>
        <p:txBody>
          <a:bodyPr wrap="square" rtlCol="0" anchor="ctr"/>
          <a:lstStyle/>
          <a:p>
            <a:pPr algn="r" indent="0" marL="0">
              <a:buNone/>
            </a:pPr>
            <a:r>
              <a:rPr lang="en-US" sz="1000" dirty="0">
                <a:solidFill>
                  <a:srgbClr val="028090"/>
                </a:solidFill>
              </a:rPr>
              <a:t>Slide 15 | Física</a:t>
            </a:r>
            <a:endParaRPr lang="en-US" sz="1000" dirty="0"/>
          </a:p>
        </p:txBody>
      </p:sp>
      <p:pic>
        <p:nvPicPr>
          <p:cNvPr id="6" name="Picture 5" descr="ch1_2D_radiation_pattern_Rayleigh_surface.png"/>
          <p:cNvPicPr>
            <a:picLocks noChangeAspect="1"/>
          </p:cNvPicPr>
          <p:nvPr/>
        </p:nvPicPr>
        <p:blipFill>
          <a:blip r:embed="rId3"/>
          <a:stretch>
            <a:fillRect/>
          </a:stretch>
        </p:blipFill>
        <p:spPr>
          <a:xfrm>
            <a:off x="5408194" y="868680"/>
            <a:ext cx="2168091" cy="1618488"/>
          </a:xfrm>
          <a:prstGeom prst="rect">
            <a:avLst/>
          </a:prstGeom>
        </p:spPr>
      </p:pic>
      <p:sp>
        <p:nvSpPr>
          <p:cNvPr id="7" name="TextBox 6"/>
          <p:cNvSpPr txBox="1"/>
          <p:nvPr/>
        </p:nvSpPr>
        <p:spPr>
          <a:xfrm>
            <a:off x="4206240" y="2487168"/>
            <a:ext cx="4572000" cy="164592"/>
          </a:xfrm>
          <a:prstGeom prst="rect">
            <a:avLst/>
          </a:prstGeom>
          <a:noFill/>
        </p:spPr>
        <p:txBody>
          <a:bodyPr wrap="none" tIns="0" bIns="0">
            <a:spAutoFit/>
          </a:bodyPr>
          <a:lstStyle/>
          <a:p>
            <a:pPr algn="ctr"/>
            <a:r>
              <a:rPr sz="700" i="1">
                <a:solidFill>
                  <a:srgbClr val="808080"/>
                </a:solidFill>
              </a:rPr>
              <a:t>Placeholder · Foti et al. 2014, Fig. 1.1</a:t>
            </a:r>
          </a:p>
        </p:txBody>
      </p:sp>
      <p:pic>
        <p:nvPicPr>
          <p:cNvPr id="8" name="Picture 7" descr="Pasted image 20260408094144.png"/>
          <p:cNvPicPr>
            <a:picLocks noChangeAspect="1"/>
          </p:cNvPicPr>
          <p:nvPr/>
        </p:nvPicPr>
        <p:blipFill>
          <a:blip r:embed="rId4"/>
          <a:stretch>
            <a:fillRect/>
          </a:stretch>
        </p:blipFill>
        <p:spPr>
          <a:xfrm>
            <a:off x="5623261" y="2743200"/>
            <a:ext cx="1737958" cy="1618487"/>
          </a:xfrm>
          <a:prstGeom prst="rect">
            <a:avLst/>
          </a:prstGeom>
        </p:spPr>
      </p:pic>
      <p:sp>
        <p:nvSpPr>
          <p:cNvPr id="9" name="TextBox 8"/>
          <p:cNvSpPr txBox="1"/>
          <p:nvPr/>
        </p:nvSpPr>
        <p:spPr>
          <a:xfrm>
            <a:off x="4206240" y="4361688"/>
            <a:ext cx="4572000" cy="164592"/>
          </a:xfrm>
          <a:prstGeom prst="rect">
            <a:avLst/>
          </a:prstGeom>
          <a:noFill/>
        </p:spPr>
        <p:txBody>
          <a:bodyPr wrap="none" tIns="0" bIns="0">
            <a:spAutoFit/>
          </a:bodyPr>
          <a:lstStyle/>
          <a:p>
            <a:pPr algn="ctr"/>
            <a:r>
              <a:rPr sz="700" i="1">
                <a:solidFill>
                  <a:srgbClr val="808080"/>
                </a:solidFill>
              </a:rPr>
              <a:t>Placeholder · Foti et al. 2014, Fig. 3.3</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1E2761"/>
          </a:solidFill>
          <a:ln/>
        </p:spPr>
      </p:sp>
      <p:sp>
        <p:nvSpPr>
          <p:cNvPr id="3" name="Text 1"/>
          <p:cNvSpPr/>
          <p:nvPr/>
        </p:nvSpPr>
        <p:spPr>
          <a:xfrm>
            <a:off x="457200" y="137160"/>
            <a:ext cx="8229600" cy="457200"/>
          </a:xfrm>
          <a:prstGeom prst="rect">
            <a:avLst/>
          </a:prstGeom>
          <a:noFill/>
          <a:ln/>
        </p:spPr>
        <p:txBody>
          <a:bodyPr wrap="square" rtlCol="0" anchor="ctr"/>
          <a:lstStyle/>
          <a:p>
            <a:pPr algn="l" indent="0" marL="0">
              <a:buNone/>
            </a:pPr>
            <a:r>
              <a:rPr lang="en-US" sz="2800" b="1" dirty="0">
                <a:solidFill>
                  <a:srgbClr val="FFFFFF"/>
                </a:solidFill>
                <a:latin typeface="Cambria" pitchFamily="34" charset="0"/>
                <a:ea typeface="Cambria" pitchFamily="34" charset="-122"/>
                <a:cs typeface="Cambria" pitchFamily="34" charset="-120"/>
              </a:rPr>
              <a:t>En un semiespacio homogéneo, cR es independiente de la frecuencia</a:t>
            </a:r>
            <a:endParaRPr lang="en-US" sz="2800" dirty="0"/>
          </a:p>
        </p:txBody>
      </p:sp>
      <p:sp>
        <p:nvSpPr>
          <p:cNvPr id="4" name="Text 2"/>
          <p:cNvSpPr/>
          <p:nvPr/>
        </p:nvSpPr>
        <p:spPr>
          <a:xfrm>
            <a:off x="457200" y="914400"/>
            <a:ext cx="3566160" cy="3474720"/>
          </a:xfrm>
          <a:prstGeom prst="rect">
            <a:avLst/>
          </a:prstGeom>
          <a:noFill/>
          <a:ln/>
        </p:spPr>
        <p:txBody>
          <a:bodyPr wrap="square" rtlCol="0" anchor="t"/>
          <a:lstStyle/>
          <a:p>
            <a:pPr algn="l" indent="0" marL="0">
              <a:buNone/>
            </a:pPr>
            <a:r>
              <a:rPr lang="en-US" sz="1600" dirty="0">
                <a:solidFill>
                  <a:srgbClr val="36454F"/>
                </a:solidFill>
                <a:latin typeface="Calibri" pitchFamily="34" charset="0"/>
                <a:ea typeface="Calibri" pitchFamily="34" charset="-122"/>
                <a:cs typeface="Calibri" pitchFamily="34" charset="-120"/>
              </a:rPr>
              <a:t>Mismo Vs, Vp, ρ → una única cR para todo f.</a:t>
            </a:r>
            <a:endParaRPr lang="en-US" sz="1800" dirty="0"/>
          </a:p>
        </p:txBody>
      </p:sp>
      <p:sp>
        <p:nvSpPr>
          <p:cNvPr id="5" name="Text 3"/>
          <p:cNvSpPr/>
          <p:nvPr/>
        </p:nvSpPr>
        <p:spPr>
          <a:xfrm>
            <a:off x="457200" y="4572000"/>
            <a:ext cx="8229600" cy="0"/>
          </a:xfrm>
          <a:prstGeom prst="rect">
            <a:avLst/>
          </a:prstGeom>
          <a:noFill/>
          <a:ln/>
        </p:spPr>
        <p:txBody>
          <a:bodyPr wrap="square" rtlCol="0" anchor="ctr"/>
          <a:lstStyle/>
          <a:p>
            <a:pPr algn="r" indent="0" marL="0">
              <a:buNone/>
            </a:pPr>
            <a:r>
              <a:rPr lang="en-US" sz="1000" dirty="0">
                <a:solidFill>
                  <a:srgbClr val="028090"/>
                </a:solidFill>
              </a:rPr>
              <a:t>Slide 16 | Dispersión</a:t>
            </a:r>
            <a:endParaRPr lang="en-US" sz="1000" dirty="0"/>
          </a:p>
        </p:txBody>
      </p:sp>
      <p:pic>
        <p:nvPicPr>
          <p:cNvPr id="6" name="Picture 5" descr="s14_b93a34.png"/>
          <p:cNvPicPr>
            <a:picLocks noChangeAspect="1"/>
          </p:cNvPicPr>
          <p:nvPr/>
        </p:nvPicPr>
        <p:blipFill>
          <a:blip r:embed="rId3"/>
          <a:stretch>
            <a:fillRect/>
          </a:stretch>
        </p:blipFill>
        <p:spPr>
          <a:xfrm>
            <a:off x="5053584" y="868680"/>
            <a:ext cx="2877312" cy="1618488"/>
          </a:xfrm>
          <a:prstGeom prst="rect">
            <a:avLst/>
          </a:prstGeom>
        </p:spPr>
      </p:pic>
      <p:sp>
        <p:nvSpPr>
          <p:cNvPr id="7" name="TextBox 6"/>
          <p:cNvSpPr txBox="1"/>
          <p:nvPr/>
        </p:nvSpPr>
        <p:spPr>
          <a:xfrm>
            <a:off x="4206240" y="2487168"/>
            <a:ext cx="4572000" cy="164592"/>
          </a:xfrm>
          <a:prstGeom prst="rect">
            <a:avLst/>
          </a:prstGeom>
          <a:noFill/>
        </p:spPr>
        <p:txBody>
          <a:bodyPr wrap="none" tIns="0" bIns="0">
            <a:spAutoFit/>
          </a:bodyPr>
          <a:lstStyle/>
          <a:p>
            <a:pPr algn="ctr"/>
            <a:r>
              <a:rPr sz="700" i="1">
                <a:solidFill>
                  <a:srgbClr val="808080"/>
                </a:solidFill>
              </a:rPr>
              <a:t>Placeholder · Semiespacio homogéneo (generado)</a:t>
            </a:r>
          </a:p>
        </p:txBody>
      </p:sp>
      <p:pic>
        <p:nvPicPr>
          <p:cNvPr id="8" name="Picture 7" descr="gen_cR_homogeneo.png"/>
          <p:cNvPicPr>
            <a:picLocks noChangeAspect="1"/>
          </p:cNvPicPr>
          <p:nvPr/>
        </p:nvPicPr>
        <p:blipFill>
          <a:blip r:embed="rId4"/>
          <a:stretch>
            <a:fillRect/>
          </a:stretch>
        </p:blipFill>
        <p:spPr>
          <a:xfrm>
            <a:off x="5278374" y="2743200"/>
            <a:ext cx="2427732" cy="1618488"/>
          </a:xfrm>
          <a:prstGeom prst="rect">
            <a:avLst/>
          </a:prstGeom>
        </p:spPr>
      </p:pic>
      <p:sp>
        <p:nvSpPr>
          <p:cNvPr id="9" name="TextBox 8"/>
          <p:cNvSpPr txBox="1"/>
          <p:nvPr/>
        </p:nvSpPr>
        <p:spPr>
          <a:xfrm>
            <a:off x="4206240" y="4361688"/>
            <a:ext cx="4572000" cy="164592"/>
          </a:xfrm>
          <a:prstGeom prst="rect">
            <a:avLst/>
          </a:prstGeom>
          <a:noFill/>
        </p:spPr>
        <p:txBody>
          <a:bodyPr wrap="none" tIns="0" bIns="0">
            <a:spAutoFit/>
          </a:bodyPr>
          <a:lstStyle/>
          <a:p>
            <a:pPr algn="ctr"/>
            <a:r>
              <a:rPr sz="700" i="1">
                <a:solidFill>
                  <a:srgbClr val="808080"/>
                </a:solidFill>
              </a:rPr>
              <a:t>Placeholder · Generado</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1E2761"/>
          </a:solidFill>
          <a:ln/>
        </p:spPr>
      </p:sp>
      <p:sp>
        <p:nvSpPr>
          <p:cNvPr id="3" name="Text 1"/>
          <p:cNvSpPr/>
          <p:nvPr/>
        </p:nvSpPr>
        <p:spPr>
          <a:xfrm>
            <a:off x="457200" y="137160"/>
            <a:ext cx="8229600" cy="457200"/>
          </a:xfrm>
          <a:prstGeom prst="rect">
            <a:avLst/>
          </a:prstGeom>
          <a:noFill/>
          <a:ln/>
        </p:spPr>
        <p:txBody>
          <a:bodyPr wrap="square" rtlCol="0" anchor="ctr"/>
          <a:lstStyle/>
          <a:p>
            <a:pPr algn="l" indent="0" marL="0">
              <a:buNone/>
            </a:pPr>
            <a:r>
              <a:rPr lang="en-US" sz="2800" b="1" dirty="0">
                <a:solidFill>
                  <a:srgbClr val="FFFFFF"/>
                </a:solidFill>
                <a:latin typeface="Cambria" pitchFamily="34" charset="0"/>
                <a:ea typeface="Cambria" pitchFamily="34" charset="-122"/>
                <a:cs typeface="Cambria" pitchFamily="34" charset="-120"/>
              </a:rPr>
              <a:t>Relación cR-Vs: Rayleigh es ligeramente menor y estrechamente relacionada</a:t>
            </a:r>
            <a:endParaRPr lang="en-US" sz="2800" dirty="0"/>
          </a:p>
        </p:txBody>
      </p:sp>
      <p:sp>
        <p:nvSpPr>
          <p:cNvPr id="4" name="Text 2"/>
          <p:cNvSpPr/>
          <p:nvPr/>
        </p:nvSpPr>
        <p:spPr>
          <a:xfrm>
            <a:off x="457200" y="914400"/>
            <a:ext cx="3566160" cy="3474720"/>
          </a:xfrm>
          <a:prstGeom prst="rect">
            <a:avLst/>
          </a:prstGeom>
          <a:noFill/>
          <a:ln/>
        </p:spPr>
        <p:txBody>
          <a:bodyPr wrap="square" rtlCol="0" anchor="t"/>
          <a:lstStyle/>
          <a:p>
            <a:pPr algn="l" indent="0" marL="0">
              <a:buNone/>
            </a:pPr>
            <a:r>
              <a:rPr lang="en-US" sz="1600" dirty="0">
                <a:solidFill>
                  <a:srgbClr val="36454F"/>
                </a:solidFill>
                <a:latin typeface="Calibri" pitchFamily="34" charset="0"/>
                <a:ea typeface="Calibri" pitchFamily="34" charset="-122"/>
                <a:cs typeface="Calibri" pitchFamily="34" charset="-120"/>
              </a:rPr>
              <a:t>cR ≈ 0.92 Vs (aproximadamente); dependencia de ν (Poisson). Vínculo directo para inversión.</a:t>
            </a:r>
            <a:endParaRPr lang="en-US" sz="1800" dirty="0"/>
          </a:p>
        </p:txBody>
      </p:sp>
      <p:sp>
        <p:nvSpPr>
          <p:cNvPr id="5" name="Text 3"/>
          <p:cNvSpPr/>
          <p:nvPr/>
        </p:nvSpPr>
        <p:spPr>
          <a:xfrm>
            <a:off x="457200" y="4572000"/>
            <a:ext cx="8229600" cy="0"/>
          </a:xfrm>
          <a:prstGeom prst="rect">
            <a:avLst/>
          </a:prstGeom>
          <a:noFill/>
          <a:ln/>
        </p:spPr>
        <p:txBody>
          <a:bodyPr wrap="square" rtlCol="0" anchor="ctr"/>
          <a:lstStyle/>
          <a:p>
            <a:pPr algn="r" indent="0" marL="0">
              <a:buNone/>
            </a:pPr>
            <a:r>
              <a:rPr lang="en-US" sz="1000" dirty="0">
                <a:solidFill>
                  <a:srgbClr val="028090"/>
                </a:solidFill>
              </a:rPr>
              <a:t>Slide 17 | Dispersión</a:t>
            </a:r>
            <a:endParaRPr lang="en-US" sz="1000" dirty="0"/>
          </a:p>
        </p:txBody>
      </p:sp>
      <p:pic>
        <p:nvPicPr>
          <p:cNvPr id="6" name="Picture 5" descr="gen_cR_vs_poisson.png"/>
          <p:cNvPicPr>
            <a:picLocks noChangeAspect="1"/>
          </p:cNvPicPr>
          <p:nvPr/>
        </p:nvPicPr>
        <p:blipFill>
          <a:blip r:embed="rId3"/>
          <a:stretch>
            <a:fillRect/>
          </a:stretch>
        </p:blipFill>
        <p:spPr>
          <a:xfrm>
            <a:off x="4206240" y="1091184"/>
            <a:ext cx="4572000" cy="3048000"/>
          </a:xfrm>
          <a:prstGeom prst="rect">
            <a:avLst/>
          </a:prstGeom>
        </p:spPr>
      </p:pic>
      <p:sp>
        <p:nvSpPr>
          <p:cNvPr id="7" name="TextBox 6"/>
          <p:cNvSpPr txBox="1"/>
          <p:nvPr/>
        </p:nvSpPr>
        <p:spPr>
          <a:xfrm>
            <a:off x="4206240" y="4361688"/>
            <a:ext cx="4572000" cy="164592"/>
          </a:xfrm>
          <a:prstGeom prst="rect">
            <a:avLst/>
          </a:prstGeom>
          <a:noFill/>
        </p:spPr>
        <p:txBody>
          <a:bodyPr wrap="none" tIns="0" bIns="0">
            <a:spAutoFit/>
          </a:bodyPr>
          <a:lstStyle/>
          <a:p>
            <a:pPr algn="ctr"/>
            <a:r>
              <a:rPr sz="700" i="1">
                <a:solidFill>
                  <a:srgbClr val="808080"/>
                </a:solidFill>
              </a:rPr>
              <a:t>Placeholder · Generado (aprox. de Viktorov)</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1E2761"/>
          </a:solidFill>
          <a:ln/>
        </p:spPr>
      </p:sp>
      <p:sp>
        <p:nvSpPr>
          <p:cNvPr id="3" name="Text 1"/>
          <p:cNvSpPr/>
          <p:nvPr/>
        </p:nvSpPr>
        <p:spPr>
          <a:xfrm>
            <a:off x="457200" y="137160"/>
            <a:ext cx="8229600" cy="457200"/>
          </a:xfrm>
          <a:prstGeom prst="rect">
            <a:avLst/>
          </a:prstGeom>
          <a:noFill/>
          <a:ln/>
        </p:spPr>
        <p:txBody>
          <a:bodyPr wrap="square" rtlCol="0" anchor="ctr"/>
          <a:lstStyle/>
          <a:p>
            <a:pPr algn="l" indent="0" marL="0">
              <a:buNone/>
            </a:pPr>
            <a:r>
              <a:rPr lang="en-US" sz="2800" b="1" dirty="0">
                <a:solidFill>
                  <a:srgbClr val="FFFFFF"/>
                </a:solidFill>
                <a:latin typeface="Cambria" pitchFamily="34" charset="0"/>
                <a:ea typeface="Cambria" pitchFamily="34" charset="-122"/>
                <a:cs typeface="Cambria" pitchFamily="34" charset="-120"/>
              </a:rPr>
              <a:t>Al agregar capas con distintos Vs, Vp, ρ, espesores, emerge la dispersión</a:t>
            </a:r>
            <a:endParaRPr lang="en-US" sz="2800" dirty="0"/>
          </a:p>
        </p:txBody>
      </p:sp>
      <p:sp>
        <p:nvSpPr>
          <p:cNvPr id="4" name="Text 2"/>
          <p:cNvSpPr/>
          <p:nvPr/>
        </p:nvSpPr>
        <p:spPr>
          <a:xfrm>
            <a:off x="457200" y="914400"/>
            <a:ext cx="3566160" cy="3474720"/>
          </a:xfrm>
          <a:prstGeom prst="rect">
            <a:avLst/>
          </a:prstGeom>
          <a:noFill/>
          <a:ln/>
        </p:spPr>
        <p:txBody>
          <a:bodyPr wrap="square" rtlCol="0" anchor="t"/>
          <a:lstStyle/>
          <a:p>
            <a:pPr algn="l" indent="0" marL="0">
              <a:buNone/>
            </a:pPr>
            <a:r>
              <a:rPr lang="en-US" sz="1600" dirty="0">
                <a:solidFill>
                  <a:srgbClr val="36454F"/>
                </a:solidFill>
                <a:latin typeface="Calibri" pitchFamily="34" charset="0"/>
                <a:ea typeface="Calibri" pitchFamily="34" charset="-122"/>
                <a:cs typeface="Calibri" pitchFamily="34" charset="-120"/>
              </a:rPr>
              <a:t>Capas → interacción y conversión modal → cR depende de f.</a:t>
            </a:r>
            <a:endParaRPr lang="en-US" sz="1800" dirty="0"/>
          </a:p>
        </p:txBody>
      </p:sp>
      <p:sp>
        <p:nvSpPr>
          <p:cNvPr id="5" name="Text 3"/>
          <p:cNvSpPr/>
          <p:nvPr/>
        </p:nvSpPr>
        <p:spPr>
          <a:xfrm>
            <a:off x="457200" y="4572000"/>
            <a:ext cx="8229600" cy="0"/>
          </a:xfrm>
          <a:prstGeom prst="rect">
            <a:avLst/>
          </a:prstGeom>
          <a:noFill/>
          <a:ln/>
        </p:spPr>
        <p:txBody>
          <a:bodyPr wrap="square" rtlCol="0" anchor="ctr"/>
          <a:lstStyle/>
          <a:p>
            <a:pPr algn="r" indent="0" marL="0">
              <a:buNone/>
            </a:pPr>
            <a:r>
              <a:rPr lang="en-US" sz="1000" dirty="0">
                <a:solidFill>
                  <a:srgbClr val="028090"/>
                </a:solidFill>
              </a:rPr>
              <a:t>Slide 18 | Dispersión</a:t>
            </a:r>
            <a:endParaRPr lang="en-US" sz="1000" dirty="0"/>
          </a:p>
        </p:txBody>
      </p:sp>
      <p:pic>
        <p:nvPicPr>
          <p:cNvPr id="6" name="Picture 5" descr="s18_6ae378.png"/>
          <p:cNvPicPr>
            <a:picLocks noChangeAspect="1"/>
          </p:cNvPicPr>
          <p:nvPr/>
        </p:nvPicPr>
        <p:blipFill>
          <a:blip r:embed="rId3"/>
          <a:stretch>
            <a:fillRect/>
          </a:stretch>
        </p:blipFill>
        <p:spPr>
          <a:xfrm>
            <a:off x="5053584" y="868680"/>
            <a:ext cx="2877312" cy="1618488"/>
          </a:xfrm>
          <a:prstGeom prst="rect">
            <a:avLst/>
          </a:prstGeom>
        </p:spPr>
      </p:pic>
      <p:sp>
        <p:nvSpPr>
          <p:cNvPr id="7" name="TextBox 6"/>
          <p:cNvSpPr txBox="1"/>
          <p:nvPr/>
        </p:nvSpPr>
        <p:spPr>
          <a:xfrm>
            <a:off x="4206240" y="2487168"/>
            <a:ext cx="4572000" cy="164592"/>
          </a:xfrm>
          <a:prstGeom prst="rect">
            <a:avLst/>
          </a:prstGeom>
          <a:noFill/>
        </p:spPr>
        <p:txBody>
          <a:bodyPr wrap="none" tIns="0" bIns="0">
            <a:spAutoFit/>
          </a:bodyPr>
          <a:lstStyle/>
          <a:p>
            <a:pPr algn="ctr"/>
            <a:r>
              <a:rPr sz="700" i="1">
                <a:solidFill>
                  <a:srgbClr val="808080"/>
                </a:solidFill>
              </a:rPr>
              <a:t>Placeholder · Medio estratificado (generado)</a:t>
            </a:r>
          </a:p>
        </p:txBody>
      </p:sp>
      <p:pic>
        <p:nvPicPr>
          <p:cNvPr id="8" name="Picture 7" descr="ch1 Geometric Dispersion of rayleigh waves.png"/>
          <p:cNvPicPr>
            <a:picLocks noChangeAspect="1"/>
          </p:cNvPicPr>
          <p:nvPr/>
        </p:nvPicPr>
        <p:blipFill>
          <a:blip r:embed="rId4"/>
          <a:stretch>
            <a:fillRect/>
          </a:stretch>
        </p:blipFill>
        <p:spPr>
          <a:xfrm>
            <a:off x="5122260" y="2743200"/>
            <a:ext cx="2739960" cy="1618488"/>
          </a:xfrm>
          <a:prstGeom prst="rect">
            <a:avLst/>
          </a:prstGeom>
        </p:spPr>
      </p:pic>
      <p:sp>
        <p:nvSpPr>
          <p:cNvPr id="9" name="TextBox 8"/>
          <p:cNvSpPr txBox="1"/>
          <p:nvPr/>
        </p:nvSpPr>
        <p:spPr>
          <a:xfrm>
            <a:off x="4206240" y="4361688"/>
            <a:ext cx="4572000" cy="164592"/>
          </a:xfrm>
          <a:prstGeom prst="rect">
            <a:avLst/>
          </a:prstGeom>
          <a:noFill/>
        </p:spPr>
        <p:txBody>
          <a:bodyPr wrap="none" tIns="0" bIns="0">
            <a:spAutoFit/>
          </a:bodyPr>
          <a:lstStyle/>
          <a:p>
            <a:pPr algn="ctr"/>
            <a:r>
              <a:rPr sz="700" i="1">
                <a:solidFill>
                  <a:srgbClr val="808080"/>
                </a:solidFill>
              </a:rPr>
              <a:t>Placeholder · Foti et al. 2014, Fig. 1.2</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1E2761"/>
          </a:solidFill>
          <a:ln/>
        </p:spPr>
      </p:sp>
      <p:sp>
        <p:nvSpPr>
          <p:cNvPr id="3" name="Text 1"/>
          <p:cNvSpPr/>
          <p:nvPr/>
        </p:nvSpPr>
        <p:spPr>
          <a:xfrm>
            <a:off x="457200" y="137160"/>
            <a:ext cx="8229600" cy="457200"/>
          </a:xfrm>
          <a:prstGeom prst="rect">
            <a:avLst/>
          </a:prstGeom>
          <a:noFill/>
          <a:ln/>
        </p:spPr>
        <p:txBody>
          <a:bodyPr wrap="square" rtlCol="0" anchor="ctr"/>
          <a:lstStyle/>
          <a:p>
            <a:pPr algn="l" indent="0" marL="0">
              <a:buNone/>
            </a:pPr>
            <a:r>
              <a:rPr lang="en-US" sz="2800" b="1" dirty="0">
                <a:solidFill>
                  <a:srgbClr val="FFFFFF"/>
                </a:solidFill>
                <a:latin typeface="Cambria" pitchFamily="34" charset="0"/>
                <a:ea typeface="Cambria" pitchFamily="34" charset="-122"/>
                <a:cs typeface="Cambria" pitchFamily="34" charset="-120"/>
              </a:rPr>
              <a:t>Longitud de onda y sensibilidad: λR(f) = cR(f)/f, alta f → superficial, baja f → profunda</a:t>
            </a:r>
            <a:endParaRPr lang="en-US" sz="2800" dirty="0"/>
          </a:p>
        </p:txBody>
      </p:sp>
      <p:sp>
        <p:nvSpPr>
          <p:cNvPr id="4" name="Text 2"/>
          <p:cNvSpPr/>
          <p:nvPr/>
        </p:nvSpPr>
        <p:spPr>
          <a:xfrm>
            <a:off x="457200" y="914400"/>
            <a:ext cx="3566160" cy="3474720"/>
          </a:xfrm>
          <a:prstGeom prst="rect">
            <a:avLst/>
          </a:prstGeom>
          <a:noFill/>
          <a:ln/>
        </p:spPr>
        <p:txBody>
          <a:bodyPr wrap="square" rtlCol="0" anchor="t"/>
          <a:lstStyle/>
          <a:p>
            <a:pPr algn="l" indent="0" marL="0">
              <a:buNone/>
            </a:pPr>
            <a:r>
              <a:rPr lang="en-US" sz="1600" dirty="0">
                <a:solidFill>
                  <a:srgbClr val="36454F"/>
                </a:solidFill>
                <a:latin typeface="Calibri" pitchFamily="34" charset="0"/>
                <a:ea typeface="Calibri" pitchFamily="34" charset="-122"/>
                <a:cs typeface="Calibri" pitchFamily="34" charset="-120"/>
              </a:rPr>
              <a:t>Relación directa entre f y profundidad de sensibilidad vía λR. Sensibilidad distribuida (no rígida).</a:t>
            </a:r>
            <a:endParaRPr lang="en-US" sz="1800" dirty="0"/>
          </a:p>
        </p:txBody>
      </p:sp>
      <p:sp>
        <p:nvSpPr>
          <p:cNvPr id="5" name="Text 3"/>
          <p:cNvSpPr/>
          <p:nvPr/>
        </p:nvSpPr>
        <p:spPr>
          <a:xfrm>
            <a:off x="457200" y="4572000"/>
            <a:ext cx="8229600" cy="0"/>
          </a:xfrm>
          <a:prstGeom prst="rect">
            <a:avLst/>
          </a:prstGeom>
          <a:noFill/>
          <a:ln/>
        </p:spPr>
        <p:txBody>
          <a:bodyPr wrap="square" rtlCol="0" anchor="ctr"/>
          <a:lstStyle/>
          <a:p>
            <a:pPr algn="r" indent="0" marL="0">
              <a:buNone/>
            </a:pPr>
            <a:r>
              <a:rPr lang="en-US" sz="1000" dirty="0">
                <a:solidFill>
                  <a:srgbClr val="028090"/>
                </a:solidFill>
              </a:rPr>
              <a:t>Slide 19 | Dispersión</a:t>
            </a:r>
            <a:endParaRPr lang="en-US" sz="1000" dirty="0"/>
          </a:p>
        </p:txBody>
      </p:sp>
      <p:pic>
        <p:nvPicPr>
          <p:cNvPr id="6" name="Picture 5" descr="s17_e60734.png"/>
          <p:cNvPicPr>
            <a:picLocks noChangeAspect="1"/>
          </p:cNvPicPr>
          <p:nvPr/>
        </p:nvPicPr>
        <p:blipFill>
          <a:blip r:embed="rId3"/>
          <a:stretch>
            <a:fillRect/>
          </a:stretch>
        </p:blipFill>
        <p:spPr>
          <a:xfrm>
            <a:off x="5053584" y="868680"/>
            <a:ext cx="2877312" cy="1618488"/>
          </a:xfrm>
          <a:prstGeom prst="rect">
            <a:avLst/>
          </a:prstGeom>
        </p:spPr>
      </p:pic>
      <p:sp>
        <p:nvSpPr>
          <p:cNvPr id="7" name="TextBox 6"/>
          <p:cNvSpPr txBox="1"/>
          <p:nvPr/>
        </p:nvSpPr>
        <p:spPr>
          <a:xfrm>
            <a:off x="4206240" y="2487168"/>
            <a:ext cx="4572000" cy="164592"/>
          </a:xfrm>
          <a:prstGeom prst="rect">
            <a:avLst/>
          </a:prstGeom>
          <a:noFill/>
        </p:spPr>
        <p:txBody>
          <a:bodyPr wrap="none" tIns="0" bIns="0">
            <a:spAutoFit/>
          </a:bodyPr>
          <a:lstStyle/>
          <a:p>
            <a:pPr algn="ctr"/>
            <a:r>
              <a:rPr sz="700" i="1">
                <a:solidFill>
                  <a:srgbClr val="808080"/>
                </a:solidFill>
              </a:rPr>
              <a:t>Placeholder · Profundidad vs λ (generado)</a:t>
            </a:r>
          </a:p>
        </p:txBody>
      </p:sp>
      <p:pic>
        <p:nvPicPr>
          <p:cNvPr id="8" name="Picture 7" descr="dispersion_profundidad.png"/>
          <p:cNvPicPr>
            <a:picLocks noChangeAspect="1"/>
          </p:cNvPicPr>
          <p:nvPr/>
        </p:nvPicPr>
        <p:blipFill>
          <a:blip r:embed="rId4"/>
          <a:stretch>
            <a:fillRect/>
          </a:stretch>
        </p:blipFill>
        <p:spPr>
          <a:xfrm>
            <a:off x="5192545" y="2743200"/>
            <a:ext cx="2599389" cy="1618488"/>
          </a:xfrm>
          <a:prstGeom prst="rect">
            <a:avLst/>
          </a:prstGeom>
        </p:spPr>
      </p:pic>
      <p:sp>
        <p:nvSpPr>
          <p:cNvPr id="9" name="TextBox 8"/>
          <p:cNvSpPr txBox="1"/>
          <p:nvPr/>
        </p:nvSpPr>
        <p:spPr>
          <a:xfrm>
            <a:off x="4206240" y="4361688"/>
            <a:ext cx="4572000" cy="164592"/>
          </a:xfrm>
          <a:prstGeom prst="rect">
            <a:avLst/>
          </a:prstGeom>
          <a:noFill/>
        </p:spPr>
        <p:txBody>
          <a:bodyPr wrap="none" tIns="0" bIns="0">
            <a:spAutoFit/>
          </a:bodyPr>
          <a:lstStyle/>
          <a:p>
            <a:pPr algn="ctr"/>
            <a:r>
              <a:rPr sz="700" i="1">
                <a:solidFill>
                  <a:srgbClr val="808080"/>
                </a:solidFill>
              </a:rPr>
              <a:t>Placeholder · Propio</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1E2761"/>
          </a:solidFill>
          <a:ln/>
        </p:spPr>
      </p:sp>
      <p:sp>
        <p:nvSpPr>
          <p:cNvPr id="3" name="Text 1"/>
          <p:cNvSpPr/>
          <p:nvPr/>
        </p:nvSpPr>
        <p:spPr>
          <a:xfrm>
            <a:off x="457200" y="137160"/>
            <a:ext cx="8229600" cy="457200"/>
          </a:xfrm>
          <a:prstGeom prst="rect">
            <a:avLst/>
          </a:prstGeom>
          <a:noFill/>
          <a:ln/>
        </p:spPr>
        <p:txBody>
          <a:bodyPr wrap="square" rtlCol="0" anchor="ctr"/>
          <a:lstStyle/>
          <a:p>
            <a:pPr algn="l" indent="0" marL="0">
              <a:buNone/>
            </a:pPr>
            <a:r>
              <a:rPr lang="en-US" sz="2800" b="1" dirty="0">
                <a:solidFill>
                  <a:srgbClr val="FFFFFF"/>
                </a:solidFill>
                <a:latin typeface="Cambria" pitchFamily="34" charset="0"/>
                <a:ea typeface="Cambria" pitchFamily="34" charset="-122"/>
                <a:cs typeface="Cambria" pitchFamily="34" charset="-120"/>
              </a:rPr>
              <a:t>Dispersión: cR(f) es la curva de dispersión, contiene información de estructura vertical</a:t>
            </a:r>
            <a:endParaRPr lang="en-US" sz="2800" dirty="0"/>
          </a:p>
        </p:txBody>
      </p:sp>
      <p:sp>
        <p:nvSpPr>
          <p:cNvPr id="4" name="Text 2"/>
          <p:cNvSpPr/>
          <p:nvPr/>
        </p:nvSpPr>
        <p:spPr>
          <a:xfrm>
            <a:off x="457200" y="914400"/>
            <a:ext cx="3566160" cy="3474720"/>
          </a:xfrm>
          <a:prstGeom prst="rect">
            <a:avLst/>
          </a:prstGeom>
          <a:noFill/>
          <a:ln/>
        </p:spPr>
        <p:txBody>
          <a:bodyPr wrap="square" rtlCol="0" anchor="t"/>
          <a:lstStyle/>
          <a:p>
            <a:pPr algn="l" indent="0" marL="0">
              <a:buNone/>
            </a:pPr>
            <a:r>
              <a:rPr lang="en-US" sz="1600" dirty="0">
                <a:solidFill>
                  <a:srgbClr val="36454F"/>
                </a:solidFill>
                <a:latin typeface="Calibri" pitchFamily="34" charset="0"/>
                <a:ea typeface="Calibri" pitchFamily="34" charset="-122"/>
                <a:cs typeface="Calibri" pitchFamily="34" charset="-120"/>
              </a:rPr>
              <a:t>La curva define cómo cambia la velocidad con f. Cada estructura Vs(z) genera una curva única (o casi).</a:t>
            </a:r>
            <a:endParaRPr lang="en-US" sz="1800" dirty="0"/>
          </a:p>
        </p:txBody>
      </p:sp>
      <p:sp>
        <p:nvSpPr>
          <p:cNvPr id="5" name="Text 3"/>
          <p:cNvSpPr/>
          <p:nvPr/>
        </p:nvSpPr>
        <p:spPr>
          <a:xfrm>
            <a:off x="457200" y="4572000"/>
            <a:ext cx="8229600" cy="0"/>
          </a:xfrm>
          <a:prstGeom prst="rect">
            <a:avLst/>
          </a:prstGeom>
          <a:noFill/>
          <a:ln/>
        </p:spPr>
        <p:txBody>
          <a:bodyPr wrap="square" rtlCol="0" anchor="ctr"/>
          <a:lstStyle/>
          <a:p>
            <a:pPr algn="r" indent="0" marL="0">
              <a:buNone/>
            </a:pPr>
            <a:r>
              <a:rPr lang="en-US" sz="1000" dirty="0">
                <a:solidFill>
                  <a:srgbClr val="028090"/>
                </a:solidFill>
              </a:rPr>
              <a:t>Slide 20 | Dispersión</a:t>
            </a:r>
            <a:endParaRPr lang="en-US" sz="1000" dirty="0"/>
          </a:p>
        </p:txBody>
      </p:sp>
      <p:pic>
        <p:nvPicPr>
          <p:cNvPr id="6" name="Picture 5" descr="ch1_Example of processing of experimental data using wavenumber analysis.png"/>
          <p:cNvPicPr>
            <a:picLocks noChangeAspect="1"/>
          </p:cNvPicPr>
          <p:nvPr/>
        </p:nvPicPr>
        <p:blipFill>
          <a:blip r:embed="rId3"/>
          <a:stretch>
            <a:fillRect/>
          </a:stretch>
        </p:blipFill>
        <p:spPr>
          <a:xfrm>
            <a:off x="5672621" y="868680"/>
            <a:ext cx="1639237" cy="1618488"/>
          </a:xfrm>
          <a:prstGeom prst="rect">
            <a:avLst/>
          </a:prstGeom>
        </p:spPr>
      </p:pic>
      <p:sp>
        <p:nvSpPr>
          <p:cNvPr id="7" name="TextBox 6"/>
          <p:cNvSpPr txBox="1"/>
          <p:nvPr/>
        </p:nvSpPr>
        <p:spPr>
          <a:xfrm>
            <a:off x="4206240" y="2487168"/>
            <a:ext cx="4572000" cy="164592"/>
          </a:xfrm>
          <a:prstGeom prst="rect">
            <a:avLst/>
          </a:prstGeom>
          <a:noFill/>
        </p:spPr>
        <p:txBody>
          <a:bodyPr wrap="none" tIns="0" bIns="0">
            <a:spAutoFit/>
          </a:bodyPr>
          <a:lstStyle/>
          <a:p>
            <a:pPr algn="ctr"/>
            <a:r>
              <a:rPr sz="700" i="1">
                <a:solidFill>
                  <a:srgbClr val="808080"/>
                </a:solidFill>
              </a:rPr>
              <a:t>Placeholder · Foti et al. 2014, Fig. 1.6</a:t>
            </a:r>
          </a:p>
        </p:txBody>
      </p:sp>
      <p:pic>
        <p:nvPicPr>
          <p:cNvPr id="8" name="Picture 7" descr="figuras_informe__fig_curvas.png"/>
          <p:cNvPicPr>
            <a:picLocks noChangeAspect="1"/>
          </p:cNvPicPr>
          <p:nvPr/>
        </p:nvPicPr>
        <p:blipFill>
          <a:blip r:embed="rId4"/>
          <a:stretch>
            <a:fillRect/>
          </a:stretch>
        </p:blipFill>
        <p:spPr>
          <a:xfrm>
            <a:off x="4469130" y="2743200"/>
            <a:ext cx="4046220" cy="1618488"/>
          </a:xfrm>
          <a:prstGeom prst="rect">
            <a:avLst/>
          </a:prstGeom>
        </p:spPr>
      </p:pic>
      <p:sp>
        <p:nvSpPr>
          <p:cNvPr id="9" name="TextBox 8"/>
          <p:cNvSpPr txBox="1"/>
          <p:nvPr/>
        </p:nvSpPr>
        <p:spPr>
          <a:xfrm>
            <a:off x="4206240" y="4361688"/>
            <a:ext cx="4572000" cy="164592"/>
          </a:xfrm>
          <a:prstGeom prst="rect">
            <a:avLst/>
          </a:prstGeom>
          <a:noFill/>
        </p:spPr>
        <p:txBody>
          <a:bodyPr wrap="none" tIns="0" bIns="0">
            <a:spAutoFit/>
          </a:bodyPr>
          <a:lstStyle/>
          <a:p>
            <a:pPr algn="ctr"/>
            <a:r>
              <a:rPr sz="700" i="1">
                <a:solidFill>
                  <a:srgbClr val="808080"/>
                </a:solidFill>
              </a:rPr>
              <a:t>Placeholder · Propio (MASW)</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1E2761"/>
          </a:solidFill>
          <a:ln/>
        </p:spPr>
      </p:sp>
      <p:sp>
        <p:nvSpPr>
          <p:cNvPr id="3" name="Text 1"/>
          <p:cNvSpPr/>
          <p:nvPr/>
        </p:nvSpPr>
        <p:spPr>
          <a:xfrm>
            <a:off x="457200" y="137160"/>
            <a:ext cx="8229600" cy="457200"/>
          </a:xfrm>
          <a:prstGeom prst="rect">
            <a:avLst/>
          </a:prstGeom>
          <a:noFill/>
          <a:ln/>
        </p:spPr>
        <p:txBody>
          <a:bodyPr wrap="square" rtlCol="0" anchor="ctr"/>
          <a:lstStyle/>
          <a:p>
            <a:pPr algn="l" indent="0" marL="0">
              <a:buNone/>
            </a:pPr>
            <a:r>
              <a:rPr lang="en-US" sz="2800" b="1" dirty="0">
                <a:solidFill>
                  <a:srgbClr val="FFFFFF"/>
                </a:solidFill>
                <a:latin typeface="Cambria" pitchFamily="34" charset="0"/>
                <a:ea typeface="Cambria" pitchFamily="34" charset="-122"/>
                <a:cs typeface="Cambria" pitchFamily="34" charset="-120"/>
              </a:rPr>
              <a:t>Curva de dispersión medida → modelo compatible mediante inversión</a:t>
            </a:r>
            <a:endParaRPr lang="en-US" sz="2800" dirty="0"/>
          </a:p>
        </p:txBody>
      </p:sp>
      <p:sp>
        <p:nvSpPr>
          <p:cNvPr id="4" name="Text 2"/>
          <p:cNvSpPr/>
          <p:nvPr/>
        </p:nvSpPr>
        <p:spPr>
          <a:xfrm>
            <a:off x="457200" y="914400"/>
            <a:ext cx="3566160" cy="3474720"/>
          </a:xfrm>
          <a:prstGeom prst="rect">
            <a:avLst/>
          </a:prstGeom>
          <a:noFill/>
          <a:ln/>
        </p:spPr>
        <p:txBody>
          <a:bodyPr wrap="square" rtlCol="0" anchor="t"/>
          <a:lstStyle/>
          <a:p>
            <a:pPr algn="l" indent="0" marL="0">
              <a:buNone/>
            </a:pPr>
            <a:r>
              <a:rPr lang="en-US" sz="1600" dirty="0">
                <a:solidFill>
                  <a:srgbClr val="36454F"/>
                </a:solidFill>
                <a:latin typeface="Calibri" pitchFamily="34" charset="0"/>
                <a:ea typeface="Calibri" pitchFamily="34" charset="-122"/>
                <a:cs typeface="Calibri" pitchFamily="34" charset="-120"/>
              </a:rPr>
              <a:t>Problema inverso: encontrar Vs(z) que reproduce cR(f). Algoritmos: Monte Carlo, búsqueda global, gradiente.</a:t>
            </a:r>
            <a:endParaRPr lang="en-US" sz="1800" dirty="0"/>
          </a:p>
        </p:txBody>
      </p:sp>
      <p:sp>
        <p:nvSpPr>
          <p:cNvPr id="5" name="Text 3"/>
          <p:cNvSpPr/>
          <p:nvPr/>
        </p:nvSpPr>
        <p:spPr>
          <a:xfrm>
            <a:off x="457200" y="4572000"/>
            <a:ext cx="8229600" cy="0"/>
          </a:xfrm>
          <a:prstGeom prst="rect">
            <a:avLst/>
          </a:prstGeom>
          <a:noFill/>
          <a:ln/>
        </p:spPr>
        <p:txBody>
          <a:bodyPr wrap="square" rtlCol="0" anchor="ctr"/>
          <a:lstStyle/>
          <a:p>
            <a:pPr algn="r" indent="0" marL="0">
              <a:buNone/>
            </a:pPr>
            <a:r>
              <a:rPr lang="en-US" sz="1000" dirty="0">
                <a:solidFill>
                  <a:srgbClr val="028090"/>
                </a:solidFill>
              </a:rPr>
              <a:t>Slide 21 | Dispersión</a:t>
            </a:r>
            <a:endParaRPr lang="en-US" sz="1000" dirty="0"/>
          </a:p>
        </p:txBody>
      </p:sp>
      <p:pic>
        <p:nvPicPr>
          <p:cNvPr id="6" name="Picture 5" descr="ch1 Example of inversion procecss.png"/>
          <p:cNvPicPr>
            <a:picLocks noChangeAspect="1"/>
          </p:cNvPicPr>
          <p:nvPr/>
        </p:nvPicPr>
        <p:blipFill>
          <a:blip r:embed="rId3"/>
          <a:stretch>
            <a:fillRect/>
          </a:stretch>
        </p:blipFill>
        <p:spPr>
          <a:xfrm>
            <a:off x="5995057" y="868680"/>
            <a:ext cx="994365" cy="1618488"/>
          </a:xfrm>
          <a:prstGeom prst="rect">
            <a:avLst/>
          </a:prstGeom>
        </p:spPr>
      </p:pic>
      <p:sp>
        <p:nvSpPr>
          <p:cNvPr id="7" name="TextBox 6"/>
          <p:cNvSpPr txBox="1"/>
          <p:nvPr/>
        </p:nvSpPr>
        <p:spPr>
          <a:xfrm>
            <a:off x="4206240" y="2487168"/>
            <a:ext cx="4572000" cy="164592"/>
          </a:xfrm>
          <a:prstGeom prst="rect">
            <a:avLst/>
          </a:prstGeom>
          <a:noFill/>
        </p:spPr>
        <p:txBody>
          <a:bodyPr wrap="none" tIns="0" bIns="0">
            <a:spAutoFit/>
          </a:bodyPr>
          <a:lstStyle/>
          <a:p>
            <a:pPr algn="ctr"/>
            <a:r>
              <a:rPr sz="700" i="1">
                <a:solidFill>
                  <a:srgbClr val="808080"/>
                </a:solidFill>
              </a:rPr>
              <a:t>Placeholder · Foti et al. 2014, Fig. 1.7</a:t>
            </a:r>
          </a:p>
        </p:txBody>
      </p:sp>
      <p:pic>
        <p:nvPicPr>
          <p:cNvPr id="8" name="Picture 7" descr="figuras_informe__fig_vs.png"/>
          <p:cNvPicPr>
            <a:picLocks noChangeAspect="1"/>
          </p:cNvPicPr>
          <p:nvPr/>
        </p:nvPicPr>
        <p:blipFill>
          <a:blip r:embed="rId4"/>
          <a:stretch>
            <a:fillRect/>
          </a:stretch>
        </p:blipFill>
        <p:spPr>
          <a:xfrm>
            <a:off x="4873752" y="2743200"/>
            <a:ext cx="3236976" cy="1618488"/>
          </a:xfrm>
          <a:prstGeom prst="rect">
            <a:avLst/>
          </a:prstGeom>
        </p:spPr>
      </p:pic>
      <p:sp>
        <p:nvSpPr>
          <p:cNvPr id="9" name="TextBox 8"/>
          <p:cNvSpPr txBox="1"/>
          <p:nvPr/>
        </p:nvSpPr>
        <p:spPr>
          <a:xfrm>
            <a:off x="4206240" y="4361688"/>
            <a:ext cx="4572000" cy="164592"/>
          </a:xfrm>
          <a:prstGeom prst="rect">
            <a:avLst/>
          </a:prstGeom>
          <a:noFill/>
        </p:spPr>
        <p:txBody>
          <a:bodyPr wrap="none" tIns="0" bIns="0">
            <a:spAutoFit/>
          </a:bodyPr>
          <a:lstStyle/>
          <a:p>
            <a:pPr algn="ctr"/>
            <a:r>
              <a:rPr sz="700" i="1">
                <a:solidFill>
                  <a:srgbClr val="808080"/>
                </a:solidFill>
              </a:rPr>
              <a:t>Placeholder · Propio (inversión)</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1E2761"/>
          </a:solidFill>
          <a:ln/>
        </p:spPr>
      </p:sp>
      <p:sp>
        <p:nvSpPr>
          <p:cNvPr id="3" name="Text 1"/>
          <p:cNvSpPr/>
          <p:nvPr/>
        </p:nvSpPr>
        <p:spPr>
          <a:xfrm>
            <a:off x="457200" y="137160"/>
            <a:ext cx="8229600" cy="457200"/>
          </a:xfrm>
          <a:prstGeom prst="rect">
            <a:avLst/>
          </a:prstGeom>
          <a:noFill/>
          <a:ln/>
        </p:spPr>
        <p:txBody>
          <a:bodyPr wrap="square" rtlCol="0" anchor="ctr"/>
          <a:lstStyle/>
          <a:p>
            <a:pPr algn="l" indent="0" marL="0">
              <a:buNone/>
            </a:pPr>
            <a:r>
              <a:rPr lang="en-US" sz="2800" b="1" dirty="0">
                <a:solidFill>
                  <a:srgbClr val="FFFFFF"/>
                </a:solidFill>
                <a:latin typeface="Cambria" pitchFamily="34" charset="0"/>
                <a:ea typeface="Cambria" pitchFamily="34" charset="-122"/>
                <a:cs typeface="Cambria" pitchFamily="34" charset="-120"/>
              </a:rPr>
              <a:t>SASW (Spectral Analysis of Surface Waves): 2 receptores, diferencia de fase</a:t>
            </a:r>
            <a:endParaRPr lang="en-US" sz="2800" dirty="0"/>
          </a:p>
        </p:txBody>
      </p:sp>
      <p:sp>
        <p:nvSpPr>
          <p:cNvPr id="4" name="Text 2"/>
          <p:cNvSpPr/>
          <p:nvPr/>
        </p:nvSpPr>
        <p:spPr>
          <a:xfrm>
            <a:off x="457200" y="914400"/>
            <a:ext cx="3566160" cy="3474720"/>
          </a:xfrm>
          <a:prstGeom prst="rect">
            <a:avLst/>
          </a:prstGeom>
          <a:noFill/>
          <a:ln/>
        </p:spPr>
        <p:txBody>
          <a:bodyPr wrap="square" rtlCol="0" anchor="t"/>
          <a:lstStyle/>
          <a:p>
            <a:pPr algn="l" indent="0" marL="0">
              <a:buNone/>
            </a:pPr>
            <a:r>
              <a:rPr lang="en-US" sz="1600" dirty="0">
                <a:solidFill>
                  <a:srgbClr val="36454F"/>
                </a:solidFill>
                <a:latin typeface="Calibri" pitchFamily="34" charset="0"/>
                <a:ea typeface="Calibri" pitchFamily="34" charset="-122"/>
                <a:cs typeface="Calibri" pitchFamily="34" charset="-120"/>
              </a:rPr>
              <a:t>Medir tiempo de viaje entre dos geófonos → velocidad por banda. Ambigüedad de ciclos.</a:t>
            </a:r>
            <a:endParaRPr lang="en-US" sz="1800" dirty="0"/>
          </a:p>
        </p:txBody>
      </p:sp>
      <p:sp>
        <p:nvSpPr>
          <p:cNvPr id="5" name="Text 3"/>
          <p:cNvSpPr/>
          <p:nvPr/>
        </p:nvSpPr>
        <p:spPr>
          <a:xfrm>
            <a:off x="457200" y="4572000"/>
            <a:ext cx="8229600" cy="0"/>
          </a:xfrm>
          <a:prstGeom prst="rect">
            <a:avLst/>
          </a:prstGeom>
          <a:noFill/>
          <a:ln/>
        </p:spPr>
        <p:txBody>
          <a:bodyPr wrap="square" rtlCol="0" anchor="ctr"/>
          <a:lstStyle/>
          <a:p>
            <a:pPr algn="r" indent="0" marL="0">
              <a:buNone/>
            </a:pPr>
            <a:r>
              <a:rPr lang="en-US" sz="1000" dirty="0">
                <a:solidFill>
                  <a:srgbClr val="028090"/>
                </a:solidFill>
              </a:rPr>
              <a:t>Slide 22 | MASW</a:t>
            </a:r>
            <a:endParaRPr lang="en-US" sz="1000" dirty="0"/>
          </a:p>
        </p:txBody>
      </p:sp>
      <p:pic>
        <p:nvPicPr>
          <p:cNvPr id="6" name="Picture 5" descr="Pasted image 20260414154041.png"/>
          <p:cNvPicPr>
            <a:picLocks noChangeAspect="1"/>
          </p:cNvPicPr>
          <p:nvPr/>
        </p:nvPicPr>
        <p:blipFill>
          <a:blip r:embed="rId3"/>
          <a:stretch>
            <a:fillRect/>
          </a:stretch>
        </p:blipFill>
        <p:spPr>
          <a:xfrm>
            <a:off x="5138397" y="868680"/>
            <a:ext cx="2707686" cy="1618488"/>
          </a:xfrm>
          <a:prstGeom prst="rect">
            <a:avLst/>
          </a:prstGeom>
        </p:spPr>
      </p:pic>
      <p:sp>
        <p:nvSpPr>
          <p:cNvPr id="7" name="TextBox 6"/>
          <p:cNvSpPr txBox="1"/>
          <p:nvPr/>
        </p:nvSpPr>
        <p:spPr>
          <a:xfrm>
            <a:off x="4206240" y="2487168"/>
            <a:ext cx="4572000" cy="164592"/>
          </a:xfrm>
          <a:prstGeom prst="rect">
            <a:avLst/>
          </a:prstGeom>
          <a:noFill/>
        </p:spPr>
        <p:txBody>
          <a:bodyPr wrap="none" tIns="0" bIns="0">
            <a:spAutoFit/>
          </a:bodyPr>
          <a:lstStyle/>
          <a:p>
            <a:pPr algn="ctr"/>
            <a:r>
              <a:rPr sz="700" i="1">
                <a:solidFill>
                  <a:srgbClr val="808080"/>
                </a:solidFill>
              </a:rPr>
              <a:t>Placeholder · Foti et al. 2014, Fig. 3.43</a:t>
            </a:r>
          </a:p>
        </p:txBody>
      </p:sp>
      <p:pic>
        <p:nvPicPr>
          <p:cNvPr id="8" name="Picture 7" descr="Pasted image 20260415161954.png"/>
          <p:cNvPicPr>
            <a:picLocks noChangeAspect="1"/>
          </p:cNvPicPr>
          <p:nvPr/>
        </p:nvPicPr>
        <p:blipFill>
          <a:blip r:embed="rId4"/>
          <a:stretch>
            <a:fillRect/>
          </a:stretch>
        </p:blipFill>
        <p:spPr>
          <a:xfrm>
            <a:off x="5338793" y="2743200"/>
            <a:ext cx="2306894" cy="1618488"/>
          </a:xfrm>
          <a:prstGeom prst="rect">
            <a:avLst/>
          </a:prstGeom>
        </p:spPr>
      </p:pic>
      <p:sp>
        <p:nvSpPr>
          <p:cNvPr id="9" name="TextBox 8"/>
          <p:cNvSpPr txBox="1"/>
          <p:nvPr/>
        </p:nvSpPr>
        <p:spPr>
          <a:xfrm>
            <a:off x="4206240" y="4361688"/>
            <a:ext cx="4572000" cy="164592"/>
          </a:xfrm>
          <a:prstGeom prst="rect">
            <a:avLst/>
          </a:prstGeom>
          <a:noFill/>
        </p:spPr>
        <p:txBody>
          <a:bodyPr wrap="none" tIns="0" bIns="0">
            <a:spAutoFit/>
          </a:bodyPr>
          <a:lstStyle/>
          <a:p>
            <a:pPr algn="ctr"/>
            <a:r>
              <a:rPr sz="700" i="1">
                <a:solidFill>
                  <a:srgbClr val="808080"/>
                </a:solidFill>
              </a:rPr>
              <a:t>Placeholder · Foti et al. 2014, Fig. 4.5</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1E2761"/>
          </a:solidFill>
          <a:ln/>
        </p:spPr>
      </p:sp>
      <p:sp>
        <p:nvSpPr>
          <p:cNvPr id="3" name="Text 1"/>
          <p:cNvSpPr/>
          <p:nvPr/>
        </p:nvSpPr>
        <p:spPr>
          <a:xfrm>
            <a:off x="457200" y="137160"/>
            <a:ext cx="8229600" cy="457200"/>
          </a:xfrm>
          <a:prstGeom prst="rect">
            <a:avLst/>
          </a:prstGeom>
          <a:noFill/>
          <a:ln/>
        </p:spPr>
        <p:txBody>
          <a:bodyPr wrap="square" rtlCol="0" anchor="ctr"/>
          <a:lstStyle/>
          <a:p>
            <a:pPr algn="l" indent="0" marL="0">
              <a:buNone/>
            </a:pPr>
            <a:r>
              <a:rPr lang="en-US" sz="2800" b="1" dirty="0">
                <a:solidFill>
                  <a:srgbClr val="FFFFFF"/>
                </a:solidFill>
                <a:latin typeface="Cambria" pitchFamily="34" charset="0"/>
                <a:ea typeface="Cambria" pitchFamily="34" charset="-122"/>
                <a:cs typeface="Cambria" pitchFamily="34" charset="-120"/>
              </a:rPr>
              <a:t>MASW (MultiChannel Analysis of Surface Waves): múltiples receptores, patrones coherentes</a:t>
            </a:r>
            <a:endParaRPr lang="en-US" sz="2800" dirty="0"/>
          </a:p>
        </p:txBody>
      </p:sp>
      <p:sp>
        <p:nvSpPr>
          <p:cNvPr id="4" name="Text 2"/>
          <p:cNvSpPr/>
          <p:nvPr/>
        </p:nvSpPr>
        <p:spPr>
          <a:xfrm>
            <a:off x="457200" y="914400"/>
            <a:ext cx="3566160" cy="3474720"/>
          </a:xfrm>
          <a:prstGeom prst="rect">
            <a:avLst/>
          </a:prstGeom>
          <a:noFill/>
          <a:ln/>
        </p:spPr>
        <p:txBody>
          <a:bodyPr wrap="square" rtlCol="0" anchor="t"/>
          <a:lstStyle/>
          <a:p>
            <a:pPr algn="l" indent="0" marL="0">
              <a:buNone/>
            </a:pPr>
            <a:r>
              <a:rPr lang="en-US" sz="1600" dirty="0">
                <a:solidFill>
                  <a:srgbClr val="36454F"/>
                </a:solidFill>
                <a:latin typeface="Calibri" pitchFamily="34" charset="0"/>
                <a:ea typeface="Calibri" pitchFamily="34" charset="-122"/>
                <a:cs typeface="Calibri" pitchFamily="34" charset="-120"/>
              </a:rPr>
              <a:t>Matriz espacio-tiempo U(x,t) → imaging dispersión (f-k), separación modal, redundancia.</a:t>
            </a:r>
            <a:endParaRPr lang="en-US" sz="1800" dirty="0"/>
          </a:p>
        </p:txBody>
      </p:sp>
      <p:sp>
        <p:nvSpPr>
          <p:cNvPr id="5" name="Text 3"/>
          <p:cNvSpPr/>
          <p:nvPr/>
        </p:nvSpPr>
        <p:spPr>
          <a:xfrm>
            <a:off x="457200" y="4572000"/>
            <a:ext cx="8229600" cy="0"/>
          </a:xfrm>
          <a:prstGeom prst="rect">
            <a:avLst/>
          </a:prstGeom>
          <a:noFill/>
          <a:ln/>
        </p:spPr>
        <p:txBody>
          <a:bodyPr wrap="square" rtlCol="0" anchor="ctr"/>
          <a:lstStyle/>
          <a:p>
            <a:pPr algn="r" indent="0" marL="0">
              <a:buNone/>
            </a:pPr>
            <a:r>
              <a:rPr lang="en-US" sz="1000" dirty="0">
                <a:solidFill>
                  <a:srgbClr val="028090"/>
                </a:solidFill>
              </a:rPr>
              <a:t>Slide 23 | MASW</a:t>
            </a:r>
            <a:endParaRPr lang="en-US" sz="1000" dirty="0"/>
          </a:p>
        </p:txBody>
      </p:sp>
      <p:pic>
        <p:nvPicPr>
          <p:cNvPr id="6" name="Picture 5" descr="Pasted image 20260414154541.png"/>
          <p:cNvPicPr>
            <a:picLocks noChangeAspect="1"/>
          </p:cNvPicPr>
          <p:nvPr/>
        </p:nvPicPr>
        <p:blipFill>
          <a:blip r:embed="rId3"/>
          <a:stretch>
            <a:fillRect/>
          </a:stretch>
        </p:blipFill>
        <p:spPr>
          <a:xfrm>
            <a:off x="4715184" y="868680"/>
            <a:ext cx="3554112" cy="1618488"/>
          </a:xfrm>
          <a:prstGeom prst="rect">
            <a:avLst/>
          </a:prstGeom>
        </p:spPr>
      </p:pic>
      <p:sp>
        <p:nvSpPr>
          <p:cNvPr id="7" name="TextBox 6"/>
          <p:cNvSpPr txBox="1"/>
          <p:nvPr/>
        </p:nvSpPr>
        <p:spPr>
          <a:xfrm>
            <a:off x="4206240" y="2487168"/>
            <a:ext cx="4572000" cy="164592"/>
          </a:xfrm>
          <a:prstGeom prst="rect">
            <a:avLst/>
          </a:prstGeom>
          <a:noFill/>
        </p:spPr>
        <p:txBody>
          <a:bodyPr wrap="none" tIns="0" bIns="0">
            <a:spAutoFit/>
          </a:bodyPr>
          <a:lstStyle/>
          <a:p>
            <a:pPr algn="ctr"/>
            <a:r>
              <a:rPr sz="700" i="1">
                <a:solidFill>
                  <a:srgbClr val="808080"/>
                </a:solidFill>
              </a:rPr>
              <a:t>Placeholder · Foti et al. 2014, Fig. 3.45</a:t>
            </a:r>
          </a:p>
        </p:txBody>
      </p:sp>
      <p:pic>
        <p:nvPicPr>
          <p:cNvPr id="8" name="Picture 7" descr="Pasted image 20260408105916.png"/>
          <p:cNvPicPr>
            <a:picLocks noChangeAspect="1"/>
          </p:cNvPicPr>
          <p:nvPr/>
        </p:nvPicPr>
        <p:blipFill>
          <a:blip r:embed="rId4"/>
          <a:stretch>
            <a:fillRect/>
          </a:stretch>
        </p:blipFill>
        <p:spPr>
          <a:xfrm>
            <a:off x="5602750" y="2743200"/>
            <a:ext cx="1778980" cy="1618488"/>
          </a:xfrm>
          <a:prstGeom prst="rect">
            <a:avLst/>
          </a:prstGeom>
        </p:spPr>
      </p:pic>
      <p:sp>
        <p:nvSpPr>
          <p:cNvPr id="9" name="TextBox 8"/>
          <p:cNvSpPr txBox="1"/>
          <p:nvPr/>
        </p:nvSpPr>
        <p:spPr>
          <a:xfrm>
            <a:off x="4206240" y="4361688"/>
            <a:ext cx="4572000" cy="164592"/>
          </a:xfrm>
          <a:prstGeom prst="rect">
            <a:avLst/>
          </a:prstGeom>
          <a:noFill/>
        </p:spPr>
        <p:txBody>
          <a:bodyPr wrap="none" tIns="0" bIns="0">
            <a:spAutoFit/>
          </a:bodyPr>
          <a:lstStyle/>
          <a:p>
            <a:pPr algn="ctr"/>
            <a:r>
              <a:rPr sz="700" i="1">
                <a:solidFill>
                  <a:srgbClr val="808080"/>
                </a:solidFill>
              </a:rPr>
              <a:t>Placeholder · Foti et al. 2014, Fig. 3.5</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1E2761"/>
          </a:solidFill>
          <a:ln/>
        </p:spPr>
      </p:sp>
      <p:sp>
        <p:nvSpPr>
          <p:cNvPr id="3" name="Text 1"/>
          <p:cNvSpPr/>
          <p:nvPr/>
        </p:nvSpPr>
        <p:spPr>
          <a:xfrm>
            <a:off x="457200" y="137160"/>
            <a:ext cx="8229600" cy="457200"/>
          </a:xfrm>
          <a:prstGeom prst="rect">
            <a:avLst/>
          </a:prstGeom>
          <a:noFill/>
          <a:ln/>
        </p:spPr>
        <p:txBody>
          <a:bodyPr wrap="square" rtlCol="0" anchor="ctr"/>
          <a:lstStyle/>
          <a:p>
            <a:pPr algn="l" indent="0" marL="0">
              <a:buNone/>
            </a:pPr>
            <a:r>
              <a:rPr lang="en-US" sz="2800" b="1" dirty="0">
                <a:solidFill>
                  <a:srgbClr val="FFFFFF"/>
                </a:solidFill>
                <a:latin typeface="Cambria" pitchFamily="34" charset="0"/>
                <a:ea typeface="Cambria" pitchFamily="34" charset="-122"/>
                <a:cs typeface="Cambria" pitchFamily="34" charset="-120"/>
              </a:rPr>
              <a:t>MASW sintetizado (Lin &amp; Ashlock 2016): desplazamiento recíproco fuente-receptor</a:t>
            </a:r>
            <a:endParaRPr lang="en-US" sz="2800" dirty="0"/>
          </a:p>
        </p:txBody>
      </p:sp>
      <p:sp>
        <p:nvSpPr>
          <p:cNvPr id="4" name="Text 2"/>
          <p:cNvSpPr/>
          <p:nvPr/>
        </p:nvSpPr>
        <p:spPr>
          <a:xfrm>
            <a:off x="457200" y="914400"/>
            <a:ext cx="3566160" cy="3474720"/>
          </a:xfrm>
          <a:prstGeom prst="rect">
            <a:avLst/>
          </a:prstGeom>
          <a:noFill/>
          <a:ln/>
        </p:spPr>
        <p:txBody>
          <a:bodyPr wrap="square" rtlCol="0" anchor="t"/>
          <a:lstStyle/>
          <a:p>
            <a:pPr algn="l" indent="0" marL="0">
              <a:buNone/>
            </a:pPr>
            <a:r>
              <a:rPr lang="en-US" sz="1600" dirty="0">
                <a:solidFill>
                  <a:srgbClr val="36454F"/>
                </a:solidFill>
                <a:latin typeface="Calibri" pitchFamily="34" charset="0"/>
                <a:ea typeface="Calibri" pitchFamily="34" charset="-122"/>
                <a:cs typeface="Calibri" pitchFamily="34" charset="-120"/>
              </a:rPr>
              <a:t>Un geófono móvil, fuente fija y desplazada alternativamente → equivalente a arreglo simultáneo.</a:t>
            </a:r>
            <a:endParaRPr lang="en-US" sz="1800" dirty="0"/>
          </a:p>
        </p:txBody>
      </p:sp>
      <p:sp>
        <p:nvSpPr>
          <p:cNvPr id="5" name="Text 3"/>
          <p:cNvSpPr/>
          <p:nvPr/>
        </p:nvSpPr>
        <p:spPr>
          <a:xfrm>
            <a:off x="457200" y="4572000"/>
            <a:ext cx="8229600" cy="0"/>
          </a:xfrm>
          <a:prstGeom prst="rect">
            <a:avLst/>
          </a:prstGeom>
          <a:noFill/>
          <a:ln/>
        </p:spPr>
        <p:txBody>
          <a:bodyPr wrap="square" rtlCol="0" anchor="ctr"/>
          <a:lstStyle/>
          <a:p>
            <a:pPr algn="r" indent="0" marL="0">
              <a:buNone/>
            </a:pPr>
            <a:r>
              <a:rPr lang="en-US" sz="1000" dirty="0">
                <a:solidFill>
                  <a:srgbClr val="028090"/>
                </a:solidFill>
              </a:rPr>
              <a:t>Slide 24 | MASW</a:t>
            </a:r>
            <a:endParaRPr lang="en-US" sz="1000" dirty="0"/>
          </a:p>
        </p:txBody>
      </p:sp>
      <p:pic>
        <p:nvPicPr>
          <p:cNvPr id="6" name="Picture 5" descr="lin2016_fig1_recorte.png"/>
          <p:cNvPicPr>
            <a:picLocks noChangeAspect="1"/>
          </p:cNvPicPr>
          <p:nvPr/>
        </p:nvPicPr>
        <p:blipFill>
          <a:blip r:embed="rId3"/>
          <a:stretch>
            <a:fillRect/>
          </a:stretch>
        </p:blipFill>
        <p:spPr>
          <a:xfrm>
            <a:off x="4206240" y="1051118"/>
            <a:ext cx="4572000" cy="1253612"/>
          </a:xfrm>
          <a:prstGeom prst="rect">
            <a:avLst/>
          </a:prstGeom>
        </p:spPr>
      </p:pic>
      <p:sp>
        <p:nvSpPr>
          <p:cNvPr id="7" name="TextBox 6"/>
          <p:cNvSpPr txBox="1"/>
          <p:nvPr/>
        </p:nvSpPr>
        <p:spPr>
          <a:xfrm>
            <a:off x="4206240" y="2487168"/>
            <a:ext cx="4572000" cy="164592"/>
          </a:xfrm>
          <a:prstGeom prst="rect">
            <a:avLst/>
          </a:prstGeom>
          <a:noFill/>
        </p:spPr>
        <p:txBody>
          <a:bodyPr wrap="none" tIns="0" bIns="0">
            <a:spAutoFit/>
          </a:bodyPr>
          <a:lstStyle/>
          <a:p>
            <a:pPr algn="ctr"/>
            <a:r>
              <a:rPr sz="700" i="1">
                <a:solidFill>
                  <a:srgbClr val="808080"/>
                </a:solidFill>
              </a:rPr>
              <a:t>Placeholder · Lin &amp; Ashlock 2016, Fig. 1</a:t>
            </a:r>
          </a:p>
        </p:txBody>
      </p:sp>
      <p:pic>
        <p:nvPicPr>
          <p:cNvPr id="8" name="Picture 7" descr="figuras__fig1_qc_alineacion_stack.png"/>
          <p:cNvPicPr>
            <a:picLocks noChangeAspect="1"/>
          </p:cNvPicPr>
          <p:nvPr/>
        </p:nvPicPr>
        <p:blipFill>
          <a:blip r:embed="rId4"/>
          <a:stretch>
            <a:fillRect/>
          </a:stretch>
        </p:blipFill>
        <p:spPr>
          <a:xfrm>
            <a:off x="4206240" y="2895219"/>
            <a:ext cx="4572000" cy="1314449"/>
          </a:xfrm>
          <a:prstGeom prst="rect">
            <a:avLst/>
          </a:prstGeom>
        </p:spPr>
      </p:pic>
      <p:sp>
        <p:nvSpPr>
          <p:cNvPr id="9" name="TextBox 8"/>
          <p:cNvSpPr txBox="1"/>
          <p:nvPr/>
        </p:nvSpPr>
        <p:spPr>
          <a:xfrm>
            <a:off x="4206240" y="4361688"/>
            <a:ext cx="4572000" cy="164592"/>
          </a:xfrm>
          <a:prstGeom prst="rect">
            <a:avLst/>
          </a:prstGeom>
          <a:noFill/>
        </p:spPr>
        <p:txBody>
          <a:bodyPr wrap="none" tIns="0" bIns="0">
            <a:spAutoFit/>
          </a:bodyPr>
          <a:lstStyle/>
          <a:p>
            <a:pPr algn="ctr"/>
            <a:r>
              <a:rPr sz="700" i="1">
                <a:solidFill>
                  <a:srgbClr val="808080"/>
                </a:solidFill>
              </a:rPr>
              <a:t>Placeholder · Propio (alineación y stack)</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1E2761"/>
          </a:solidFill>
          <a:ln/>
        </p:spPr>
      </p:sp>
      <p:sp>
        <p:nvSpPr>
          <p:cNvPr id="3" name="Text 1"/>
          <p:cNvSpPr/>
          <p:nvPr/>
        </p:nvSpPr>
        <p:spPr>
          <a:xfrm>
            <a:off x="457200" y="137160"/>
            <a:ext cx="8229600" cy="457200"/>
          </a:xfrm>
          <a:prstGeom prst="rect">
            <a:avLst/>
          </a:prstGeom>
          <a:noFill/>
          <a:ln/>
        </p:spPr>
        <p:txBody>
          <a:bodyPr wrap="square" rtlCol="0" anchor="ctr"/>
          <a:lstStyle/>
          <a:p>
            <a:pPr algn="l" indent="0" marL="0">
              <a:buNone/>
            </a:pPr>
            <a:r>
              <a:rPr lang="en-US" sz="2800" b="1" dirty="0">
                <a:solidFill>
                  <a:srgbClr val="FFFFFF"/>
                </a:solidFill>
                <a:latin typeface="Cambria" pitchFamily="34" charset="0"/>
                <a:ea typeface="Cambria" pitchFamily="34" charset="-122"/>
                <a:cs typeface="Cambria" pitchFamily="34" charset="-120"/>
              </a:rPr>
              <a:t>Objetivo: matriz U(x,t) = uz(xm, tn), registro espacio-tiempo con fase preservada</a:t>
            </a:r>
            <a:endParaRPr lang="en-US" sz="2800" dirty="0"/>
          </a:p>
        </p:txBody>
      </p:sp>
      <p:sp>
        <p:nvSpPr>
          <p:cNvPr id="4" name="Text 2"/>
          <p:cNvSpPr/>
          <p:nvPr/>
        </p:nvSpPr>
        <p:spPr>
          <a:xfrm>
            <a:off x="457200" y="914400"/>
            <a:ext cx="3566160" cy="3474720"/>
          </a:xfrm>
          <a:prstGeom prst="rect">
            <a:avLst/>
          </a:prstGeom>
          <a:noFill/>
          <a:ln/>
        </p:spPr>
        <p:txBody>
          <a:bodyPr wrap="square" rtlCol="0" anchor="t"/>
          <a:lstStyle/>
          <a:p>
            <a:pPr algn="l" indent="0" marL="0">
              <a:buNone/>
            </a:pPr>
            <a:r>
              <a:rPr lang="en-US" sz="1600" dirty="0">
                <a:solidFill>
                  <a:srgbClr val="36454F"/>
                </a:solidFill>
                <a:latin typeface="Calibri" pitchFamily="34" charset="0"/>
                <a:ea typeface="Calibri" pitchFamily="34" charset="-122"/>
                <a:cs typeface="Calibri" pitchFamily="34" charset="-120"/>
              </a:rPr>
              <a:t>21 posiciones, 10-50 m, Δx=2m, alineadas con HAMMER. Flujo de procesamiento → dispersión → inversión.</a:t>
            </a:r>
            <a:endParaRPr lang="en-US" sz="1800" dirty="0"/>
          </a:p>
        </p:txBody>
      </p:sp>
      <p:sp>
        <p:nvSpPr>
          <p:cNvPr id="5" name="Text 3"/>
          <p:cNvSpPr/>
          <p:nvPr/>
        </p:nvSpPr>
        <p:spPr>
          <a:xfrm>
            <a:off x="457200" y="4572000"/>
            <a:ext cx="8229600" cy="0"/>
          </a:xfrm>
          <a:prstGeom prst="rect">
            <a:avLst/>
          </a:prstGeom>
          <a:noFill/>
          <a:ln/>
        </p:spPr>
        <p:txBody>
          <a:bodyPr wrap="square" rtlCol="0" anchor="ctr"/>
          <a:lstStyle/>
          <a:p>
            <a:pPr algn="r" indent="0" marL="0">
              <a:buNone/>
            </a:pPr>
            <a:r>
              <a:rPr lang="en-US" sz="1000" dirty="0">
                <a:solidFill>
                  <a:srgbClr val="028090"/>
                </a:solidFill>
              </a:rPr>
              <a:t>Slide 25 | MASW</a:t>
            </a:r>
            <a:endParaRPr lang="en-US" sz="1000" dirty="0"/>
          </a:p>
        </p:txBody>
      </p:sp>
      <p:pic>
        <p:nvPicPr>
          <p:cNvPr id="6" name="Picture 5" descr="figuras_informe__fig_gather.png"/>
          <p:cNvPicPr>
            <a:picLocks noChangeAspect="1"/>
          </p:cNvPicPr>
          <p:nvPr/>
        </p:nvPicPr>
        <p:blipFill>
          <a:blip r:embed="rId3"/>
          <a:stretch>
            <a:fillRect/>
          </a:stretch>
        </p:blipFill>
        <p:spPr>
          <a:xfrm>
            <a:off x="4604004" y="868680"/>
            <a:ext cx="3776472" cy="1618488"/>
          </a:xfrm>
          <a:prstGeom prst="rect">
            <a:avLst/>
          </a:prstGeom>
        </p:spPr>
      </p:pic>
      <p:sp>
        <p:nvSpPr>
          <p:cNvPr id="7" name="TextBox 6"/>
          <p:cNvSpPr txBox="1"/>
          <p:nvPr/>
        </p:nvSpPr>
        <p:spPr>
          <a:xfrm>
            <a:off x="4206240" y="2487168"/>
            <a:ext cx="4572000" cy="164592"/>
          </a:xfrm>
          <a:prstGeom prst="rect">
            <a:avLst/>
          </a:prstGeom>
          <a:noFill/>
        </p:spPr>
        <p:txBody>
          <a:bodyPr wrap="none" tIns="0" bIns="0">
            <a:spAutoFit/>
          </a:bodyPr>
          <a:lstStyle/>
          <a:p>
            <a:pPr algn="ctr"/>
            <a:r>
              <a:rPr sz="700" i="1">
                <a:solidFill>
                  <a:srgbClr val="808080"/>
                </a:solidFill>
              </a:rPr>
              <a:t>Placeholder · Propio (gather)</a:t>
            </a:r>
          </a:p>
        </p:txBody>
      </p:sp>
      <p:pic>
        <p:nvPicPr>
          <p:cNvPr id="8" name="Picture 7" descr="figuras_informe__fig_imagenes.png"/>
          <p:cNvPicPr>
            <a:picLocks noChangeAspect="1"/>
          </p:cNvPicPr>
          <p:nvPr/>
        </p:nvPicPr>
        <p:blipFill>
          <a:blip r:embed="rId4"/>
          <a:stretch>
            <a:fillRect/>
          </a:stretch>
        </p:blipFill>
        <p:spPr>
          <a:xfrm>
            <a:off x="5143500" y="2743200"/>
            <a:ext cx="2697480" cy="1618488"/>
          </a:xfrm>
          <a:prstGeom prst="rect">
            <a:avLst/>
          </a:prstGeom>
        </p:spPr>
      </p:pic>
      <p:sp>
        <p:nvSpPr>
          <p:cNvPr id="9" name="TextBox 8"/>
          <p:cNvSpPr txBox="1"/>
          <p:nvPr/>
        </p:nvSpPr>
        <p:spPr>
          <a:xfrm>
            <a:off x="4206240" y="4361688"/>
            <a:ext cx="4572000" cy="164592"/>
          </a:xfrm>
          <a:prstGeom prst="rect">
            <a:avLst/>
          </a:prstGeom>
          <a:noFill/>
        </p:spPr>
        <p:txBody>
          <a:bodyPr wrap="none" tIns="0" bIns="0">
            <a:spAutoFit/>
          </a:bodyPr>
          <a:lstStyle/>
          <a:p>
            <a:pPr algn="ctr"/>
            <a:r>
              <a:rPr sz="700" i="1">
                <a:solidFill>
                  <a:srgbClr val="808080"/>
                </a:solidFill>
              </a:rPr>
              <a:t>Placeholder · Propio (imaging)</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1E2761"/>
          </a:solidFill>
          <a:ln/>
        </p:spPr>
      </p:sp>
      <p:sp>
        <p:nvSpPr>
          <p:cNvPr id="3" name="Text 1"/>
          <p:cNvSpPr/>
          <p:nvPr/>
        </p:nvSpPr>
        <p:spPr>
          <a:xfrm>
            <a:off x="457200" y="137160"/>
            <a:ext cx="8229600" cy="457200"/>
          </a:xfrm>
          <a:prstGeom prst="rect">
            <a:avLst/>
          </a:prstGeom>
          <a:noFill/>
          <a:ln/>
        </p:spPr>
        <p:txBody>
          <a:bodyPr wrap="square" rtlCol="0" anchor="ctr"/>
          <a:lstStyle/>
          <a:p>
            <a:pPr algn="l" indent="0" marL="0">
              <a:buNone/>
            </a:pPr>
            <a:r>
              <a:rPr lang="en-US" sz="2800" b="1" dirty="0">
                <a:solidFill>
                  <a:srgbClr val="FFFFFF"/>
                </a:solidFill>
                <a:latin typeface="Cambria" pitchFamily="34" charset="0"/>
                <a:ea typeface="Cambria" pitchFamily="34" charset="-122"/>
                <a:cs typeface="Cambria" pitchFamily="34" charset="-120"/>
              </a:rPr>
              <a:t>Requisitos electrónicos impuestos por MASW</a:t>
            </a:r>
            <a:endParaRPr lang="en-US" sz="2800" dirty="0"/>
          </a:p>
        </p:txBody>
      </p:sp>
      <p:sp>
        <p:nvSpPr>
          <p:cNvPr id="4" name="Text 2"/>
          <p:cNvSpPr/>
          <p:nvPr/>
        </p:nvSpPr>
        <p:spPr>
          <a:xfrm>
            <a:off x="457200" y="914400"/>
            <a:ext cx="3566160" cy="3474720"/>
          </a:xfrm>
          <a:prstGeom prst="rect">
            <a:avLst/>
          </a:prstGeom>
          <a:noFill/>
          <a:ln/>
        </p:spPr>
        <p:txBody>
          <a:bodyPr wrap="square" rtlCol="0" anchor="t"/>
          <a:lstStyle/>
          <a:p>
            <a:pPr algn="l" indent="0" marL="0">
              <a:buNone/>
            </a:pPr>
            <a:r>
              <a:rPr lang="en-US" sz="1600" dirty="0">
                <a:solidFill>
                  <a:srgbClr val="36454F"/>
                </a:solidFill>
                <a:latin typeface="Calibri" pitchFamily="34" charset="0"/>
                <a:ea typeface="Calibri" pitchFamily="34" charset="-122"/>
                <a:cs typeface="Calibri" pitchFamily="34" charset="-120"/>
              </a:rPr>
              <a:t>Banda útil, fase, rango dinámico, antialias, fs, geometría, referencia temporal, excitación, almacenamiento, operación de campo.</a:t>
            </a:r>
            <a:endParaRPr lang="en-US" sz="1800" dirty="0"/>
          </a:p>
        </p:txBody>
      </p:sp>
      <p:sp>
        <p:nvSpPr>
          <p:cNvPr id="5" name="Text 3"/>
          <p:cNvSpPr/>
          <p:nvPr/>
        </p:nvSpPr>
        <p:spPr>
          <a:xfrm>
            <a:off x="457200" y="4572000"/>
            <a:ext cx="8229600" cy="0"/>
          </a:xfrm>
          <a:prstGeom prst="rect">
            <a:avLst/>
          </a:prstGeom>
          <a:noFill/>
          <a:ln/>
        </p:spPr>
        <p:txBody>
          <a:bodyPr wrap="square" rtlCol="0" anchor="ctr"/>
          <a:lstStyle/>
          <a:p>
            <a:pPr algn="r" indent="0" marL="0">
              <a:buNone/>
            </a:pPr>
            <a:r>
              <a:rPr lang="en-US" sz="1000" dirty="0">
                <a:solidFill>
                  <a:srgbClr val="028090"/>
                </a:solidFill>
              </a:rPr>
              <a:t>Slide 26 | Requisitos</a:t>
            </a:r>
            <a:endParaRPr lang="en-US" sz="1000" dirty="0"/>
          </a:p>
        </p:txBody>
      </p:sp>
      <p:pic>
        <p:nvPicPr>
          <p:cNvPr id="6" name="Picture 5" descr="geometria_campanas.png"/>
          <p:cNvPicPr>
            <a:picLocks noChangeAspect="1"/>
          </p:cNvPicPr>
          <p:nvPr/>
        </p:nvPicPr>
        <p:blipFill>
          <a:blip r:embed="rId3"/>
          <a:stretch>
            <a:fillRect/>
          </a:stretch>
        </p:blipFill>
        <p:spPr>
          <a:xfrm>
            <a:off x="4316418" y="868680"/>
            <a:ext cx="4351644" cy="1618488"/>
          </a:xfrm>
          <a:prstGeom prst="rect">
            <a:avLst/>
          </a:prstGeom>
        </p:spPr>
      </p:pic>
      <p:sp>
        <p:nvSpPr>
          <p:cNvPr id="7" name="TextBox 6"/>
          <p:cNvSpPr txBox="1"/>
          <p:nvPr/>
        </p:nvSpPr>
        <p:spPr>
          <a:xfrm>
            <a:off x="4206240" y="2487168"/>
            <a:ext cx="4572000" cy="164592"/>
          </a:xfrm>
          <a:prstGeom prst="rect">
            <a:avLst/>
          </a:prstGeom>
          <a:noFill/>
        </p:spPr>
        <p:txBody>
          <a:bodyPr wrap="none" tIns="0" bIns="0">
            <a:spAutoFit/>
          </a:bodyPr>
          <a:lstStyle/>
          <a:p>
            <a:pPr algn="ctr"/>
            <a:r>
              <a:rPr sz="700" i="1">
                <a:solidFill>
                  <a:srgbClr val="808080"/>
                </a:solidFill>
              </a:rPr>
              <a:t>Placeholder · Propio (histórico, revisar)</a:t>
            </a:r>
          </a:p>
        </p:txBody>
      </p:sp>
      <p:pic>
        <p:nvPicPr>
          <p:cNvPr id="8" name="Picture 7" descr="Pasted image 20260408110343.png"/>
          <p:cNvPicPr>
            <a:picLocks noChangeAspect="1"/>
          </p:cNvPicPr>
          <p:nvPr/>
        </p:nvPicPr>
        <p:blipFill>
          <a:blip r:embed="rId4"/>
          <a:stretch>
            <a:fillRect/>
          </a:stretch>
        </p:blipFill>
        <p:spPr>
          <a:xfrm>
            <a:off x="5376290" y="2743200"/>
            <a:ext cx="2231900" cy="1618488"/>
          </a:xfrm>
          <a:prstGeom prst="rect">
            <a:avLst/>
          </a:prstGeom>
        </p:spPr>
      </p:pic>
      <p:sp>
        <p:nvSpPr>
          <p:cNvPr id="9" name="TextBox 8"/>
          <p:cNvSpPr txBox="1"/>
          <p:nvPr/>
        </p:nvSpPr>
        <p:spPr>
          <a:xfrm>
            <a:off x="4206240" y="4361688"/>
            <a:ext cx="4572000" cy="164592"/>
          </a:xfrm>
          <a:prstGeom prst="rect">
            <a:avLst/>
          </a:prstGeom>
          <a:noFill/>
        </p:spPr>
        <p:txBody>
          <a:bodyPr wrap="none" tIns="0" bIns="0">
            <a:spAutoFit/>
          </a:bodyPr>
          <a:lstStyle/>
          <a:p>
            <a:pPr algn="ctr"/>
            <a:r>
              <a:rPr sz="700" i="1">
                <a:solidFill>
                  <a:srgbClr val="808080"/>
                </a:solidFill>
              </a:rPr>
              <a:t>Placeholder · Foti et al. 2014, Fig. 3.7</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1E2761"/>
          </a:solidFill>
          <a:ln/>
        </p:spPr>
      </p:sp>
      <p:sp>
        <p:nvSpPr>
          <p:cNvPr id="3" name="Text 1"/>
          <p:cNvSpPr/>
          <p:nvPr/>
        </p:nvSpPr>
        <p:spPr>
          <a:xfrm>
            <a:off x="457200" y="137160"/>
            <a:ext cx="8229600" cy="457200"/>
          </a:xfrm>
          <a:prstGeom prst="rect">
            <a:avLst/>
          </a:prstGeom>
          <a:noFill/>
          <a:ln/>
        </p:spPr>
        <p:txBody>
          <a:bodyPr wrap="square" rtlCol="0" anchor="ctr"/>
          <a:lstStyle/>
          <a:p>
            <a:pPr algn="l" indent="0" marL="0">
              <a:buNone/>
            </a:pPr>
            <a:r>
              <a:rPr lang="en-US" sz="2800" b="1" dirty="0">
                <a:solidFill>
                  <a:srgbClr val="FFFFFF"/>
                </a:solidFill>
                <a:latin typeface="Cambria" pitchFamily="34" charset="0"/>
                <a:ea typeface="Cambria" pitchFamily="34" charset="-122"/>
                <a:cs typeface="Cambria" pitchFamily="34" charset="-120"/>
              </a:rPr>
              <a:t>Arquitectura: tres roles especializados (GEO, MASTER, HAMMER)</a:t>
            </a:r>
            <a:endParaRPr lang="en-US" sz="2800" dirty="0"/>
          </a:p>
        </p:txBody>
      </p:sp>
      <p:sp>
        <p:nvSpPr>
          <p:cNvPr id="4" name="Text 2"/>
          <p:cNvSpPr/>
          <p:nvPr/>
        </p:nvSpPr>
        <p:spPr>
          <a:xfrm>
            <a:off x="457200" y="914400"/>
            <a:ext cx="3566160" cy="3474720"/>
          </a:xfrm>
          <a:prstGeom prst="rect">
            <a:avLst/>
          </a:prstGeom>
          <a:noFill/>
          <a:ln/>
        </p:spPr>
        <p:txBody>
          <a:bodyPr wrap="square" rtlCol="0" anchor="t"/>
          <a:lstStyle/>
          <a:p>
            <a:pPr algn="l" indent="0" marL="0">
              <a:buNone/>
            </a:pPr>
            <a:r>
              <a:rPr lang="en-US" sz="1600" dirty="0">
                <a:solidFill>
                  <a:srgbClr val="36454F"/>
                </a:solidFill>
                <a:latin typeface="Calibri" pitchFamily="34" charset="0"/>
                <a:ea typeface="Calibri" pitchFamily="34" charset="-122"/>
                <a:cs typeface="Calibri" pitchFamily="34" charset="-120"/>
              </a:rPr>
              <a:t>GEO mide respuesta del suelo. MASTER coordina y sincroniza. HAMMER mide excitación.</a:t>
            </a:r>
            <a:endParaRPr lang="en-US" sz="1800" dirty="0"/>
          </a:p>
        </p:txBody>
      </p:sp>
      <p:sp>
        <p:nvSpPr>
          <p:cNvPr id="5" name="Text 3"/>
          <p:cNvSpPr/>
          <p:nvPr/>
        </p:nvSpPr>
        <p:spPr>
          <a:xfrm>
            <a:off x="457200" y="4572000"/>
            <a:ext cx="8229600" cy="0"/>
          </a:xfrm>
          <a:prstGeom prst="rect">
            <a:avLst/>
          </a:prstGeom>
          <a:noFill/>
          <a:ln/>
        </p:spPr>
        <p:txBody>
          <a:bodyPr wrap="square" rtlCol="0" anchor="ctr"/>
          <a:lstStyle/>
          <a:p>
            <a:pPr algn="r" indent="0" marL="0">
              <a:buNone/>
            </a:pPr>
            <a:r>
              <a:rPr lang="en-US" sz="1000" dirty="0">
                <a:solidFill>
                  <a:srgbClr val="028090"/>
                </a:solidFill>
              </a:rPr>
              <a:t>Slide 27 | Arquitectura</a:t>
            </a:r>
            <a:endParaRPr lang="en-US" sz="1000" dirty="0"/>
          </a:p>
        </p:txBody>
      </p:sp>
      <p:pic>
        <p:nvPicPr>
          <p:cNvPr id="6" name="Picture 5" descr="d_arquitectura_nodos.png"/>
          <p:cNvPicPr>
            <a:picLocks noChangeAspect="1"/>
          </p:cNvPicPr>
          <p:nvPr/>
        </p:nvPicPr>
        <p:blipFill>
          <a:blip r:embed="rId3"/>
          <a:stretch>
            <a:fillRect/>
          </a:stretch>
        </p:blipFill>
        <p:spPr>
          <a:xfrm>
            <a:off x="4285776" y="868680"/>
            <a:ext cx="4412928" cy="1618488"/>
          </a:xfrm>
          <a:prstGeom prst="rect">
            <a:avLst/>
          </a:prstGeom>
        </p:spPr>
      </p:pic>
      <p:sp>
        <p:nvSpPr>
          <p:cNvPr id="7" name="TextBox 6"/>
          <p:cNvSpPr txBox="1"/>
          <p:nvPr/>
        </p:nvSpPr>
        <p:spPr>
          <a:xfrm>
            <a:off x="4206240" y="2487168"/>
            <a:ext cx="4572000" cy="164592"/>
          </a:xfrm>
          <a:prstGeom prst="rect">
            <a:avLst/>
          </a:prstGeom>
          <a:noFill/>
        </p:spPr>
        <p:txBody>
          <a:bodyPr wrap="none" tIns="0" bIns="0">
            <a:spAutoFit/>
          </a:bodyPr>
          <a:lstStyle/>
          <a:p>
            <a:pPr algn="ctr"/>
            <a:r>
              <a:rPr sz="700" i="1">
                <a:solidFill>
                  <a:srgbClr val="808080"/>
                </a:solidFill>
              </a:rPr>
              <a:t>Placeholder · Propio</a:t>
            </a:r>
          </a:p>
        </p:txBody>
      </p:sp>
      <p:pic>
        <p:nvPicPr>
          <p:cNvPr id="8" name="Picture 7" descr="D04.png"/>
          <p:cNvPicPr>
            <a:picLocks noChangeAspect="1"/>
          </p:cNvPicPr>
          <p:nvPr/>
        </p:nvPicPr>
        <p:blipFill>
          <a:blip r:embed="rId4"/>
          <a:stretch>
            <a:fillRect/>
          </a:stretch>
        </p:blipFill>
        <p:spPr>
          <a:xfrm>
            <a:off x="4626775" y="2743200"/>
            <a:ext cx="3730930" cy="1618488"/>
          </a:xfrm>
          <a:prstGeom prst="rect">
            <a:avLst/>
          </a:prstGeom>
        </p:spPr>
      </p:pic>
      <p:sp>
        <p:nvSpPr>
          <p:cNvPr id="9" name="TextBox 8"/>
          <p:cNvSpPr txBox="1"/>
          <p:nvPr/>
        </p:nvSpPr>
        <p:spPr>
          <a:xfrm>
            <a:off x="4206240" y="4361688"/>
            <a:ext cx="4572000" cy="164592"/>
          </a:xfrm>
          <a:prstGeom prst="rect">
            <a:avLst/>
          </a:prstGeom>
          <a:noFill/>
        </p:spPr>
        <p:txBody>
          <a:bodyPr wrap="none" tIns="0" bIns="0">
            <a:spAutoFit/>
          </a:bodyPr>
          <a:lstStyle/>
          <a:p>
            <a:pPr algn="ctr"/>
            <a:r>
              <a:rPr sz="700" i="1">
                <a:solidFill>
                  <a:srgbClr val="808080"/>
                </a:solidFill>
              </a:rPr>
              <a:t>Placeholder · Propio (drawio D04)</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1E2761"/>
          </a:solidFill>
          <a:ln/>
        </p:spPr>
      </p:sp>
      <p:sp>
        <p:nvSpPr>
          <p:cNvPr id="3" name="Text 1"/>
          <p:cNvSpPr/>
          <p:nvPr/>
        </p:nvSpPr>
        <p:spPr>
          <a:xfrm>
            <a:off x="457200" y="137160"/>
            <a:ext cx="8229600" cy="457200"/>
          </a:xfrm>
          <a:prstGeom prst="rect">
            <a:avLst/>
          </a:prstGeom>
          <a:noFill/>
          <a:ln/>
        </p:spPr>
        <p:txBody>
          <a:bodyPr wrap="square" rtlCol="0" anchor="ctr"/>
          <a:lstStyle/>
          <a:p>
            <a:pPr algn="l" indent="0" marL="0">
              <a:buNone/>
            </a:pPr>
            <a:r>
              <a:rPr lang="en-US" sz="2800" b="1" dirty="0">
                <a:solidFill>
                  <a:srgbClr val="FFFFFF"/>
                </a:solidFill>
                <a:latin typeface="Cambria" pitchFamily="34" charset="0"/>
                <a:ea typeface="Cambria" pitchFamily="34" charset="-122"/>
                <a:cs typeface="Cambria" pitchFamily="34" charset="-120"/>
              </a:rPr>
              <a:t>Sensor SM-24: geófono vertical, fn≈10Hz, G0≈28.8 V·s/m</a:t>
            </a:r>
            <a:endParaRPr lang="en-US" sz="2800" dirty="0"/>
          </a:p>
        </p:txBody>
      </p:sp>
      <p:sp>
        <p:nvSpPr>
          <p:cNvPr id="4" name="Text 2"/>
          <p:cNvSpPr/>
          <p:nvPr/>
        </p:nvSpPr>
        <p:spPr>
          <a:xfrm>
            <a:off x="457200" y="914400"/>
            <a:ext cx="3566160" cy="3474720"/>
          </a:xfrm>
          <a:prstGeom prst="rect">
            <a:avLst/>
          </a:prstGeom>
          <a:noFill/>
          <a:ln/>
        </p:spPr>
        <p:txBody>
          <a:bodyPr wrap="square" rtlCol="0" anchor="t"/>
          <a:lstStyle/>
          <a:p>
            <a:pPr algn="l" indent="0" marL="0">
              <a:buNone/>
            </a:pPr>
            <a:r>
              <a:rPr lang="en-US" sz="1600" dirty="0">
                <a:solidFill>
                  <a:srgbClr val="36454F"/>
                </a:solidFill>
                <a:latin typeface="Calibri" pitchFamily="34" charset="0"/>
                <a:ea typeface="Calibri" pitchFamily="34" charset="-122"/>
                <a:cs typeface="Calibri" pitchFamily="34" charset="-120"/>
              </a:rPr>
              <a:t>Masa suspendida en resorte-amortiguador. Transducer inercial: bobina en campo magnético.</a:t>
            </a:r>
            <a:endParaRPr lang="en-US" sz="1800" dirty="0"/>
          </a:p>
        </p:txBody>
      </p:sp>
      <p:sp>
        <p:nvSpPr>
          <p:cNvPr id="5" name="Text 3"/>
          <p:cNvSpPr/>
          <p:nvPr/>
        </p:nvSpPr>
        <p:spPr>
          <a:xfrm>
            <a:off x="457200" y="4572000"/>
            <a:ext cx="8229600" cy="0"/>
          </a:xfrm>
          <a:prstGeom prst="rect">
            <a:avLst/>
          </a:prstGeom>
          <a:noFill/>
          <a:ln/>
        </p:spPr>
        <p:txBody>
          <a:bodyPr wrap="square" rtlCol="0" anchor="ctr"/>
          <a:lstStyle/>
          <a:p>
            <a:pPr algn="r" indent="0" marL="0">
              <a:buNone/>
            </a:pPr>
            <a:r>
              <a:rPr lang="en-US" sz="1000" dirty="0">
                <a:solidFill>
                  <a:srgbClr val="028090"/>
                </a:solidFill>
              </a:rPr>
              <a:t>Slide 28 | GEO</a:t>
            </a:r>
            <a:endParaRPr lang="en-US" sz="1000" dirty="0"/>
          </a:p>
        </p:txBody>
      </p:sp>
      <p:pic>
        <p:nvPicPr>
          <p:cNvPr id="6" name="Picture 5" descr="s26_0c5aa1.png"/>
          <p:cNvPicPr>
            <a:picLocks noChangeAspect="1"/>
          </p:cNvPicPr>
          <p:nvPr/>
        </p:nvPicPr>
        <p:blipFill>
          <a:blip r:embed="rId3"/>
          <a:stretch>
            <a:fillRect/>
          </a:stretch>
        </p:blipFill>
        <p:spPr>
          <a:xfrm>
            <a:off x="4206240" y="956029"/>
            <a:ext cx="4572000" cy="1443789"/>
          </a:xfrm>
          <a:prstGeom prst="rect">
            <a:avLst/>
          </a:prstGeom>
        </p:spPr>
      </p:pic>
      <p:sp>
        <p:nvSpPr>
          <p:cNvPr id="7" name="TextBox 6"/>
          <p:cNvSpPr txBox="1"/>
          <p:nvPr/>
        </p:nvSpPr>
        <p:spPr>
          <a:xfrm>
            <a:off x="4206240" y="2487168"/>
            <a:ext cx="4572000" cy="164592"/>
          </a:xfrm>
          <a:prstGeom prst="rect">
            <a:avLst/>
          </a:prstGeom>
          <a:noFill/>
        </p:spPr>
        <p:txBody>
          <a:bodyPr wrap="none" tIns="0" bIns="0">
            <a:spAutoFit/>
          </a:bodyPr>
          <a:lstStyle/>
          <a:p>
            <a:pPr algn="ctr"/>
            <a:r>
              <a:rPr sz="700" i="1">
                <a:solidFill>
                  <a:srgbClr val="808080"/>
                </a:solidFill>
              </a:rPr>
              <a:t>Placeholder · SM-24 (propio/brochure)</a:t>
            </a:r>
          </a:p>
        </p:txBody>
      </p:sp>
      <p:pic>
        <p:nvPicPr>
          <p:cNvPr id="8" name="Picture 7" descr="geophone.jpg"/>
          <p:cNvPicPr>
            <a:picLocks noChangeAspect="1"/>
          </p:cNvPicPr>
          <p:nvPr/>
        </p:nvPicPr>
        <p:blipFill>
          <a:blip r:embed="rId4"/>
          <a:stretch>
            <a:fillRect/>
          </a:stretch>
        </p:blipFill>
        <p:spPr>
          <a:xfrm>
            <a:off x="5413563" y="2743200"/>
            <a:ext cx="2157353" cy="1618488"/>
          </a:xfrm>
          <a:prstGeom prst="rect">
            <a:avLst/>
          </a:prstGeom>
        </p:spPr>
      </p:pic>
      <p:sp>
        <p:nvSpPr>
          <p:cNvPr id="9" name="TextBox 8"/>
          <p:cNvSpPr txBox="1"/>
          <p:nvPr/>
        </p:nvSpPr>
        <p:spPr>
          <a:xfrm>
            <a:off x="4206240" y="4361688"/>
            <a:ext cx="4572000" cy="164592"/>
          </a:xfrm>
          <a:prstGeom prst="rect">
            <a:avLst/>
          </a:prstGeom>
          <a:noFill/>
        </p:spPr>
        <p:txBody>
          <a:bodyPr wrap="none" tIns="0" bIns="0">
            <a:spAutoFit/>
          </a:bodyPr>
          <a:lstStyle/>
          <a:p>
            <a:pPr algn="ctr"/>
            <a:r>
              <a:rPr sz="700" i="1">
                <a:solidFill>
                  <a:srgbClr val="808080"/>
                </a:solidFill>
              </a:rPr>
              <a:t>Placeholder · Geófono, Wikimedia Commons</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1E2761"/>
          </a:solidFill>
          <a:ln/>
        </p:spPr>
      </p:sp>
      <p:sp>
        <p:nvSpPr>
          <p:cNvPr id="3" name="Text 1"/>
          <p:cNvSpPr/>
          <p:nvPr/>
        </p:nvSpPr>
        <p:spPr>
          <a:xfrm>
            <a:off x="457200" y="137160"/>
            <a:ext cx="8229600" cy="457200"/>
          </a:xfrm>
          <a:prstGeom prst="rect">
            <a:avLst/>
          </a:prstGeom>
          <a:noFill/>
          <a:ln/>
        </p:spPr>
        <p:txBody>
          <a:bodyPr wrap="square" rtlCol="0" anchor="ctr"/>
          <a:lstStyle/>
          <a:p>
            <a:pPr algn="l" indent="0" marL="0">
              <a:buNone/>
            </a:pPr>
            <a:r>
              <a:rPr lang="en-US" sz="2800" b="1" dirty="0">
                <a:solidFill>
                  <a:srgbClr val="FFFFFF"/>
                </a:solidFill>
                <a:latin typeface="Cambria" pitchFamily="34" charset="0"/>
                <a:ea typeface="Cambria" pitchFamily="34" charset="-122"/>
                <a:cs typeface="Cambria" pitchFamily="34" charset="-120"/>
              </a:rPr>
              <a:t>Problema: el SM-24 pierde sensibilidad por debajo de resonancia</a:t>
            </a:r>
            <a:endParaRPr lang="en-US" sz="2800" dirty="0"/>
          </a:p>
        </p:txBody>
      </p:sp>
      <p:sp>
        <p:nvSpPr>
          <p:cNvPr id="4" name="Text 2"/>
          <p:cNvSpPr/>
          <p:nvPr/>
        </p:nvSpPr>
        <p:spPr>
          <a:xfrm>
            <a:off x="457200" y="914400"/>
            <a:ext cx="3566160" cy="3474720"/>
          </a:xfrm>
          <a:prstGeom prst="rect">
            <a:avLst/>
          </a:prstGeom>
          <a:noFill/>
          <a:ln/>
        </p:spPr>
        <p:txBody>
          <a:bodyPr wrap="square" rtlCol="0" anchor="t"/>
          <a:lstStyle/>
          <a:p>
            <a:pPr algn="l" indent="0" marL="0">
              <a:buNone/>
            </a:pPr>
            <a:r>
              <a:rPr lang="en-US" sz="1600" dirty="0">
                <a:solidFill>
                  <a:srgbClr val="36454F"/>
                </a:solidFill>
                <a:latin typeface="Calibri" pitchFamily="34" charset="0"/>
                <a:ea typeface="Calibri" pitchFamily="34" charset="-122"/>
                <a:cs typeface="Calibri" pitchFamily="34" charset="-120"/>
              </a:rPr>
              <a:t>A 1 Hz (f&lt;&lt;fn): |H| ~ (f/fn)² ~ 0.01 ≈ -40 dB respecto a banda alta.</a:t>
            </a:r>
            <a:endParaRPr lang="en-US" sz="1800" dirty="0"/>
          </a:p>
        </p:txBody>
      </p:sp>
      <p:sp>
        <p:nvSpPr>
          <p:cNvPr id="5" name="Text 3"/>
          <p:cNvSpPr/>
          <p:nvPr/>
        </p:nvSpPr>
        <p:spPr>
          <a:xfrm>
            <a:off x="457200" y="4572000"/>
            <a:ext cx="8229600" cy="0"/>
          </a:xfrm>
          <a:prstGeom prst="rect">
            <a:avLst/>
          </a:prstGeom>
          <a:noFill/>
          <a:ln/>
        </p:spPr>
        <p:txBody>
          <a:bodyPr wrap="square" rtlCol="0" anchor="ctr"/>
          <a:lstStyle/>
          <a:p>
            <a:pPr algn="r" indent="0" marL="0">
              <a:buNone/>
            </a:pPr>
            <a:r>
              <a:rPr lang="en-US" sz="1000" dirty="0">
                <a:solidFill>
                  <a:srgbClr val="028090"/>
                </a:solidFill>
              </a:rPr>
              <a:t>Slide 29 | GEO</a:t>
            </a:r>
            <a:endParaRPr lang="en-US" sz="1000" dirty="0"/>
          </a:p>
        </p:txBody>
      </p:sp>
      <p:pic>
        <p:nvPicPr>
          <p:cNvPr id="6" name="Picture 5" descr="fig07_respuesta_sm24_modelo.png"/>
          <p:cNvPicPr>
            <a:picLocks noChangeAspect="1"/>
          </p:cNvPicPr>
          <p:nvPr/>
        </p:nvPicPr>
        <p:blipFill>
          <a:blip r:embed="rId3"/>
          <a:stretch>
            <a:fillRect/>
          </a:stretch>
        </p:blipFill>
        <p:spPr>
          <a:xfrm>
            <a:off x="4206240" y="1780671"/>
            <a:ext cx="4572000" cy="1669025"/>
          </a:xfrm>
          <a:prstGeom prst="rect">
            <a:avLst/>
          </a:prstGeom>
        </p:spPr>
      </p:pic>
      <p:sp>
        <p:nvSpPr>
          <p:cNvPr id="7" name="TextBox 6"/>
          <p:cNvSpPr txBox="1"/>
          <p:nvPr/>
        </p:nvSpPr>
        <p:spPr>
          <a:xfrm>
            <a:off x="4206240" y="4361688"/>
            <a:ext cx="4572000" cy="164592"/>
          </a:xfrm>
          <a:prstGeom prst="rect">
            <a:avLst/>
          </a:prstGeom>
          <a:noFill/>
        </p:spPr>
        <p:txBody>
          <a:bodyPr wrap="none" tIns="0" bIns="0">
            <a:spAutoFit/>
          </a:bodyPr>
          <a:lstStyle/>
          <a:p>
            <a:pPr algn="ctr"/>
            <a:r>
              <a:rPr sz="700" i="1">
                <a:solidFill>
                  <a:srgbClr val="808080"/>
                </a:solidFill>
              </a:rPr>
              <a:t>Placeholder · Propio (modelo SM-24)</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1E2761"/>
          </a:solidFill>
          <a:ln/>
        </p:spPr>
      </p:sp>
      <p:sp>
        <p:nvSpPr>
          <p:cNvPr id="3" name="Text 1"/>
          <p:cNvSpPr/>
          <p:nvPr/>
        </p:nvSpPr>
        <p:spPr>
          <a:xfrm>
            <a:off x="457200" y="137160"/>
            <a:ext cx="8229600" cy="457200"/>
          </a:xfrm>
          <a:prstGeom prst="rect">
            <a:avLst/>
          </a:prstGeom>
          <a:noFill/>
          <a:ln/>
        </p:spPr>
        <p:txBody>
          <a:bodyPr wrap="square" rtlCol="0" anchor="ctr"/>
          <a:lstStyle/>
          <a:p>
            <a:pPr algn="l" indent="0" marL="0">
              <a:buNone/>
            </a:pPr>
            <a:r>
              <a:rPr lang="en-US" sz="2800" b="1" dirty="0">
                <a:solidFill>
                  <a:srgbClr val="FFFFFF"/>
                </a:solidFill>
                <a:latin typeface="Cambria" pitchFamily="34" charset="0"/>
                <a:ea typeface="Cambria" pitchFamily="34" charset="-122"/>
                <a:cs typeface="Cambria" pitchFamily="34" charset="-120"/>
              </a:rPr>
              <a:t>Estado del arte LF: alternativas de compensación evaluadas y rechazadas</a:t>
            </a:r>
            <a:endParaRPr lang="en-US" sz="2800" dirty="0"/>
          </a:p>
        </p:txBody>
      </p:sp>
      <p:sp>
        <p:nvSpPr>
          <p:cNvPr id="4" name="Text 2"/>
          <p:cNvSpPr/>
          <p:nvPr/>
        </p:nvSpPr>
        <p:spPr>
          <a:xfrm>
            <a:off x="457200" y="914400"/>
            <a:ext cx="3566160" cy="3474720"/>
          </a:xfrm>
          <a:prstGeom prst="rect">
            <a:avLst/>
          </a:prstGeom>
          <a:noFill/>
          <a:ln/>
        </p:spPr>
        <p:txBody>
          <a:bodyPr wrap="square" rtlCol="0" anchor="t"/>
          <a:lstStyle/>
          <a:p>
            <a:pPr algn="l" indent="0" marL="0">
              <a:buNone/>
            </a:pPr>
            <a:r>
              <a:rPr lang="en-US" sz="1600" dirty="0">
                <a:solidFill>
                  <a:srgbClr val="36454F"/>
                </a:solidFill>
                <a:latin typeface="Calibri" pitchFamily="34" charset="0"/>
                <a:ea typeface="Calibri" pitchFamily="34" charset="-122"/>
                <a:cs typeface="Calibri" pitchFamily="34" charset="-120"/>
              </a:rPr>
              <a:t>1. Medición directa + ganancia: insuficiente. 2. Carga/impedancia pasiva: extensión limitada. 3. Inversión/zero-pole: offset DC, ruido LF amplificado. 4. Force balance: complejidad, estabilidad.</a:t>
            </a:r>
            <a:endParaRPr lang="en-US" sz="1800" dirty="0"/>
          </a:p>
        </p:txBody>
      </p:sp>
      <p:sp>
        <p:nvSpPr>
          <p:cNvPr id="5" name="Text 3"/>
          <p:cNvSpPr/>
          <p:nvPr/>
        </p:nvSpPr>
        <p:spPr>
          <a:xfrm>
            <a:off x="457200" y="4572000"/>
            <a:ext cx="8229600" cy="0"/>
          </a:xfrm>
          <a:prstGeom prst="rect">
            <a:avLst/>
          </a:prstGeom>
          <a:noFill/>
          <a:ln/>
        </p:spPr>
        <p:txBody>
          <a:bodyPr wrap="square" rtlCol="0" anchor="ctr"/>
          <a:lstStyle/>
          <a:p>
            <a:pPr algn="r" indent="0" marL="0">
              <a:buNone/>
            </a:pPr>
            <a:r>
              <a:rPr lang="en-US" sz="1000" dirty="0">
                <a:solidFill>
                  <a:srgbClr val="028090"/>
                </a:solidFill>
              </a:rPr>
              <a:t>Slide 30 | GEO</a:t>
            </a:r>
            <a:endParaRPr lang="en-US" sz="1000" dirty="0"/>
          </a:p>
        </p:txBody>
      </p:sp>
      <p:pic>
        <p:nvPicPr>
          <p:cNvPr id="6" name="Picture 5" descr="gen_compensacion_LF.png"/>
          <p:cNvPicPr>
            <a:picLocks noChangeAspect="1"/>
          </p:cNvPicPr>
          <p:nvPr/>
        </p:nvPicPr>
        <p:blipFill>
          <a:blip r:embed="rId3"/>
          <a:stretch>
            <a:fillRect/>
          </a:stretch>
        </p:blipFill>
        <p:spPr>
          <a:xfrm>
            <a:off x="5278374" y="868680"/>
            <a:ext cx="2427732" cy="1618488"/>
          </a:xfrm>
          <a:prstGeom prst="rect">
            <a:avLst/>
          </a:prstGeom>
        </p:spPr>
      </p:pic>
      <p:sp>
        <p:nvSpPr>
          <p:cNvPr id="7" name="TextBox 6"/>
          <p:cNvSpPr txBox="1"/>
          <p:nvPr/>
        </p:nvSpPr>
        <p:spPr>
          <a:xfrm>
            <a:off x="4206240" y="2487168"/>
            <a:ext cx="4572000" cy="164592"/>
          </a:xfrm>
          <a:prstGeom prst="rect">
            <a:avLst/>
          </a:prstGeom>
          <a:noFill/>
        </p:spPr>
        <p:txBody>
          <a:bodyPr wrap="none" tIns="0" bIns="0">
            <a:spAutoFit/>
          </a:bodyPr>
          <a:lstStyle/>
          <a:p>
            <a:pPr algn="ctr"/>
            <a:r>
              <a:rPr sz="700" i="1">
                <a:solidFill>
                  <a:srgbClr val="808080"/>
                </a:solidFill>
              </a:rPr>
              <a:t>Placeholder · Generado (concepto)</a:t>
            </a:r>
          </a:p>
        </p:txBody>
      </p:sp>
      <p:pic>
        <p:nvPicPr>
          <p:cNvPr id="8" name="Picture 7" descr="sm24_funcion_transferencia_previa.png"/>
          <p:cNvPicPr>
            <a:picLocks noChangeAspect="1"/>
          </p:cNvPicPr>
          <p:nvPr/>
        </p:nvPicPr>
        <p:blipFill>
          <a:blip r:embed="rId4"/>
          <a:stretch>
            <a:fillRect/>
          </a:stretch>
        </p:blipFill>
        <p:spPr>
          <a:xfrm>
            <a:off x="5142720" y="2743200"/>
            <a:ext cx="2699039" cy="1618488"/>
          </a:xfrm>
          <a:prstGeom prst="rect">
            <a:avLst/>
          </a:prstGeom>
        </p:spPr>
      </p:pic>
      <p:sp>
        <p:nvSpPr>
          <p:cNvPr id="9" name="TextBox 8"/>
          <p:cNvSpPr txBox="1"/>
          <p:nvPr/>
        </p:nvSpPr>
        <p:spPr>
          <a:xfrm>
            <a:off x="4206240" y="4361688"/>
            <a:ext cx="4572000" cy="164592"/>
          </a:xfrm>
          <a:prstGeom prst="rect">
            <a:avLst/>
          </a:prstGeom>
          <a:noFill/>
        </p:spPr>
        <p:txBody>
          <a:bodyPr wrap="none" tIns="0" bIns="0">
            <a:spAutoFit/>
          </a:bodyPr>
          <a:lstStyle/>
          <a:p>
            <a:pPr algn="ctr"/>
            <a:r>
              <a:rPr sz="700" i="1">
                <a:solidFill>
                  <a:srgbClr val="808080"/>
                </a:solidFill>
              </a:rPr>
              <a:t>Placeholder · Propio</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1E2761"/>
          </a:solidFill>
          <a:ln/>
        </p:spPr>
      </p:sp>
      <p:sp>
        <p:nvSpPr>
          <p:cNvPr id="3" name="Text 1"/>
          <p:cNvSpPr/>
          <p:nvPr/>
        </p:nvSpPr>
        <p:spPr>
          <a:xfrm>
            <a:off x="457200" y="137160"/>
            <a:ext cx="8229600" cy="457200"/>
          </a:xfrm>
          <a:prstGeom prst="rect">
            <a:avLst/>
          </a:prstGeom>
          <a:noFill/>
          <a:ln/>
        </p:spPr>
        <p:txBody>
          <a:bodyPr wrap="square" rtlCol="0" anchor="ctr"/>
          <a:lstStyle/>
          <a:p>
            <a:pPr algn="l" indent="0" marL="0">
              <a:buNone/>
            </a:pPr>
            <a:r>
              <a:rPr lang="en-US" sz="2800" b="1" dirty="0">
                <a:solidFill>
                  <a:srgbClr val="FFFFFF"/>
                </a:solidFill>
                <a:latin typeface="Cambria" pitchFamily="34" charset="0"/>
                <a:ea typeface="Cambria" pitchFamily="34" charset="-122"/>
                <a:cs typeface="Cambria" pitchFamily="34" charset="-120"/>
              </a:rPr>
              <a:t>Método elegido: Ma et al. - no levantar agresivamente el fondo, aténuar la región dominante</a:t>
            </a:r>
            <a:endParaRPr lang="en-US" sz="2800" dirty="0"/>
          </a:p>
        </p:txBody>
      </p:sp>
      <p:sp>
        <p:nvSpPr>
          <p:cNvPr id="4" name="Text 2"/>
          <p:cNvSpPr/>
          <p:nvPr/>
        </p:nvSpPr>
        <p:spPr>
          <a:xfrm>
            <a:off x="457200" y="914400"/>
            <a:ext cx="3566160" cy="3474720"/>
          </a:xfrm>
          <a:prstGeom prst="rect">
            <a:avLst/>
          </a:prstGeom>
          <a:noFill/>
          <a:ln/>
        </p:spPr>
        <p:txBody>
          <a:bodyPr wrap="square" rtlCol="0" anchor="t"/>
          <a:lstStyle/>
          <a:p>
            <a:pPr algn="l" indent="0" marL="0">
              <a:buNone/>
            </a:pPr>
            <a:r>
              <a:rPr lang="en-US" sz="1600" dirty="0">
                <a:solidFill>
                  <a:srgbClr val="36454F"/>
                </a:solidFill>
                <a:latin typeface="Calibri" pitchFamily="34" charset="0"/>
                <a:ea typeface="Calibri" pitchFamily="34" charset="-122"/>
                <a:cs typeface="Calibri" pitchFamily="34" charset="-120"/>
              </a:rPr>
              <a:t>Cadena: entrada → PGA → [directo + BP inversor] → SUM → LP → ADC. Compensación LF via BP restador.</a:t>
            </a:r>
            <a:endParaRPr lang="en-US" sz="1800" dirty="0"/>
          </a:p>
        </p:txBody>
      </p:sp>
      <p:sp>
        <p:nvSpPr>
          <p:cNvPr id="5" name="Text 3"/>
          <p:cNvSpPr/>
          <p:nvPr/>
        </p:nvSpPr>
        <p:spPr>
          <a:xfrm>
            <a:off x="457200" y="4572000"/>
            <a:ext cx="8229600" cy="0"/>
          </a:xfrm>
          <a:prstGeom prst="rect">
            <a:avLst/>
          </a:prstGeom>
          <a:noFill/>
          <a:ln/>
        </p:spPr>
        <p:txBody>
          <a:bodyPr wrap="square" rtlCol="0" anchor="ctr"/>
          <a:lstStyle/>
          <a:p>
            <a:pPr algn="r" indent="0" marL="0">
              <a:buNone/>
            </a:pPr>
            <a:r>
              <a:rPr lang="en-US" sz="1000" dirty="0">
                <a:solidFill>
                  <a:srgbClr val="028090"/>
                </a:solidFill>
              </a:rPr>
              <a:t>Slide 31 | GEO</a:t>
            </a:r>
            <a:endParaRPr lang="en-US" sz="1000" dirty="0"/>
          </a:p>
        </p:txBody>
      </p:sp>
      <p:pic>
        <p:nvPicPr>
          <p:cNvPr id="6" name="Picture 5" descr="D08.png"/>
          <p:cNvPicPr>
            <a:picLocks noChangeAspect="1"/>
          </p:cNvPicPr>
          <p:nvPr/>
        </p:nvPicPr>
        <p:blipFill>
          <a:blip r:embed="rId3"/>
          <a:stretch>
            <a:fillRect/>
          </a:stretch>
        </p:blipFill>
        <p:spPr>
          <a:xfrm>
            <a:off x="4206240" y="1156532"/>
            <a:ext cx="4572000" cy="1042784"/>
          </a:xfrm>
          <a:prstGeom prst="rect">
            <a:avLst/>
          </a:prstGeom>
        </p:spPr>
      </p:pic>
      <p:sp>
        <p:nvSpPr>
          <p:cNvPr id="7" name="TextBox 6"/>
          <p:cNvSpPr txBox="1"/>
          <p:nvPr/>
        </p:nvSpPr>
        <p:spPr>
          <a:xfrm>
            <a:off x="4206240" y="2487168"/>
            <a:ext cx="4572000" cy="164592"/>
          </a:xfrm>
          <a:prstGeom prst="rect">
            <a:avLst/>
          </a:prstGeom>
          <a:noFill/>
        </p:spPr>
        <p:txBody>
          <a:bodyPr wrap="none" tIns="0" bIns="0">
            <a:spAutoFit/>
          </a:bodyPr>
          <a:lstStyle/>
          <a:p>
            <a:pPr algn="ctr"/>
            <a:r>
              <a:rPr sz="700" i="1">
                <a:solidFill>
                  <a:srgbClr val="808080"/>
                </a:solidFill>
              </a:rPr>
              <a:t>Placeholder · Propio (drawio D08)</a:t>
            </a:r>
          </a:p>
        </p:txBody>
      </p:sp>
      <p:pic>
        <p:nvPicPr>
          <p:cNvPr id="8" name="Picture 7" descr="gen_compensacion_LF.png"/>
          <p:cNvPicPr>
            <a:picLocks noChangeAspect="1"/>
          </p:cNvPicPr>
          <p:nvPr/>
        </p:nvPicPr>
        <p:blipFill>
          <a:blip r:embed="rId4"/>
          <a:stretch>
            <a:fillRect/>
          </a:stretch>
        </p:blipFill>
        <p:spPr>
          <a:xfrm>
            <a:off x="5278374" y="2743200"/>
            <a:ext cx="2427732" cy="1618488"/>
          </a:xfrm>
          <a:prstGeom prst="rect">
            <a:avLst/>
          </a:prstGeom>
        </p:spPr>
      </p:pic>
      <p:sp>
        <p:nvSpPr>
          <p:cNvPr id="9" name="TextBox 8"/>
          <p:cNvSpPr txBox="1"/>
          <p:nvPr/>
        </p:nvSpPr>
        <p:spPr>
          <a:xfrm>
            <a:off x="4206240" y="4361688"/>
            <a:ext cx="4572000" cy="164592"/>
          </a:xfrm>
          <a:prstGeom prst="rect">
            <a:avLst/>
          </a:prstGeom>
          <a:noFill/>
        </p:spPr>
        <p:txBody>
          <a:bodyPr wrap="none" tIns="0" bIns="0">
            <a:spAutoFit/>
          </a:bodyPr>
          <a:lstStyle/>
          <a:p>
            <a:pPr algn="ctr"/>
            <a:r>
              <a:rPr sz="700" i="1">
                <a:solidFill>
                  <a:srgbClr val="808080"/>
                </a:solidFill>
              </a:rPr>
              <a:t>Placeholder · Generado (concepto)</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1E2761"/>
          </a:solidFill>
          <a:ln/>
        </p:spPr>
      </p:sp>
      <p:sp>
        <p:nvSpPr>
          <p:cNvPr id="3" name="Text 1"/>
          <p:cNvSpPr/>
          <p:nvPr/>
        </p:nvSpPr>
        <p:spPr>
          <a:xfrm>
            <a:off x="457200" y="137160"/>
            <a:ext cx="8229600" cy="457200"/>
          </a:xfrm>
          <a:prstGeom prst="rect">
            <a:avLst/>
          </a:prstGeom>
          <a:noFill/>
          <a:ln/>
        </p:spPr>
        <p:txBody>
          <a:bodyPr wrap="square" rtlCol="0" anchor="ctr"/>
          <a:lstStyle/>
          <a:p>
            <a:pPr algn="l" indent="0" marL="0">
              <a:buNone/>
            </a:pPr>
            <a:r>
              <a:rPr lang="en-US" sz="2800" b="1" dirty="0">
                <a:solidFill>
                  <a:srgbClr val="FFFFFF"/>
                </a:solidFill>
                <a:latin typeface="Cambria" pitchFamily="34" charset="0"/>
                <a:ea typeface="Cambria" pitchFamily="34" charset="-122"/>
                <a:cs typeface="Cambria" pitchFamily="34" charset="-120"/>
              </a:rPr>
              <a:t>AFE implementado: PGA → directo + BP → SUM → LP → ADC</a:t>
            </a:r>
            <a:endParaRPr lang="en-US" sz="2800" dirty="0"/>
          </a:p>
        </p:txBody>
      </p:sp>
      <p:sp>
        <p:nvSpPr>
          <p:cNvPr id="4" name="Text 2"/>
          <p:cNvSpPr/>
          <p:nvPr/>
        </p:nvSpPr>
        <p:spPr>
          <a:xfrm>
            <a:off x="457200" y="914400"/>
            <a:ext cx="3566160" cy="3474720"/>
          </a:xfrm>
          <a:prstGeom prst="rect">
            <a:avLst/>
          </a:prstGeom>
          <a:noFill/>
          <a:ln/>
        </p:spPr>
        <p:txBody>
          <a:bodyPr wrap="square" rtlCol="0" anchor="t"/>
          <a:lstStyle/>
          <a:p>
            <a:pPr algn="l" indent="0" marL="0">
              <a:buNone/>
            </a:pPr>
            <a:r>
              <a:rPr lang="en-US" sz="1600" dirty="0">
                <a:solidFill>
                  <a:srgbClr val="36454F"/>
                </a:solidFill>
                <a:latin typeface="Calibri" pitchFamily="34" charset="0"/>
                <a:ea typeface="Calibri" pitchFamily="34" charset="-122"/>
                <a:cs typeface="Calibri" pitchFamily="34" charset="-120"/>
              </a:rPr>
              <a:t>Rechazo modo común, ganancia programable, compensación LF, antialias, adaptación ADC.</a:t>
            </a:r>
            <a:endParaRPr lang="en-US" sz="1800" dirty="0"/>
          </a:p>
        </p:txBody>
      </p:sp>
      <p:sp>
        <p:nvSpPr>
          <p:cNvPr id="5" name="Text 3"/>
          <p:cNvSpPr/>
          <p:nvPr/>
        </p:nvSpPr>
        <p:spPr>
          <a:xfrm>
            <a:off x="457200" y="4572000"/>
            <a:ext cx="8229600" cy="0"/>
          </a:xfrm>
          <a:prstGeom prst="rect">
            <a:avLst/>
          </a:prstGeom>
          <a:noFill/>
          <a:ln/>
        </p:spPr>
        <p:txBody>
          <a:bodyPr wrap="square" rtlCol="0" anchor="ctr"/>
          <a:lstStyle/>
          <a:p>
            <a:pPr algn="r" indent="0" marL="0">
              <a:buNone/>
            </a:pPr>
            <a:r>
              <a:rPr lang="en-US" sz="1000" dirty="0">
                <a:solidFill>
                  <a:srgbClr val="028090"/>
                </a:solidFill>
              </a:rPr>
              <a:t>Slide 32 | GEO</a:t>
            </a:r>
            <a:endParaRPr lang="en-US" sz="1000" dirty="0"/>
          </a:p>
        </p:txBody>
      </p:sp>
      <p:pic>
        <p:nvPicPr>
          <p:cNvPr id="6" name="Picture 5" descr="s33_dae964.png"/>
          <p:cNvPicPr>
            <a:picLocks noChangeAspect="1"/>
          </p:cNvPicPr>
          <p:nvPr/>
        </p:nvPicPr>
        <p:blipFill>
          <a:blip r:embed="rId3"/>
          <a:stretch>
            <a:fillRect/>
          </a:stretch>
        </p:blipFill>
        <p:spPr>
          <a:xfrm>
            <a:off x="4970861" y="868680"/>
            <a:ext cx="3042757" cy="1618488"/>
          </a:xfrm>
          <a:prstGeom prst="rect">
            <a:avLst/>
          </a:prstGeom>
        </p:spPr>
      </p:pic>
      <p:sp>
        <p:nvSpPr>
          <p:cNvPr id="7" name="TextBox 6"/>
          <p:cNvSpPr txBox="1"/>
          <p:nvPr/>
        </p:nvSpPr>
        <p:spPr>
          <a:xfrm>
            <a:off x="4206240" y="2487168"/>
            <a:ext cx="4572000" cy="164592"/>
          </a:xfrm>
          <a:prstGeom prst="rect">
            <a:avLst/>
          </a:prstGeom>
          <a:noFill/>
        </p:spPr>
        <p:txBody>
          <a:bodyPr wrap="none" tIns="0" bIns="0">
            <a:spAutoFit/>
          </a:bodyPr>
          <a:lstStyle/>
          <a:p>
            <a:pPr algn="ctr"/>
            <a:r>
              <a:rPr sz="700" i="1">
                <a:solidFill>
                  <a:srgbClr val="808080"/>
                </a:solidFill>
              </a:rPr>
              <a:t>Placeholder · Propio (AFE PSoC)</a:t>
            </a:r>
          </a:p>
        </p:txBody>
      </p:sp>
      <p:pic>
        <p:nvPicPr>
          <p:cNvPr id="8" name="Picture 7" descr="fig08_f_frente_analogico_crop.png"/>
          <p:cNvPicPr>
            <a:picLocks noChangeAspect="1"/>
          </p:cNvPicPr>
          <p:nvPr/>
        </p:nvPicPr>
        <p:blipFill>
          <a:blip r:embed="rId4"/>
          <a:stretch>
            <a:fillRect/>
          </a:stretch>
        </p:blipFill>
        <p:spPr>
          <a:xfrm>
            <a:off x="4696414" y="2743200"/>
            <a:ext cx="3591651" cy="1618488"/>
          </a:xfrm>
          <a:prstGeom prst="rect">
            <a:avLst/>
          </a:prstGeom>
        </p:spPr>
      </p:pic>
      <p:sp>
        <p:nvSpPr>
          <p:cNvPr id="9" name="TextBox 8"/>
          <p:cNvSpPr txBox="1"/>
          <p:nvPr/>
        </p:nvSpPr>
        <p:spPr>
          <a:xfrm>
            <a:off x="4206240" y="4361688"/>
            <a:ext cx="4572000" cy="164592"/>
          </a:xfrm>
          <a:prstGeom prst="rect">
            <a:avLst/>
          </a:prstGeom>
          <a:noFill/>
        </p:spPr>
        <p:txBody>
          <a:bodyPr wrap="none" tIns="0" bIns="0">
            <a:spAutoFit/>
          </a:bodyPr>
          <a:lstStyle/>
          <a:p>
            <a:pPr algn="ctr"/>
            <a:r>
              <a:rPr sz="700" i="1">
                <a:solidFill>
                  <a:srgbClr val="808080"/>
                </a:solidFill>
              </a:rPr>
              <a:t>Placeholder · Propio (frente analógico)</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1E2761"/>
          </a:solidFill>
          <a:ln/>
        </p:spPr>
      </p:sp>
      <p:sp>
        <p:nvSpPr>
          <p:cNvPr id="3" name="Text 1"/>
          <p:cNvSpPr/>
          <p:nvPr/>
        </p:nvSpPr>
        <p:spPr>
          <a:xfrm>
            <a:off x="457200" y="137160"/>
            <a:ext cx="8229600" cy="457200"/>
          </a:xfrm>
          <a:prstGeom prst="rect">
            <a:avLst/>
          </a:prstGeom>
          <a:noFill/>
          <a:ln/>
        </p:spPr>
        <p:txBody>
          <a:bodyPr wrap="square" rtlCol="0" anchor="ctr"/>
          <a:lstStyle/>
          <a:p>
            <a:pPr algn="l" indent="0" marL="0">
              <a:buNone/>
            </a:pPr>
            <a:r>
              <a:rPr lang="en-US" sz="2800" b="1" dirty="0">
                <a:solidFill>
                  <a:srgbClr val="FFFFFF"/>
                </a:solidFill>
                <a:latin typeface="Cambria" pitchFamily="34" charset="0"/>
                <a:ea typeface="Cambria" pitchFamily="34" charset="-122"/>
                <a:cs typeface="Cambria" pitchFamily="34" charset="-120"/>
              </a:rPr>
              <a:t>Magnitud y fase: modelo nominal vs medición real, incluyendo tolerancias</a:t>
            </a:r>
            <a:endParaRPr lang="en-US" sz="2800" dirty="0"/>
          </a:p>
        </p:txBody>
      </p:sp>
      <p:sp>
        <p:nvSpPr>
          <p:cNvPr id="4" name="Text 2"/>
          <p:cNvSpPr/>
          <p:nvPr/>
        </p:nvSpPr>
        <p:spPr>
          <a:xfrm>
            <a:off x="457200" y="914400"/>
            <a:ext cx="3566160" cy="3474720"/>
          </a:xfrm>
          <a:prstGeom prst="rect">
            <a:avLst/>
          </a:prstGeom>
          <a:noFill/>
          <a:ln/>
        </p:spPr>
        <p:txBody>
          <a:bodyPr wrap="square" rtlCol="0" anchor="t"/>
          <a:lstStyle/>
          <a:p>
            <a:pPr algn="l" indent="0" marL="0">
              <a:buNone/>
            </a:pPr>
            <a:r>
              <a:rPr lang="en-US" sz="1600" dirty="0">
                <a:solidFill>
                  <a:srgbClr val="36454F"/>
                </a:solidFill>
                <a:latin typeface="Calibri" pitchFamily="34" charset="0"/>
                <a:ea typeface="Calibri" pitchFamily="34" charset="-122"/>
                <a:cs typeface="Calibri" pitchFamily="34" charset="-120"/>
              </a:rPr>
              <a:t>Gráficos de Bode: modelo ideal, medido, variaciones por tolerancia de componentes.</a:t>
            </a:r>
            <a:endParaRPr lang="en-US" sz="1800" dirty="0"/>
          </a:p>
        </p:txBody>
      </p:sp>
      <p:sp>
        <p:nvSpPr>
          <p:cNvPr id="5" name="Text 3"/>
          <p:cNvSpPr/>
          <p:nvPr/>
        </p:nvSpPr>
        <p:spPr>
          <a:xfrm>
            <a:off x="457200" y="4572000"/>
            <a:ext cx="8229600" cy="0"/>
          </a:xfrm>
          <a:prstGeom prst="rect">
            <a:avLst/>
          </a:prstGeom>
          <a:noFill/>
          <a:ln/>
        </p:spPr>
        <p:txBody>
          <a:bodyPr wrap="square" rtlCol="0" anchor="ctr"/>
          <a:lstStyle/>
          <a:p>
            <a:pPr algn="r" indent="0" marL="0">
              <a:buNone/>
            </a:pPr>
            <a:r>
              <a:rPr lang="en-US" sz="1000" dirty="0">
                <a:solidFill>
                  <a:srgbClr val="028090"/>
                </a:solidFill>
              </a:rPr>
              <a:t>Slide 33 | GEO</a:t>
            </a:r>
            <a:endParaRPr lang="en-US" sz="1000" dirty="0"/>
          </a:p>
        </p:txBody>
      </p:sp>
      <p:pic>
        <p:nvPicPr>
          <p:cNvPr id="6" name="Picture 5" descr="s34_dc6945.png"/>
          <p:cNvPicPr>
            <a:picLocks noChangeAspect="1"/>
          </p:cNvPicPr>
          <p:nvPr/>
        </p:nvPicPr>
        <p:blipFill>
          <a:blip r:embed="rId3"/>
          <a:stretch>
            <a:fillRect/>
          </a:stretch>
        </p:blipFill>
        <p:spPr>
          <a:xfrm>
            <a:off x="5618685" y="868680"/>
            <a:ext cx="1747109" cy="1618488"/>
          </a:xfrm>
          <a:prstGeom prst="rect">
            <a:avLst/>
          </a:prstGeom>
        </p:spPr>
      </p:pic>
      <p:sp>
        <p:nvSpPr>
          <p:cNvPr id="7" name="TextBox 6"/>
          <p:cNvSpPr txBox="1"/>
          <p:nvPr/>
        </p:nvSpPr>
        <p:spPr>
          <a:xfrm>
            <a:off x="4206240" y="2487168"/>
            <a:ext cx="4572000" cy="164592"/>
          </a:xfrm>
          <a:prstGeom prst="rect">
            <a:avLst/>
          </a:prstGeom>
          <a:noFill/>
        </p:spPr>
        <p:txBody>
          <a:bodyPr wrap="none" tIns="0" bIns="0">
            <a:spAutoFit/>
          </a:bodyPr>
          <a:lstStyle/>
          <a:p>
            <a:pPr algn="ctr"/>
            <a:r>
              <a:rPr sz="700" i="1">
                <a:solidFill>
                  <a:srgbClr val="808080"/>
                </a:solidFill>
              </a:rPr>
              <a:t>Placeholder · Propio (Bode medido)</a:t>
            </a:r>
          </a:p>
        </p:txBody>
      </p:sp>
      <p:pic>
        <p:nvPicPr>
          <p:cNvPr id="8" name="Picture 7" descr="fig12_f_cadena_geo_adc_magcoh.png"/>
          <p:cNvPicPr>
            <a:picLocks noChangeAspect="1"/>
          </p:cNvPicPr>
          <p:nvPr/>
        </p:nvPicPr>
        <p:blipFill>
          <a:blip r:embed="rId4"/>
          <a:stretch>
            <a:fillRect/>
          </a:stretch>
        </p:blipFill>
        <p:spPr>
          <a:xfrm>
            <a:off x="4959036" y="2743200"/>
            <a:ext cx="3066407" cy="1618488"/>
          </a:xfrm>
          <a:prstGeom prst="rect">
            <a:avLst/>
          </a:prstGeom>
        </p:spPr>
      </p:pic>
      <p:sp>
        <p:nvSpPr>
          <p:cNvPr id="9" name="TextBox 8"/>
          <p:cNvSpPr txBox="1"/>
          <p:nvPr/>
        </p:nvSpPr>
        <p:spPr>
          <a:xfrm>
            <a:off x="4206240" y="4361688"/>
            <a:ext cx="4572000" cy="164592"/>
          </a:xfrm>
          <a:prstGeom prst="rect">
            <a:avLst/>
          </a:prstGeom>
          <a:noFill/>
        </p:spPr>
        <p:txBody>
          <a:bodyPr wrap="none" tIns="0" bIns="0">
            <a:spAutoFit/>
          </a:bodyPr>
          <a:lstStyle/>
          <a:p>
            <a:pPr algn="ctr"/>
            <a:r>
              <a:rPr sz="700" i="1">
                <a:solidFill>
                  <a:srgbClr val="808080"/>
                </a:solidFill>
              </a:rPr>
              <a:t>Placeholder · Propio (cadena GEO-ADC)</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1E2761"/>
          </a:solidFill>
          <a:ln/>
        </p:spPr>
      </p:sp>
      <p:sp>
        <p:nvSpPr>
          <p:cNvPr id="3" name="Text 1"/>
          <p:cNvSpPr/>
          <p:nvPr/>
        </p:nvSpPr>
        <p:spPr>
          <a:xfrm>
            <a:off x="457200" y="137160"/>
            <a:ext cx="8229600" cy="457200"/>
          </a:xfrm>
          <a:prstGeom prst="rect">
            <a:avLst/>
          </a:prstGeom>
          <a:noFill/>
          <a:ln/>
        </p:spPr>
        <p:txBody>
          <a:bodyPr wrap="square" rtlCol="0" anchor="ctr"/>
          <a:lstStyle/>
          <a:p>
            <a:pPr algn="l" indent="0" marL="0">
              <a:buNone/>
            </a:pPr>
            <a:r>
              <a:rPr lang="en-US" sz="2800" b="1" dirty="0">
                <a:solidFill>
                  <a:srgbClr val="FFFFFF"/>
                </a:solidFill>
                <a:latin typeface="Cambria" pitchFamily="34" charset="0"/>
                <a:ea typeface="Cambria" pitchFamily="34" charset="-122"/>
                <a:cs typeface="Cambria" pitchFamily="34" charset="-120"/>
              </a:rPr>
              <a:t>DA-AFE: filosofía CALIBRAR → CONGELAR → MEDIR, orden secuencial PGA → BP → SUM → LP</a:t>
            </a:r>
            <a:endParaRPr lang="en-US" sz="2800" dirty="0"/>
          </a:p>
        </p:txBody>
      </p:sp>
      <p:sp>
        <p:nvSpPr>
          <p:cNvPr id="4" name="Text 2"/>
          <p:cNvSpPr/>
          <p:nvPr/>
        </p:nvSpPr>
        <p:spPr>
          <a:xfrm>
            <a:off x="457200" y="914400"/>
            <a:ext cx="3566160" cy="3474720"/>
          </a:xfrm>
          <a:prstGeom prst="rect">
            <a:avLst/>
          </a:prstGeom>
          <a:noFill/>
          <a:ln/>
        </p:spPr>
        <p:txBody>
          <a:bodyPr wrap="square" rtlCol="0" anchor="t"/>
          <a:lstStyle/>
          <a:p>
            <a:pPr algn="l" indent="0" marL="0">
              <a:buNone/>
            </a:pPr>
            <a:r>
              <a:rPr lang="en-US" sz="1600" dirty="0">
                <a:solidFill>
                  <a:srgbClr val="36454F"/>
                </a:solidFill>
                <a:latin typeface="Calibri" pitchFamily="34" charset="0"/>
                <a:ea typeface="Calibri" pitchFamily="34" charset="-122"/>
                <a:cs typeface="Calibri" pitchFamily="34" charset="-120"/>
              </a:rPr>
              <a:t>Problema: alta ganancia + offsets pequeños → margen dinámico consumido. Solución: auto-calibración digital de offset por etapa.</a:t>
            </a:r>
            <a:endParaRPr lang="en-US" sz="1800" dirty="0"/>
          </a:p>
        </p:txBody>
      </p:sp>
      <p:sp>
        <p:nvSpPr>
          <p:cNvPr id="5" name="Text 3"/>
          <p:cNvSpPr/>
          <p:nvPr/>
        </p:nvSpPr>
        <p:spPr>
          <a:xfrm>
            <a:off x="457200" y="4572000"/>
            <a:ext cx="8229600" cy="0"/>
          </a:xfrm>
          <a:prstGeom prst="rect">
            <a:avLst/>
          </a:prstGeom>
          <a:noFill/>
          <a:ln/>
        </p:spPr>
        <p:txBody>
          <a:bodyPr wrap="square" rtlCol="0" anchor="ctr"/>
          <a:lstStyle/>
          <a:p>
            <a:pPr algn="r" indent="0" marL="0">
              <a:buNone/>
            </a:pPr>
            <a:r>
              <a:rPr lang="en-US" sz="1000" dirty="0">
                <a:solidFill>
                  <a:srgbClr val="028090"/>
                </a:solidFill>
              </a:rPr>
              <a:t>Slide 34 | GEO</a:t>
            </a:r>
            <a:endParaRPr lang="en-US" sz="1000" dirty="0"/>
          </a:p>
        </p:txBody>
      </p:sp>
      <p:pic>
        <p:nvPicPr>
          <p:cNvPr id="6" name="Picture 5" descr="fig09_d_calibracion_offset.png"/>
          <p:cNvPicPr>
            <a:picLocks noChangeAspect="1"/>
          </p:cNvPicPr>
          <p:nvPr/>
        </p:nvPicPr>
        <p:blipFill>
          <a:blip r:embed="rId3"/>
          <a:stretch>
            <a:fillRect/>
          </a:stretch>
        </p:blipFill>
        <p:spPr>
          <a:xfrm>
            <a:off x="5042307" y="868680"/>
            <a:ext cx="2899866" cy="1618488"/>
          </a:xfrm>
          <a:prstGeom prst="rect">
            <a:avLst/>
          </a:prstGeom>
        </p:spPr>
      </p:pic>
      <p:sp>
        <p:nvSpPr>
          <p:cNvPr id="7" name="TextBox 6"/>
          <p:cNvSpPr txBox="1"/>
          <p:nvPr/>
        </p:nvSpPr>
        <p:spPr>
          <a:xfrm>
            <a:off x="4206240" y="2487168"/>
            <a:ext cx="4572000" cy="164592"/>
          </a:xfrm>
          <a:prstGeom prst="rect">
            <a:avLst/>
          </a:prstGeom>
          <a:noFill/>
        </p:spPr>
        <p:txBody>
          <a:bodyPr wrap="none" tIns="0" bIns="0">
            <a:spAutoFit/>
          </a:bodyPr>
          <a:lstStyle/>
          <a:p>
            <a:pPr algn="ctr"/>
            <a:r>
              <a:rPr sz="700" i="1">
                <a:solidFill>
                  <a:srgbClr val="808080"/>
                </a:solidFill>
              </a:rPr>
              <a:t>Placeholder · Propio (calibración offset)</a:t>
            </a:r>
          </a:p>
        </p:txBody>
      </p:sp>
      <p:pic>
        <p:nvPicPr>
          <p:cNvPr id="8" name="Picture 7" descr="D09.png"/>
          <p:cNvPicPr>
            <a:picLocks noChangeAspect="1"/>
          </p:cNvPicPr>
          <p:nvPr/>
        </p:nvPicPr>
        <p:blipFill>
          <a:blip r:embed="rId4"/>
          <a:stretch>
            <a:fillRect/>
          </a:stretch>
        </p:blipFill>
        <p:spPr>
          <a:xfrm>
            <a:off x="4951673" y="2743200"/>
            <a:ext cx="3081133" cy="1618488"/>
          </a:xfrm>
          <a:prstGeom prst="rect">
            <a:avLst/>
          </a:prstGeom>
        </p:spPr>
      </p:pic>
      <p:sp>
        <p:nvSpPr>
          <p:cNvPr id="9" name="TextBox 8"/>
          <p:cNvSpPr txBox="1"/>
          <p:nvPr/>
        </p:nvSpPr>
        <p:spPr>
          <a:xfrm>
            <a:off x="4206240" y="4361688"/>
            <a:ext cx="4572000" cy="164592"/>
          </a:xfrm>
          <a:prstGeom prst="rect">
            <a:avLst/>
          </a:prstGeom>
          <a:noFill/>
        </p:spPr>
        <p:txBody>
          <a:bodyPr wrap="none" tIns="0" bIns="0">
            <a:spAutoFit/>
          </a:bodyPr>
          <a:lstStyle/>
          <a:p>
            <a:pPr algn="ctr"/>
            <a:r>
              <a:rPr sz="700" i="1">
                <a:solidFill>
                  <a:srgbClr val="808080"/>
                </a:solidFill>
              </a:rPr>
              <a:t>Placeholder · Propio (drawio D09)</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1E2761"/>
          </a:solidFill>
          <a:ln/>
        </p:spPr>
      </p:sp>
      <p:sp>
        <p:nvSpPr>
          <p:cNvPr id="3" name="Text 1"/>
          <p:cNvSpPr/>
          <p:nvPr/>
        </p:nvSpPr>
        <p:spPr>
          <a:xfrm>
            <a:off x="457200" y="137160"/>
            <a:ext cx="8229600" cy="457200"/>
          </a:xfrm>
          <a:prstGeom prst="rect">
            <a:avLst/>
          </a:prstGeom>
          <a:noFill/>
          <a:ln/>
        </p:spPr>
        <p:txBody>
          <a:bodyPr wrap="square" rtlCol="0" anchor="ctr"/>
          <a:lstStyle/>
          <a:p>
            <a:pPr algn="l" indent="0" marL="0">
              <a:buNone/>
            </a:pPr>
            <a:r>
              <a:rPr lang="en-US" sz="2800" b="1" dirty="0">
                <a:solidFill>
                  <a:srgbClr val="FFFFFF"/>
                </a:solidFill>
                <a:latin typeface="Cambria" pitchFamily="34" charset="0"/>
                <a:ea typeface="Cambria" pitchFamily="34" charset="-122"/>
                <a:cs typeface="Cambria" pitchFamily="34" charset="-120"/>
              </a:rPr>
              <a:t>Ecuaciones DA-AFE: error ADC, conversión a códigos VDAC, PI, anti-windup, saturación</a:t>
            </a:r>
            <a:endParaRPr lang="en-US" sz="2800" dirty="0"/>
          </a:p>
        </p:txBody>
      </p:sp>
      <p:sp>
        <p:nvSpPr>
          <p:cNvPr id="4" name="Text 2"/>
          <p:cNvSpPr/>
          <p:nvPr/>
        </p:nvSpPr>
        <p:spPr>
          <a:xfrm>
            <a:off x="457200" y="914400"/>
            <a:ext cx="3566160" cy="3474720"/>
          </a:xfrm>
          <a:prstGeom prst="rect">
            <a:avLst/>
          </a:prstGeom>
          <a:noFill/>
          <a:ln/>
        </p:spPr>
        <p:txBody>
          <a:bodyPr wrap="square" rtlCol="0" anchor="t"/>
          <a:lstStyle/>
          <a:p>
            <a:pPr algn="l" indent="0" marL="0">
              <a:buNone/>
            </a:pPr>
            <a:r>
              <a:rPr lang="en-US" sz="1600" dirty="0">
                <a:solidFill>
                  <a:srgbClr val="36454F"/>
                </a:solidFill>
                <a:latin typeface="Calibri" pitchFamily="34" charset="0"/>
                <a:ea typeface="Calibri" pitchFamily="34" charset="-122"/>
                <a:cs typeface="Calibri" pitchFamily="34" charset="-120"/>
              </a:rPr>
              <a:t>Error ADC → codes VDAC (conversión de escala). PI controlador. Deadband y anti-windup. Límites.</a:t>
            </a:r>
            <a:endParaRPr lang="en-US" sz="1800" dirty="0"/>
          </a:p>
        </p:txBody>
      </p:sp>
      <p:sp>
        <p:nvSpPr>
          <p:cNvPr id="5" name="Text 3"/>
          <p:cNvSpPr/>
          <p:nvPr/>
        </p:nvSpPr>
        <p:spPr>
          <a:xfrm>
            <a:off x="457200" y="4572000"/>
            <a:ext cx="8229600" cy="0"/>
          </a:xfrm>
          <a:prstGeom prst="rect">
            <a:avLst/>
          </a:prstGeom>
          <a:noFill/>
          <a:ln/>
        </p:spPr>
        <p:txBody>
          <a:bodyPr wrap="square" rtlCol="0" anchor="ctr"/>
          <a:lstStyle/>
          <a:p>
            <a:pPr algn="r" indent="0" marL="0">
              <a:buNone/>
            </a:pPr>
            <a:r>
              <a:rPr lang="en-US" sz="1000" dirty="0">
                <a:solidFill>
                  <a:srgbClr val="028090"/>
                </a:solidFill>
              </a:rPr>
              <a:t>Slide 35 | GEO</a:t>
            </a:r>
            <a:endParaRPr lang="en-US" sz="1000" dirty="0"/>
          </a:p>
        </p:txBody>
      </p:sp>
      <p:pic>
        <p:nvPicPr>
          <p:cNvPr id="6" name="Picture 5" descr="D10.png"/>
          <p:cNvPicPr>
            <a:picLocks noChangeAspect="1"/>
          </p:cNvPicPr>
          <p:nvPr/>
        </p:nvPicPr>
        <p:blipFill>
          <a:blip r:embed="rId3"/>
          <a:stretch>
            <a:fillRect/>
          </a:stretch>
        </p:blipFill>
        <p:spPr>
          <a:xfrm>
            <a:off x="4551543" y="868680"/>
            <a:ext cx="3881393" cy="1618488"/>
          </a:xfrm>
          <a:prstGeom prst="rect">
            <a:avLst/>
          </a:prstGeom>
        </p:spPr>
      </p:pic>
      <p:sp>
        <p:nvSpPr>
          <p:cNvPr id="7" name="TextBox 6"/>
          <p:cNvSpPr txBox="1"/>
          <p:nvPr/>
        </p:nvSpPr>
        <p:spPr>
          <a:xfrm>
            <a:off x="4206240" y="2487168"/>
            <a:ext cx="4572000" cy="164592"/>
          </a:xfrm>
          <a:prstGeom prst="rect">
            <a:avLst/>
          </a:prstGeom>
          <a:noFill/>
        </p:spPr>
        <p:txBody>
          <a:bodyPr wrap="none" tIns="0" bIns="0">
            <a:spAutoFit/>
          </a:bodyPr>
          <a:lstStyle/>
          <a:p>
            <a:pPr algn="ctr"/>
            <a:r>
              <a:rPr sz="700" i="1">
                <a:solidFill>
                  <a:srgbClr val="808080"/>
                </a:solidFill>
              </a:rPr>
              <a:t>Placeholder · Propio (FSM captura)</a:t>
            </a:r>
          </a:p>
        </p:txBody>
      </p:sp>
      <p:pic>
        <p:nvPicPr>
          <p:cNvPr id="8" name="Picture 7" descr="fig10_f_senales_por_etapa.png"/>
          <p:cNvPicPr>
            <a:picLocks noChangeAspect="1"/>
          </p:cNvPicPr>
          <p:nvPr/>
        </p:nvPicPr>
        <p:blipFill>
          <a:blip r:embed="rId4"/>
          <a:stretch>
            <a:fillRect/>
          </a:stretch>
        </p:blipFill>
        <p:spPr>
          <a:xfrm>
            <a:off x="5592070" y="2743200"/>
            <a:ext cx="1800340" cy="1618488"/>
          </a:xfrm>
          <a:prstGeom prst="rect">
            <a:avLst/>
          </a:prstGeom>
        </p:spPr>
      </p:pic>
      <p:sp>
        <p:nvSpPr>
          <p:cNvPr id="9" name="TextBox 8"/>
          <p:cNvSpPr txBox="1"/>
          <p:nvPr/>
        </p:nvSpPr>
        <p:spPr>
          <a:xfrm>
            <a:off x="4206240" y="4361688"/>
            <a:ext cx="4572000" cy="164592"/>
          </a:xfrm>
          <a:prstGeom prst="rect">
            <a:avLst/>
          </a:prstGeom>
          <a:noFill/>
        </p:spPr>
        <p:txBody>
          <a:bodyPr wrap="none" tIns="0" bIns="0">
            <a:spAutoFit/>
          </a:bodyPr>
          <a:lstStyle/>
          <a:p>
            <a:pPr algn="ctr"/>
            <a:r>
              <a:rPr sz="700" i="1">
                <a:solidFill>
                  <a:srgbClr val="808080"/>
                </a:solidFill>
              </a:rPr>
              <a:t>Placeholder · Propio (señales por etapa)</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1E2761"/>
          </a:solidFill>
          <a:ln/>
        </p:spPr>
      </p:sp>
      <p:sp>
        <p:nvSpPr>
          <p:cNvPr id="3" name="Text 1"/>
          <p:cNvSpPr/>
          <p:nvPr/>
        </p:nvSpPr>
        <p:spPr>
          <a:xfrm>
            <a:off x="457200" y="137160"/>
            <a:ext cx="8229600" cy="457200"/>
          </a:xfrm>
          <a:prstGeom prst="rect">
            <a:avLst/>
          </a:prstGeom>
          <a:noFill/>
          <a:ln/>
        </p:spPr>
        <p:txBody>
          <a:bodyPr wrap="square" rtlCol="0" anchor="ctr"/>
          <a:lstStyle/>
          <a:p>
            <a:pPr algn="l" indent="0" marL="0">
              <a:buNone/>
            </a:pPr>
            <a:r>
              <a:rPr lang="en-US" sz="2800" b="1" dirty="0">
                <a:solidFill>
                  <a:srgbClr val="FFFFFF"/>
                </a:solidFill>
                <a:latin typeface="Cambria" pitchFamily="34" charset="0"/>
                <a:ea typeface="Cambria" pitchFamily="34" charset="-122"/>
                <a:cs typeface="Cambria" pitchFamily="34" charset="-120"/>
              </a:rPr>
              <a:t>Resultado: offset residual se reduce significativamente (papel URUCON 2026)</a:t>
            </a:r>
            <a:endParaRPr lang="en-US" sz="2800" dirty="0"/>
          </a:p>
        </p:txBody>
      </p:sp>
      <p:sp>
        <p:nvSpPr>
          <p:cNvPr id="4" name="Text 2"/>
          <p:cNvSpPr/>
          <p:nvPr/>
        </p:nvSpPr>
        <p:spPr>
          <a:xfrm>
            <a:off x="457200" y="914400"/>
            <a:ext cx="3566160" cy="3474720"/>
          </a:xfrm>
          <a:prstGeom prst="rect">
            <a:avLst/>
          </a:prstGeom>
          <a:noFill/>
          <a:ln/>
        </p:spPr>
        <p:txBody>
          <a:bodyPr wrap="square" rtlCol="0" anchor="t"/>
          <a:lstStyle/>
          <a:p>
            <a:pPr algn="l" indent="0" marL="0">
              <a:buNone/>
            </a:pPr>
            <a:r>
              <a:rPr lang="en-US" sz="1600" dirty="0">
                <a:solidFill>
                  <a:srgbClr val="36454F"/>
                </a:solidFill>
                <a:latin typeface="Calibri" pitchFamily="34" charset="0"/>
                <a:ea typeface="Calibri" pitchFamily="34" charset="-122"/>
                <a:cs typeface="Calibri" pitchFamily="34" charset="-120"/>
              </a:rPr>
              <a:t>LP residual: 2.9–45.8% FS → 0.4–3.9% FS en 8 configuraciones con UN único controlador.</a:t>
            </a:r>
            <a:endParaRPr lang="en-US" sz="1800" dirty="0"/>
          </a:p>
        </p:txBody>
      </p:sp>
      <p:sp>
        <p:nvSpPr>
          <p:cNvPr id="5" name="Text 3"/>
          <p:cNvSpPr/>
          <p:nvPr/>
        </p:nvSpPr>
        <p:spPr>
          <a:xfrm>
            <a:off x="457200" y="4572000"/>
            <a:ext cx="8229600" cy="0"/>
          </a:xfrm>
          <a:prstGeom prst="rect">
            <a:avLst/>
          </a:prstGeom>
          <a:noFill/>
          <a:ln/>
        </p:spPr>
        <p:txBody>
          <a:bodyPr wrap="square" rtlCol="0" anchor="ctr"/>
          <a:lstStyle/>
          <a:p>
            <a:pPr algn="r" indent="0" marL="0">
              <a:buNone/>
            </a:pPr>
            <a:r>
              <a:rPr lang="en-US" sz="1000" dirty="0">
                <a:solidFill>
                  <a:srgbClr val="028090"/>
                </a:solidFill>
              </a:rPr>
              <a:t>Slide 36 | GEO</a:t>
            </a:r>
            <a:endParaRPr lang="en-US" sz="1000" dirty="0"/>
          </a:p>
        </p:txBody>
      </p:sp>
      <p:pic>
        <p:nvPicPr>
          <p:cNvPr id="6" name="Picture 5" descr="s39_865328.png"/>
          <p:cNvPicPr>
            <a:picLocks noChangeAspect="1"/>
          </p:cNvPicPr>
          <p:nvPr/>
        </p:nvPicPr>
        <p:blipFill>
          <a:blip r:embed="rId3"/>
          <a:stretch>
            <a:fillRect/>
          </a:stretch>
        </p:blipFill>
        <p:spPr>
          <a:xfrm>
            <a:off x="5696829" y="868680"/>
            <a:ext cx="1590821" cy="1618488"/>
          </a:xfrm>
          <a:prstGeom prst="rect">
            <a:avLst/>
          </a:prstGeom>
        </p:spPr>
      </p:pic>
      <p:sp>
        <p:nvSpPr>
          <p:cNvPr id="7" name="TextBox 6"/>
          <p:cNvSpPr txBox="1"/>
          <p:nvPr/>
        </p:nvSpPr>
        <p:spPr>
          <a:xfrm>
            <a:off x="4206240" y="2487168"/>
            <a:ext cx="4572000" cy="164592"/>
          </a:xfrm>
          <a:prstGeom prst="rect">
            <a:avLst/>
          </a:prstGeom>
          <a:noFill/>
        </p:spPr>
        <p:txBody>
          <a:bodyPr wrap="none" tIns="0" bIns="0">
            <a:spAutoFit/>
          </a:bodyPr>
          <a:lstStyle/>
          <a:p>
            <a:pPr algn="ctr"/>
            <a:r>
              <a:rPr sz="700" i="1">
                <a:solidFill>
                  <a:srgbClr val="808080"/>
                </a:solidFill>
              </a:rPr>
              <a:t>Placeholder · Propio (señales por etapa)</a:t>
            </a:r>
          </a:p>
        </p:txBody>
      </p:sp>
      <p:pic>
        <p:nvPicPr>
          <p:cNvPr id="8" name="Picture 7" descr="fig11_f_ruta_pga_adc.png"/>
          <p:cNvPicPr>
            <a:picLocks noChangeAspect="1"/>
          </p:cNvPicPr>
          <p:nvPr/>
        </p:nvPicPr>
        <p:blipFill>
          <a:blip r:embed="rId4"/>
          <a:stretch>
            <a:fillRect/>
          </a:stretch>
        </p:blipFill>
        <p:spPr>
          <a:xfrm>
            <a:off x="5460694" y="2743200"/>
            <a:ext cx="2063092" cy="1618488"/>
          </a:xfrm>
          <a:prstGeom prst="rect">
            <a:avLst/>
          </a:prstGeom>
        </p:spPr>
      </p:pic>
      <p:sp>
        <p:nvSpPr>
          <p:cNvPr id="9" name="TextBox 8"/>
          <p:cNvSpPr txBox="1"/>
          <p:nvPr/>
        </p:nvSpPr>
        <p:spPr>
          <a:xfrm>
            <a:off x="4206240" y="4361688"/>
            <a:ext cx="4572000" cy="164592"/>
          </a:xfrm>
          <a:prstGeom prst="rect">
            <a:avLst/>
          </a:prstGeom>
          <a:noFill/>
        </p:spPr>
        <p:txBody>
          <a:bodyPr wrap="none" tIns="0" bIns="0">
            <a:spAutoFit/>
          </a:bodyPr>
          <a:lstStyle/>
          <a:p>
            <a:pPr algn="ctr"/>
            <a:r>
              <a:rPr sz="700" i="1">
                <a:solidFill>
                  <a:srgbClr val="808080"/>
                </a:solidFill>
              </a:rPr>
              <a:t>Placeholder · Propio (ruta PGA-ADC)</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1E2761"/>
          </a:solidFill>
          <a:ln/>
        </p:spPr>
      </p:sp>
      <p:sp>
        <p:nvSpPr>
          <p:cNvPr id="3" name="Text 1"/>
          <p:cNvSpPr/>
          <p:nvPr/>
        </p:nvSpPr>
        <p:spPr>
          <a:xfrm>
            <a:off x="457200" y="137160"/>
            <a:ext cx="8229600" cy="457200"/>
          </a:xfrm>
          <a:prstGeom prst="rect">
            <a:avLst/>
          </a:prstGeom>
          <a:noFill/>
          <a:ln/>
        </p:spPr>
        <p:txBody>
          <a:bodyPr wrap="square" rtlCol="0" anchor="ctr"/>
          <a:lstStyle/>
          <a:p>
            <a:pPr algn="l" indent="0" marL="0">
              <a:buNone/>
            </a:pPr>
            <a:r>
              <a:rPr lang="en-US" sz="2800" b="1" dirty="0">
                <a:solidFill>
                  <a:srgbClr val="FFFFFF"/>
                </a:solidFill>
                <a:latin typeface="Cambria" pitchFamily="34" charset="0"/>
                <a:ea typeface="Cambria" pitchFamily="34" charset="-122"/>
                <a:cs typeface="Cambria" pitchFamily="34" charset="-120"/>
              </a:rPr>
              <a:t>Captura digital GEO: PSoC 5LP, ADC ΔΣ 18-bit, ~2604 Sa/s, DMA, DFB, almacenamiento</a:t>
            </a:r>
            <a:endParaRPr lang="en-US" sz="2800" dirty="0"/>
          </a:p>
        </p:txBody>
      </p:sp>
      <p:sp>
        <p:nvSpPr>
          <p:cNvPr id="4" name="Text 2"/>
          <p:cNvSpPr/>
          <p:nvPr/>
        </p:nvSpPr>
        <p:spPr>
          <a:xfrm>
            <a:off x="457200" y="914400"/>
            <a:ext cx="3566160" cy="3474720"/>
          </a:xfrm>
          <a:prstGeom prst="rect">
            <a:avLst/>
          </a:prstGeom>
          <a:noFill/>
          <a:ln/>
        </p:spPr>
        <p:txBody>
          <a:bodyPr wrap="square" rtlCol="0" anchor="t"/>
          <a:lstStyle/>
          <a:p>
            <a:pPr algn="l" indent="0" marL="0">
              <a:buNone/>
            </a:pPr>
            <a:r>
              <a:rPr lang="en-US" sz="1600" dirty="0">
                <a:solidFill>
                  <a:srgbClr val="36454F"/>
                </a:solidFill>
                <a:latin typeface="Calibri" pitchFamily="34" charset="0"/>
                <a:ea typeface="Calibri" pitchFamily="34" charset="-122"/>
                <a:cs typeface="Calibri" pitchFamily="34" charset="-120"/>
              </a:rPr>
              <a:t>Once disparada, timing crítico en hardware/local. DMA mueve muestras sin CPU. DFB para filtrado embebido si necesario.</a:t>
            </a:r>
            <a:endParaRPr lang="en-US" sz="1800" dirty="0"/>
          </a:p>
        </p:txBody>
      </p:sp>
      <p:sp>
        <p:nvSpPr>
          <p:cNvPr id="5" name="Text 3"/>
          <p:cNvSpPr/>
          <p:nvPr/>
        </p:nvSpPr>
        <p:spPr>
          <a:xfrm>
            <a:off x="457200" y="4572000"/>
            <a:ext cx="8229600" cy="0"/>
          </a:xfrm>
          <a:prstGeom prst="rect">
            <a:avLst/>
          </a:prstGeom>
          <a:noFill/>
          <a:ln/>
        </p:spPr>
        <p:txBody>
          <a:bodyPr wrap="square" rtlCol="0" anchor="ctr"/>
          <a:lstStyle/>
          <a:p>
            <a:pPr algn="r" indent="0" marL="0">
              <a:buNone/>
            </a:pPr>
            <a:r>
              <a:rPr lang="en-US" sz="1000" dirty="0">
                <a:solidFill>
                  <a:srgbClr val="028090"/>
                </a:solidFill>
              </a:rPr>
              <a:t>Slide 37 | GEO</a:t>
            </a:r>
            <a:endParaRPr lang="en-US" sz="1000" dirty="0"/>
          </a:p>
        </p:txBody>
      </p:sp>
      <p:pic>
        <p:nvPicPr>
          <p:cNvPr id="6" name="Picture 5" descr="s40_a0c4b0.png"/>
          <p:cNvPicPr>
            <a:picLocks noChangeAspect="1"/>
          </p:cNvPicPr>
          <p:nvPr/>
        </p:nvPicPr>
        <p:blipFill>
          <a:blip r:embed="rId3"/>
          <a:stretch>
            <a:fillRect/>
          </a:stretch>
        </p:blipFill>
        <p:spPr>
          <a:xfrm>
            <a:off x="4743873" y="868680"/>
            <a:ext cx="3496733" cy="1618488"/>
          </a:xfrm>
          <a:prstGeom prst="rect">
            <a:avLst/>
          </a:prstGeom>
        </p:spPr>
      </p:pic>
      <p:sp>
        <p:nvSpPr>
          <p:cNvPr id="7" name="TextBox 6"/>
          <p:cNvSpPr txBox="1"/>
          <p:nvPr/>
        </p:nvSpPr>
        <p:spPr>
          <a:xfrm>
            <a:off x="4206240" y="2487168"/>
            <a:ext cx="4572000" cy="164592"/>
          </a:xfrm>
          <a:prstGeom prst="rect">
            <a:avLst/>
          </a:prstGeom>
          <a:noFill/>
        </p:spPr>
        <p:txBody>
          <a:bodyPr wrap="none" tIns="0" bIns="0">
            <a:spAutoFit/>
          </a:bodyPr>
          <a:lstStyle/>
          <a:p>
            <a:pPr algn="ctr"/>
            <a:r>
              <a:rPr sz="700" i="1">
                <a:solidFill>
                  <a:srgbClr val="808080"/>
                </a:solidFill>
              </a:rPr>
              <a:t>Placeholder · Propio (hardware digital PSoC)</a:t>
            </a:r>
          </a:p>
        </p:txBody>
      </p:sp>
      <p:pic>
        <p:nvPicPr>
          <p:cNvPr id="8" name="Picture 7" descr="D13.png"/>
          <p:cNvPicPr>
            <a:picLocks noChangeAspect="1"/>
          </p:cNvPicPr>
          <p:nvPr/>
        </p:nvPicPr>
        <p:blipFill>
          <a:blip r:embed="rId4"/>
          <a:stretch>
            <a:fillRect/>
          </a:stretch>
        </p:blipFill>
        <p:spPr>
          <a:xfrm>
            <a:off x="4945426" y="2743200"/>
            <a:ext cx="3093628" cy="1618488"/>
          </a:xfrm>
          <a:prstGeom prst="rect">
            <a:avLst/>
          </a:prstGeom>
        </p:spPr>
      </p:pic>
      <p:sp>
        <p:nvSpPr>
          <p:cNvPr id="9" name="TextBox 8"/>
          <p:cNvSpPr txBox="1"/>
          <p:nvPr/>
        </p:nvSpPr>
        <p:spPr>
          <a:xfrm>
            <a:off x="4206240" y="4361688"/>
            <a:ext cx="4572000" cy="164592"/>
          </a:xfrm>
          <a:prstGeom prst="rect">
            <a:avLst/>
          </a:prstGeom>
          <a:noFill/>
        </p:spPr>
        <p:txBody>
          <a:bodyPr wrap="none" tIns="0" bIns="0">
            <a:spAutoFit/>
          </a:bodyPr>
          <a:lstStyle/>
          <a:p>
            <a:pPr algn="ctr"/>
            <a:r>
              <a:rPr sz="700" i="1">
                <a:solidFill>
                  <a:srgbClr val="808080"/>
                </a:solidFill>
              </a:rPr>
              <a:t>Placeholder · Propio (drawio D13)</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1E2761"/>
          </a:solidFill>
          <a:ln/>
        </p:spPr>
      </p:sp>
      <p:sp>
        <p:nvSpPr>
          <p:cNvPr id="3" name="Text 1"/>
          <p:cNvSpPr/>
          <p:nvPr/>
        </p:nvSpPr>
        <p:spPr>
          <a:xfrm>
            <a:off x="457200" y="137160"/>
            <a:ext cx="8229600" cy="457200"/>
          </a:xfrm>
          <a:prstGeom prst="rect">
            <a:avLst/>
          </a:prstGeom>
          <a:noFill/>
          <a:ln/>
        </p:spPr>
        <p:txBody>
          <a:bodyPr wrap="square" rtlCol="0" anchor="ctr"/>
          <a:lstStyle/>
          <a:p>
            <a:pPr algn="l" indent="0" marL="0">
              <a:buNone/>
            </a:pPr>
            <a:r>
              <a:rPr lang="en-US" sz="2800" b="1" dirty="0">
                <a:solidFill>
                  <a:srgbClr val="FFFFFF"/>
                </a:solidFill>
                <a:latin typeface="Cambria" pitchFamily="34" charset="0"/>
                <a:ea typeface="Cambria" pitchFamily="34" charset="-122"/>
                <a:cs typeface="Cambria" pitchFamily="34" charset="-120"/>
              </a:rPr>
              <a:t>MASTER: coordinación ESP32 con sincronización preliminar y control de flujo</a:t>
            </a:r>
            <a:endParaRPr lang="en-US" sz="2800" dirty="0"/>
          </a:p>
        </p:txBody>
      </p:sp>
      <p:sp>
        <p:nvSpPr>
          <p:cNvPr id="4" name="Text 2"/>
          <p:cNvSpPr/>
          <p:nvPr/>
        </p:nvSpPr>
        <p:spPr>
          <a:xfrm>
            <a:off x="457200" y="914400"/>
            <a:ext cx="3566160" cy="3474720"/>
          </a:xfrm>
          <a:prstGeom prst="rect">
            <a:avLst/>
          </a:prstGeom>
          <a:noFill/>
          <a:ln/>
        </p:spPr>
        <p:txBody>
          <a:bodyPr wrap="square" rtlCol="0" anchor="t"/>
          <a:lstStyle/>
          <a:p>
            <a:pPr algn="l" indent="0" marL="0">
              <a:buNone/>
            </a:pPr>
            <a:r>
              <a:rPr lang="en-US" sz="1600" dirty="0">
                <a:solidFill>
                  <a:srgbClr val="36454F"/>
                </a:solidFill>
                <a:latin typeface="Calibri" pitchFamily="34" charset="0"/>
                <a:ea typeface="Calibri" pitchFamily="34" charset="-122"/>
                <a:cs typeface="Calibri" pitchFamily="34" charset="-120"/>
              </a:rPr>
              <a:t>ESP-NOW broadcast para ARM y START. PRESTART para validación previa. Reloj local, captura asíncrona.</a:t>
            </a:r>
            <a:endParaRPr lang="en-US" sz="1800" dirty="0"/>
          </a:p>
        </p:txBody>
      </p:sp>
      <p:sp>
        <p:nvSpPr>
          <p:cNvPr id="5" name="Text 3"/>
          <p:cNvSpPr/>
          <p:nvPr/>
        </p:nvSpPr>
        <p:spPr>
          <a:xfrm>
            <a:off x="457200" y="4572000"/>
            <a:ext cx="8229600" cy="0"/>
          </a:xfrm>
          <a:prstGeom prst="rect">
            <a:avLst/>
          </a:prstGeom>
          <a:noFill/>
          <a:ln/>
        </p:spPr>
        <p:txBody>
          <a:bodyPr wrap="square" rtlCol="0" anchor="ctr"/>
          <a:lstStyle/>
          <a:p>
            <a:pPr algn="r" indent="0" marL="0">
              <a:buNone/>
            </a:pPr>
            <a:r>
              <a:rPr lang="en-US" sz="1000" dirty="0">
                <a:solidFill>
                  <a:srgbClr val="028090"/>
                </a:solidFill>
              </a:rPr>
              <a:t>Slide 38 | MASTER</a:t>
            </a:r>
            <a:endParaRPr lang="en-US" sz="1000" dirty="0"/>
          </a:p>
        </p:txBody>
      </p:sp>
      <p:pic>
        <p:nvPicPr>
          <p:cNvPr id="6" name="Picture 5" descr="s41_f569d7.png"/>
          <p:cNvPicPr>
            <a:picLocks noChangeAspect="1"/>
          </p:cNvPicPr>
          <p:nvPr/>
        </p:nvPicPr>
        <p:blipFill>
          <a:blip r:embed="rId3"/>
          <a:stretch>
            <a:fillRect/>
          </a:stretch>
        </p:blipFill>
        <p:spPr>
          <a:xfrm>
            <a:off x="4780735" y="868680"/>
            <a:ext cx="3423009" cy="1618488"/>
          </a:xfrm>
          <a:prstGeom prst="rect">
            <a:avLst/>
          </a:prstGeom>
        </p:spPr>
      </p:pic>
      <p:sp>
        <p:nvSpPr>
          <p:cNvPr id="7" name="TextBox 6"/>
          <p:cNvSpPr txBox="1"/>
          <p:nvPr/>
        </p:nvSpPr>
        <p:spPr>
          <a:xfrm>
            <a:off x="4206240" y="2487168"/>
            <a:ext cx="4572000" cy="164592"/>
          </a:xfrm>
          <a:prstGeom prst="rect">
            <a:avLst/>
          </a:prstGeom>
          <a:noFill/>
        </p:spPr>
        <p:txBody>
          <a:bodyPr wrap="none" tIns="0" bIns="0">
            <a:spAutoFit/>
          </a:bodyPr>
          <a:lstStyle/>
          <a:p>
            <a:pPr algn="ctr"/>
            <a:r>
              <a:rPr sz="700" i="1">
                <a:solidFill>
                  <a:srgbClr val="808080"/>
                </a:solidFill>
              </a:rPr>
              <a:t>Placeholder · Propio (secuencia START)</a:t>
            </a:r>
          </a:p>
        </p:txBody>
      </p:sp>
      <p:pic>
        <p:nvPicPr>
          <p:cNvPr id="8" name="Picture 7" descr="D05.png"/>
          <p:cNvPicPr>
            <a:picLocks noChangeAspect="1"/>
          </p:cNvPicPr>
          <p:nvPr/>
        </p:nvPicPr>
        <p:blipFill>
          <a:blip r:embed="rId4"/>
          <a:stretch>
            <a:fillRect/>
          </a:stretch>
        </p:blipFill>
        <p:spPr>
          <a:xfrm>
            <a:off x="4404832" y="2743200"/>
            <a:ext cx="4174815" cy="1618488"/>
          </a:xfrm>
          <a:prstGeom prst="rect">
            <a:avLst/>
          </a:prstGeom>
        </p:spPr>
      </p:pic>
      <p:sp>
        <p:nvSpPr>
          <p:cNvPr id="9" name="TextBox 8"/>
          <p:cNvSpPr txBox="1"/>
          <p:nvPr/>
        </p:nvSpPr>
        <p:spPr>
          <a:xfrm>
            <a:off x="4206240" y="4361688"/>
            <a:ext cx="4572000" cy="164592"/>
          </a:xfrm>
          <a:prstGeom prst="rect">
            <a:avLst/>
          </a:prstGeom>
          <a:noFill/>
        </p:spPr>
        <p:txBody>
          <a:bodyPr wrap="none" tIns="0" bIns="0">
            <a:spAutoFit/>
          </a:bodyPr>
          <a:lstStyle/>
          <a:p>
            <a:pPr algn="ctr"/>
            <a:r>
              <a:rPr sz="700" i="1">
                <a:solidFill>
                  <a:srgbClr val="808080"/>
                </a:solidFill>
              </a:rPr>
              <a:t>Placeholder · Propio (drawio D05)</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1E2761"/>
          </a:solidFill>
          <a:ln/>
        </p:spPr>
      </p:sp>
      <p:sp>
        <p:nvSpPr>
          <p:cNvPr id="3" name="Text 1"/>
          <p:cNvSpPr/>
          <p:nvPr/>
        </p:nvSpPr>
        <p:spPr>
          <a:xfrm>
            <a:off x="457200" y="137160"/>
            <a:ext cx="8229600" cy="457200"/>
          </a:xfrm>
          <a:prstGeom prst="rect">
            <a:avLst/>
          </a:prstGeom>
          <a:noFill/>
          <a:ln/>
        </p:spPr>
        <p:txBody>
          <a:bodyPr wrap="square" rtlCol="0" anchor="ctr"/>
          <a:lstStyle/>
          <a:p>
            <a:pPr algn="l" indent="0" marL="0">
              <a:buNone/>
            </a:pPr>
            <a:r>
              <a:rPr lang="en-US" sz="2800" b="1" dirty="0">
                <a:solidFill>
                  <a:srgbClr val="FFFFFF"/>
                </a:solidFill>
                <a:latin typeface="Cambria" pitchFamily="34" charset="0"/>
                <a:ea typeface="Cambria" pitchFamily="34" charset="-122"/>
                <a:cs typeface="Cambria" pitchFamily="34" charset="-120"/>
              </a:rPr>
              <a:t>Sincronización y error de fase: Δt=400µs → Δφ~3° @ 20Hz, ~7° @ 50Hz</a:t>
            </a:r>
            <a:endParaRPr lang="en-US" sz="2800" dirty="0"/>
          </a:p>
        </p:txBody>
      </p:sp>
      <p:sp>
        <p:nvSpPr>
          <p:cNvPr id="4" name="Text 2"/>
          <p:cNvSpPr/>
          <p:nvPr/>
        </p:nvSpPr>
        <p:spPr>
          <a:xfrm>
            <a:off x="457200" y="914400"/>
            <a:ext cx="3566160" cy="3474720"/>
          </a:xfrm>
          <a:prstGeom prst="rect">
            <a:avLst/>
          </a:prstGeom>
          <a:noFill/>
          <a:ln/>
        </p:spPr>
        <p:txBody>
          <a:bodyPr wrap="square" rtlCol="0" anchor="t"/>
          <a:lstStyle/>
          <a:p>
            <a:pPr algn="l" indent="0" marL="0">
              <a:buNone/>
            </a:pPr>
            <a:r>
              <a:rPr lang="en-US" sz="1600" dirty="0">
                <a:solidFill>
                  <a:srgbClr val="36454F"/>
                </a:solidFill>
                <a:latin typeface="Calibri" pitchFamily="34" charset="0"/>
                <a:ea typeface="Calibri" pitchFamily="34" charset="-122"/>
                <a:cs typeface="Calibri" pitchFamily="34" charset="-120"/>
              </a:rPr>
              <a:t>Desembarco observado, no garantizado. Impacto en velocidad de fase y picking de dispersión.</a:t>
            </a:r>
            <a:endParaRPr lang="en-US" sz="1800" dirty="0"/>
          </a:p>
        </p:txBody>
      </p:sp>
      <p:sp>
        <p:nvSpPr>
          <p:cNvPr id="5" name="Text 3"/>
          <p:cNvSpPr/>
          <p:nvPr/>
        </p:nvSpPr>
        <p:spPr>
          <a:xfrm>
            <a:off x="457200" y="4572000"/>
            <a:ext cx="8229600" cy="0"/>
          </a:xfrm>
          <a:prstGeom prst="rect">
            <a:avLst/>
          </a:prstGeom>
          <a:noFill/>
          <a:ln/>
        </p:spPr>
        <p:txBody>
          <a:bodyPr wrap="square" rtlCol="0" anchor="ctr"/>
          <a:lstStyle/>
          <a:p>
            <a:pPr algn="r" indent="0" marL="0">
              <a:buNone/>
            </a:pPr>
            <a:r>
              <a:rPr lang="en-US" sz="1000" dirty="0">
                <a:solidFill>
                  <a:srgbClr val="028090"/>
                </a:solidFill>
              </a:rPr>
              <a:t>Slide 39 | MASTER</a:t>
            </a:r>
            <a:endParaRPr lang="en-US" sz="1000" dirty="0"/>
          </a:p>
        </p:txBody>
      </p:sp>
      <p:pic>
        <p:nvPicPr>
          <p:cNvPr id="6" name="Picture 5" descr="sincronizacion_fase.png"/>
          <p:cNvPicPr>
            <a:picLocks noChangeAspect="1"/>
          </p:cNvPicPr>
          <p:nvPr/>
        </p:nvPicPr>
        <p:blipFill>
          <a:blip r:embed="rId3"/>
          <a:stretch>
            <a:fillRect/>
          </a:stretch>
        </p:blipFill>
        <p:spPr>
          <a:xfrm>
            <a:off x="4895623" y="868680"/>
            <a:ext cx="3193233" cy="1618488"/>
          </a:xfrm>
          <a:prstGeom prst="rect">
            <a:avLst/>
          </a:prstGeom>
        </p:spPr>
      </p:pic>
      <p:sp>
        <p:nvSpPr>
          <p:cNvPr id="7" name="TextBox 6"/>
          <p:cNvSpPr txBox="1"/>
          <p:nvPr/>
        </p:nvSpPr>
        <p:spPr>
          <a:xfrm>
            <a:off x="4206240" y="2487168"/>
            <a:ext cx="4572000" cy="164592"/>
          </a:xfrm>
          <a:prstGeom prst="rect">
            <a:avLst/>
          </a:prstGeom>
          <a:noFill/>
        </p:spPr>
        <p:txBody>
          <a:bodyPr wrap="none" tIns="0" bIns="0">
            <a:spAutoFit/>
          </a:bodyPr>
          <a:lstStyle/>
          <a:p>
            <a:pPr algn="ctr"/>
            <a:r>
              <a:rPr sz="700" i="1">
                <a:solidFill>
                  <a:srgbClr val="808080"/>
                </a:solidFill>
              </a:rPr>
              <a:t>Placeholder · Propio (histórico, rehacer)</a:t>
            </a:r>
          </a:p>
        </p:txBody>
      </p:sp>
      <p:pic>
        <p:nvPicPr>
          <p:cNvPr id="8" name="Picture 7" descr="secuencia_start_multinodo.png"/>
          <p:cNvPicPr>
            <a:picLocks noChangeAspect="1"/>
          </p:cNvPicPr>
          <p:nvPr/>
        </p:nvPicPr>
        <p:blipFill>
          <a:blip r:embed="rId4"/>
          <a:stretch>
            <a:fillRect/>
          </a:stretch>
        </p:blipFill>
        <p:spPr>
          <a:xfrm>
            <a:off x="4404422" y="2743200"/>
            <a:ext cx="4175636" cy="1618488"/>
          </a:xfrm>
          <a:prstGeom prst="rect">
            <a:avLst/>
          </a:prstGeom>
        </p:spPr>
      </p:pic>
      <p:sp>
        <p:nvSpPr>
          <p:cNvPr id="9" name="TextBox 8"/>
          <p:cNvSpPr txBox="1"/>
          <p:nvPr/>
        </p:nvSpPr>
        <p:spPr>
          <a:xfrm>
            <a:off x="4206240" y="4361688"/>
            <a:ext cx="4572000" cy="164592"/>
          </a:xfrm>
          <a:prstGeom prst="rect">
            <a:avLst/>
          </a:prstGeom>
          <a:noFill/>
        </p:spPr>
        <p:txBody>
          <a:bodyPr wrap="none" tIns="0" bIns="0">
            <a:spAutoFit/>
          </a:bodyPr>
          <a:lstStyle/>
          <a:p>
            <a:pPr algn="ctr"/>
            <a:r>
              <a:rPr sz="700" i="1">
                <a:solidFill>
                  <a:srgbClr val="808080"/>
                </a:solidFill>
              </a:rPr>
              <a:t>Placeholder · Propio</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1E2761"/>
          </a:solidFill>
          <a:ln/>
        </p:spPr>
      </p:sp>
      <p:sp>
        <p:nvSpPr>
          <p:cNvPr id="3" name="Text 1"/>
          <p:cNvSpPr/>
          <p:nvPr/>
        </p:nvSpPr>
        <p:spPr>
          <a:xfrm>
            <a:off x="457200" y="137160"/>
            <a:ext cx="8229600" cy="457200"/>
          </a:xfrm>
          <a:prstGeom prst="rect">
            <a:avLst/>
          </a:prstGeom>
          <a:noFill/>
          <a:ln/>
        </p:spPr>
        <p:txBody>
          <a:bodyPr wrap="square" rtlCol="0" anchor="ctr"/>
          <a:lstStyle/>
          <a:p>
            <a:pPr algn="l" indent="0" marL="0">
              <a:buNone/>
            </a:pPr>
            <a:r>
              <a:rPr lang="en-US" sz="2800" b="1" dirty="0">
                <a:solidFill>
                  <a:srgbClr val="FFFFFF"/>
                </a:solidFill>
                <a:latin typeface="Cambria" pitchFamily="34" charset="0"/>
                <a:ea typeface="Cambria" pitchFamily="34" charset="-122"/>
                <a:cs typeface="Cambria" pitchFamily="34" charset="-120"/>
              </a:rPr>
              <a:t>HAMMER: PCB 086D20 sensor de fuerza piezoeléctrico, instante y forma de impacto</a:t>
            </a:r>
            <a:endParaRPr lang="en-US" sz="2800" dirty="0"/>
          </a:p>
        </p:txBody>
      </p:sp>
      <p:sp>
        <p:nvSpPr>
          <p:cNvPr id="4" name="Text 2"/>
          <p:cNvSpPr/>
          <p:nvPr/>
        </p:nvSpPr>
        <p:spPr>
          <a:xfrm>
            <a:off x="457200" y="914400"/>
            <a:ext cx="3566160" cy="3474720"/>
          </a:xfrm>
          <a:prstGeom prst="rect">
            <a:avLst/>
          </a:prstGeom>
          <a:noFill/>
          <a:ln/>
        </p:spPr>
        <p:txBody>
          <a:bodyPr wrap="square" rtlCol="0" anchor="t"/>
          <a:lstStyle/>
          <a:p>
            <a:pPr algn="l" indent="0" marL="0">
              <a:buNone/>
            </a:pPr>
            <a:r>
              <a:rPr lang="en-US" sz="1600" dirty="0">
                <a:solidFill>
                  <a:srgbClr val="36454F"/>
                </a:solidFill>
                <a:latin typeface="Calibri" pitchFamily="34" charset="0"/>
                <a:ea typeface="Calibri" pitchFamily="34" charset="-122"/>
                <a:cs typeface="Calibri" pitchFamily="34" charset="-120"/>
              </a:rPr>
              <a:t>Transductor ICP, amplificación local, cadena similar a GEO. Detecta rebote, aceptación/rechazo de captura.</a:t>
            </a:r>
            <a:endParaRPr lang="en-US" sz="1800" dirty="0"/>
          </a:p>
        </p:txBody>
      </p:sp>
      <p:sp>
        <p:nvSpPr>
          <p:cNvPr id="5" name="Text 3"/>
          <p:cNvSpPr/>
          <p:nvPr/>
        </p:nvSpPr>
        <p:spPr>
          <a:xfrm>
            <a:off x="457200" y="4572000"/>
            <a:ext cx="8229600" cy="0"/>
          </a:xfrm>
          <a:prstGeom prst="rect">
            <a:avLst/>
          </a:prstGeom>
          <a:noFill/>
          <a:ln/>
        </p:spPr>
        <p:txBody>
          <a:bodyPr wrap="square" rtlCol="0" anchor="ctr"/>
          <a:lstStyle/>
          <a:p>
            <a:pPr algn="r" indent="0" marL="0">
              <a:buNone/>
            </a:pPr>
            <a:r>
              <a:rPr lang="en-US" sz="1000" dirty="0">
                <a:solidFill>
                  <a:srgbClr val="028090"/>
                </a:solidFill>
              </a:rPr>
              <a:t>Slide 40 | HAMMER</a:t>
            </a:r>
            <a:endParaRPr lang="en-US" sz="1000" dirty="0"/>
          </a:p>
        </p:txBody>
      </p:sp>
      <p:pic>
        <p:nvPicPr>
          <p:cNvPr id="6" name="Picture 5" descr="s43_68a402.png"/>
          <p:cNvPicPr>
            <a:picLocks noChangeAspect="1"/>
          </p:cNvPicPr>
          <p:nvPr/>
        </p:nvPicPr>
        <p:blipFill>
          <a:blip r:embed="rId3"/>
          <a:stretch>
            <a:fillRect/>
          </a:stretch>
        </p:blipFill>
        <p:spPr>
          <a:xfrm>
            <a:off x="5941297" y="868680"/>
            <a:ext cx="1101885" cy="1618488"/>
          </a:xfrm>
          <a:prstGeom prst="rect">
            <a:avLst/>
          </a:prstGeom>
        </p:spPr>
      </p:pic>
      <p:sp>
        <p:nvSpPr>
          <p:cNvPr id="7" name="TextBox 6"/>
          <p:cNvSpPr txBox="1"/>
          <p:nvPr/>
        </p:nvSpPr>
        <p:spPr>
          <a:xfrm>
            <a:off x="4206240" y="2487168"/>
            <a:ext cx="4572000" cy="164592"/>
          </a:xfrm>
          <a:prstGeom prst="rect">
            <a:avLst/>
          </a:prstGeom>
          <a:noFill/>
        </p:spPr>
        <p:txBody>
          <a:bodyPr wrap="none" tIns="0" bIns="0">
            <a:spAutoFit/>
          </a:bodyPr>
          <a:lstStyle/>
          <a:p>
            <a:pPr algn="ctr"/>
            <a:r>
              <a:rPr sz="700" i="1">
                <a:solidFill>
                  <a:srgbClr val="808080"/>
                </a:solidFill>
              </a:rPr>
              <a:t>Placeholder · Martillo PCB 086D20 (propio)</a:t>
            </a:r>
          </a:p>
        </p:txBody>
      </p:sp>
      <p:pic>
        <p:nvPicPr>
          <p:cNvPr id="8" name="Picture 7" descr="fig14_acondicionamiento_martillo_psoc.png"/>
          <p:cNvPicPr>
            <a:picLocks noChangeAspect="1"/>
          </p:cNvPicPr>
          <p:nvPr/>
        </p:nvPicPr>
        <p:blipFill>
          <a:blip r:embed="rId4"/>
          <a:stretch>
            <a:fillRect/>
          </a:stretch>
        </p:blipFill>
        <p:spPr>
          <a:xfrm>
            <a:off x="4356063" y="2743200"/>
            <a:ext cx="4272353" cy="1618488"/>
          </a:xfrm>
          <a:prstGeom prst="rect">
            <a:avLst/>
          </a:prstGeom>
        </p:spPr>
      </p:pic>
      <p:sp>
        <p:nvSpPr>
          <p:cNvPr id="9" name="TextBox 8"/>
          <p:cNvSpPr txBox="1"/>
          <p:nvPr/>
        </p:nvSpPr>
        <p:spPr>
          <a:xfrm>
            <a:off x="4206240" y="4361688"/>
            <a:ext cx="4572000" cy="164592"/>
          </a:xfrm>
          <a:prstGeom prst="rect">
            <a:avLst/>
          </a:prstGeom>
          <a:noFill/>
        </p:spPr>
        <p:txBody>
          <a:bodyPr wrap="none" tIns="0" bIns="0">
            <a:spAutoFit/>
          </a:bodyPr>
          <a:lstStyle/>
          <a:p>
            <a:pPr algn="ctr"/>
            <a:r>
              <a:rPr sz="700" i="1">
                <a:solidFill>
                  <a:srgbClr val="808080"/>
                </a:solidFill>
              </a:rPr>
              <a:t>Placeholder · Propio</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1E2761"/>
          </a:solidFill>
          <a:ln/>
        </p:spPr>
      </p:sp>
      <p:sp>
        <p:nvSpPr>
          <p:cNvPr id="3" name="Text 1"/>
          <p:cNvSpPr/>
          <p:nvPr/>
        </p:nvSpPr>
        <p:spPr>
          <a:xfrm>
            <a:off x="457200" y="137160"/>
            <a:ext cx="8229600" cy="457200"/>
          </a:xfrm>
          <a:prstGeom prst="rect">
            <a:avLst/>
          </a:prstGeom>
          <a:noFill/>
          <a:ln/>
        </p:spPr>
        <p:txBody>
          <a:bodyPr wrap="square" rtlCol="0" anchor="ctr"/>
          <a:lstStyle/>
          <a:p>
            <a:pPr algn="l" indent="0" marL="0">
              <a:buNone/>
            </a:pPr>
            <a:r>
              <a:rPr lang="en-US" sz="2800" b="1" dirty="0">
                <a:solidFill>
                  <a:srgbClr val="FFFFFF"/>
                </a:solidFill>
                <a:latin typeface="Cambria" pitchFamily="34" charset="0"/>
                <a:ea typeface="Cambria" pitchFamily="34" charset="-122"/>
                <a:cs typeface="Cambria" pitchFamily="34" charset="-120"/>
              </a:rPr>
              <a:t>Flujo de campo: configurar → calibrar → ARM → impacto → revisar → aceptar/repetir → mover</a:t>
            </a:r>
            <a:endParaRPr lang="en-US" sz="2800" dirty="0"/>
          </a:p>
        </p:txBody>
      </p:sp>
      <p:sp>
        <p:nvSpPr>
          <p:cNvPr id="4" name="Text 2"/>
          <p:cNvSpPr/>
          <p:nvPr/>
        </p:nvSpPr>
        <p:spPr>
          <a:xfrm>
            <a:off x="457200" y="914400"/>
            <a:ext cx="3566160" cy="3474720"/>
          </a:xfrm>
          <a:prstGeom prst="rect">
            <a:avLst/>
          </a:prstGeom>
          <a:noFill/>
          <a:ln/>
        </p:spPr>
        <p:txBody>
          <a:bodyPr wrap="square" rtlCol="0" anchor="t"/>
          <a:lstStyle/>
          <a:p>
            <a:pPr algn="l" indent="0" marL="0">
              <a:buNone/>
            </a:pPr>
            <a:r>
              <a:rPr lang="en-US" sz="1600" dirty="0">
                <a:solidFill>
                  <a:srgbClr val="36454F"/>
                </a:solidFill>
                <a:latin typeface="Calibri" pitchFamily="34" charset="0"/>
                <a:ea typeface="Calibri" pitchFamily="34" charset="-122"/>
                <a:cs typeface="Calibri" pitchFamily="34" charset="-120"/>
              </a:rPr>
              <a:t>Interfaz web: configuración, adquisición, revisión en vivo. Metadatos: posición, ganancia, estado calibración.</a:t>
            </a:r>
            <a:endParaRPr lang="en-US" sz="1800" dirty="0"/>
          </a:p>
        </p:txBody>
      </p:sp>
      <p:sp>
        <p:nvSpPr>
          <p:cNvPr id="5" name="Text 3"/>
          <p:cNvSpPr/>
          <p:nvPr/>
        </p:nvSpPr>
        <p:spPr>
          <a:xfrm>
            <a:off x="457200" y="4572000"/>
            <a:ext cx="8229600" cy="0"/>
          </a:xfrm>
          <a:prstGeom prst="rect">
            <a:avLst/>
          </a:prstGeom>
          <a:noFill/>
          <a:ln/>
        </p:spPr>
        <p:txBody>
          <a:bodyPr wrap="square" rtlCol="0" anchor="ctr"/>
          <a:lstStyle/>
          <a:p>
            <a:pPr algn="r" indent="0" marL="0">
              <a:buNone/>
            </a:pPr>
            <a:r>
              <a:rPr lang="en-US" sz="1000" dirty="0">
                <a:solidFill>
                  <a:srgbClr val="028090"/>
                </a:solidFill>
              </a:rPr>
              <a:t>Slide 41 | Campo</a:t>
            </a:r>
            <a:endParaRPr lang="en-US" sz="1000" dirty="0"/>
          </a:p>
        </p:txBody>
      </p:sp>
      <p:pic>
        <p:nvPicPr>
          <p:cNvPr id="6" name="Picture 5" descr="fig15_i_web_maestro_claro.png"/>
          <p:cNvPicPr>
            <a:picLocks noChangeAspect="1"/>
          </p:cNvPicPr>
          <p:nvPr/>
        </p:nvPicPr>
        <p:blipFill>
          <a:blip r:embed="rId3"/>
          <a:stretch>
            <a:fillRect/>
          </a:stretch>
        </p:blipFill>
        <p:spPr>
          <a:xfrm>
            <a:off x="5054468" y="868680"/>
            <a:ext cx="2875543" cy="1618488"/>
          </a:xfrm>
          <a:prstGeom prst="rect">
            <a:avLst/>
          </a:prstGeom>
        </p:spPr>
      </p:pic>
      <p:sp>
        <p:nvSpPr>
          <p:cNvPr id="7" name="TextBox 6"/>
          <p:cNvSpPr txBox="1"/>
          <p:nvPr/>
        </p:nvSpPr>
        <p:spPr>
          <a:xfrm>
            <a:off x="4206240" y="2487168"/>
            <a:ext cx="4572000" cy="164592"/>
          </a:xfrm>
          <a:prstGeom prst="rect">
            <a:avLst/>
          </a:prstGeom>
          <a:noFill/>
        </p:spPr>
        <p:txBody>
          <a:bodyPr wrap="none" tIns="0" bIns="0">
            <a:spAutoFit/>
          </a:bodyPr>
          <a:lstStyle/>
          <a:p>
            <a:pPr algn="ctr"/>
            <a:r>
              <a:rPr sz="700" i="1">
                <a:solidFill>
                  <a:srgbClr val="808080"/>
                </a:solidFill>
              </a:rPr>
              <a:t>Placeholder · Propio (web maestro)</a:t>
            </a:r>
          </a:p>
        </p:txBody>
      </p:sp>
      <p:pic>
        <p:nvPicPr>
          <p:cNvPr id="8" name="Picture 7" descr="s44_be8902.jpg"/>
          <p:cNvPicPr>
            <a:picLocks noChangeAspect="1"/>
          </p:cNvPicPr>
          <p:nvPr/>
        </p:nvPicPr>
        <p:blipFill>
          <a:blip r:embed="rId4"/>
          <a:stretch>
            <a:fillRect/>
          </a:stretch>
        </p:blipFill>
        <p:spPr>
          <a:xfrm>
            <a:off x="5054468" y="2743200"/>
            <a:ext cx="2875543" cy="1618488"/>
          </a:xfrm>
          <a:prstGeom prst="rect">
            <a:avLst/>
          </a:prstGeom>
        </p:spPr>
      </p:pic>
      <p:sp>
        <p:nvSpPr>
          <p:cNvPr id="9" name="TextBox 8"/>
          <p:cNvSpPr txBox="1"/>
          <p:nvPr/>
        </p:nvSpPr>
        <p:spPr>
          <a:xfrm>
            <a:off x="4206240" y="4361688"/>
            <a:ext cx="4572000" cy="164592"/>
          </a:xfrm>
          <a:prstGeom prst="rect">
            <a:avLst/>
          </a:prstGeom>
          <a:noFill/>
        </p:spPr>
        <p:txBody>
          <a:bodyPr wrap="none" tIns="0" bIns="0">
            <a:spAutoFit/>
          </a:bodyPr>
          <a:lstStyle/>
          <a:p>
            <a:pPr algn="ctr"/>
            <a:r>
              <a:rPr sz="700" i="1">
                <a:solidFill>
                  <a:srgbClr val="808080"/>
                </a:solidFill>
              </a:rPr>
              <a:t>Placeholder · Propio (Geophone Scope)</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1E2761"/>
          </a:solidFill>
          <a:ln/>
        </p:spPr>
      </p:sp>
      <p:sp>
        <p:nvSpPr>
          <p:cNvPr id="3" name="Text 1"/>
          <p:cNvSpPr/>
          <p:nvPr/>
        </p:nvSpPr>
        <p:spPr>
          <a:xfrm>
            <a:off x="457200" y="137160"/>
            <a:ext cx="8229600" cy="457200"/>
          </a:xfrm>
          <a:prstGeom prst="rect">
            <a:avLst/>
          </a:prstGeom>
          <a:noFill/>
          <a:ln/>
        </p:spPr>
        <p:txBody>
          <a:bodyPr wrap="square" rtlCol="0" anchor="ctr"/>
          <a:lstStyle/>
          <a:p>
            <a:pPr algn="l" indent="0" marL="0">
              <a:buNone/>
            </a:pPr>
            <a:r>
              <a:rPr lang="en-US" sz="2800" b="1" dirty="0">
                <a:solidFill>
                  <a:srgbClr val="FFFFFF"/>
                </a:solidFill>
                <a:latin typeface="Cambria" pitchFamily="34" charset="0"/>
                <a:ea typeface="Cambria" pitchFamily="34" charset="-122"/>
                <a:cs typeface="Cambria" pitchFamily="34" charset="-120"/>
              </a:rPr>
              <a:t>Sincronización entre MASTER y esclavos: observación preliminar ~200–400 µs</a:t>
            </a:r>
            <a:endParaRPr lang="en-US" sz="2800" dirty="0"/>
          </a:p>
        </p:txBody>
      </p:sp>
      <p:sp>
        <p:nvSpPr>
          <p:cNvPr id="4" name="Text 2"/>
          <p:cNvSpPr/>
          <p:nvPr/>
        </p:nvSpPr>
        <p:spPr>
          <a:xfrm>
            <a:off x="457200" y="914400"/>
            <a:ext cx="3566160" cy="3474720"/>
          </a:xfrm>
          <a:prstGeom prst="rect">
            <a:avLst/>
          </a:prstGeom>
          <a:noFill/>
          <a:ln/>
        </p:spPr>
        <p:txBody>
          <a:bodyPr wrap="square" rtlCol="0" anchor="t"/>
          <a:lstStyle/>
          <a:p>
            <a:pPr algn="l" indent="0" marL="0">
              <a:buNone/>
            </a:pPr>
            <a:r>
              <a:rPr lang="en-US" sz="1600" dirty="0">
                <a:solidFill>
                  <a:srgbClr val="36454F"/>
                </a:solidFill>
                <a:latin typeface="Calibri" pitchFamily="34" charset="0"/>
                <a:ea typeface="Calibri" pitchFamily="34" charset="-122"/>
                <a:cs typeface="Calibri" pitchFamily="34" charset="-120"/>
              </a:rPr>
              <a:t>GPIO timestamp, no equivalente a sincronización ADC-ADC. Limitación declarada, requiere mejora.</a:t>
            </a:r>
            <a:endParaRPr lang="en-US" sz="1800" dirty="0"/>
          </a:p>
        </p:txBody>
      </p:sp>
      <p:sp>
        <p:nvSpPr>
          <p:cNvPr id="5" name="Text 3"/>
          <p:cNvSpPr/>
          <p:nvPr/>
        </p:nvSpPr>
        <p:spPr>
          <a:xfrm>
            <a:off x="457200" y="4572000"/>
            <a:ext cx="8229600" cy="0"/>
          </a:xfrm>
          <a:prstGeom prst="rect">
            <a:avLst/>
          </a:prstGeom>
          <a:noFill/>
          <a:ln/>
        </p:spPr>
        <p:txBody>
          <a:bodyPr wrap="square" rtlCol="0" anchor="ctr"/>
          <a:lstStyle/>
          <a:p>
            <a:pPr algn="r" indent="0" marL="0">
              <a:buNone/>
            </a:pPr>
            <a:r>
              <a:rPr lang="en-US" sz="1000" dirty="0">
                <a:solidFill>
                  <a:srgbClr val="028090"/>
                </a:solidFill>
              </a:rPr>
              <a:t>Slide 42 | Resultados</a:t>
            </a:r>
            <a:endParaRPr lang="en-US" sz="1000" dirty="0"/>
          </a:p>
        </p:txBody>
      </p:sp>
      <p:pic>
        <p:nvPicPr>
          <p:cNvPr id="6" name="Picture 5" descr="s43_8a29b0.png"/>
          <p:cNvPicPr>
            <a:picLocks noChangeAspect="1"/>
          </p:cNvPicPr>
          <p:nvPr/>
        </p:nvPicPr>
        <p:blipFill>
          <a:blip r:embed="rId3"/>
          <a:stretch>
            <a:fillRect/>
          </a:stretch>
        </p:blipFill>
        <p:spPr>
          <a:xfrm>
            <a:off x="4456486" y="868680"/>
            <a:ext cx="4071508" cy="1618488"/>
          </a:xfrm>
          <a:prstGeom prst="rect">
            <a:avLst/>
          </a:prstGeom>
        </p:spPr>
      </p:pic>
      <p:sp>
        <p:nvSpPr>
          <p:cNvPr id="7" name="TextBox 6"/>
          <p:cNvSpPr txBox="1"/>
          <p:nvPr/>
        </p:nvSpPr>
        <p:spPr>
          <a:xfrm>
            <a:off x="4206240" y="2487168"/>
            <a:ext cx="4572000" cy="164592"/>
          </a:xfrm>
          <a:prstGeom prst="rect">
            <a:avLst/>
          </a:prstGeom>
          <a:noFill/>
        </p:spPr>
        <p:txBody>
          <a:bodyPr wrap="none" tIns="0" bIns="0">
            <a:spAutoFit/>
          </a:bodyPr>
          <a:lstStyle/>
          <a:p>
            <a:pPr algn="ctr"/>
            <a:r>
              <a:rPr sz="700" i="1">
                <a:solidFill>
                  <a:srgbClr val="808080"/>
                </a:solidFill>
              </a:rPr>
              <a:t>Placeholder · Propio (secuencia)</a:t>
            </a:r>
          </a:p>
        </p:txBody>
      </p:sp>
      <p:pic>
        <p:nvPicPr>
          <p:cNvPr id="8" name="Picture 7" descr="esp32.jpg"/>
          <p:cNvPicPr>
            <a:picLocks noChangeAspect="1"/>
          </p:cNvPicPr>
          <p:nvPr/>
        </p:nvPicPr>
        <p:blipFill>
          <a:blip r:embed="rId4"/>
          <a:stretch>
            <a:fillRect/>
          </a:stretch>
        </p:blipFill>
        <p:spPr>
          <a:xfrm>
            <a:off x="5885307" y="2743200"/>
            <a:ext cx="1213866" cy="1618488"/>
          </a:xfrm>
          <a:prstGeom prst="rect">
            <a:avLst/>
          </a:prstGeom>
        </p:spPr>
      </p:pic>
      <p:sp>
        <p:nvSpPr>
          <p:cNvPr id="9" name="TextBox 8"/>
          <p:cNvSpPr txBox="1"/>
          <p:nvPr/>
        </p:nvSpPr>
        <p:spPr>
          <a:xfrm>
            <a:off x="4206240" y="4361688"/>
            <a:ext cx="4572000" cy="164592"/>
          </a:xfrm>
          <a:prstGeom prst="rect">
            <a:avLst/>
          </a:prstGeom>
          <a:noFill/>
        </p:spPr>
        <p:txBody>
          <a:bodyPr wrap="none" tIns="0" bIns="0">
            <a:spAutoFit/>
          </a:bodyPr>
          <a:lstStyle/>
          <a:p>
            <a:pPr algn="ctr"/>
            <a:r>
              <a:rPr sz="700" i="1">
                <a:solidFill>
                  <a:srgbClr val="808080"/>
                </a:solidFill>
              </a:rPr>
              <a:t>Placeholder · ESP32, Wikimedia Commons, CC BY-SA 4.0</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1E2761"/>
          </a:solidFill>
          <a:ln/>
        </p:spPr>
      </p:sp>
      <p:sp>
        <p:nvSpPr>
          <p:cNvPr id="3" name="Text 1"/>
          <p:cNvSpPr/>
          <p:nvPr/>
        </p:nvSpPr>
        <p:spPr>
          <a:xfrm>
            <a:off x="457200" y="137160"/>
            <a:ext cx="8229600" cy="457200"/>
          </a:xfrm>
          <a:prstGeom prst="rect">
            <a:avLst/>
          </a:prstGeom>
          <a:noFill/>
          <a:ln/>
        </p:spPr>
        <p:txBody>
          <a:bodyPr wrap="square" rtlCol="0" anchor="ctr"/>
          <a:lstStyle/>
          <a:p>
            <a:pPr algn="l" indent="0" marL="0">
              <a:buNone/>
            </a:pPr>
            <a:r>
              <a:rPr lang="en-US" sz="2800" b="1" dirty="0">
                <a:solidFill>
                  <a:srgbClr val="FFFFFF"/>
                </a:solidFill>
                <a:latin typeface="Cambria" pitchFamily="34" charset="0"/>
                <a:ea typeface="Cambria" pitchFamily="34" charset="-122"/>
                <a:cs typeface="Cambria" pitchFamily="34" charset="-120"/>
              </a:rPr>
              <a:t>SNR aparente por banda: 1–5Hz:0.5dB, 5–10Hz:2.1dB, 10–20Hz:16.7dB, 20–50Hz:24.4dB</a:t>
            </a:r>
            <a:endParaRPr lang="en-US" sz="2800" dirty="0"/>
          </a:p>
        </p:txBody>
      </p:sp>
      <p:sp>
        <p:nvSpPr>
          <p:cNvPr id="4" name="Text 2"/>
          <p:cNvSpPr/>
          <p:nvPr/>
        </p:nvSpPr>
        <p:spPr>
          <a:xfrm>
            <a:off x="457200" y="914400"/>
            <a:ext cx="3566160" cy="3474720"/>
          </a:xfrm>
          <a:prstGeom prst="rect">
            <a:avLst/>
          </a:prstGeom>
          <a:noFill/>
          <a:ln/>
        </p:spPr>
        <p:txBody>
          <a:bodyPr wrap="square" rtlCol="0" anchor="t"/>
          <a:lstStyle/>
          <a:p>
            <a:pPr algn="l" indent="0" marL="0">
              <a:buNone/>
            </a:pPr>
            <a:r>
              <a:rPr lang="en-US" sz="1600" dirty="0">
                <a:solidFill>
                  <a:srgbClr val="36454F"/>
                </a:solidFill>
                <a:latin typeface="Calibri" pitchFamily="34" charset="0"/>
                <a:ea typeface="Calibri" pitchFamily="34" charset="-122"/>
                <a:cs typeface="Calibri" pitchFamily="34" charset="-120"/>
              </a:rPr>
              <a:t>Medianas sobre campañas de campo. Incluye fuente, acoplamiento, terreno, sensor, electrónica.</a:t>
            </a:r>
            <a:endParaRPr lang="en-US" sz="1800" dirty="0"/>
          </a:p>
        </p:txBody>
      </p:sp>
      <p:sp>
        <p:nvSpPr>
          <p:cNvPr id="5" name="Text 3"/>
          <p:cNvSpPr/>
          <p:nvPr/>
        </p:nvSpPr>
        <p:spPr>
          <a:xfrm>
            <a:off x="457200" y="4572000"/>
            <a:ext cx="8229600" cy="0"/>
          </a:xfrm>
          <a:prstGeom prst="rect">
            <a:avLst/>
          </a:prstGeom>
          <a:noFill/>
          <a:ln/>
        </p:spPr>
        <p:txBody>
          <a:bodyPr wrap="square" rtlCol="0" anchor="ctr"/>
          <a:lstStyle/>
          <a:p>
            <a:pPr algn="r" indent="0" marL="0">
              <a:buNone/>
            </a:pPr>
            <a:r>
              <a:rPr lang="en-US" sz="1000" dirty="0">
                <a:solidFill>
                  <a:srgbClr val="028090"/>
                </a:solidFill>
              </a:rPr>
              <a:t>Slide 43 | Resultados</a:t>
            </a:r>
            <a:endParaRPr lang="en-US" sz="1000" dirty="0"/>
          </a:p>
        </p:txBody>
      </p:sp>
      <p:pic>
        <p:nvPicPr>
          <p:cNvPr id="6" name="Picture 5" descr="s46_047827.png"/>
          <p:cNvPicPr>
            <a:picLocks noChangeAspect="1"/>
          </p:cNvPicPr>
          <p:nvPr/>
        </p:nvPicPr>
        <p:blipFill>
          <a:blip r:embed="rId3"/>
          <a:stretch>
            <a:fillRect/>
          </a:stretch>
        </p:blipFill>
        <p:spPr>
          <a:xfrm>
            <a:off x="4363688" y="868680"/>
            <a:ext cx="4257103" cy="3493008"/>
          </a:xfrm>
          <a:prstGeom prst="rect">
            <a:avLst/>
          </a:prstGeom>
        </p:spPr>
      </p:pic>
      <p:sp>
        <p:nvSpPr>
          <p:cNvPr id="7" name="TextBox 6"/>
          <p:cNvSpPr txBox="1"/>
          <p:nvPr/>
        </p:nvSpPr>
        <p:spPr>
          <a:xfrm>
            <a:off x="4206240" y="4361688"/>
            <a:ext cx="4572000" cy="164592"/>
          </a:xfrm>
          <a:prstGeom prst="rect">
            <a:avLst/>
          </a:prstGeom>
          <a:noFill/>
        </p:spPr>
        <p:txBody>
          <a:bodyPr wrap="none" tIns="0" bIns="0">
            <a:spAutoFit/>
          </a:bodyPr>
          <a:lstStyle/>
          <a:p>
            <a:pPr algn="ctr"/>
            <a:r>
              <a:rPr sz="700" i="1">
                <a:solidFill>
                  <a:srgbClr val="808080"/>
                </a:solidFill>
              </a:rPr>
              <a:t>Placeholder · Propio (SNR por banda)</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1E2761"/>
          </a:solidFill>
          <a:ln/>
        </p:spPr>
      </p:sp>
      <p:sp>
        <p:nvSpPr>
          <p:cNvPr id="3" name="Text 1"/>
          <p:cNvSpPr/>
          <p:nvPr/>
        </p:nvSpPr>
        <p:spPr>
          <a:xfrm>
            <a:off x="457200" y="137160"/>
            <a:ext cx="8229600" cy="457200"/>
          </a:xfrm>
          <a:prstGeom prst="rect">
            <a:avLst/>
          </a:prstGeom>
          <a:noFill/>
          <a:ln/>
        </p:spPr>
        <p:txBody>
          <a:bodyPr wrap="square" rtlCol="0" anchor="ctr"/>
          <a:lstStyle/>
          <a:p>
            <a:pPr algn="l" indent="0" marL="0">
              <a:buNone/>
            </a:pPr>
            <a:r>
              <a:rPr lang="en-US" sz="2800" b="1" dirty="0">
                <a:solidFill>
                  <a:srgbClr val="FFFFFF"/>
                </a:solidFill>
                <a:latin typeface="Cambria" pitchFamily="34" charset="0"/>
                <a:ea typeface="Cambria" pitchFamily="34" charset="-122"/>
                <a:cs typeface="Cambria" pitchFamily="34" charset="-120"/>
              </a:rPr>
              <a:t>Registro espacio-tiempo U(x,t): 21 posiciones, 10–50m, Δx=2m, alineadas, matriz construida</a:t>
            </a:r>
            <a:endParaRPr lang="en-US" sz="2800" dirty="0"/>
          </a:p>
        </p:txBody>
      </p:sp>
      <p:sp>
        <p:nvSpPr>
          <p:cNvPr id="4" name="Text 2"/>
          <p:cNvSpPr/>
          <p:nvPr/>
        </p:nvSpPr>
        <p:spPr>
          <a:xfrm>
            <a:off x="457200" y="914400"/>
            <a:ext cx="3566160" cy="3474720"/>
          </a:xfrm>
          <a:prstGeom prst="rect">
            <a:avLst/>
          </a:prstGeom>
          <a:noFill/>
          <a:ln/>
        </p:spPr>
        <p:txBody>
          <a:bodyPr wrap="square" rtlCol="0" anchor="t"/>
          <a:lstStyle/>
          <a:p>
            <a:pPr algn="l" indent="0" marL="0">
              <a:buNone/>
            </a:pPr>
            <a:r>
              <a:rPr lang="en-US" sz="1600" dirty="0">
                <a:solidFill>
                  <a:srgbClr val="36454F"/>
                </a:solidFill>
                <a:latin typeface="Calibri" pitchFamily="34" charset="0"/>
                <a:ea typeface="Calibri" pitchFamily="34" charset="-122"/>
                <a:cs typeface="Calibri" pitchFamily="34" charset="-120"/>
              </a:rPr>
              <a:t>Matriz fundamental: uz(x,t) con fase preservada. Entrada a análisis MASW (dispersión, inversión).</a:t>
            </a:r>
            <a:endParaRPr lang="en-US" sz="1800" dirty="0"/>
          </a:p>
        </p:txBody>
      </p:sp>
      <p:sp>
        <p:nvSpPr>
          <p:cNvPr id="5" name="Text 3"/>
          <p:cNvSpPr/>
          <p:nvPr/>
        </p:nvSpPr>
        <p:spPr>
          <a:xfrm>
            <a:off x="457200" y="4572000"/>
            <a:ext cx="8229600" cy="0"/>
          </a:xfrm>
          <a:prstGeom prst="rect">
            <a:avLst/>
          </a:prstGeom>
          <a:noFill/>
          <a:ln/>
        </p:spPr>
        <p:txBody>
          <a:bodyPr wrap="square" rtlCol="0" anchor="ctr"/>
          <a:lstStyle/>
          <a:p>
            <a:pPr algn="r" indent="0" marL="0">
              <a:buNone/>
            </a:pPr>
            <a:r>
              <a:rPr lang="en-US" sz="1000" dirty="0">
                <a:solidFill>
                  <a:srgbClr val="028090"/>
                </a:solidFill>
              </a:rPr>
              <a:t>Slide 44 | Resultados</a:t>
            </a:r>
            <a:endParaRPr lang="en-US" sz="1000" dirty="0"/>
          </a:p>
        </p:txBody>
      </p:sp>
      <p:pic>
        <p:nvPicPr>
          <p:cNvPr id="6" name="Picture 5" descr="s47_25cc1c.png"/>
          <p:cNvPicPr>
            <a:picLocks noChangeAspect="1"/>
          </p:cNvPicPr>
          <p:nvPr/>
        </p:nvPicPr>
        <p:blipFill>
          <a:blip r:embed="rId3"/>
          <a:stretch>
            <a:fillRect/>
          </a:stretch>
        </p:blipFill>
        <p:spPr>
          <a:xfrm>
            <a:off x="5328952" y="868680"/>
            <a:ext cx="2326576" cy="1618488"/>
          </a:xfrm>
          <a:prstGeom prst="rect">
            <a:avLst/>
          </a:prstGeom>
        </p:spPr>
      </p:pic>
      <p:sp>
        <p:nvSpPr>
          <p:cNvPr id="7" name="TextBox 6"/>
          <p:cNvSpPr txBox="1"/>
          <p:nvPr/>
        </p:nvSpPr>
        <p:spPr>
          <a:xfrm>
            <a:off x="4206240" y="2487168"/>
            <a:ext cx="4572000" cy="164592"/>
          </a:xfrm>
          <a:prstGeom prst="rect">
            <a:avLst/>
          </a:prstGeom>
          <a:noFill/>
        </p:spPr>
        <p:txBody>
          <a:bodyPr wrap="none" tIns="0" bIns="0">
            <a:spAutoFit/>
          </a:bodyPr>
          <a:lstStyle/>
          <a:p>
            <a:pPr algn="ctr"/>
            <a:r>
              <a:rPr sz="700" i="1">
                <a:solidFill>
                  <a:srgbClr val="808080"/>
                </a:solidFill>
              </a:rPr>
              <a:t>Placeholder · Propio (registro U(x,t))</a:t>
            </a:r>
          </a:p>
        </p:txBody>
      </p:sp>
      <p:pic>
        <p:nvPicPr>
          <p:cNvPr id="8" name="Picture 7" descr="fig19_waterfall_4s_v2.png"/>
          <p:cNvPicPr>
            <a:picLocks noChangeAspect="1"/>
          </p:cNvPicPr>
          <p:nvPr/>
        </p:nvPicPr>
        <p:blipFill>
          <a:blip r:embed="rId4"/>
          <a:stretch>
            <a:fillRect/>
          </a:stretch>
        </p:blipFill>
        <p:spPr>
          <a:xfrm>
            <a:off x="5028133" y="2743200"/>
            <a:ext cx="2928213" cy="1618488"/>
          </a:xfrm>
          <a:prstGeom prst="rect">
            <a:avLst/>
          </a:prstGeom>
        </p:spPr>
      </p:pic>
      <p:sp>
        <p:nvSpPr>
          <p:cNvPr id="9" name="TextBox 8"/>
          <p:cNvSpPr txBox="1"/>
          <p:nvPr/>
        </p:nvSpPr>
        <p:spPr>
          <a:xfrm>
            <a:off x="4206240" y="4361688"/>
            <a:ext cx="4572000" cy="164592"/>
          </a:xfrm>
          <a:prstGeom prst="rect">
            <a:avLst/>
          </a:prstGeom>
          <a:noFill/>
        </p:spPr>
        <p:txBody>
          <a:bodyPr wrap="none" tIns="0" bIns="0">
            <a:spAutoFit/>
          </a:bodyPr>
          <a:lstStyle/>
          <a:p>
            <a:pPr algn="ctr"/>
            <a:r>
              <a:rPr sz="700" i="1">
                <a:solidFill>
                  <a:srgbClr val="808080"/>
                </a:solidFill>
              </a:rPr>
              <a:t>Placeholder · Propio (waterfall)</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1E2761"/>
          </a:solidFill>
          <a:ln/>
        </p:spPr>
      </p:sp>
      <p:sp>
        <p:nvSpPr>
          <p:cNvPr id="3" name="Text 1"/>
          <p:cNvSpPr/>
          <p:nvPr/>
        </p:nvSpPr>
        <p:spPr>
          <a:xfrm>
            <a:off x="457200" y="137160"/>
            <a:ext cx="8229600" cy="457200"/>
          </a:xfrm>
          <a:prstGeom prst="rect">
            <a:avLst/>
          </a:prstGeom>
          <a:noFill/>
          <a:ln/>
        </p:spPr>
        <p:txBody>
          <a:bodyPr wrap="square" rtlCol="0" anchor="ctr"/>
          <a:lstStyle/>
          <a:p>
            <a:pPr algn="l" indent="0" marL="0">
              <a:buNone/>
            </a:pPr>
            <a:r>
              <a:rPr lang="en-US" sz="2800" b="1" dirty="0">
                <a:solidFill>
                  <a:srgbClr val="FFFFFF"/>
                </a:solidFill>
                <a:latin typeface="Cambria" pitchFamily="34" charset="0"/>
                <a:ea typeface="Cambria" pitchFamily="34" charset="-122"/>
                <a:cs typeface="Cambria" pitchFamily="34" charset="-120"/>
              </a:rPr>
              <a:t>Qué está demostrado en la Primera Presentación</a:t>
            </a:r>
            <a:endParaRPr lang="en-US" sz="2800" dirty="0"/>
          </a:p>
        </p:txBody>
      </p:sp>
      <p:sp>
        <p:nvSpPr>
          <p:cNvPr id="4" name="Text 2"/>
          <p:cNvSpPr/>
          <p:nvPr/>
        </p:nvSpPr>
        <p:spPr>
          <a:xfrm>
            <a:off x="457200" y="914400"/>
            <a:ext cx="3566160" cy="3474720"/>
          </a:xfrm>
          <a:prstGeom prst="rect">
            <a:avLst/>
          </a:prstGeom>
          <a:noFill/>
          <a:ln/>
        </p:spPr>
        <p:txBody>
          <a:bodyPr wrap="square" rtlCol="0" anchor="t"/>
          <a:lstStyle/>
          <a:p>
            <a:pPr algn="l" indent="0" marL="0">
              <a:buNone/>
            </a:pPr>
            <a:r>
              <a:rPr lang="en-US" sz="1600" dirty="0">
                <a:solidFill>
                  <a:srgbClr val="36454F"/>
                </a:solidFill>
                <a:latin typeface="Calibri" pitchFamily="34" charset="0"/>
                <a:ea typeface="Calibri" pitchFamily="34" charset="-122"/>
                <a:cs typeface="Calibri" pitchFamily="34" charset="-120"/>
              </a:rPr>
              <a:t>AFE funcional, DA-AFE, captura digital, arquitectura distribuida, HAMMER, flujo campo, U(x,t).</a:t>
            </a:r>
            <a:endParaRPr lang="en-US" sz="1800" dirty="0"/>
          </a:p>
        </p:txBody>
      </p:sp>
      <p:sp>
        <p:nvSpPr>
          <p:cNvPr id="5" name="Text 3"/>
          <p:cNvSpPr/>
          <p:nvPr/>
        </p:nvSpPr>
        <p:spPr>
          <a:xfrm>
            <a:off x="457200" y="4572000"/>
            <a:ext cx="8229600" cy="0"/>
          </a:xfrm>
          <a:prstGeom prst="rect">
            <a:avLst/>
          </a:prstGeom>
          <a:noFill/>
          <a:ln/>
        </p:spPr>
        <p:txBody>
          <a:bodyPr wrap="square" rtlCol="0" anchor="ctr"/>
          <a:lstStyle/>
          <a:p>
            <a:pPr algn="r" indent="0" marL="0">
              <a:buNone/>
            </a:pPr>
            <a:r>
              <a:rPr lang="en-US" sz="1000" dirty="0">
                <a:solidFill>
                  <a:srgbClr val="028090"/>
                </a:solidFill>
              </a:rPr>
              <a:t>Slide 45 | Roadmap</a:t>
            </a:r>
            <a:endParaRPr lang="en-US" sz="1000" dirty="0"/>
          </a:p>
        </p:txBody>
      </p:sp>
      <p:pic>
        <p:nvPicPr>
          <p:cNvPr id="6" name="Picture 5" descr="s50_154727.png"/>
          <p:cNvPicPr>
            <a:picLocks noChangeAspect="1"/>
          </p:cNvPicPr>
          <p:nvPr/>
        </p:nvPicPr>
        <p:blipFill>
          <a:blip r:embed="rId3"/>
          <a:stretch>
            <a:fillRect/>
          </a:stretch>
        </p:blipFill>
        <p:spPr>
          <a:xfrm>
            <a:off x="6029879" y="868680"/>
            <a:ext cx="924721" cy="1618488"/>
          </a:xfrm>
          <a:prstGeom prst="rect">
            <a:avLst/>
          </a:prstGeom>
        </p:spPr>
      </p:pic>
      <p:sp>
        <p:nvSpPr>
          <p:cNvPr id="7" name="TextBox 6"/>
          <p:cNvSpPr txBox="1"/>
          <p:nvPr/>
        </p:nvSpPr>
        <p:spPr>
          <a:xfrm>
            <a:off x="4206240" y="2487168"/>
            <a:ext cx="4572000" cy="164592"/>
          </a:xfrm>
          <a:prstGeom prst="rect">
            <a:avLst/>
          </a:prstGeom>
          <a:noFill/>
        </p:spPr>
        <p:txBody>
          <a:bodyPr wrap="none" tIns="0" bIns="0">
            <a:spAutoFit/>
          </a:bodyPr>
          <a:lstStyle/>
          <a:p>
            <a:pPr algn="ctr"/>
            <a:r>
              <a:rPr sz="700" i="1">
                <a:solidFill>
                  <a:srgbClr val="808080"/>
                </a:solidFill>
              </a:rPr>
              <a:t>Placeholder · Propio (MASW)</a:t>
            </a:r>
          </a:p>
        </p:txBody>
      </p:sp>
      <p:pic>
        <p:nvPicPr>
          <p:cNvPr id="8" name="Picture 7" descr="s45_29830d.png"/>
          <p:cNvPicPr>
            <a:picLocks noChangeAspect="1"/>
          </p:cNvPicPr>
          <p:nvPr/>
        </p:nvPicPr>
        <p:blipFill>
          <a:blip r:embed="rId4"/>
          <a:stretch>
            <a:fillRect/>
          </a:stretch>
        </p:blipFill>
        <p:spPr>
          <a:xfrm>
            <a:off x="5162563" y="2743200"/>
            <a:ext cx="2659353" cy="1618488"/>
          </a:xfrm>
          <a:prstGeom prst="rect">
            <a:avLst/>
          </a:prstGeom>
        </p:spPr>
      </p:pic>
      <p:sp>
        <p:nvSpPr>
          <p:cNvPr id="9" name="TextBox 8"/>
          <p:cNvSpPr txBox="1"/>
          <p:nvPr/>
        </p:nvSpPr>
        <p:spPr>
          <a:xfrm>
            <a:off x="4206240" y="4361688"/>
            <a:ext cx="4572000" cy="164592"/>
          </a:xfrm>
          <a:prstGeom prst="rect">
            <a:avLst/>
          </a:prstGeom>
          <a:noFill/>
        </p:spPr>
        <p:txBody>
          <a:bodyPr wrap="none" tIns="0" bIns="0">
            <a:spAutoFit/>
          </a:bodyPr>
          <a:lstStyle/>
          <a:p>
            <a:pPr algn="ctr"/>
            <a:r>
              <a:rPr sz="700" i="1">
                <a:solidFill>
                  <a:srgbClr val="808080"/>
                </a:solidFill>
              </a:rPr>
              <a:t>Placeholder · Propio (adquisición real)</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1E2761"/>
          </a:solidFill>
          <a:ln/>
        </p:spPr>
      </p:sp>
      <p:sp>
        <p:nvSpPr>
          <p:cNvPr id="3" name="Text 1"/>
          <p:cNvSpPr/>
          <p:nvPr/>
        </p:nvSpPr>
        <p:spPr>
          <a:xfrm>
            <a:off x="457200" y="137160"/>
            <a:ext cx="8229600" cy="457200"/>
          </a:xfrm>
          <a:prstGeom prst="rect">
            <a:avLst/>
          </a:prstGeom>
          <a:noFill/>
          <a:ln/>
        </p:spPr>
        <p:txBody>
          <a:bodyPr wrap="square" rtlCol="0" anchor="ctr"/>
          <a:lstStyle/>
          <a:p>
            <a:pPr algn="l" indent="0" marL="0">
              <a:buNone/>
            </a:pPr>
            <a:r>
              <a:rPr lang="en-US" sz="2800" b="1" dirty="0">
                <a:solidFill>
                  <a:srgbClr val="FFFFFF"/>
                </a:solidFill>
                <a:latin typeface="Cambria" pitchFamily="34" charset="0"/>
                <a:ea typeface="Cambria" pitchFamily="34" charset="-122"/>
                <a:cs typeface="Cambria" pitchFamily="34" charset="-120"/>
              </a:rPr>
              <a:t>Qué falta para la presentación final (diciembre 2026)</a:t>
            </a:r>
            <a:endParaRPr lang="en-US" sz="2800" dirty="0"/>
          </a:p>
        </p:txBody>
      </p:sp>
      <p:sp>
        <p:nvSpPr>
          <p:cNvPr id="4" name="Text 2"/>
          <p:cNvSpPr/>
          <p:nvPr/>
        </p:nvSpPr>
        <p:spPr>
          <a:xfrm>
            <a:off x="457200" y="914400"/>
            <a:ext cx="3566160" cy="3474720"/>
          </a:xfrm>
          <a:prstGeom prst="rect">
            <a:avLst/>
          </a:prstGeom>
          <a:noFill/>
          <a:ln/>
        </p:spPr>
        <p:txBody>
          <a:bodyPr wrap="square" rtlCol="0" anchor="t"/>
          <a:lstStyle/>
          <a:p>
            <a:pPr algn="l" indent="0" marL="0">
              <a:buNone/>
            </a:pPr>
            <a:r>
              <a:rPr lang="en-US" sz="1600" dirty="0">
                <a:solidFill>
                  <a:srgbClr val="36454F"/>
                </a:solidFill>
                <a:latin typeface="Calibri" pitchFamily="34" charset="0"/>
                <a:ea typeface="Calibri" pitchFamily="34" charset="-122"/>
                <a:cs typeface="Calibri" pitchFamily="34" charset="-120"/>
              </a:rPr>
              <a:t>Calibración mecánica extremo a extremo, mejorar excitación LF, ADC-ADC sync, drift relojes, modos múltiples, inversión, Vs(z).</a:t>
            </a:r>
            <a:endParaRPr lang="en-US" sz="1800" dirty="0"/>
          </a:p>
        </p:txBody>
      </p:sp>
      <p:sp>
        <p:nvSpPr>
          <p:cNvPr id="5" name="Text 3"/>
          <p:cNvSpPr/>
          <p:nvPr/>
        </p:nvSpPr>
        <p:spPr>
          <a:xfrm>
            <a:off x="457200" y="4572000"/>
            <a:ext cx="8229600" cy="0"/>
          </a:xfrm>
          <a:prstGeom prst="rect">
            <a:avLst/>
          </a:prstGeom>
          <a:noFill/>
          <a:ln/>
        </p:spPr>
        <p:txBody>
          <a:bodyPr wrap="square" rtlCol="0" anchor="ctr"/>
          <a:lstStyle/>
          <a:p>
            <a:pPr algn="r" indent="0" marL="0">
              <a:buNone/>
            </a:pPr>
            <a:r>
              <a:rPr lang="en-US" sz="1000" dirty="0">
                <a:solidFill>
                  <a:srgbClr val="028090"/>
                </a:solidFill>
              </a:rPr>
              <a:t>Slide 46 | Roadmap</a:t>
            </a:r>
            <a:endParaRPr lang="en-US" sz="1000" dirty="0"/>
          </a:p>
        </p:txBody>
      </p:sp>
      <p:pic>
        <p:nvPicPr>
          <p:cNvPr id="6" name="Picture 5" descr="fuente_excitacion_actual.jpg"/>
          <p:cNvPicPr>
            <a:picLocks noChangeAspect="1"/>
          </p:cNvPicPr>
          <p:nvPr/>
        </p:nvPicPr>
        <p:blipFill>
          <a:blip r:embed="rId3"/>
          <a:stretch>
            <a:fillRect/>
          </a:stretch>
        </p:blipFill>
        <p:spPr>
          <a:xfrm>
            <a:off x="4215651" y="868680"/>
            <a:ext cx="4553178" cy="1618488"/>
          </a:xfrm>
          <a:prstGeom prst="rect">
            <a:avLst/>
          </a:prstGeom>
        </p:spPr>
      </p:pic>
      <p:sp>
        <p:nvSpPr>
          <p:cNvPr id="7" name="TextBox 6"/>
          <p:cNvSpPr txBox="1"/>
          <p:nvPr/>
        </p:nvSpPr>
        <p:spPr>
          <a:xfrm>
            <a:off x="4206240" y="2487168"/>
            <a:ext cx="4572000" cy="164592"/>
          </a:xfrm>
          <a:prstGeom prst="rect">
            <a:avLst/>
          </a:prstGeom>
          <a:noFill/>
        </p:spPr>
        <p:txBody>
          <a:bodyPr wrap="none" tIns="0" bIns="0">
            <a:spAutoFit/>
          </a:bodyPr>
          <a:lstStyle/>
          <a:p>
            <a:pPr algn="ctr"/>
            <a:r>
              <a:rPr sz="700" i="1">
                <a:solidFill>
                  <a:srgbClr val="808080"/>
                </a:solidFill>
              </a:rPr>
              <a:t>Placeholder · Propio (excitación actual)</a:t>
            </a:r>
          </a:p>
        </p:txBody>
      </p:sp>
      <p:pic>
        <p:nvPicPr>
          <p:cNvPr id="8" name="Picture 7" descr="01_senal_geo1_60s_impactos_aprox_1Hz.png"/>
          <p:cNvPicPr>
            <a:picLocks noChangeAspect="1"/>
          </p:cNvPicPr>
          <p:nvPr/>
        </p:nvPicPr>
        <p:blipFill>
          <a:blip r:embed="rId4"/>
          <a:stretch>
            <a:fillRect/>
          </a:stretch>
        </p:blipFill>
        <p:spPr>
          <a:xfrm>
            <a:off x="4206240" y="3074884"/>
            <a:ext cx="4572000" cy="955119"/>
          </a:xfrm>
          <a:prstGeom prst="rect">
            <a:avLst/>
          </a:prstGeom>
        </p:spPr>
      </p:pic>
      <p:sp>
        <p:nvSpPr>
          <p:cNvPr id="9" name="TextBox 8"/>
          <p:cNvSpPr txBox="1"/>
          <p:nvPr/>
        </p:nvSpPr>
        <p:spPr>
          <a:xfrm>
            <a:off x="4206240" y="4361688"/>
            <a:ext cx="4572000" cy="164592"/>
          </a:xfrm>
          <a:prstGeom prst="rect">
            <a:avLst/>
          </a:prstGeom>
          <a:noFill/>
        </p:spPr>
        <p:txBody>
          <a:bodyPr wrap="none" tIns="0" bIns="0">
            <a:spAutoFit/>
          </a:bodyPr>
          <a:lstStyle/>
          <a:p>
            <a:pPr algn="ctr"/>
            <a:r>
              <a:rPr sz="700" i="1">
                <a:solidFill>
                  <a:srgbClr val="808080"/>
                </a:solidFill>
              </a:rPr>
              <a:t>Placeholder · Propio (impactos 1 Hz)</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1E2761"/>
          </a:solidFill>
          <a:ln/>
        </p:spPr>
      </p:sp>
      <p:sp>
        <p:nvSpPr>
          <p:cNvPr id="3" name="Text 1"/>
          <p:cNvSpPr/>
          <p:nvPr/>
        </p:nvSpPr>
        <p:spPr>
          <a:xfrm>
            <a:off x="457200" y="137160"/>
            <a:ext cx="8229600" cy="457200"/>
          </a:xfrm>
          <a:prstGeom prst="rect">
            <a:avLst/>
          </a:prstGeom>
          <a:noFill/>
          <a:ln/>
        </p:spPr>
        <p:txBody>
          <a:bodyPr wrap="square" rtlCol="0" anchor="ctr"/>
          <a:lstStyle/>
          <a:p>
            <a:pPr algn="l" indent="0" marL="0">
              <a:buNone/>
            </a:pPr>
            <a:r>
              <a:rPr lang="en-US" sz="2800" b="1" dirty="0">
                <a:solidFill>
                  <a:srgbClr val="FFFFFF"/>
                </a:solidFill>
                <a:latin typeface="Cambria" pitchFamily="34" charset="0"/>
                <a:ea typeface="Cambria" pitchFamily="34" charset="-122"/>
                <a:cs typeface="Cambria" pitchFamily="34" charset="-120"/>
              </a:rPr>
              <a:t>Preguntas</a:t>
            </a:r>
            <a:endParaRPr lang="en-US" sz="2800" dirty="0"/>
          </a:p>
        </p:txBody>
      </p:sp>
      <p:sp>
        <p:nvSpPr>
          <p:cNvPr id="4" name="Text 2"/>
          <p:cNvSpPr/>
          <p:nvPr/>
        </p:nvSpPr>
        <p:spPr>
          <a:xfrm>
            <a:off x="457200" y="914400"/>
            <a:ext cx="3566160" cy="3474720"/>
          </a:xfrm>
          <a:prstGeom prst="rect">
            <a:avLst/>
          </a:prstGeom>
          <a:noFill/>
          <a:ln/>
        </p:spPr>
        <p:txBody>
          <a:bodyPr wrap="square" rtlCol="0" anchor="t"/>
          <a:lstStyle/>
          <a:p>
            <a:pPr algn="l" indent="0" marL="0">
              <a:buNone/>
            </a:pPr>
            <a:r>
              <a:rPr lang="en-US" sz="1600" dirty="0">
                <a:solidFill>
                  <a:srgbClr val="36454F"/>
                </a:solidFill>
                <a:latin typeface="Calibri" pitchFamily="34" charset="0"/>
                <a:ea typeface="Calibri" pitchFamily="34" charset="-122"/>
                <a:cs typeface="Calibri" pitchFamily="34" charset="-120"/>
              </a:rPr>
              <a:t>Espacio para comentarios, preguntas, discusión.</a:t>
            </a:r>
            <a:endParaRPr lang="en-US" sz="1800" dirty="0"/>
          </a:p>
        </p:txBody>
      </p:sp>
      <p:sp>
        <p:nvSpPr>
          <p:cNvPr id="5" name="Text 3"/>
          <p:cNvSpPr/>
          <p:nvPr/>
        </p:nvSpPr>
        <p:spPr>
          <a:xfrm>
            <a:off x="457200" y="4572000"/>
            <a:ext cx="8229600" cy="0"/>
          </a:xfrm>
          <a:prstGeom prst="rect">
            <a:avLst/>
          </a:prstGeom>
          <a:noFill/>
          <a:ln/>
        </p:spPr>
        <p:txBody>
          <a:bodyPr wrap="square" rtlCol="0" anchor="ctr"/>
          <a:lstStyle/>
          <a:p>
            <a:pPr algn="r" indent="0" marL="0">
              <a:buNone/>
            </a:pPr>
            <a:r>
              <a:rPr lang="en-US" sz="1000" dirty="0">
                <a:solidFill>
                  <a:srgbClr val="028090"/>
                </a:solidFill>
              </a:rPr>
              <a:t>Slide 47 | Cierre</a:t>
            </a:r>
            <a:endParaRPr lang="en-US" sz="1000" dirty="0"/>
          </a:p>
        </p:txBody>
      </p:sp>
      <p:pic>
        <p:nvPicPr>
          <p:cNvPr id="6" name="Picture 5" descr="D01.png"/>
          <p:cNvPicPr>
            <a:picLocks noChangeAspect="1"/>
          </p:cNvPicPr>
          <p:nvPr/>
        </p:nvPicPr>
        <p:blipFill>
          <a:blip r:embed="rId3"/>
          <a:stretch>
            <a:fillRect/>
          </a:stretch>
        </p:blipFill>
        <p:spPr>
          <a:xfrm>
            <a:off x="4206240" y="2181927"/>
            <a:ext cx="4572000" cy="866513"/>
          </a:xfrm>
          <a:prstGeom prst="rect">
            <a:avLst/>
          </a:prstGeom>
        </p:spPr>
      </p:pic>
      <p:sp>
        <p:nvSpPr>
          <p:cNvPr id="7" name="TextBox 6"/>
          <p:cNvSpPr txBox="1"/>
          <p:nvPr/>
        </p:nvSpPr>
        <p:spPr>
          <a:xfrm>
            <a:off x="4206240" y="4361688"/>
            <a:ext cx="4572000" cy="164592"/>
          </a:xfrm>
          <a:prstGeom prst="rect">
            <a:avLst/>
          </a:prstGeom>
          <a:noFill/>
        </p:spPr>
        <p:txBody>
          <a:bodyPr wrap="none" tIns="0" bIns="0">
            <a:spAutoFit/>
          </a:bodyPr>
          <a:lstStyle/>
          <a:p>
            <a:pPr algn="ctr"/>
            <a:r>
              <a:rPr sz="700" i="1">
                <a:solidFill>
                  <a:srgbClr val="808080"/>
                </a:solidFill>
              </a:rPr>
              <a:t>Placeholder · Propio (sistema completo, drawio D01)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47</Slides>
  <Notes>47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47</vt:i4>
      </vt:variant>
    </vt:vector>
  </HeadingPairs>
  <TitlesOfParts>
    <vt:vector size="5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2026-10-04T20:56:40Z</dcterms:created>
  <dcterms:modified xsi:type="dcterms:W3CDTF">2026-10-04T20:56:40Z</dcterms:modified>
</cp:coreProperties>
</file>