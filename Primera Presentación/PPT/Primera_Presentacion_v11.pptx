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1.jpg" ContentType="image/jpg"/>
  <Override PartName="/ppt/media/image-43-1.jpg" ContentType="image/jpg"/>
  <Override PartName="/ppt/media/image-50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nder_fixed/sl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necesitamos conocer el suelo?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Motivación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94460"/>
            <a:ext cx="6720840" cy="4480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01000" y="1417320"/>
            <a:ext cx="3474720" cy="3383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500" dirty="0">
                <a:solidFill>
                  <a:srgbClr val="111111"/>
                </a:solidFill>
              </a:rPr>
              <a:t>rigidez del terreno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cambios de capas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profundidad a estrato competente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evaluación pre-construcción y validación continua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713232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715000"/>
            <a:ext cx="313639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Primero: para qué conocer el suelo; después: qué medir.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 visual pendiente: reemplazar por corte geotécnico de paper/libro. Narrativa: motivación geotécnica antes de MASW.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2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Métodos de caracterización: invasivos y no invasivos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Estado del arte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6583680" cy="3703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1828800"/>
            <a:ext cx="3931920" cy="228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500" dirty="0">
                <a:solidFill>
                  <a:srgbClr val="111111"/>
                </a:solidFill>
              </a:rPr>
              <a:t>No son excluyentes: se complementan.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Los sondeos restringen la inversión.</a:t>
            </a:r>
            <a:endParaRPr lang="en-US" sz="1500" dirty="0"/>
          </a:p>
          <a:p>
            <a:r>
              <a:rPr lang="en-US" sz="1500" dirty="0">
                <a:solidFill>
                  <a:srgbClr val="111111"/>
                </a:solidFill>
              </a:rPr>
              <a:t>La geofísica aporta cobertura espacial.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Mapa de decisiones: cobertura, costo, invasividad e incertidumbre.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Imagen recuperada del borrador/git: esquema SPT/CPT; clasificación conceptual según Foti et al. (2014).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3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Medición directa del terreno: SPT / CPT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Invasivos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05928"/>
            <a:ext cx="6858000" cy="38576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0" y="1600200"/>
            <a:ext cx="3566160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referencia práctica para diseño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SPT puede recuperar muestra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CPT entrega perfil continuo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limitación: cobertura localizada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Valiosos, pero puntuales y logísticamente costosos.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Imagen: camión CPT Lankelma, Wikimedia Commons (usada en borrador). Concepto: comparación funcional del documento de tesis.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Medición de ondas dentro del terreno: downhole / crosshole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Invasivos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48915"/>
            <a:ext cx="6309360" cy="47259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velocidades dinámicas, incluida Vs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geometría de medición controlada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requiere uno o varios pozos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alto costo/logística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Muy útil como referencia; difícil como cobertura extensa.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esquema de ensayo crosshole / ASTM D4428; usado como referencia conceptual.</a:t>
            </a:r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5</a:t>
            </a:r>
            <a:endParaRPr lang="en-US" sz="650" dirty="0"/>
          </a:p>
        </p:txBody>
      </p:sp>
      <p:sp>
        <p:nvSpPr>
          <p:cNvPr id="11" name="Rectangle 10"/>
          <p:cNvSpPr/>
          <p:nvPr/>
        </p:nvSpPr>
        <p:spPr>
          <a:xfrm>
            <a:off x="914400" y="13258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800" b="1">
                <a:solidFill>
                  <a:srgbClr val="141B4D"/>
                </a:solidFill>
              </a:rPr>
              <a:t>oscilloscopio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371600"/>
            <a:ext cx="18288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900" b="1">
                <a:solidFill>
                  <a:srgbClr val="141B4D"/>
                </a:solidFill>
              </a:rPr>
              <a:t>ensayo crosshole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07792" y="2615184"/>
            <a:ext cx="2057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800" b="1">
                <a:solidFill>
                  <a:srgbClr val="141B4D"/>
                </a:solidFill>
              </a:rPr>
              <a:t>velocidad de onda de corte
Vs = Δx / Δt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4096512"/>
            <a:ext cx="12344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martillo
en pozo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3803904"/>
            <a:ext cx="914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receptor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526280"/>
            <a:ext cx="86868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50" b="1">
                <a:solidFill>
                  <a:srgbClr val="141B4D"/>
                </a:solidFill>
              </a:rPr>
              <a:t>profundidad
de ensayo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36392" y="5650992"/>
            <a:ext cx="73152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inclinómetro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97880" y="5650992"/>
            <a:ext cx="73152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inclinómetro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97880"/>
            <a:ext cx="63093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modificada: ensayo crosshole; fuente/receptor en pozos y cálculo de Vs a partir de Δx/Δt.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Métodos desde superficie: ondas de cuerpo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No invasivos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37373"/>
            <a:ext cx="6309360" cy="35490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refracción y reflexión usan principalmente ondas de cuerpo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no implican perforación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permiten perfiles laterales extensos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Vs directa exige configuración específica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Refracción superficial ≠ ondas superficiales.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 conceptual: geofísica aplicada near-surface; Foti et al. (2014) para distinción con métodos de ondas superficiales.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6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Métodos desde superficie: ondas superficiales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No invasivos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14500"/>
            <a:ext cx="6583680" cy="3703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Love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Rayleigh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SASW / MASW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dispersión → estructura vertical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Aquí aparece el camino hacia MASW.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Figura: patrón de radiación Rayleigh por fuente vertical, Foti et al. (2014), cap. ondas superficiales.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7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2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402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Física mínima antes de MASW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85800" y="3063240"/>
            <a:ext cx="292608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290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DE6F2"/>
                </a:solidFill>
              </a:rPr>
              <a:t>P/S, interfaces, Love, Rayleigh y dispersión.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Narrativa: avance causal desde necesidad geotécnica hacia instrumentación y validación.</a:t>
            </a:r>
            <a:endParaRPr lang="en-US" sz="580" dirty="0"/>
          </a:p>
        </p:txBody>
      </p:sp>
      <p:sp>
        <p:nvSpPr>
          <p:cNvPr id="6" name="Text 4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8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medio elástico admite ondas P y 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Física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27074"/>
            <a:ext cx="6400800" cy="32153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0" y="1463040"/>
            <a:ext cx="38404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Vp = √((λ+2μ)/ρ)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Vs = √(μ/ρ)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452360" y="29718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P: compresional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S: corte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las velocidades dependen de módulos y densidad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Imagen: esquema P/S usado en borrador; ecuaciones de elastodinámica lineal.</a:t>
            </a:r>
            <a:endParaRPr lang="en-US" sz="580" dirty="0"/>
          </a:p>
        </p:txBody>
      </p:sp>
      <p:sp>
        <p:nvSpPr>
          <p:cNvPr id="9" name="Text 6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9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 nos interesa porque mide rigidez inicial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Física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6309360" cy="4754880"/>
          </a:xfrm>
          <a:prstGeom prst="rect">
            <a:avLst/>
          </a:prstGeom>
          <a:solidFill>
            <a:srgbClr val="F4F2EC"/>
          </a:solidFill>
          <a:ln w="15240">
            <a:solidFill>
              <a:srgbClr val="C8C0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410712"/>
            <a:ext cx="58521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6A60"/>
                </a:solidFill>
              </a:rPr>
              <a:t>VISUAL: suelo estratificado + variable Vs(z)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52360" y="1508760"/>
            <a:ext cx="45720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Gmax = ρ · Vs²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452360" y="278892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rigidez a pequeñas deformaciones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entrada para respuesta dinámica del sitio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parámetro geotécnico útil, no sólo señal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Medir Vs es acercarse a una propiedad mecánica del suelo.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Kramer (1996); Foti et al. (2014); documento de tesis, sección utilidad del modelado.</a:t>
            </a:r>
            <a:endParaRPr lang="en-US" sz="580" dirty="0"/>
          </a:p>
        </p:txBody>
      </p:sp>
      <p:sp>
        <p:nvSpPr>
          <p:cNvPr id="12" name="Text 10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10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interfaces cambian la propagación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Física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67" y="1143000"/>
            <a:ext cx="5157186" cy="4846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Snell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reflexión y transmisión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conversión P ↔ SV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superficie libre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La superficie libre permite modos ligados: Love y Rayleigh.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Figura: incidencia, reflexión, transmisión y conversión modal en interfaz elástica, Foti et al. (2014), Fig. 2.10.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11</a:t>
            </a:r>
            <a:endParaRPr lang="en-US" sz="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Ondas Love: SH horizontal y transversal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Love primero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96665"/>
            <a:ext cx="6309360" cy="44304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movimiento horizontal transversal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sensible a Vs en medios estratificados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útil, pero fuente vertical no es la geometría activa más natural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 se descarta Love; se elige lo que nuestra fuente y sensor excitan mejor.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Foti et al. (2014), Fig. 2.13; etiquetas traducidas al español.</a:t>
            </a:r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12</a:t>
            </a:r>
            <a:endParaRPr lang="en-US" sz="650" dirty="0"/>
          </a:p>
        </p:txBody>
      </p:sp>
      <p:sp>
        <p:nvSpPr>
          <p:cNvPr id="11" name="Rectangle 10"/>
          <p:cNvSpPr/>
          <p:nvPr/>
        </p:nvSpPr>
        <p:spPr>
          <a:xfrm>
            <a:off x="3127248" y="1572768"/>
            <a:ext cx="10515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desplazamiento
vertical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572768"/>
            <a:ext cx="10515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desplazamiento
vertical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72768" y="2807208"/>
            <a:ext cx="11887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800" b="1">
                <a:solidFill>
                  <a:srgbClr val="141B4D"/>
                </a:solidFill>
              </a:rPr>
              <a:t>semiespacio
elástico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4800600"/>
            <a:ext cx="8686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profundidad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4800600"/>
            <a:ext cx="8686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profundidad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2221992"/>
            <a:ext cx="502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λ corta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9512" y="2743200"/>
            <a:ext cx="502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λ larga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5440680"/>
            <a:ext cx="630936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2.13 modificada: profundidad de sensibilidad en función de la longitud de onda de Rayleigh.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1536192"/>
            <a:ext cx="1234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700" b="1">
                <a:solidFill>
                  <a:srgbClr val="141B4D"/>
                </a:solidFill>
              </a:rPr>
              <a:t>desplazamiento
vertical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26280" y="1536192"/>
            <a:ext cx="1234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700" b="1">
                <a:solidFill>
                  <a:srgbClr val="141B4D"/>
                </a:solidFill>
              </a:rPr>
              <a:t>desplazamiento
vertical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8760" y="2761488"/>
            <a:ext cx="135331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800" b="1">
                <a:solidFill>
                  <a:srgbClr val="141B4D"/>
                </a:solidFill>
              </a:rPr>
              <a:t>semiespacio
elástico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54096" y="4773168"/>
            <a:ext cx="100584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700" b="1">
                <a:solidFill>
                  <a:srgbClr val="141B4D"/>
                </a:solidFill>
              </a:rPr>
              <a:t>profundidad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35424" y="4773168"/>
            <a:ext cx="100584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700" b="1">
                <a:solidFill>
                  <a:srgbClr val="141B4D"/>
                </a:solidFill>
              </a:rPr>
              <a:t>profundidad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49240"/>
            <a:ext cx="67208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2.13 modificada: profundidad de sensibilidad en función de la longitud de onda de Rayleigh.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Ondas Rayleigh: acoplamiento P–SV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Rayleigh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4439" y="1143000"/>
            <a:ext cx="5154962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movimiento elíptico vertical–radial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componente vertical medible con geófono vertical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velocidad relacionada con Vs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menor decaimiento geométrico ideal que ondas de cuerpo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Foti et al. (2014), Fig. 3.3; etiquetas/caption traducidos al español.</a:t>
            </a:r>
          </a:p>
        </p:txBody>
      </p:sp>
      <p:sp>
        <p:nvSpPr>
          <p:cNvPr id="8" name="Text 5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13</a:t>
            </a:r>
            <a:endParaRPr lang="en-US" sz="650" dirty="0"/>
          </a:p>
        </p:txBody>
      </p:sp>
      <p:sp>
        <p:nvSpPr>
          <p:cNvPr id="9" name="Rectangle 8"/>
          <p:cNvSpPr/>
          <p:nvPr/>
        </p:nvSpPr>
        <p:spPr>
          <a:xfrm>
            <a:off x="5029200" y="2450592"/>
            <a:ext cx="804672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amplitud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54480" y="2980944"/>
            <a:ext cx="274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tiempo
(ms)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4965192"/>
            <a:ext cx="8686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distancia (m)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53312" y="5376672"/>
            <a:ext cx="516636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3.3 modificada: el campo de ondas es función continua de espacio y tiempo; una traza corresponde a x constante.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81328" y="2788920"/>
            <a:ext cx="384048" cy="100584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560" b="1">
                <a:solidFill>
                  <a:srgbClr val="141B4D"/>
                </a:solidFill>
              </a:rPr>
              <a:t>tiempo
(ms)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56432" y="4901184"/>
            <a:ext cx="105156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distancia (m)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4608" y="2404872"/>
            <a:ext cx="91440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amplitud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34440" y="5074920"/>
            <a:ext cx="539496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3.3 modificada: el campo de ondas es función de espacio y tiempo; una traza corresponde a una posición x constante.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fuente vertical superficial favorece Rayleigh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Energía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36006"/>
            <a:ext cx="6126480" cy="31688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06640" y="15544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800" dirty="0">
                <a:solidFill>
                  <a:srgbClr val="111111"/>
                </a:solidFill>
              </a:rPr>
              <a:t>≈67 % Rayleigh</a:t>
            </a:r>
            <a:endParaRPr lang="en-US" sz="1800" dirty="0"/>
          </a:p>
          <a:p>
            <a:r>
              <a:rPr lang="en-US" sz="1800" dirty="0">
                <a:solidFill>
                  <a:srgbClr val="111111"/>
                </a:solidFill>
              </a:rPr>
              <a:t>≈26 % S</a:t>
            </a:r>
            <a:endParaRPr lang="en-US" sz="1800" dirty="0"/>
          </a:p>
          <a:p>
            <a:r>
              <a:rPr lang="en-US" sz="1800" dirty="0">
                <a:solidFill>
                  <a:srgbClr val="111111"/>
                </a:solidFill>
              </a:rPr>
              <a:t>≈7 % P</a:t>
            </a:r>
            <a:endParaRPr lang="en-US" sz="1800" dirty="0"/>
          </a:p>
          <a:p>
            <a:r>
              <a:rPr lang="en-US" sz="1800" dirty="0">
                <a:solidFill>
                  <a:srgbClr val="111111"/>
                </a:solidFill>
              </a:rPr>
              <a:t>ideal: semiespacio homogéneo, elástico e isótropo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092440" y="5532120"/>
            <a:ext cx="3429000" cy="50292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38744" y="562356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 usar 90 % como regla universal.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Miller &amp; Pursey (1955), citado en Foti et al. (2014); etiquetas traducidas al español.</a:t>
            </a:r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14</a:t>
            </a:r>
            <a:endParaRPr lang="en-US" sz="650" dirty="0"/>
          </a:p>
        </p:txBody>
      </p:sp>
      <p:sp>
        <p:nvSpPr>
          <p:cNvPr id="11" name="Rectangle 10"/>
          <p:cNvSpPr/>
          <p:nvPr/>
        </p:nvSpPr>
        <p:spPr>
          <a:xfrm>
            <a:off x="1536192" y="2587752"/>
            <a:ext cx="13258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ondas Rayleigh
superficiales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2057400"/>
            <a:ext cx="160020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dirección de propagación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2423160"/>
            <a:ext cx="91440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campo cercano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2926080"/>
            <a:ext cx="100584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órbita de partícula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60807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2.12 modificada: patrón bidimensional de radiación de ondas Rayleigh generadas por una fuente puntual vertical.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514600"/>
            <a:ext cx="14173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700" b="1">
                <a:solidFill>
                  <a:srgbClr val="141B4D"/>
                </a:solidFill>
              </a:rPr>
              <a:t>ondas Rayleigh
superficiales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90672" y="2020824"/>
            <a:ext cx="173736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700" b="1">
                <a:solidFill>
                  <a:srgbClr val="141B4D"/>
                </a:solidFill>
              </a:rPr>
              <a:t>dirección de propagación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83480" y="2313432"/>
            <a:ext cx="105156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700" b="1">
                <a:solidFill>
                  <a:srgbClr val="141B4D"/>
                </a:solidFill>
              </a:rPr>
              <a:t>campo cercano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68112" y="2807208"/>
            <a:ext cx="10972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700" b="1">
                <a:solidFill>
                  <a:srgbClr val="141B4D"/>
                </a:solidFill>
              </a:rPr>
              <a:t>órbita de partícula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" y="4617720"/>
            <a:ext cx="6309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2.12 modificada: patrón bidimensional de radiación de ondas Rayleigh generadas por una fuente puntual vertical.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Rayleigh encaja con nuestra geometría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Elección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71186"/>
            <a:ext cx="6766560" cy="30813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fuente vertical → Rayleigh dominante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geófono vertical → componente vertical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capas → dispersión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dispersión → Vs(z)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Acá termina la física de ondas y empieza el requisito instrumental.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Foti et al. (2014), Fig. 3.45; etiquetas/caption traducidos al español.</a:t>
            </a:r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15</a:t>
            </a:r>
            <a:endParaRPr lang="en-US" sz="650" dirty="0"/>
          </a:p>
        </p:txBody>
      </p:sp>
      <p:sp>
        <p:nvSpPr>
          <p:cNvPr id="11" name="Rectangle 10"/>
          <p:cNvSpPr/>
          <p:nvPr/>
        </p:nvSpPr>
        <p:spPr>
          <a:xfrm>
            <a:off x="841248" y="2788920"/>
            <a:ext cx="6400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50" b="1">
                <a:solidFill>
                  <a:srgbClr val="141B4D"/>
                </a:solidFill>
              </a:rPr>
              <a:t>fuente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2505456"/>
            <a:ext cx="10972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50" b="1">
                <a:solidFill>
                  <a:srgbClr val="141B4D"/>
                </a:solidFill>
              </a:rPr>
              <a:t>cable de disparo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2542032"/>
            <a:ext cx="9144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50" b="1">
                <a:solidFill>
                  <a:srgbClr val="141B4D"/>
                </a:solidFill>
              </a:rPr>
              <a:t>cable de datos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3984" y="2304288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50" b="1">
                <a:solidFill>
                  <a:srgbClr val="141B4D"/>
                </a:solidFill>
              </a:rPr>
              <a:t>señal de disparo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2788920"/>
            <a:ext cx="822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datos analógicos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6360" y="2907792"/>
            <a:ext cx="822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50" b="1">
                <a:solidFill>
                  <a:srgbClr val="141B4D"/>
                </a:solidFill>
              </a:rPr>
              <a:t>sismógrafo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304288"/>
            <a:ext cx="8686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datos digitales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0" y="2852928"/>
            <a:ext cx="6400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control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383280"/>
            <a:ext cx="73152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geófono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3712463"/>
            <a:ext cx="59436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energía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736592"/>
            <a:ext cx="6675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3.45 modificada: esquema de equipo de campo MASW; elementos esenciales: fuente, receptores y adquisición digital.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90288"/>
            <a:ext cx="69494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3.45 modificada: esquema de equipo de campo MASW; elementos esenciales: fuente, receptores y adquisición digital.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770632"/>
            <a:ext cx="6400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fuente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53312" y="2468880"/>
            <a:ext cx="114300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cable de disparo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47872" y="2514600"/>
            <a:ext cx="96012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cable de datos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2240280"/>
            <a:ext cx="1078992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señal de disparo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2976" y="2240280"/>
            <a:ext cx="86868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datos digitales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26864" y="2761488"/>
            <a:ext cx="96012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550" b="1">
                <a:solidFill>
                  <a:srgbClr val="141B4D"/>
                </a:solidFill>
              </a:rPr>
              <a:t>datos analógicos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0" y="2871216"/>
            <a:ext cx="86868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sismógrafo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32704" y="2807208"/>
            <a:ext cx="685800" cy="2286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control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52544" y="3310128"/>
            <a:ext cx="768096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geófono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9240" y="3675887"/>
            <a:ext cx="685800" cy="2286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energía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352" y="4462272"/>
            <a:ext cx="7040880" cy="7680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3.45 modificada: esquema de equipo de campo MASW; elementos esenciales: fuente, receptores y adquisición digital.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2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402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Dispersión e inversión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85800" y="3063240"/>
            <a:ext cx="292608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290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DE6F2"/>
                </a:solidFill>
              </a:rPr>
              <a:t>Homogéneo → estratificado → λR(f) → cR(f) → modelo compatible.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Narrativa: avance causal desde necesidad geotécnica hacia instrumentación y validación.</a:t>
            </a:r>
            <a:endParaRPr lang="en-US" sz="580" dirty="0"/>
          </a:p>
        </p:txBody>
      </p:sp>
      <p:sp>
        <p:nvSpPr>
          <p:cNvPr id="6" name="Text 4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16</a:t>
            </a:r>
            <a:endParaRPr lang="en-US" sz="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un semiespacio homogéneo no aparece dispersión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Dispersión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309360" cy="4206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para un modo dado, cR no depende de f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un único medio: una velocidad Rayleigh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sirve como referencia conceptual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 conceptual: Foti et al. (2014), teoría de Rayleigh en semiespacio homogéneo.</a:t>
            </a:r>
            <a:endParaRPr lang="en-US" sz="580" dirty="0"/>
          </a:p>
        </p:txBody>
      </p:sp>
      <p:sp>
        <p:nvSpPr>
          <p:cNvPr id="8" name="Text 5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17</a:t>
            </a:r>
            <a:endParaRPr lang="en-US" sz="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Rayleigh es ligeramente menor que Vs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Dispersión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50008"/>
            <a:ext cx="6309360" cy="2523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1691640"/>
            <a:ext cx="42062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cR ≈ 0.87…0.97 · Vs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452360" y="315468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depende débilmente de ν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aprox. típica: cR ≈ 0.9 Vs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en multicapas no basta una conversión directa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Viktorov (1967); Foti et al. (2014); Xia et al. (1999).</a:t>
            </a:r>
            <a:endParaRPr lang="en-US" sz="580" dirty="0"/>
          </a:p>
        </p:txBody>
      </p:sp>
      <p:sp>
        <p:nvSpPr>
          <p:cNvPr id="9" name="Text 6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18</a:t>
            </a:r>
            <a:endParaRPr lang="en-US" sz="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estratificación hace que cR dependa de la frecuencia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Dispersión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75691"/>
            <a:ext cx="6400800" cy="37809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capas con distintos Vs, Vp/ν, ρ y espesores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cada frecuencia “ve” un volumen distinto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emerge cR = cR(f)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La dispersión es la información útil.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Foti et al. (2014), Fig. 1.2; etiquetas/caption traducidos al español.</a:t>
            </a:r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19</a:t>
            </a:r>
            <a:endParaRPr lang="en-US" sz="650" dirty="0"/>
          </a:p>
        </p:txBody>
      </p:sp>
      <p:sp>
        <p:nvSpPr>
          <p:cNvPr id="11" name="Rectangle 10"/>
          <p:cNvSpPr/>
          <p:nvPr/>
        </p:nvSpPr>
        <p:spPr>
          <a:xfrm>
            <a:off x="2514600" y="2176272"/>
            <a:ext cx="10972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alta frecuencia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90288" y="2176272"/>
            <a:ext cx="10972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baja frecuencia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852928"/>
            <a:ext cx="6400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capa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1952" y="3337560"/>
            <a:ext cx="6400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capa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1952" y="4096512"/>
            <a:ext cx="6400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capa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5615" y="2743200"/>
            <a:ext cx="8686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movimiento
vertical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074920"/>
            <a:ext cx="6400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1.2 modificada: dispersión geométrica de Rayleigh; distinta frecuencia implica diferente profundidad de sensibilidad.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919472"/>
            <a:ext cx="66294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1.2 modificada: dispersión geométrica de Rayleigh; distinta frecuencia implica diferente profundidad de sensibilidad.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Longitud de onda: sensibilidad con profundidad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Dispersión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6736"/>
            <a:ext cx="6492240" cy="45588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1417320"/>
            <a:ext cx="42062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λR(f) = cR(f) / f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452360" y="260604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alta f → λ corta → sensibilidad superficial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baja f → λ larga → sensibilidad profunda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la sensibilidad es distribuida; no z = λ/2 literal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Foti et al. (2014), Fig. 2.13; etiquetas/caption traducidos al español.</a:t>
            </a:r>
          </a:p>
        </p:txBody>
      </p:sp>
      <p:sp>
        <p:nvSpPr>
          <p:cNvPr id="9" name="Text 6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20</a:t>
            </a:r>
            <a:endParaRPr lang="en-US" sz="650" dirty="0"/>
          </a:p>
        </p:txBody>
      </p:sp>
      <p:sp>
        <p:nvSpPr>
          <p:cNvPr id="10" name="Rectangle 9"/>
          <p:cNvSpPr/>
          <p:nvPr/>
        </p:nvSpPr>
        <p:spPr>
          <a:xfrm>
            <a:off x="3182112" y="1554480"/>
            <a:ext cx="10515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desplazamiento
vertical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554480"/>
            <a:ext cx="10515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desplazamiento
vertical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2768" y="2761488"/>
            <a:ext cx="11887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800" b="1">
                <a:solidFill>
                  <a:srgbClr val="141B4D"/>
                </a:solidFill>
              </a:rPr>
              <a:t>semiespacio
elástico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6392" y="4919472"/>
            <a:ext cx="8686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profundidad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99432" y="4919472"/>
            <a:ext cx="8686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profundidad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9584" y="2240280"/>
            <a:ext cx="502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λ corta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761488"/>
            <a:ext cx="5029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λ larga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5440680"/>
            <a:ext cx="6400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2.13 modificada: profundidad de sensibilidad en función de la longitud de onda de Rayleigh.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1536192"/>
            <a:ext cx="1234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700" b="1">
                <a:solidFill>
                  <a:srgbClr val="141B4D"/>
                </a:solidFill>
              </a:rPr>
              <a:t>desplazamiento
vertical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1536192"/>
            <a:ext cx="1234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700" b="1">
                <a:solidFill>
                  <a:srgbClr val="141B4D"/>
                </a:solidFill>
              </a:rPr>
              <a:t>desplazamiento
vertical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08760" y="2761488"/>
            <a:ext cx="135331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800" b="1">
                <a:solidFill>
                  <a:srgbClr val="141B4D"/>
                </a:solidFill>
              </a:rPr>
              <a:t>semiespacio
elástico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54096" y="4773168"/>
            <a:ext cx="100584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700" b="1">
                <a:solidFill>
                  <a:srgbClr val="141B4D"/>
                </a:solidFill>
              </a:rPr>
              <a:t>profundidad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5424" y="4773168"/>
            <a:ext cx="100584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700" b="1">
                <a:solidFill>
                  <a:srgbClr val="141B4D"/>
                </a:solidFill>
              </a:rPr>
              <a:t>profundidad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349240"/>
            <a:ext cx="67208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2.13 modificada: profundidad de sensibilidad en función de la longitud de onda de Rayleigh.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curva de dispersión contiene la estructura vertical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Dispersión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9372" y="1097280"/>
            <a:ext cx="3033656" cy="4937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1554480"/>
            <a:ext cx="42062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6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cR = cR(f)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la curva medida es el dato intermedio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no es todavía un perfil Vs(z)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se interpreta mediante un modelo directo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Foti et al. (2014), Fig. 1.7; etiquetas/caption traducidos al español.</a:t>
            </a:r>
          </a:p>
        </p:txBody>
      </p:sp>
      <p:sp>
        <p:nvSpPr>
          <p:cNvPr id="9" name="Text 6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21</a:t>
            </a:r>
            <a:endParaRPr lang="en-US" sz="650" dirty="0"/>
          </a:p>
        </p:txBody>
      </p:sp>
      <p:sp>
        <p:nvSpPr>
          <p:cNvPr id="10" name="Rectangle 9"/>
          <p:cNvSpPr/>
          <p:nvPr/>
        </p:nvSpPr>
        <p:spPr>
          <a:xfrm>
            <a:off x="2724912" y="1307592"/>
            <a:ext cx="96012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Vs (m/s)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3392" y="2148840"/>
            <a:ext cx="30175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profundidad
(m)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2176272"/>
            <a:ext cx="8686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vel. fase
(m/s)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87952" y="3310128"/>
            <a:ext cx="9601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longitud de onda (m)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86200" y="4919472"/>
            <a:ext cx="8686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vel. fase
(m/s)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41648" y="5504688"/>
            <a:ext cx="7315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frecuencia (Hz)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5669280"/>
            <a:ext cx="3520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1.7 modificada: proceso de inversión; perfil Vs, comparación en longitud de onda y curva frecuencia–velocidad de fase.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5486400"/>
            <a:ext cx="40233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1.7 modificada: proceso de inversión; perfil Vs, comparación en longitud de onda y curva frecuencia–velocidad de fase.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inversión busca modelos compatibles, no una fotografía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Inversión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4111" y="1234440"/>
            <a:ext cx="2921299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1417320"/>
            <a:ext cx="42062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modelo de capas → cR(f)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curva medida → modelo compatible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452360" y="29718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parámetros: h, Vs, Vp/ν, ρ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problema no único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SPT/CPT, geología y restricciones ayudan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Foti et al. (2014), Fig. 1.7; etiquetas/caption traducidos al español.</a:t>
            </a:r>
          </a:p>
        </p:txBody>
      </p:sp>
      <p:sp>
        <p:nvSpPr>
          <p:cNvPr id="9" name="Text 6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22</a:t>
            </a:r>
            <a:endParaRPr lang="en-US" sz="650" dirty="0"/>
          </a:p>
        </p:txBody>
      </p:sp>
      <p:sp>
        <p:nvSpPr>
          <p:cNvPr id="10" name="Rectangle 9"/>
          <p:cNvSpPr/>
          <p:nvPr/>
        </p:nvSpPr>
        <p:spPr>
          <a:xfrm>
            <a:off x="2724912" y="1307592"/>
            <a:ext cx="96012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Vs (m/s)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3392" y="2148840"/>
            <a:ext cx="301752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profundidad
(m)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2176272"/>
            <a:ext cx="8686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vel. fase
(m/s)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87952" y="3310128"/>
            <a:ext cx="9601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longitud de onda (m)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86200" y="4919472"/>
            <a:ext cx="8686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vel. fase
(m/s)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41648" y="5504688"/>
            <a:ext cx="73152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frecuencia (Hz)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5669280"/>
            <a:ext cx="35204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1.7 modificada: proceso de inversión; perfil Vs, comparación en longitud de onda y curva frecuencia–velocidad de fase.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5486400"/>
            <a:ext cx="40233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1.7 modificada: proceso de inversión; perfil Vs, comparación en longitud de onda y curva frecuencia–velocidad de fase.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2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402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SASW, MASW y objetivo de adquisición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85800" y="3063240"/>
            <a:ext cx="292608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290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DE6F2"/>
                </a:solidFill>
              </a:rPr>
              <a:t>De diferencia de fase a matriz espacio–tiempo U(x,t).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Narrativa: avance causal desde necesidad geotécnica hacia instrumentación y validación.</a:t>
            </a:r>
            <a:endParaRPr lang="en-US" sz="580" dirty="0"/>
          </a:p>
        </p:txBody>
      </p:sp>
      <p:sp>
        <p:nvSpPr>
          <p:cNvPr id="6" name="Text 4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23</a:t>
            </a:r>
            <a:endParaRPr lang="en-US" sz="6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SASW: dos receptores y diferencia de fase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SASW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98597"/>
            <a:ext cx="6309360" cy="44265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1508760"/>
            <a:ext cx="42062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cR(f)=ω·Δx/Δφ(f)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simple y didáctico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ambigüedad de ciclos completos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menor redundancia espacial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Foti et al. (2014), Fig. 4.5; etiquetas/caption traducidos al español.</a:t>
            </a:r>
          </a:p>
        </p:txBody>
      </p:sp>
      <p:sp>
        <p:nvSpPr>
          <p:cNvPr id="9" name="Text 6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24</a:t>
            </a:r>
            <a:endParaRPr lang="en-US" sz="650" dirty="0"/>
          </a:p>
        </p:txBody>
      </p:sp>
      <p:sp>
        <p:nvSpPr>
          <p:cNvPr id="10" name="Rectangle 9"/>
          <p:cNvSpPr/>
          <p:nvPr/>
        </p:nvSpPr>
        <p:spPr>
          <a:xfrm>
            <a:off x="4846320" y="1536192"/>
            <a:ext cx="8686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osciloscopio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" y="4736592"/>
            <a:ext cx="10058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vibrador
electromecánico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96312" y="4709160"/>
            <a:ext cx="868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posición
receptor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9352" y="4709160"/>
            <a:ext cx="868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700" b="1">
                <a:solidFill>
                  <a:srgbClr val="141B4D"/>
                </a:solidFill>
              </a:rPr>
              <a:t>posición
receptor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5513832"/>
            <a:ext cx="630936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4.5 modificada: procedimiento de campo del método Rayleigh en estado estacionario (SASW/SSRM).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5285232"/>
            <a:ext cx="653796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4.5 modificada: procedimiento de campo del método Rayleigh en estado estacionario (SASW/SSRM).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91456" y="1499616"/>
            <a:ext cx="96012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141B4D"/>
                </a:solidFill>
              </a:rPr>
              <a:t>osciloscopio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MASW: múltiples posiciones y patrones coherentes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MASW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23427"/>
            <a:ext cx="6675120" cy="30397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registro espacio–tiempo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redundancia espacial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mejor separación modal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imagen f–k / f–c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El instrumento debe preservar fase y geometría.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Foti et al. (2014), Fig. 3.45; etiquetas/caption traducidos al español.</a:t>
            </a:r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25</a:t>
            </a:r>
            <a:endParaRPr lang="en-US" sz="650" dirty="0"/>
          </a:p>
        </p:txBody>
      </p:sp>
      <p:sp>
        <p:nvSpPr>
          <p:cNvPr id="11" name="Rectangle 10"/>
          <p:cNvSpPr/>
          <p:nvPr/>
        </p:nvSpPr>
        <p:spPr>
          <a:xfrm>
            <a:off x="841248" y="2788920"/>
            <a:ext cx="6400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50" b="1">
                <a:solidFill>
                  <a:srgbClr val="141B4D"/>
                </a:solidFill>
              </a:rPr>
              <a:t>fuente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2505456"/>
            <a:ext cx="10972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50" b="1">
                <a:solidFill>
                  <a:srgbClr val="141B4D"/>
                </a:solidFill>
              </a:rPr>
              <a:t>cable de disparo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2542032"/>
            <a:ext cx="9144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50" b="1">
                <a:solidFill>
                  <a:srgbClr val="141B4D"/>
                </a:solidFill>
              </a:rPr>
              <a:t>cable de datos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3984" y="2304288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50" b="1">
                <a:solidFill>
                  <a:srgbClr val="141B4D"/>
                </a:solidFill>
              </a:rPr>
              <a:t>señal de disparo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2788920"/>
            <a:ext cx="822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datos analógicos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6360" y="2907792"/>
            <a:ext cx="822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50" b="1">
                <a:solidFill>
                  <a:srgbClr val="141B4D"/>
                </a:solidFill>
              </a:rPr>
              <a:t>sismógrafo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304288"/>
            <a:ext cx="8686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datos digitales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0" y="2852928"/>
            <a:ext cx="6400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control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383280"/>
            <a:ext cx="73152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geófono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3712463"/>
            <a:ext cx="59436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energía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736592"/>
            <a:ext cx="6675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3.45 modificada: esquema de equipo de campo MASW; elementos esenciales: fuente, receptores y adquisición digital.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90288"/>
            <a:ext cx="69494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3.45 modificada: esquema de equipo de campo MASW; elementos esenciales: fuente, receptores y adquisición digital.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770632"/>
            <a:ext cx="6400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fuente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53312" y="2468880"/>
            <a:ext cx="114300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cable de disparo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47872" y="2514600"/>
            <a:ext cx="96012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cable de datos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2240280"/>
            <a:ext cx="1078992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señal de disparo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2976" y="2240280"/>
            <a:ext cx="86868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datos digitales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26864" y="2761488"/>
            <a:ext cx="96012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550" b="1">
                <a:solidFill>
                  <a:srgbClr val="141B4D"/>
                </a:solidFill>
              </a:rPr>
              <a:t>datos analógicos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0" y="2871216"/>
            <a:ext cx="868680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sismógrafo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32704" y="2807208"/>
            <a:ext cx="685800" cy="2286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control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52544" y="3310128"/>
            <a:ext cx="768096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geófono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9240" y="3675887"/>
            <a:ext cx="685800" cy="2286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energía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352" y="4462272"/>
            <a:ext cx="7040880" cy="7680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3.45 modificada: esquema de equipo de campo MASW; elementos esenciales: fuente, receptores y adquisición digital.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Nuestro prototipo sintetiza la dimensión espacial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MASW sintetizado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4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4228"/>
            <a:ext cx="6309360" cy="45753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adquisiciones sucesivas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fuente/receptor desplazados de forma recíproca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requiere geometría, excitación y referencia temporal controladas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La electrónica existe para hacer confiable esta síntesis.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Lin &amp; Ashlock (2016), Fig. 3.7; etiquetas/caption traducidos al español.</a:t>
            </a:r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26</a:t>
            </a:r>
            <a:endParaRPr lang="en-US" sz="650" dirty="0"/>
          </a:p>
        </p:txBody>
      </p:sp>
      <p:sp>
        <p:nvSpPr>
          <p:cNvPr id="11" name="Rectangle 10"/>
          <p:cNvSpPr/>
          <p:nvPr/>
        </p:nvSpPr>
        <p:spPr>
          <a:xfrm>
            <a:off x="914400" y="1572768"/>
            <a:ext cx="82296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amplitud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572768"/>
            <a:ext cx="82296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amplitud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2679192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tiempo (s)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2679192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tiempo (s)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7088" y="4078224"/>
            <a:ext cx="82296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frecuencia (Hz)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24528" y="4078224"/>
            <a:ext cx="82296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frecuencia (Hz)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63440"/>
            <a:ext cx="6858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fase (rad)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4663440"/>
            <a:ext cx="6858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550" b="1">
                <a:solidFill>
                  <a:srgbClr val="141B4D"/>
                </a:solidFill>
              </a:rPr>
              <a:t>fase (rad)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413248"/>
            <a:ext cx="63093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3.7 modificada: análisis espectral de dos señales sísmicas; amplitud, espectro y fase para señales con distinto contenido frecuencial.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193792"/>
            <a:ext cx="658368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3.7 modificada: análisis espectral de dos señales sísmicas; amplitud, espectro y fase para señales con distinto contenido frecuencial.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 de adquisición: la matriz U(x,t)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MASW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1189" y="1234440"/>
            <a:ext cx="4958582" cy="4617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1645920"/>
            <a:ext cx="42062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5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U[m,n] = uz(xm, tn)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fase preservada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posición documentada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referencia temporal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entrada a dispersión e inversión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Foti et al. (2014), Fig. 3.3; etiquetas/caption traducidos al español.</a:t>
            </a:r>
          </a:p>
        </p:txBody>
      </p:sp>
      <p:sp>
        <p:nvSpPr>
          <p:cNvPr id="9" name="Text 6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27</a:t>
            </a:r>
            <a:endParaRPr lang="en-US" sz="650" dirty="0"/>
          </a:p>
        </p:txBody>
      </p:sp>
      <p:sp>
        <p:nvSpPr>
          <p:cNvPr id="10" name="Rectangle 9"/>
          <p:cNvSpPr/>
          <p:nvPr/>
        </p:nvSpPr>
        <p:spPr>
          <a:xfrm>
            <a:off x="4800600" y="2468880"/>
            <a:ext cx="804672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amplitud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2907792"/>
            <a:ext cx="2743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tiempo
(ms)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4892040"/>
            <a:ext cx="86868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600" b="1">
                <a:solidFill>
                  <a:srgbClr val="141B4D"/>
                </a:solidFill>
              </a:rPr>
              <a:t>distancia (m)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5285232"/>
            <a:ext cx="516636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3.3 modificada: campo de ondas como función de espacio y tiempo; U(x,t) corresponde a una matriz de trazas.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81328" y="2788920"/>
            <a:ext cx="384048" cy="1005840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560" b="1">
                <a:solidFill>
                  <a:srgbClr val="141B4D"/>
                </a:solidFill>
              </a:rPr>
              <a:t>tiempo
(ms)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56432" y="4901184"/>
            <a:ext cx="105156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distancia (m)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64608" y="2404872"/>
            <a:ext cx="91440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00" b="1">
                <a:solidFill>
                  <a:srgbClr val="141B4D"/>
                </a:solidFill>
              </a:rPr>
              <a:t>amplitud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40" y="5074920"/>
            <a:ext cx="539496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>
                <a:solidFill>
                  <a:srgbClr val="5B6770"/>
                </a:solidFill>
              </a:rPr>
              <a:t>Figura 3.3 modificada: el campo de ondas es función de espacio y tiempo; una traza corresponde a una posición x constante.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MASW impone requisitos electrónicos concretos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Requisitos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6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1452"/>
            <a:ext cx="6309360" cy="33008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banda útil y SNR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fase y sincronismo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rango dinámico y antialias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geometría y metadatos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operación de campo y almacenamiento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La física ya define el diseño del instrumento.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 conceptual: narrativa acordada y requisitos derivados de MASW.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28</a:t>
            </a:r>
            <a:endParaRPr lang="en-US" sz="6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72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402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del sistema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85800" y="3063240"/>
            <a:ext cx="292608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290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DE6F2"/>
                </a:solidFill>
              </a:rPr>
              <a:t>Primero los roles; luego GEO completo, MASTER y HAMMER.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Narrativa: avance causal desde necesidad geotécnica hacia instrumentación y validación.</a:t>
            </a:r>
            <a:endParaRPr lang="en-US" sz="580" dirty="0"/>
          </a:p>
        </p:txBody>
      </p:sp>
      <p:sp>
        <p:nvSpPr>
          <p:cNvPr id="6" name="Text 4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29</a:t>
            </a:r>
            <a:endParaRPr lang="en-US" sz="6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roles: GEO, MASTER y HAMMER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Arquitectura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302446"/>
            <a:ext cx="6766560" cy="24817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GEO: mide respuesta del suelo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MASTER: coordina nodos e interfaz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HAMMER: mide la excitación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Todavía no hablamos de transporte de muestras; eso corresponde al MASTER.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arquitectura propia del proyecto / diagrama del borrador.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30</a:t>
            </a:r>
            <a:endParaRPr lang="en-US" sz="6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GEO comienza en el sensor: SM‑24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GEO · sensor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4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620" y="1325880"/>
            <a:ext cx="44348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geófono vertical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fn ≈ 10 Hz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G0 ≈ 28.8 V·s/m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robusto y disponible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La disponibilidad del SM‑24 fija una restricción real de banda.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Imagen/ficha: Sensor Nederland B.V., SM‑24 Geophone Element datasheet.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31</a:t>
            </a:r>
            <a:endParaRPr lang="en-US" sz="6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del SM‑24: bajo resonancia cae fuerte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GEO · sensor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4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32647"/>
            <a:ext cx="6400800" cy="20213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1371600"/>
            <a:ext cx="42062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Hv(s)=G0·s²/(s²+2ζωn s+ωn²)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452360" y="269748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a 1 Hz con fn=10 Hz: |H|≈(1/10)²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≈ −40 dB respecto a banda alta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no basta amplificar más: la banda alta consume rango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Sensor Nederland SM‑24; modelo masa–resorte–amortiguador del documento de tesis.</a:t>
            </a:r>
            <a:endParaRPr lang="en-US" sz="580" dirty="0"/>
          </a:p>
        </p:txBody>
      </p:sp>
      <p:sp>
        <p:nvSpPr>
          <p:cNvPr id="9" name="Text 6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32</a:t>
            </a:r>
            <a:endParaRPr lang="en-US" sz="6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Alternativas para extender baja frecuencia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GEO · estado del arte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6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229" y="1234440"/>
            <a:ext cx="6061062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23760" y="1280160"/>
            <a:ext cx="4297680" cy="4297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280" dirty="0">
                <a:solidFill>
                  <a:srgbClr val="111111"/>
                </a:solidFill>
              </a:rPr>
              <a:t>directo + ganancia: simple, pero rango insuficiente</a:t>
            </a:r>
            <a:endParaRPr lang="en-US" sz="1280" dirty="0"/>
          </a:p>
          <a:p>
            <a:r>
              <a:rPr lang="en-US" sz="1280" dirty="0">
                <a:solidFill>
                  <a:srgbClr val="111111"/>
                </a:solidFill>
              </a:rPr>
              <a:t>carga/impedancia: extensión limitada</a:t>
            </a:r>
            <a:endParaRPr lang="en-US" sz="1280" dirty="0"/>
          </a:p>
          <a:p>
            <a:r>
              <a:rPr lang="en-US" sz="1280" dirty="0">
                <a:solidFill>
                  <a:srgbClr val="111111"/>
                </a:solidFill>
              </a:rPr>
              <a:t>zero-pole: problema con DC/offset/ruido</a:t>
            </a:r>
            <a:endParaRPr lang="en-US" sz="1280" dirty="0"/>
          </a:p>
          <a:p>
            <a:r>
              <a:rPr lang="en-US" sz="1280" dirty="0">
                <a:solidFill>
                  <a:srgbClr val="111111"/>
                </a:solidFill>
              </a:rPr>
              <a:t>force balance: potente pero complejo</a:t>
            </a:r>
            <a:endParaRPr lang="en-US" sz="1280" dirty="0"/>
          </a:p>
          <a:p>
            <a:r>
              <a:rPr lang="en-US" sz="1280" dirty="0">
                <a:solidFill>
                  <a:srgbClr val="111111"/>
                </a:solidFill>
              </a:rPr>
              <a:t>Ma et al.: elegida</a:t>
            </a:r>
            <a:endParaRPr lang="en-US" sz="1280" dirty="0"/>
          </a:p>
        </p:txBody>
      </p:sp>
      <p:sp>
        <p:nvSpPr>
          <p:cNvPr id="7" name="Text 4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Fuentes: Pazos; Hakimitoroghi; papers de force balance/negative resistance; Ma et al. (2023).</a:t>
            </a:r>
            <a:endParaRPr lang="en-US" sz="580" dirty="0"/>
          </a:p>
        </p:txBody>
      </p:sp>
      <p:sp>
        <p:nvSpPr>
          <p:cNvPr id="8" name="Text 5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33</a:t>
            </a:r>
            <a:endParaRPr lang="en-US" sz="6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 et al.: atenuar la región dominante antes de recuperar ganancia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GEO · AFE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5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92321"/>
            <a:ext cx="6583680" cy="35019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1417320"/>
            <a:ext cx="42062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3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Hcomp(s) ≈ 1 − Hbp(s)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7452360" y="260604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camino directo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BP inversor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suma/resta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ganancia global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LP antialias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Modificado de Ma et al. (2023) y adaptación propia; etiquetas principales traducidas al español.</a:t>
            </a:r>
          </a:p>
        </p:txBody>
      </p:sp>
      <p:sp>
        <p:nvSpPr>
          <p:cNvPr id="9" name="Text 6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34</a:t>
            </a:r>
            <a:endParaRPr lang="en-US" sz="650" dirty="0"/>
          </a:p>
        </p:txBody>
      </p:sp>
      <p:sp>
        <p:nvSpPr>
          <p:cNvPr id="10" name="Rectangle 9"/>
          <p:cNvSpPr/>
          <p:nvPr/>
        </p:nvSpPr>
        <p:spPr>
          <a:xfrm>
            <a:off x="2148840" y="1901952"/>
            <a:ext cx="192024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300" b="1">
                <a:solidFill>
                  <a:srgbClr val="141B4D"/>
                </a:solidFill>
              </a:rPr>
              <a:t>Frente analógico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5230368"/>
            <a:ext cx="6583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700" b="0">
                <a:solidFill>
                  <a:srgbClr val="5B6770"/>
                </a:solidFill>
              </a:rPr>
              <a:t>Figura modificada: camino directo + pasa banda inversor + suma/resta + ganancia global + LP antialias + ADC.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AFE implementado: entrada diferencial → ADC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GEO · AFE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mnt/data/v10_unzip/ppt/media/image6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3214"/>
            <a:ext cx="7315200" cy="33858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01000" y="1554480"/>
            <a:ext cx="3108960" cy="3108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PGA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directo + BP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SUM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LP antialias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ADC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77724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38744" y="5715000"/>
            <a:ext cx="313639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La LF extendida es todavía predicción en cascada, no calibración mecánica extrema.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600">
                <a:solidFill>
                  <a:srgbClr val="5B6770"/>
                </a:solidFill>
              </a:rPr>
              <a:t>Figura propia modificada: etiquetas principales traducidas al español; arquitectura PSoC del AFE implementado.</a:t>
            </a:r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35</a:t>
            </a:r>
            <a:endParaRPr lang="en-US" sz="650" dirty="0"/>
          </a:p>
        </p:txBody>
      </p:sp>
      <p:sp>
        <p:nvSpPr>
          <p:cNvPr id="11" name="Rectangle 10"/>
          <p:cNvSpPr/>
          <p:nvPr/>
        </p:nvSpPr>
        <p:spPr>
          <a:xfrm>
            <a:off x="658368" y="1444752"/>
            <a:ext cx="1965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650" b="0">
                <a:solidFill>
                  <a:srgbClr val="141B4D"/>
                </a:solidFill>
              </a:rPr>
              <a:t>Traducción de etiquetas:
Sample → muestra · Filter → filtro
Control/Status Reg → registros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1444752"/>
            <a:ext cx="2514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l"/>
            <a:r>
              <a:rPr sz="650" b="0">
                <a:solidFill>
                  <a:srgbClr val="141B4D"/>
                </a:solidFill>
              </a:rPr>
              <a:t>SignalController → controlador de señal
DMA → transferencia directa de memoria
Vref/MuxSelect → referencia/selección MUX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519672"/>
            <a:ext cx="2286000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r"/>
            <a:r>
              <a:rPr sz="550" b="0">
                <a:solidFill>
                  <a:srgbClr val="5B6770"/>
                </a:solidFill>
              </a:rPr>
              <a:t>Figura modificada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vs medición: magnitud y fase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GEO · validación eléctrica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6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7601"/>
            <a:ext cx="7406640" cy="28713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0" y="1508760"/>
            <a:ext cx="3017520" cy="3291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barrido eléctrico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modelo de cascada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tolerancias de componentes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no sustituye calibración mecánica extremo a extremo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medición propia de respuesta GEO→ADC y modelo nominal SM‑24 + AFE.</a:t>
            </a:r>
            <a:endParaRPr lang="en-US" sz="580" dirty="0"/>
          </a:p>
        </p:txBody>
      </p:sp>
      <p:sp>
        <p:nvSpPr>
          <p:cNvPr id="8" name="Text 5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36</a:t>
            </a:r>
            <a:endParaRPr lang="en-US" sz="6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DA‑AFE: calibrar → congelar → medir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GEO · offset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5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67254"/>
            <a:ext cx="6675120" cy="35063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alta ganancia + offset pequeño → saturación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MUX + ADC + FIR + PI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VDAC por etapa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orden: PGA → BP → SUM → LP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Las etapas posteriores heredan el residual anterior.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arquitectura DA‑AFE propia; paper URUCON 2026.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37</a:t>
            </a:r>
            <a:endParaRPr lang="en-US" sz="6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DA‑AFE: reducción de offset residual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GEO · offset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5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20165"/>
            <a:ext cx="6309360" cy="378342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1508760"/>
            <a:ext cx="42519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LP residual: 2.9–45.8 %FS → 0.4–3.9 %FS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452360" y="288036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una única configuración de controlador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deadband, saturación y anti-windup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códigos congelados durante la captura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Álvarez et al. (2026), Digitally Assisted Analog Front-End for Geophone Instrumentation, URUCON 2026.</a:t>
            </a:r>
            <a:endParaRPr lang="en-US" sz="580" dirty="0"/>
          </a:p>
        </p:txBody>
      </p:sp>
      <p:sp>
        <p:nvSpPr>
          <p:cNvPr id="9" name="Text 6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38</a:t>
            </a:r>
            <a:endParaRPr lang="en-US" sz="6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Captura digital GEO: timing crítico en hardware local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GEO · digital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5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61212"/>
            <a:ext cx="6858000" cy="156417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26680" y="1463040"/>
            <a:ext cx="3566160" cy="3840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PSoC 5LP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ADC ΔΣ 18 bit · ≈2604 Sa/s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DMA / DFB / RAM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SignalController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metadatos y almacenamiento local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arquitectura digital propia en PSoC 5LP; documentación Cypress/Infineon PSoC 5LP.</a:t>
            </a:r>
            <a:endParaRPr lang="en-US" sz="580" dirty="0"/>
          </a:p>
        </p:txBody>
      </p:sp>
      <p:sp>
        <p:nvSpPr>
          <p:cNvPr id="8" name="Text 5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39</a:t>
            </a:r>
            <a:endParaRPr lang="en-US" sz="6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MASTER coordina; no transporta muestras durante la adquisición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MASTER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6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08450"/>
            <a:ext cx="6492240" cy="30697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ESP‑NOW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PRESTART / ARM / START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broadcast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captura local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store-and-forward posterior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623560"/>
            <a:ext cx="3429000" cy="50292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715000"/>
            <a:ext cx="3136392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La red coordina la captura y luego descarga los datos.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protocolo propio; documentación Espressif ESP‑NOW.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40</a:t>
            </a:r>
            <a:endParaRPr lang="en-US" sz="6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Sincronización: retardo temporal → error de fase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MASTER · sincronismo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6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20265"/>
            <a:ext cx="6309360" cy="29832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1417320"/>
            <a:ext cx="42519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Δφ(f)=360°·f·Δt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Δt=400 µs → 3° @20 Hz · 7° @50 Hz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452360" y="306324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observación preliminar: 200–400 µs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todavía no equivale a ADC–ADC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pendiente: deriva de relojes y sincronismo real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mediciones propias de flancos GPIO; relación de fase derivada de MASW.</a:t>
            </a:r>
            <a:endParaRPr lang="en-US" sz="580" dirty="0"/>
          </a:p>
        </p:txBody>
      </p:sp>
      <p:sp>
        <p:nvSpPr>
          <p:cNvPr id="9" name="Text 6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41</a:t>
            </a:r>
            <a:endParaRPr lang="en-US" sz="6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HAMMER mide el impacto que alinea la adquisición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HAMMER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6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8581" y="1234440"/>
            <a:ext cx="3143798" cy="4617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52360" y="2743200"/>
            <a:ext cx="3931920" cy="2606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PCB 086D20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instante de impacto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forma de excitación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detección de rebote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aceptar/rechazar captura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92440" y="5532120"/>
            <a:ext cx="3429000" cy="77724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623560"/>
            <a:ext cx="313639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Si sintetizamos espacio con golpes sucesivos, no podemos asumir golpes idénticos.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PCB Piezotronics 086D20 datasheet; acondicionamiento propio HAMMER.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42</a:t>
            </a:r>
            <a:endParaRPr lang="en-US" sz="6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de campo: operar, revisar, aceptar y mover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Campo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762"/>
            <a:ext cx="7406640" cy="41687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05572" y="1463040"/>
            <a:ext cx="3108960" cy="3474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configurar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calibrar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ARM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impacto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revisar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aceptar/repetir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mover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interfaz propia Geophone Scope / captura web de campo.</a:t>
            </a:r>
            <a:endParaRPr lang="en-US" sz="580" dirty="0"/>
          </a:p>
        </p:txBody>
      </p:sp>
      <p:sp>
        <p:nvSpPr>
          <p:cNvPr id="8" name="Text 5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43</a:t>
            </a:r>
            <a:endParaRPr lang="en-US" sz="6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Interfaz de análisis: validar campañas antes de invertir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Análisis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7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762"/>
            <a:ext cx="7406640" cy="41687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05572" y="1508760"/>
            <a:ext cx="3108960" cy="3200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validar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agrupar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alinear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promediar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filtrar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exportar a MASW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servidor de datos propio sobre capturas reales.</a:t>
            </a:r>
            <a:endParaRPr lang="en-US" sz="580" dirty="0"/>
          </a:p>
        </p:txBody>
      </p:sp>
      <p:sp>
        <p:nvSpPr>
          <p:cNvPr id="8" name="Text 5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44</a:t>
            </a:r>
            <a:endParaRPr lang="en-US" sz="6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72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402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Resultados preliminares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85800" y="3063240"/>
            <a:ext cx="2926080" cy="0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34290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DE6F2"/>
                </a:solidFill>
              </a:rPr>
              <a:t>Sólo después de física, requisitos y sistema aparece lo medido.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Narrativa: avance causal desde necesidad geotécnica hacia instrumentación y validación.</a:t>
            </a:r>
            <a:endParaRPr lang="en-US" sz="580" dirty="0"/>
          </a:p>
        </p:txBody>
      </p:sp>
      <p:sp>
        <p:nvSpPr>
          <p:cNvPr id="6" name="Text 4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45</a:t>
            </a:r>
            <a:endParaRPr lang="en-US" sz="6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SNR aparente por banda: resultado global de toda la cadena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Resultados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4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385502"/>
            <a:ext cx="6217920" cy="22698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60920" y="1554480"/>
            <a:ext cx="4023360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700" dirty="0">
                <a:solidFill>
                  <a:srgbClr val="111111"/>
                </a:solidFill>
              </a:rPr>
              <a:t>1–5 Hz: 0.5 dB</a:t>
            </a:r>
            <a:endParaRPr lang="en-US" sz="1700" dirty="0"/>
          </a:p>
          <a:p>
            <a:r>
              <a:rPr lang="en-US" sz="1700" dirty="0">
                <a:solidFill>
                  <a:srgbClr val="111111"/>
                </a:solidFill>
              </a:rPr>
              <a:t>5–10 Hz: 2.1 dB</a:t>
            </a:r>
            <a:endParaRPr lang="en-US" sz="1700" dirty="0"/>
          </a:p>
          <a:p>
            <a:r>
              <a:rPr lang="en-US" sz="1700" dirty="0">
                <a:solidFill>
                  <a:srgbClr val="111111"/>
                </a:solidFill>
              </a:rPr>
              <a:t>10–20 Hz: 16.7 dB</a:t>
            </a:r>
            <a:endParaRPr lang="en-US" sz="1700" dirty="0"/>
          </a:p>
          <a:p>
            <a:r>
              <a:rPr lang="en-US" sz="1700" dirty="0">
                <a:solidFill>
                  <a:srgbClr val="111111"/>
                </a:solidFill>
              </a:rPr>
              <a:t>20–50 Hz: 24.4 dB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092440" y="5532120"/>
            <a:ext cx="3429000" cy="86868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623560"/>
            <a:ext cx="3136392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 atribuir &lt;10 Hz sólo al geófono: incluye fuente, acoplamiento, suelo, sensor y electrónica.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cálculo propio sobre campañas de campo; método descrito en benchmark MASW.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46</a:t>
            </a:r>
            <a:endParaRPr lang="en-US" sz="6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central actual: registro espacio–tiempo U(x,t)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Resultados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7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45853"/>
            <a:ext cx="7589520" cy="419489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21040" y="1417320"/>
            <a:ext cx="30175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25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U[m,n] = uz(xm, tn)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458200" y="2468880"/>
            <a:ext cx="2834640" cy="228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21 posiciones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10–50 m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Δx=2 m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alineado con HAMMER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5212080"/>
            <a:ext cx="3383280" cy="77724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84464" y="5303520"/>
            <a:ext cx="309067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Todo el sistema presentado hasta acá fue construido para obtener esta matriz.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datos propios de campo, campaña Canchita; documento de tesis.</a:t>
            </a:r>
            <a:endParaRPr lang="en-US" sz="580" dirty="0"/>
          </a:p>
        </p:txBody>
      </p:sp>
      <p:sp>
        <p:nvSpPr>
          <p:cNvPr id="11" name="Text 8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47</a:t>
            </a:r>
            <a:endParaRPr lang="en-US" sz="6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U(x,t) a dispersión: todavía no es Vs(z) final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Resultados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7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9747" y="1051560"/>
            <a:ext cx="2847306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58200" y="1508760"/>
            <a:ext cx="2926080" cy="2834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11111"/>
                </a:solidFill>
              </a:rPr>
              <a:t>wiggle real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mapa frecuencia–velocidad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detalle 5–50 Hz</a:t>
            </a:r>
            <a:endParaRPr lang="en-US" sz="1400" dirty="0"/>
          </a:p>
          <a:p>
            <a:r>
              <a:rPr lang="en-US" sz="1400" dirty="0">
                <a:solidFill>
                  <a:srgbClr val="111111"/>
                </a:solidFill>
              </a:rPr>
              <a:t>interpretación aún en validación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datos propios de campo, campaña Canchita; procesamiento MASW propio.</a:t>
            </a:r>
            <a:endParaRPr lang="en-US" sz="580" dirty="0"/>
          </a:p>
        </p:txBody>
      </p:sp>
      <p:sp>
        <p:nvSpPr>
          <p:cNvPr id="8" name="Text 5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48</a:t>
            </a:r>
            <a:endParaRPr lang="en-US" sz="6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está demostrado en la primera presentación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Roadmap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96422"/>
            <a:ext cx="6309360" cy="263091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949440" y="1325880"/>
            <a:ext cx="4572000" cy="4114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350" dirty="0">
                <a:solidFill>
                  <a:srgbClr val="111111"/>
                </a:solidFill>
              </a:rPr>
              <a:t>AFE funcional y compensación implementada</a:t>
            </a:r>
            <a:endParaRPr lang="en-US" sz="1350" dirty="0"/>
          </a:p>
          <a:p>
            <a:r>
              <a:rPr lang="en-US" sz="1350" dirty="0">
                <a:solidFill>
                  <a:srgbClr val="111111"/>
                </a:solidFill>
              </a:rPr>
              <a:t>caracterización eléctrica y DA‑AFE</a:t>
            </a:r>
            <a:endParaRPr lang="en-US" sz="1350" dirty="0"/>
          </a:p>
          <a:p>
            <a:r>
              <a:rPr lang="en-US" sz="1350" dirty="0">
                <a:solidFill>
                  <a:srgbClr val="111111"/>
                </a:solidFill>
              </a:rPr>
              <a:t>captura digital local</a:t>
            </a:r>
            <a:endParaRPr lang="en-US" sz="1350" dirty="0"/>
          </a:p>
          <a:p>
            <a:r>
              <a:rPr lang="en-US" sz="1350" dirty="0">
                <a:solidFill>
                  <a:srgbClr val="111111"/>
                </a:solidFill>
              </a:rPr>
              <a:t>arquitectura distribuida GEO/MASTER/HAMMER</a:t>
            </a:r>
            <a:endParaRPr lang="en-US" sz="1350" dirty="0"/>
          </a:p>
          <a:p>
            <a:r>
              <a:rPr lang="en-US" sz="1350" dirty="0">
                <a:solidFill>
                  <a:srgbClr val="111111"/>
                </a:solidFill>
              </a:rPr>
              <a:t>flujo de campo y U(x,t) secuencial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092440" y="5486400"/>
            <a:ext cx="3429000" cy="685800"/>
          </a:xfrm>
          <a:prstGeom prst="rect">
            <a:avLst/>
          </a:prstGeom>
          <a:solidFill>
            <a:srgbClr val="18A8A8"/>
          </a:solidFill>
          <a:ln w="12700">
            <a:solidFill>
              <a:srgbClr val="18A8A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38744" y="5577840"/>
            <a:ext cx="31363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 es validación geotécnica completa; sí es integración funcional con límites identificados.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síntesis propia según narrativa acordada.</a:t>
            </a:r>
            <a:endParaRPr lang="en-US" sz="580" dirty="0"/>
          </a:p>
        </p:txBody>
      </p:sp>
      <p:sp>
        <p:nvSpPr>
          <p:cNvPr id="10" name="Text 7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49</a:t>
            </a:r>
            <a:endParaRPr lang="en-US" sz="6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22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falta para diciembre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9829800" y="39319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8A8A8"/>
                </a:solidFill>
              </a:rPr>
              <a:t>Roadmap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87552"/>
            <a:ext cx="11155680" cy="0"/>
          </a:xfrm>
          <a:prstGeom prst="line">
            <a:avLst/>
          </a:prstGeom>
          <a:noFill/>
          <a:ln w="12700">
            <a:solidFill>
              <a:srgbClr val="EAEFF5"/>
            </a:solidFill>
            <a:prstDash val="solid"/>
          </a:ln>
        </p:spPr>
      </p:sp>
      <p:pic>
        <p:nvPicPr>
          <p:cNvPr id="5" name="Image 0" descr="/mnt/data/v10_unzip/ppt/media/image7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54430"/>
            <a:ext cx="6126480" cy="21777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78040" y="1417320"/>
            <a:ext cx="4480560" cy="3931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350" dirty="0">
                <a:solidFill>
                  <a:srgbClr val="111111"/>
                </a:solidFill>
              </a:rPr>
              <a:t>calibración mecánica extremo a extremo</a:t>
            </a:r>
            <a:endParaRPr lang="en-US" sz="1350" dirty="0"/>
          </a:p>
          <a:p>
            <a:r>
              <a:rPr lang="en-US" sz="1350" dirty="0">
                <a:solidFill>
                  <a:srgbClr val="111111"/>
                </a:solidFill>
              </a:rPr>
              <a:t>mejorar excitación LF</a:t>
            </a:r>
            <a:endParaRPr lang="en-US" sz="1350" dirty="0"/>
          </a:p>
          <a:p>
            <a:r>
              <a:rPr lang="en-US" sz="1350" dirty="0">
                <a:solidFill>
                  <a:srgbClr val="111111"/>
                </a:solidFill>
              </a:rPr>
              <a:t>sincronización ADC–ADC y deriva de relojes</a:t>
            </a:r>
            <a:endParaRPr lang="en-US" sz="1350" dirty="0"/>
          </a:p>
          <a:p>
            <a:r>
              <a:rPr lang="en-US" sz="1350" dirty="0">
                <a:solidFill>
                  <a:srgbClr val="111111"/>
                </a:solidFill>
              </a:rPr>
              <a:t>varios GEO simultáneos</a:t>
            </a:r>
            <a:endParaRPr lang="en-US" sz="1350" dirty="0"/>
          </a:p>
          <a:p>
            <a:r>
              <a:rPr lang="en-US" sz="1350" dirty="0">
                <a:solidFill>
                  <a:srgbClr val="111111"/>
                </a:solidFill>
              </a:rPr>
              <a:t>curva de dispersión, modos, inversión y Vs(z)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02920" y="6565392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5F6673"/>
                </a:solidFill>
              </a:rPr>
              <a:t>Fuente: plan de tesis y prototipo de martillete propio.</a:t>
            </a:r>
            <a:endParaRPr lang="en-US" sz="580" dirty="0"/>
          </a:p>
        </p:txBody>
      </p:sp>
      <p:sp>
        <p:nvSpPr>
          <p:cNvPr id="8" name="Text 5"/>
          <p:cNvSpPr/>
          <p:nvPr/>
        </p:nvSpPr>
        <p:spPr>
          <a:xfrm>
            <a:off x="11475720" y="6537960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F6673"/>
                </a:solidFill>
              </a:rPr>
              <a:t>50</a:t>
            </a:r>
            <a:endParaRPr lang="en-US" sz="6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72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13232" y="32461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DE6F2"/>
                </a:solidFill>
              </a:rPr>
              <a:t>Discusión sobre física, instrumentación, sincronismo y validación.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" y="6492240"/>
            <a:ext cx="10241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B7C1D7"/>
                </a:solidFill>
              </a:rPr>
              <a:t>Fuente visual: portada basada en GEOSTRU; resto de la narrativa sigue el markdown acordado.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Universidad Católica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Diseño e implementación de un sistema electrónico multicanal del tipo IoT para caracterización geotécnica del suelo mediante ondas sísmicas</dc:title>
  <dc:subject>Primera presentación de tesis</dc:subject>
  <dc:creator>Elías David Álvarez Martínez</dc:creator>
  <cp:lastModifiedBy>Elías David Álvarez Martínez</cp:lastModifiedBy>
  <cp:revision>1</cp:revision>
  <dcterms:created xsi:type="dcterms:W3CDTF">2026-10-07T19:34:36Z</dcterms:created>
  <dcterms:modified xsi:type="dcterms:W3CDTF">2026-10-07T19:34:36Z</dcterms:modified>
</cp:coreProperties>
</file>