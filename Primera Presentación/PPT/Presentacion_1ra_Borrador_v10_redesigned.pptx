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1404"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920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apertura. Título, carrera, año. Introducir brevemente: plataforma electrónica para adquirir señales sísmicas orientadas a caracterización geotécnica mediante MASW (MultiChannel Analysis of Surface Waves). Mención a tutor y contexto de Proyecto Final de Carrera. Duración: 1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utilidad geotécnica, no de MASW. El suelo es un parámetro crítico antes, durante y después de toda obra civil. Mostrar ejemplos concretos: fundaciones profundas vs superficiales, investigación de grietas y asentamientos, control de compactación en rellenos, análisis de estabilidad de taludes. Objetivo: convencer que conocer el subsuelo es un problema real y frecuente. Duración: 1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rápido del estado del arte por invasividad. Destacar: SPT/CPT dan información valiosa pero requieren intervención física y cobertura puntual. Downhole/crosshole ofrecen Vs directo pero exigen pozos. Ondas superficiales (MASW) no invasivas, multicanal, cobertura extensa. Transición a por qué miramos Rayleigh específicamente. Duración: 1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SPT y CPT son trabajaballos de la geotecnia. Entregan Nspt, qc, u2 y correlaciones directas con parámetros elásticos. Limitación crítica: invasivos, costosos, logística compleja, cobertura localizada. No son 'malos', son referencia. La cuestión es repetibilidad sobre grandes áreas. Duración: 45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Downhole y crosshole ofrecen Vs y Vp casi directamente midiendo tiempos en un pozo o entre pozos. Ventaja: excelente para validar. Limitación: uno o varios pozos, geometría rígida, logística prohibitiva para levantamientos extensos. Conclusión: excelente donde aplicable, insuficiente para cobertura. Duración: 45 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Refracción, reflexión y ondas P/S desde superficie abren posibilidades sin perforación. Permiten perfiles largos. Limitación: Vs requiere información complementaria o configuraciones especiales. Transición: si miramos ondas superficiales, ganamos sensibilidad a Vs y observamos el medio entero en el sitio. Duración: 45 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superficiales dominan la respuesta de una fuente vertical en superficie. Love (SH, horizontal) y Rayleigh (elíptica vertical-radial) son los modos interesantes. MASW explota la dispersión (variación de velocidad con frecuencia) de Rayleigh para inferir Vs(z). Ventajas: no invasivo, multicanal, cobertura extensa, relación directa a parámetro geotécnico. Por eso llegamos a MASW. Duración: 90 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ambas familias sin prejuicios. Love es útil pero fuente vertical no es natural para SH. Rayleigh es natural: fuente vertical genera componente vertical; trayectoria elíptica, sensible a Vs, decaimiento geométrico menor que P/S. Conclusión emerge sola: Rayleigh encaja mejor con nuestro problema.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elasticidad lineal pequeñas deformaciones (γ &lt; 10⁻⁴). P es compresional, S es de corte. Las velocidades Vp y Vs dependen de densidad ρ y constantes de Lamé (λ, μ) o módulos. Esta es la razón por la que estamos interesados en ondas sísmicas: entran en juego parámetros que nos interesan. Duración: 60 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Deducción clave: Gmax es el módulo de corte máximo a deformaciones muy pequeñas (γ ~ 10⁻⁴). Directamente proporcional a ρVs². En geotecnia, Gmax es parámetro de diseño para cimentaciones dinámicas, evaluación de licuefacción, respuesta de suelo. Medir Vs es medir una propiedad geotécnica relevante. No es una variable abstracta.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Fundamentos de elastodinámica en estratificación. Ley de Snell controla las direcciones de propagación según velocidades. Conversión P↔SV ocurre en incidencia oblicua. Superficie libre (σ=0) es una condición especial que genera soluciones ligadas a la superficie: ondas Rayleigh y Love. Sin esto, no hay propagación superficial.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clásico: una fuente puntual vertical en superficie genera ondas cuya energía se distribuye así. Rayleigh es mayoritaria, decae más lentamente en distancia (r⁻¹ vs r⁻² de cuerpo). Esto explica por qué observable en superficie con buena SNR. Consecuencia: relación señal-ruido potencial excelente. Referencia discreta: Miller &amp; Pursey. No universalizar al 90%.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Ondas Love son corte horizontal puro (SH). Existen en multicapas con condiciones adecuadas. Utilidad: sensibles a Vs como Rayleigh. Limitación para nuestro problema: excitarlas con martillo vertical (fuente impulsiva vertical) es ineficiente. Rayleigh es más natural con fuente vertical. Sin descalificar Love, reconocer que Rayleigh es mejor para nuestra geometría.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es combinación acoplada de P y SV en un movimiento elíptico retrogrado. Componente vertical es observable directamente (geófono vertical). Velocidad de fase cR depende de Vs y otras propiedades, pero Vs es dominante. En multicapas, cR varía con frecuencia (dispersión). Esta es la base del método MASW.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Síntesis de la lógica: fuente vertical → Rayleigh dominante. Geófono vertical → observa Rayleigh. Multicapas → Rayleigh dispersivo. Inversión → Vs(z). Es el camino natural del problema geotécnico.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base: un único medio sin capas. Rayleigh viaja a velocidad constante independientemente de f. No hay dispersión. Si el semiespacio es homogéneo, un pulso se propaga sin cambio de forma. Concepto de no-dispersión: base para entender qué pasa cuando agregamos capas. Duración: 45 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Rayleigh se propaga más lentamente que S puro: cR/Vs ≈ 0.92 típicamente (varía con ν). Para inversión, aproximación: si conozco cR, puedo estimar Vs. Este es el eslabón clave: de velocidad medida a propiedad geotécnica. Duración: 45 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 crucial: estratificación introduce dispersión. Componentes de frecuencia alta sensibles a capas superficiales (λ corta), bajas penetran profundo. Resultado: Rayleigh se dispersa (cR = cR(f)). Este efecto es observable y contiene información sobre estructura. Duración: 45 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Heurística útil: λR es la longitud de onda correspondiente a cada f. Penetración típica ≈ λ/2 o profundidad comparable a λ. Alta f → λ corta → información de capas superficiales. Baja f → λ larga → información más profunda. Aclaración importante: no es una equivalencia f↔z rígida, la sensibilidad es distribuida (kernels de sensibilidad). Pero la intuición es válida.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Curva de dispersión experimental es el resultado de medir fase (o velocidad de grupo) en múltiples frecuencias. Es el dato que obtenemos. Contiene información de Vs(z). Problema: la inversión es no-única (muchos Vs(z) posibles pueden reproducir la misma curva). Pero información complementaria (geología, correlaciones, SPT) ayuda a restringir.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Invertir cR(f) para obtener Vs(z) es un problema inverso. Típicamente no-lineal, no-único. Estrategias: búsqueda global (Monte Carlo) explora mucho pero lento; gradiente es rápido pero local. Parámetros auxil: espesor, ν, ρ se fijan o acotan. Información independiente (geología, SPT) restringe. Resultado: perfil Vs(z) candidato. Validación contra otras fuentes.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clásico (años 80-90): dos receptores, medir fase relativa entre bandas. De fase y distancia → cR(f). Ventaja: simple. Limitación: ambigüedad (cambios de ciclo), menor redundancia espacial, difícil separar modos. Antecedente para MASW. Duración: 45 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natural: múltiples geófonos (12-48 típico) permiten observar patrones de frente de onda directamente. Transformada f-k separa modos. Redundancia espacial mejora SNR. Estándar moderno para caracterización. El nuestro es una versión experimental con síntesis de apertura.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enfoque: geometría física limitada (un geófono), síntesis de apertura. Fuente y receptor se desplazan de forma recíproca y coordinada. Requiere: repetibilidad de excitación, referencia temporal precisa, geometría controlada. Justificación: Lin &amp; Ashlock demostraron que bajo estas condiciones el resultado es comparable a MASW multicanal simultáneo. Requisito electrónico: hardware para coordinar, sincronizar, validar.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final que usamos: uz(x,t) en 21 posiciones espaciales y muestreo temporal. Esta es la entrada al flujo MASW: preprocesar, FFT 2D, picking de dispersión, inversión. Todo el sistema electrónico está construido para obtener esta matriz con fase preservada, bajo control del operador, documentada y reproducible. Frase clave: 'Todo el sistema presentado hasta acá fue construido para poder obtener esta matriz.'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teoría a la práctica: MASW impone requisitos concretos. Banda 10-50 Hz (real de campo). Preservar fase → antialias, muestreo &gt; 2×fmax. Rango dinámico: piso de ruido vs pico de excitación. Referencia temporal precisa entre nodos (error &lt; 400 µs para error de fase &lt; 5°). Almacenamiento en campo (SD). Operación: configuración flexible, validación en vivo, descarga post-misión. Estos requisitos definen la arquitectura de hardware.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Visión de alto nivel antes de detalles. GEO: nodo sensor geófono. MASTER: orquestador, interfaz, almacenamiento coordinado. HAMMER: sensor de fuerza/tiempo de impacto. Nótese: la red NO transporta muestras en tiempo real. Coordina capturas locales, store-and-forward post-adquisición. Esta es una decisión arquitectónica clave. Detalles vienen después.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Especificación del transductor. Resonancia mecánica ~10 Hz. Sensibilidad nominal 28.8 V·s/m (depende de damping). Modelo mecánico: masa, resorte, amortiguador acoplado a bobina móvil. Modelo de transferencia: Hv(s) = G0·s²/(s² + 2ζωn·s + ωn²). Este modelo es base para toda la electrónica que sigue.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Cálculo sencillo muestra problema: sensibilidad cae como (f/fn)² en banda baja. A 1 Hz con fn=10 Hz, pérdida de 40 dB. Amplificación naïf no ayuda: componentes de f &gt;&gt; fn consumen rango dinámico primero, dejando poco margen para LF. Esto motiva el diseño: necesitamos compensación de forma (modificar los polos) o al menos aténuación selectiva.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Revisión de alternativas sin prejuicios. Cada una tiene trade-off. (1) Simple pero rango dinámico insuficiente. (2) Pazos-style: funciona pero extensión ~1 octava, insuficiente para 10-50 Hz desde 10 Hz resonante. (3) Hakimitoroghi-style: compensa polos pero diverge a DC, amplifica offset y ruido. (4) Negative impedance / force balance: activo, excelente pero requiere lazo estable, consumo. Duración: 120 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Filosofía Ma et al.: no invertir los polos (evita divergencia DC). En cambio: construir un bandpass inversor alrededor de resonancia, restar del camino directo → efecto global de aténuación en banda dominante, recuperar nivel global con ganancia posterior. Implementación: PGA programable, rama directa, rama BP (restadora), sumador, LP antialias, ADC. Ventaja: linealidad, tolerancia a componentes, control simple por software. Limitación: todavía requiere ganancia (offset acumulado). De ahí DA-AFE. Duración: 120 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analógica detallada. PGA (OPA2333) entrada diferencial × 1-100 programable. Rama directa para altas frecuencias. Rama BP (inversor, f0~10 Hz) para atenuar resonancia. Sumador (OPA2333 configurado sumador). LP (Sallen-Key, fc~100 Hz típico para Nyquist-safe con ~2600 Sa/s). ADC ΔΣ PSoC 18-bit. Modelo vs medición: comparar magnitud, fase, tolerancias. Duración: 90 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experimental: medir respuesta en frecuencia (barridos senoidales, ruido blanco, impulso). Comparar contra modelo. Variaciones por resistencias, capacitores (1-5% tolerancia típica) → banda de error. Importante: la extensión SM-24 + AFE en LF es por ahora predicción en cascada con modelo nominal, no calibración mecánica extremo a extremo. Se mencionará limitación cuando se presenten resultados. Duración: 60 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Realidad electrónica: ganancia × 50-100 amplifica offset de mV a voltios, satura el ADC en banda intermedia. Solución DA-AFE: antes de medir, forzar entrada a cero (desconectar geófono, conectar referencia), leer ADC de salida de cada etapa, usar VDAC para restar offset. Orden: PGA primero (hereda entrada cero), BP (hereda residual PGA), SUM (suma errores previos), LP (último). Cada etapa se calibra secuencialmente. Congelación: escribir offsets VDAC a NV, mantener durante medición. Duración: 90 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Matemática: ADC mide Vout de etapa en N bits (16 típico post-procesamiento). Error = Vout_actual - cero_deseado. Convertir a código VDAC (0-255 típico). PI: código_nuevo = código_prev + Kp·error + Ki·∫error. Deadband para evitar oscilación alrededor de cero. Anti-windup: saturar integrador si VDAC está en riel. Convergencia: típicamente &lt;2s por etapa, total &lt;10s para 4 etapas. Duración: 60 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real: barridos de calibración en laboratorio sobre 8 configuraciones (PGA x1-5, ganancias downstream x16-50). Offset inicial por etapa varía mucho (ej. PGA residual 35 mV), final &lt; 2 mV en la mayoría. LP residual cae hasta &lt;1% FS en mejores casos. Robustez: UN ÚNICO controller ganancia Kp, Ki funciona para todas porque escalas son proporcionales. Paper URUCON: comunicación científica enviada a congreso. Duración: 60 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Implementación PSoC: ADC ΔΣ (delta-sigma, alta resolución). Frecuencia de muestreo ~2604 Sa/s (típico para ΔΣ con decimación). DMA transfiere muestras a RAM RAM sin sobrecarga CPU, timing determinista. DFB (Digital Filter Block) si se desea FIR en hardware (opcional, puede hacerse en software). SignalController: componente PSoC para timestamp, contador para determinismo local. SD: almacenamiento local en tarjeta SD vía FatFs. Store-and-forward: después de captura, transferir a MASTER por SPI. Duración: 90 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no tiene geófono ni HAMMER, solo rol de orquestación. Protocolos: PRESTART chequea disponibilidad nodos, START disparador broadcast, reloj local RTC para timestamps de metadatos. Nodos GEO/HAMMER corren independently después de START, guardan en SD local. Sincronización preliminar observada via GPIO: desembarco entre esclavos ~200-400 µs. Limitación: esto mide tiempo de propagación de comando, no sincronización ADC-ADC. Requiere caracterización de deriva de reloj y latencia interna.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dos nodos disparan con retraso Δt, las muestras en tiempo relativo van desfasadas. Error de fase: Δφ = 360° × f × Δt. Para Δt=400 µs: @20 Hz → 2.88° ≈ 3°. @ 50 Hz → 7.2° ≈ 7°. Impacto en MASW: dispersión picking basado en fase. 3-7° es tolerable en picking de máximos pero no despreciable. Error de velocidad: δVg/Vg ≈ Δφ/360° × (Vg/Vp), pequeño pero contribuye a incertidumbre. Conclusión: sincronización es limitación preliminar, requiere mejora (relojes de referencia, mejor estimación de latencia).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nodo con sensor de fuerza (piezoeléctrico, ICP Piezotronic 086D20). Mide la fuerza del impacto vs tiempo. Objetivos: instante de disparo (trigger para alineación con GEO), forma de pulso (validar que es un impacto aceptable, no rebote múltiple). Cadena: ICP → desacople/protección → PGA → LP → ADC. Mismo framework que GEO, pero sin compensación LF (banda es más ancha, no necesita extensión). Lógica de aceptación: operador revisa en tiempo real, manualmente o por criterio automático, acepta/rechaza para incluir/excluir del análisis.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Operación paso a paso. (1) Configuración: PGA, VDAC, IDAC, rango ADC, nombre de campaña. (2) Calibración: botón 'calibrar offset', el sistema ejecuta DA-AFE automático. (3) ARM: habilitar espera de trigger (START). (4) Impacto: golpe del martillo, system adquiere. (5) Revisión: interfaz muestra HAMMER (instante) y GEO (ventana post-impacto), operador valida. (6) Aceptar/repetir: si OK guarda metadatos y alinea con posición; si no OK, repite impacto. (7) Mover: usuario desplaza geófono Δx=2m, regresa a (3).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actual: medida de desembarco GPIO ~200-400 µs. Nótese: preliminar, no definitiva. Mide tiempo de propagación de comando, no ciclo cerrado de ADC. Error de fase en MASW asumiendo Δt=400 µs es pequeño (3-7°) pero contribuye. Plan futuro: caracterizar drift de reloj local (RTC vs cristal), implementar hardware timer más preciso, o usar referencia temporal externa. Por ahora, limitación conocida. Duración: 45 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 campo real. SNR calculada como potencia señal / potencia ruido en ventanas pre y post-impacto. Banda baja (1-5 Hz) es desafiante, SNR bajo pero no nulo. Bandas medias/altas mejoran. Nótese: SNR aparente no separa contribuciones (es global). Baja SNR LF puede deberse a: (1) sensor débil LF, (2) AFE offset/ruido, (3) terreno bajo movimiento LF (Rayleigh de larga onda penetra profundo, menor amplitud), (4) fuente débil en LF. Conclusión: no atribuir mala SNR &lt;10 Hz solo al dispositivo; validación multifonte necesaria.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Culminación de todo el sistema: matriz U(x,t) real de campo. 21 posiciones de 10 a 50 m (apertura 40 m, pasos 2 m). Cada posición: 10-20 impactos promediados, alineados con HAMMER, metadatos registrados. Frase clave de narrativa: 'Todo el sistema presentado hasta acá fue construido para poder obtener esta matriz.' Está funcional. Próximo: picking de dispersión en f-k, inversión con disba/evodcinv, obtener Vs(z) candidato. Validación pendiente contra SPT/geología.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logros: (1) AFE electrónico completamente caracterizado (magnitud, fase, compensación). (2) Auto-calibración DA-AFE en 4 etapas, convergencia ~10s. (3) Captura digital determinista en PSoC, muestreo ~2604 Sa/s, almacenamiento SD. (4) Red multi-nodo coordinada (GEO, MASTER, HAMMER). (5) HAMMER funcional con detección de impacto. (6) Flujo operativo de campo validado. (7) Matriz U(x,t) de 21 posiciones reales, alineada, documentada. Sistema está armado, demuestra capacidad.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pendiente: (1) Calibración mecánica end-to-end contra sismógrafo de referencia (hoy es predicción en cascada). (2) Excitación LF mejorada (martinete más pesado, optimizar acoplamiento). (3) Sincronización ADC-ADC caracterizada (hoy ~400 µs preliminar). (4) Drift de reloj local quantificado. (5) Validación multi-GEO simultáneo (hoy es síntesis de apertura). (6) Picking de dispersión (f-k, región-polígono). (7) Inversión multimodo con evodcinv/disba. (8) Perfil Vs(z) final. (9) Validación contra SPT. Horizonte: diciembre 2026, presentación final. Duración: 60 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No es una conclusión numerada. Es una invitación a preguntar y dialogar. El sistema es complejo, hay muchas facetas, esperamos y buscamos retroalimentación.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72.jpg"/></Relationships>
</file>

<file path=ppt/slides/_rels/slide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74.jp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4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 name="Rectangle 6"/>
          <p:cNvSpPr/>
          <p:nvPr/>
        </p:nvSpPr>
        <p:spPr>
          <a:xfrm>
            <a:off x="0" y="0"/>
            <a:ext cx="3017520"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 2"/>
          <p:cNvSpPr/>
          <p:nvPr/>
        </p:nvSpPr>
        <p:spPr>
          <a:xfrm>
            <a:off x="274320" y="3931920"/>
            <a:ext cx="2468880" cy="457200"/>
          </a:xfrm>
          <a:prstGeom prst="rect">
            <a:avLst/>
          </a:prstGeom>
          <a:noFill/>
          <a:ln/>
        </p:spPr>
        <p:txBody>
          <a:bodyPr wrap="square" lIns="0" tIns="0" rIns="0" bIns="0" rtlCol="0" anchor="t"/>
          <a:lstStyle/>
          <a:p>
            <a:pPr marL="0" indent="0" algn="l">
              <a:buNone/>
            </a:pPr>
            <a:r>
              <a:rPr sz="1100" b="0" i="0">
                <a:solidFill>
                  <a:srgbClr val="9AD7E0"/>
                </a:solidFill>
              </a:rPr>
              <a:t>Tutor: Enrique A. Vargas Cabral, Ph.D.</a:t>
            </a:r>
            <a:endParaRPr lang="en-US" sz="1200" dirty="0"/>
          </a:p>
        </p:txBody>
      </p:sp>
      <p:sp>
        <p:nvSpPr>
          <p:cNvPr id="10" name="TextBox 9"/>
          <p:cNvSpPr txBox="1"/>
          <p:nvPr/>
        </p:nvSpPr>
        <p:spPr>
          <a:xfrm>
            <a:off x="182880" y="457200"/>
            <a:ext cx="2194560" cy="1828800"/>
          </a:xfrm>
          <a:prstGeom prst="rect">
            <a:avLst/>
          </a:prstGeom>
          <a:noFill/>
        </p:spPr>
        <p:txBody>
          <a:bodyPr wrap="square">
            <a:spAutoFit/>
          </a:bodyPr>
          <a:lstStyle/>
          <a:p>
            <a:pPr algn="l">
              <a:defRPr sz="1400" b="1">
                <a:solidFill>
                  <a:srgbClr val="FFFFFF"/>
                </a:solidFill>
              </a:defRPr>
            </a:pPr>
            <a:r>
              <a:t>Diseño e implementación de un sistema electrónico multicanal del tipo IoT para caracterización geotécnica del suelo mediante ondas sísmicas</a:t>
            </a:r>
          </a:p>
        </p:txBody>
      </p:sp>
      <p:sp>
        <p:nvSpPr>
          <p:cNvPr id="11" name="TextBox 10"/>
          <p:cNvSpPr txBox="1"/>
          <p:nvPr/>
        </p:nvSpPr>
        <p:spPr>
          <a:xfrm>
            <a:off x="182880" y="2560320"/>
            <a:ext cx="2194560" cy="1371600"/>
          </a:xfrm>
          <a:prstGeom prst="rect">
            <a:avLst/>
          </a:prstGeom>
          <a:noFill/>
        </p:spPr>
        <p:txBody>
          <a:bodyPr wrap="square">
            <a:spAutoFit/>
          </a:bodyPr>
          <a:lstStyle/>
          <a:p>
            <a:pPr algn="l">
              <a:defRPr sz="900" b="1">
                <a:solidFill>
                  <a:srgbClr val="C8C8C8"/>
                </a:solidFill>
              </a:defRPr>
            </a:pPr>
            <a:r>
              <a:t>Alumno:</a:t>
            </a:r>
          </a:p>
          <a:p>
            <a:pPr algn="l">
              <a:defRPr sz="900">
                <a:solidFill>
                  <a:srgbClr val="FFFFFF"/>
                </a:solidFill>
              </a:defRPr>
            </a:pPr>
            <a:r>
              <a:t>Elías David Álvarez Martínez</a:t>
            </a:r>
          </a:p>
          <a:p>
            <a:pPr algn="l">
              <a:defRPr sz="900">
                <a:solidFill>
                  <a:srgbClr val="FFFFFF"/>
                </a:solidFill>
              </a:defRPr>
            </a:pPr>
            <a:r>
              <a:t>Matrícula: Y24127</a:t>
            </a:r>
          </a:p>
          <a:p>
            <a:pPr algn="l">
              <a:defRPr sz="900" b="1">
                <a:solidFill>
                  <a:srgbClr val="C8C8C8"/>
                </a:solidFill>
              </a:defRPr>
            </a:pPr>
            <a:endParaRPr/>
          </a:p>
          <a:p>
            <a:pPr algn="l">
              <a:defRPr sz="900">
                <a:solidFill>
                  <a:srgbClr val="FFFFFF"/>
                </a:solidFill>
              </a:defRPr>
            </a:pPr>
            <a:r>
              <a:t>Tutor:</a:t>
            </a:r>
          </a:p>
          <a:p>
            <a:pPr algn="l">
              <a:defRPr sz="900">
                <a:solidFill>
                  <a:srgbClr val="FFFFFF"/>
                </a:solidFill>
              </a:defRPr>
            </a:pPr>
            <a:r>
              <a:t>Enrique A. Vargas Cabral, Ph.D.</a:t>
            </a:r>
          </a:p>
          <a:p>
            <a:pPr algn="l">
              <a:defRPr sz="900" b="1">
                <a:solidFill>
                  <a:srgbClr val="C8C8C8"/>
                </a:solidFill>
              </a:defRPr>
            </a:pPr>
            <a:endParaRPr/>
          </a:p>
          <a:p>
            <a:pPr algn="l">
              <a:defRPr sz="900">
                <a:solidFill>
                  <a:srgbClr val="FFFFFF"/>
                </a:solidFill>
              </a:defRPr>
            </a:pPr>
            <a:r>
              <a:t>Carrera:</a:t>
            </a:r>
          </a:p>
          <a:p>
            <a:pPr algn="l">
              <a:defRPr sz="900">
                <a:solidFill>
                  <a:srgbClr val="FFFFFF"/>
                </a:solidFill>
              </a:defRPr>
            </a:pPr>
            <a:r>
              <a:t>Ingeniería Electrónica</a:t>
            </a:r>
          </a:p>
        </p:txBody>
      </p:sp>
      <p:pic>
        <p:nvPicPr>
          <p:cNvPr id="12" name="Picture 11" descr="image.png"/>
          <p:cNvPicPr>
            <a:picLocks noChangeAspect="1"/>
          </p:cNvPicPr>
          <p:nvPr/>
        </p:nvPicPr>
        <p:blipFill>
          <a:blip r:embed="rId3"/>
          <a:stretch>
            <a:fillRect/>
          </a:stretch>
        </p:blipFill>
        <p:spPr>
          <a:xfrm>
            <a:off x="3291840" y="1143000"/>
            <a:ext cx="5715000" cy="2857500"/>
          </a:xfrm>
          <a:prstGeom prst="rect">
            <a:avLst/>
          </a:prstGeom>
        </p:spPr>
      </p:pic>
      <p:sp>
        <p:nvSpPr>
          <p:cNvPr id="13" name="TextBox 12"/>
          <p:cNvSpPr txBox="1"/>
          <p:nvPr/>
        </p:nvSpPr>
        <p:spPr>
          <a:xfrm>
            <a:off x="548640" y="4960620"/>
            <a:ext cx="8595360" cy="320040"/>
          </a:xfrm>
          <a:prstGeom prst="rect">
            <a:avLst/>
          </a:prstGeom>
          <a:noFill/>
        </p:spPr>
        <p:txBody>
          <a:bodyPr wrap="square">
            <a:spAutoFit/>
          </a:bodyPr>
          <a:lstStyle/>
          <a:p>
            <a:pPr algn="r">
              <a:defRPr sz="700" i="1">
                <a:solidFill>
                  <a:srgbClr val="646464"/>
                </a:solidFill>
              </a:defRPr>
            </a:pPr>
            <a:r>
              <a:t>Fuente: GEOSTRU, «MASW – Multichannel Analysis of Surface Waves». https://www.geostru.eu/es/blog/2019/06/02/masw/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¿Para qué necesitamos caracterizar el suelo?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Terreno condiciona diseño, ejecución y seguimiento. Ejemplos: fundaciones, asentamientos, pavimentos, taludes,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 | Motivación</a:t>
            </a:r>
            <a:endParaRPr lang="en-US" sz="1000" dirty="0"/>
          </a:p>
        </p:txBody>
      </p:sp>
      <p:pic>
        <p:nvPicPr>
          <p:cNvPr id="6" name="Picture 5" descr="foundation.jp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Wikimedia Commons, CC BY-SA 4.0</a:t>
            </a:r>
          </a:p>
        </p:txBody>
      </p:sp>
      <p:pic>
        <p:nvPicPr>
          <p:cNvPr id="8" name="Picture 7" descr="landslide.jpg"/>
          <p:cNvPicPr>
            <a:picLocks noChangeAspect="1"/>
          </p:cNvPicPr>
          <p:nvPr/>
        </p:nvPicPr>
        <p:blipFill>
          <a:blip r:embed="rId4"/>
          <a:stretch>
            <a:fillRect/>
          </a:stretch>
        </p:blipFill>
        <p:spPr>
          <a:xfrm>
            <a:off x="5435268" y="2743200"/>
            <a:ext cx="2113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Wikimedia Commons, CC BY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Métodos para caracterizar el suelo: invasivos vs no invasivos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SPT/CPT invasivos, downhole, refracción/reflexión, ondas superficiales (Love, Rayleigh, MASW).</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 | Motivación</a:t>
            </a:r>
            <a:endParaRPr lang="en-US" sz="1000" dirty="0"/>
          </a:p>
        </p:txBody>
      </p:sp>
      <p:pic>
        <p:nvPicPr>
          <p:cNvPr id="6" name="Picture 5" descr="s03_4093d7.png"/>
          <p:cNvPicPr>
            <a:picLocks noChangeAspect="1"/>
          </p:cNvPicPr>
          <p:nvPr/>
        </p:nvPicPr>
        <p:blipFill>
          <a:blip r:embed="rId3"/>
          <a:stretch>
            <a:fillRect/>
          </a:stretch>
        </p:blipFill>
        <p:spPr>
          <a:xfrm>
            <a:off x="5608997" y="868680"/>
            <a:ext cx="1766485" cy="993648"/>
          </a:xfrm>
          <a:prstGeom prst="rect">
            <a:avLst/>
          </a:prstGeom>
        </p:spPr>
      </p:pic>
      <p:sp>
        <p:nvSpPr>
          <p:cNvPr id="7" name="TextBox 6"/>
          <p:cNvSpPr txBox="1"/>
          <p:nvPr/>
        </p:nvSpPr>
        <p:spPr>
          <a:xfrm>
            <a:off x="4206240" y="1862328"/>
            <a:ext cx="4572000" cy="164592"/>
          </a:xfrm>
          <a:prstGeom prst="rect">
            <a:avLst/>
          </a:prstGeom>
          <a:noFill/>
        </p:spPr>
        <p:txBody>
          <a:bodyPr wrap="none" tIns="0" bIns="0">
            <a:spAutoFit/>
          </a:bodyPr>
          <a:lstStyle/>
          <a:p>
            <a:pPr algn="ctr"/>
            <a:r>
              <a:rPr sz="800" i="1">
                <a:solidFill>
                  <a:srgbClr val="808080"/>
                </a:solidFill>
              </a:rPr>
              <a:t>Placeholder · SPT / CPT (generado)</a:t>
            </a:r>
          </a:p>
        </p:txBody>
      </p:sp>
      <p:pic>
        <p:nvPicPr>
          <p:cNvPr id="8" name="Picture 7" descr="s05_2f069b.png"/>
          <p:cNvPicPr>
            <a:picLocks noChangeAspect="1"/>
          </p:cNvPicPr>
          <p:nvPr/>
        </p:nvPicPr>
        <p:blipFill>
          <a:blip r:embed="rId4"/>
          <a:stretch>
            <a:fillRect/>
          </a:stretch>
        </p:blipFill>
        <p:spPr>
          <a:xfrm>
            <a:off x="5608997" y="2118360"/>
            <a:ext cx="1766485" cy="993648"/>
          </a:xfrm>
          <a:prstGeom prst="rect">
            <a:avLst/>
          </a:prstGeom>
        </p:spPr>
      </p:pic>
      <p:sp>
        <p:nvSpPr>
          <p:cNvPr id="9" name="TextBox 8"/>
          <p:cNvSpPr txBox="1"/>
          <p:nvPr/>
        </p:nvSpPr>
        <p:spPr>
          <a:xfrm>
            <a:off x="4206240" y="3112008"/>
            <a:ext cx="4572000" cy="164592"/>
          </a:xfrm>
          <a:prstGeom prst="rect">
            <a:avLst/>
          </a:prstGeom>
          <a:noFill/>
        </p:spPr>
        <p:txBody>
          <a:bodyPr wrap="none" tIns="0" bIns="0">
            <a:spAutoFit/>
          </a:bodyPr>
          <a:lstStyle/>
          <a:p>
            <a:pPr algn="ctr"/>
            <a:r>
              <a:rPr sz="800" i="1">
                <a:solidFill>
                  <a:srgbClr val="808080"/>
                </a:solidFill>
              </a:rPr>
              <a:t>Placeholder · Ondas de cuerpo (generado)</a:t>
            </a:r>
          </a:p>
        </p:txBody>
      </p:sp>
      <p:pic>
        <p:nvPicPr>
          <p:cNvPr id="10" name="Picture 9" descr="s06_46c357.png"/>
          <p:cNvPicPr>
            <a:picLocks noChangeAspect="1"/>
          </p:cNvPicPr>
          <p:nvPr/>
        </p:nvPicPr>
        <p:blipFill>
          <a:blip r:embed="rId5"/>
          <a:stretch>
            <a:fillRect/>
          </a:stretch>
        </p:blipFill>
        <p:spPr>
          <a:xfrm>
            <a:off x="5608997" y="3368040"/>
            <a:ext cx="1766485" cy="993648"/>
          </a:xfrm>
          <a:prstGeom prst="rect">
            <a:avLst/>
          </a:prstGeom>
        </p:spPr>
      </p:pic>
      <p:sp>
        <p:nvSpPr>
          <p:cNvPr id="11" name="TextBox 10"/>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Ondas superficiales (generado)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Métodos invasivos: medición directa del terreno (SPT, CPT)</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Resistencia a penetración, estratigrafía, recuperación de muestra. Referencia clásica; cobertura puntual y alto costo logístico.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 | Estado del arte</a:t>
            </a:r>
            <a:endParaRPr lang="en-US" sz="1000" dirty="0"/>
          </a:p>
        </p:txBody>
      </p:sp>
      <p:pic>
        <p:nvPicPr>
          <p:cNvPr id="6" name="Picture 5" descr="cpt_truck.jpg"/>
          <p:cNvPicPr>
            <a:picLocks noChangeAspect="1"/>
          </p:cNvPicPr>
          <p:nvPr/>
        </p:nvPicPr>
        <p:blipFill>
          <a:blip r:embed="rId3"/>
          <a:stretch>
            <a:fillRect/>
          </a:stretch>
        </p:blipFill>
        <p:spPr>
          <a:xfrm>
            <a:off x="5413248" y="868680"/>
            <a:ext cx="215798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Camión CPT, Wikimedia Commons (geograph)</a:t>
            </a:r>
          </a:p>
        </p:txBody>
      </p:sp>
      <p:pic>
        <p:nvPicPr>
          <p:cNvPr id="8" name="Picture 7" descr="s03_4093d7.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SPT / CPT (generado)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Métodos invasivos: medición de ondas dentro del terreno (downhole, crosshole)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Velocidades dinámicas Vs directas con geometría conocida. Logística, costo.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5 | Estado del arte</a:t>
            </a:r>
            <a:endParaRPr lang="en-US" sz="1000" dirty="0"/>
          </a:p>
        </p:txBody>
      </p:sp>
      <p:pic>
        <p:nvPicPr>
          <p:cNvPr id="6" name="Picture 5" descr="s04_7b0b76.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Downhole / crosshole (generado)</a:t>
            </a:r>
          </a:p>
        </p:txBody>
      </p:sp>
      <p:pic>
        <p:nvPicPr>
          <p:cNvPr id="8" name="Picture 7" descr="ch1_crosshole_testing.png"/>
          <p:cNvPicPr>
            <a:picLocks noChangeAspect="1"/>
          </p:cNvPicPr>
          <p:nvPr/>
        </p:nvPicPr>
        <p:blipFill>
          <a:blip r:embed="rId4"/>
          <a:stretch>
            <a:fillRect/>
          </a:stretch>
        </p:blipFill>
        <p:spPr>
          <a:xfrm>
            <a:off x="5411858" y="2743200"/>
            <a:ext cx="216076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cap. 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Métodos no invasivos: ondas de cuerpo desde superficie (refracción, reflexión, P/S)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Sin penetración, perfiles continuos. Exigen configuraciones específicas para Vs directo.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6 | Estado del arte</a:t>
            </a:r>
            <a:endParaRPr lang="en-US" sz="1000" dirty="0"/>
          </a:p>
        </p:txBody>
      </p:sp>
      <p:pic>
        <p:nvPicPr>
          <p:cNvPr id="6" name="Picture 5" descr="s05_2f069b.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Refracción/reflexión (generado)</a:t>
            </a:r>
          </a:p>
        </p:txBody>
      </p:sp>
      <p:pic>
        <p:nvPicPr>
          <p:cNvPr id="8" name="Picture 7" descr="refraction.png"/>
          <p:cNvPicPr>
            <a:picLocks noChangeAspect="1"/>
          </p:cNvPicPr>
          <p:nvPr/>
        </p:nvPicPr>
        <p:blipFill>
          <a:blip r:embed="rId4"/>
          <a:stretch>
            <a:fillRect/>
          </a:stretch>
        </p:blipFill>
        <p:spPr>
          <a:xfrm>
            <a:off x="5609820" y="2743200"/>
            <a:ext cx="1764840"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Wikimedia Commons, dominio público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Métodos no invasivos: ondas superficiales (Love, Rayleigh,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Dispersión geométrica → cambio de propiedades con profundidad. Multicanal, no invasivo, relación directa a Vs.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7 | Estado del arte</a:t>
            </a:r>
            <a:endParaRPr lang="en-US" sz="1000" dirty="0"/>
          </a:p>
        </p:txBody>
      </p:sp>
      <p:pic>
        <p:nvPicPr>
          <p:cNvPr id="6" name="Picture 5" descr="s06_46c357.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Love/Rayleigh en superficie (generado)</a:t>
            </a:r>
          </a:p>
        </p:txBody>
      </p:sp>
      <p:pic>
        <p:nvPicPr>
          <p:cNvPr id="8" name="Picture 7" descr="ch1_2D_radiation_pattern_Rayleigh_surface.png"/>
          <p:cNvPicPr>
            <a:picLocks noChangeAspect="1"/>
          </p:cNvPicPr>
          <p:nvPr/>
        </p:nvPicPr>
        <p:blipFill>
          <a:blip r:embed="rId4"/>
          <a:stretch>
            <a:fillRect/>
          </a:stretch>
        </p:blipFill>
        <p:spPr>
          <a:xfrm>
            <a:off x="5408194" y="2743200"/>
            <a:ext cx="216809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Orden de la narrativa: Love primero, luego Rayleigh, luego ¿por qué?</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Love: SH, horizontal, transversal. Rayleigh: elíptica, componente vertical. Rayleigh se mide mejor con fuente vertical.</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8 | Estado del arte</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Love (generado)</a:t>
            </a:r>
          </a:p>
        </p:txBody>
      </p:sp>
      <p:pic>
        <p:nvPicPr>
          <p:cNvPr id="8" name="Picture 7" descr="s12_15a820.png"/>
          <p:cNvPicPr>
            <a:picLocks noChangeAspect="1"/>
          </p:cNvPicPr>
          <p:nvPr/>
        </p:nvPicPr>
        <p:blipFill>
          <a:blip r:embed="rId4"/>
          <a:stretch>
            <a:fillRect/>
          </a:stretch>
        </p:blipFill>
        <p:spPr>
          <a:xfrm>
            <a:off x="5053584" y="2743200"/>
            <a:ext cx="287731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Rayleigh (generado)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Un medio elástico admite ondas P (compresionales) y S (de corte)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Vp = √((λ+2μ)/ρ), Vs = √(μ/ρ). Velocidades relacionadas a módulos elásticos.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9 | Física</a:t>
            </a:r>
            <a:endParaRPr lang="en-US" sz="1000" dirty="0"/>
          </a:p>
        </p:txBody>
      </p:sp>
      <p:pic>
        <p:nvPicPr>
          <p:cNvPr id="6" name="Picture 5" descr="fig01_ondas_p_s_es.png"/>
          <p:cNvPicPr>
            <a:picLocks noChangeAspect="1"/>
          </p:cNvPicPr>
          <p:nvPr/>
        </p:nvPicPr>
        <p:blipFill>
          <a:blip r:embed="rId3"/>
          <a:stretch>
            <a:fillRect/>
          </a:stretch>
        </p:blipFill>
        <p:spPr>
          <a:xfrm>
            <a:off x="5406523" y="868680"/>
            <a:ext cx="217143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Ondas P y S (propio)</a:t>
            </a:r>
          </a:p>
        </p:txBody>
      </p:sp>
      <p:pic>
        <p:nvPicPr>
          <p:cNvPr id="8" name="Picture 7" descr="Pasted image 20260316135658.png"/>
          <p:cNvPicPr>
            <a:picLocks noChangeAspect="1"/>
          </p:cNvPicPr>
          <p:nvPr/>
        </p:nvPicPr>
        <p:blipFill>
          <a:blip r:embed="rId4"/>
          <a:stretch>
            <a:fillRect/>
          </a:stretch>
        </p:blipFill>
        <p:spPr>
          <a:xfrm>
            <a:off x="4881268" y="2743200"/>
            <a:ext cx="32219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Vs nos interesa porque está directamente ligada a la rigidez del terreno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Gmax = ρ Vs². Rigidez a pequeñas deformaciones; pequeño amortiguamiento.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10 | Física</a:t>
            </a:r>
            <a:endParaRPr lang="en-US" sz="1000" dirty="0"/>
          </a:p>
        </p:txBody>
      </p:sp>
      <p:pic>
        <p:nvPicPr>
          <p:cNvPr id="6" name="Picture 5" descr="gen_gmax_degradaci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Generado (esquema)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Las interfaces cambian la propagación: Snell, conversión P↔SV, superficie libre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Ley de Snell: cambio de dirección. Conversión modal en incidencia oblicua. Condición de tensión nula en superficie → modos ligados.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11 | Física</a:t>
            </a:r>
            <a:endParaRPr lang="en-US" sz="1000" dirty="0"/>
          </a:p>
        </p:txBody>
      </p:sp>
      <p:pic>
        <p:nvPicPr>
          <p:cNvPr id="6" name="Picture 5" descr="fig02_conversion_interfaz_es.png"/>
          <p:cNvPicPr>
            <a:picLocks noChangeAspect="1"/>
          </p:cNvPicPr>
          <p:nvPr/>
        </p:nvPicPr>
        <p:blipFill>
          <a:blip r:embed="rId3"/>
          <a:stretch>
            <a:fillRect/>
          </a:stretch>
        </p:blipFill>
        <p:spPr>
          <a:xfrm>
            <a:off x="5631087" y="868680"/>
            <a:ext cx="172230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Conversión en interfaz (propio)</a:t>
            </a:r>
          </a:p>
        </p:txBody>
      </p:sp>
      <p:pic>
        <p:nvPicPr>
          <p:cNvPr id="8" name="Picture 7" descr="Pasted image 20260316141217.png"/>
          <p:cNvPicPr>
            <a:picLocks noChangeAspect="1"/>
          </p:cNvPicPr>
          <p:nvPr/>
        </p:nvPicPr>
        <p:blipFill>
          <a:blip r:embed="rId4"/>
          <a:stretch>
            <a:fillRect/>
          </a:stretch>
        </p:blipFill>
        <p:spPr>
          <a:xfrm>
            <a:off x="5841239" y="2743200"/>
            <a:ext cx="130200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2.10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¿Por qué mirar ondas superficiales? Porque dominan una fuente vertical de superficie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~67% Rayleigh, ~26% S, ~7% P en semiespacio homogéneo (Miller &amp; Pursey).</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12 | Física</a:t>
            </a:r>
            <a:endParaRPr lang="en-US" sz="1000" dirty="0"/>
          </a:p>
        </p:txBody>
      </p:sp>
      <p:pic>
        <p:nvPicPr>
          <p:cNvPr id="6" name="Picture 5" descr="gen_energia_miller_pursey.png"/>
          <p:cNvPicPr>
            <a:picLocks noChangeAspect="1"/>
          </p:cNvPicPr>
          <p:nvPr/>
        </p:nvPicPr>
        <p:blipFill>
          <a:blip r:embed="rId3"/>
          <a:stretch>
            <a:fillRect/>
          </a:stretch>
        </p:blipFill>
        <p:spPr>
          <a:xfrm>
            <a:off x="5581840" y="868680"/>
            <a:ext cx="182079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Generado, datos Miller &amp; Pursey</a:t>
            </a:r>
          </a:p>
        </p:txBody>
      </p:sp>
      <p:pic>
        <p:nvPicPr>
          <p:cNvPr id="8" name="Picture 7" descr="Pasted image 20260316143212.png"/>
          <p:cNvPicPr>
            <a:picLocks noChangeAspect="1"/>
          </p:cNvPicPr>
          <p:nvPr/>
        </p:nvPicPr>
        <p:blipFill>
          <a:blip r:embed="rId4"/>
          <a:stretch>
            <a:fillRect/>
          </a:stretch>
        </p:blipFill>
        <p:spPr>
          <a:xfrm>
            <a:off x="4927702" y="2743200"/>
            <a:ext cx="31290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2.12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Ondas Love: movimiento SH horizontal, transversal a la propagación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Útiles para información Vs en multicapas. Fuente vertical no genera Love naturalmente.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13 | Física</a:t>
            </a:r>
            <a:endParaRPr lang="en-US" sz="1000" dirty="0"/>
          </a:p>
        </p:txBody>
      </p:sp>
      <p:pic>
        <p:nvPicPr>
          <p:cNvPr id="6" name="Picture 5" descr="s11_60771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Love (generado)</a:t>
            </a:r>
          </a:p>
        </p:txBody>
      </p:sp>
      <p:pic>
        <p:nvPicPr>
          <p:cNvPr id="8" name="Picture 7" descr="Pasted image 20260316140712.png"/>
          <p:cNvPicPr>
            <a:picLocks noChangeAspect="1"/>
          </p:cNvPicPr>
          <p:nvPr/>
        </p:nvPicPr>
        <p:blipFill>
          <a:blip r:embed="rId4"/>
          <a:stretch>
            <a:fillRect/>
          </a:stretch>
        </p:blipFill>
        <p:spPr>
          <a:xfrm>
            <a:off x="5135136" y="2743200"/>
            <a:ext cx="271420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2.9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Ondas Rayleigh: movimiento elíptico en plano vertical, relación directa a Vs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Acoplamiento P-SV. Componente vertical dominante y fácil de medir. cR ≈ 0.9 Vs (aproximadamente).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14 | Física</a:t>
            </a:r>
            <a:endParaRPr lang="en-US" sz="1000" dirty="0"/>
          </a:p>
        </p:txBody>
      </p:sp>
      <p:pic>
        <p:nvPicPr>
          <p:cNvPr id="6" name="Picture 5" descr="s12_15a820.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Rayleigh (generado)</a:t>
            </a:r>
          </a:p>
        </p:txBody>
      </p:sp>
      <p:pic>
        <p:nvPicPr>
          <p:cNvPr id="8" name="Picture 7" descr="Pasted image 20260316144208.png"/>
          <p:cNvPicPr>
            <a:picLocks noChangeAspect="1"/>
          </p:cNvPicPr>
          <p:nvPr/>
        </p:nvPicPr>
        <p:blipFill>
          <a:blip r:embed="rId4"/>
          <a:stretch>
            <a:fillRect/>
          </a:stretch>
        </p:blipFill>
        <p:spPr>
          <a:xfrm>
            <a:off x="5339799" y="2743200"/>
            <a:ext cx="230488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2.13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Rayleigh encaja con el problema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Fácil de generar (fuente vertical), fácil de medir (componente vertical), sensible a Vs(z) vía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15 | Física</a:t>
            </a:r>
            <a:endParaRPr lang="en-US" sz="1000" dirty="0"/>
          </a:p>
        </p:txBody>
      </p:sp>
      <p:pic>
        <p:nvPicPr>
          <p:cNvPr id="6" name="Picture 5" descr="ch1_2D_radiation_pattern_Rayleigh_surface.png"/>
          <p:cNvPicPr>
            <a:picLocks noChangeAspect="1"/>
          </p:cNvPicPr>
          <p:nvPr/>
        </p:nvPicPr>
        <p:blipFill>
          <a:blip r:embed="rId3"/>
          <a:stretch>
            <a:fillRect/>
          </a:stretch>
        </p:blipFill>
        <p:spPr>
          <a:xfrm>
            <a:off x="5408194" y="868680"/>
            <a:ext cx="216809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Foti et al. 2014, Fig. 1.1</a:t>
            </a:r>
          </a:p>
        </p:txBody>
      </p:sp>
      <p:pic>
        <p:nvPicPr>
          <p:cNvPr id="8" name="Picture 7" descr="Pasted image 20260408094144.png"/>
          <p:cNvPicPr>
            <a:picLocks noChangeAspect="1"/>
          </p:cNvPicPr>
          <p:nvPr/>
        </p:nvPicPr>
        <p:blipFill>
          <a:blip r:embed="rId4"/>
          <a:stretch>
            <a:fillRect/>
          </a:stretch>
        </p:blipFill>
        <p:spPr>
          <a:xfrm>
            <a:off x="5623261" y="2743200"/>
            <a:ext cx="1737958" cy="1618487"/>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3.3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En un semiespacio homogéneo, cR es independiente de la frecuencia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Mismo Vs, Vp, ρ → una única cR para todo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16 | Dispersión</a:t>
            </a:r>
            <a:endParaRPr lang="en-US" sz="1000" dirty="0"/>
          </a:p>
        </p:txBody>
      </p:sp>
      <p:pic>
        <p:nvPicPr>
          <p:cNvPr id="6" name="Picture 5" descr="s14_b93a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Semiespacio homogéneo (generado)</a:t>
            </a:r>
          </a:p>
        </p:txBody>
      </p:sp>
      <p:pic>
        <p:nvPicPr>
          <p:cNvPr id="8" name="Picture 7" descr="gen_cR_homogeneo.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Generado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Relación cR-Vs: Rayleigh es ligeramente menor y estrechamente relacionada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cR ≈ 0.92 Vs (aproximadamente); dependencia de ν (Poisson). Vínculo directo para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17 | Dispersión</a:t>
            </a:r>
            <a:endParaRPr lang="en-US" sz="1000" dirty="0"/>
          </a:p>
        </p:txBody>
      </p:sp>
      <p:pic>
        <p:nvPicPr>
          <p:cNvPr id="6" name="Picture 5" descr="gen_cR_vs_poisson.png"/>
          <p:cNvPicPr>
            <a:picLocks noChangeAspect="1"/>
          </p:cNvPicPr>
          <p:nvPr/>
        </p:nvPicPr>
        <p:blipFill>
          <a:blip r:embed="rId3"/>
          <a:stretch>
            <a:fillRect/>
          </a:stretch>
        </p:blipFill>
        <p:spPr>
          <a:xfrm>
            <a:off x="4206240" y="1091184"/>
            <a:ext cx="4572000" cy="3048000"/>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Generado (aprox. de Viktorov)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Al agregar capas con distintos Vs, Vp, ρ, espesores, emerge la dispersión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Capas → interacción y conversión modal → cR depende de f.</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18 | Dispersión</a:t>
            </a:r>
            <a:endParaRPr lang="en-US" sz="1000" dirty="0"/>
          </a:p>
        </p:txBody>
      </p:sp>
      <p:pic>
        <p:nvPicPr>
          <p:cNvPr id="6" name="Picture 5" descr="s18_6ae378.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Medio estratificado (generado)</a:t>
            </a:r>
          </a:p>
        </p:txBody>
      </p:sp>
      <p:pic>
        <p:nvPicPr>
          <p:cNvPr id="8" name="Picture 7" descr="ch1 Geometric Dispersion of rayleigh waves.png"/>
          <p:cNvPicPr>
            <a:picLocks noChangeAspect="1"/>
          </p:cNvPicPr>
          <p:nvPr/>
        </p:nvPicPr>
        <p:blipFill>
          <a:blip r:embed="rId4"/>
          <a:stretch>
            <a:fillRect/>
          </a:stretch>
        </p:blipFill>
        <p:spPr>
          <a:xfrm>
            <a:off x="5122260" y="2743200"/>
            <a:ext cx="273996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Longitud de onda y sensibilidad: λR(f) = cR(f)/f, alta f → superficial, baja f → profunda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Relación directa entre f y profundidad de sensibilidad vía λR. Sensibilidad distribuida (no rígida).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19 | Dispersión</a:t>
            </a:r>
            <a:endParaRPr lang="en-US" sz="1000" dirty="0"/>
          </a:p>
        </p:txBody>
      </p:sp>
      <p:pic>
        <p:nvPicPr>
          <p:cNvPr id="6" name="Picture 5" descr="s17_e60734.png"/>
          <p:cNvPicPr>
            <a:picLocks noChangeAspect="1"/>
          </p:cNvPicPr>
          <p:nvPr/>
        </p:nvPicPr>
        <p:blipFill>
          <a:blip r:embed="rId3"/>
          <a:stretch>
            <a:fillRect/>
          </a:stretch>
        </p:blipFill>
        <p:spPr>
          <a:xfrm>
            <a:off x="5053584" y="868680"/>
            <a:ext cx="28773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Profundidad vs λ (generado)</a:t>
            </a:r>
          </a:p>
        </p:txBody>
      </p:sp>
      <p:pic>
        <p:nvPicPr>
          <p:cNvPr id="8" name="Picture 7" descr="dispersion_profundidad.png"/>
          <p:cNvPicPr>
            <a:picLocks noChangeAspect="1"/>
          </p:cNvPicPr>
          <p:nvPr/>
        </p:nvPicPr>
        <p:blipFill>
          <a:blip r:embed="rId4"/>
          <a:stretch>
            <a:fillRect/>
          </a:stretch>
        </p:blipFill>
        <p:spPr>
          <a:xfrm>
            <a:off x="5192545" y="2743200"/>
            <a:ext cx="259938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Dispersión: cR(f) es la curva de dispersión, contiene información de estructura vertical</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La curva define cómo cambia la velocidad con f. Cada estructura Vs(z) genera una curva única (o casi).</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20 | Dispersión</a:t>
            </a:r>
            <a:endParaRPr lang="en-US" sz="1000" dirty="0"/>
          </a:p>
        </p:txBody>
      </p:sp>
      <p:pic>
        <p:nvPicPr>
          <p:cNvPr id="6" name="Picture 5" descr="ch1_Example of processing of experimental data using wavenumber analysis.png"/>
          <p:cNvPicPr>
            <a:picLocks noChangeAspect="1"/>
          </p:cNvPicPr>
          <p:nvPr/>
        </p:nvPicPr>
        <p:blipFill>
          <a:blip r:embed="rId3"/>
          <a:stretch>
            <a:fillRect/>
          </a:stretch>
        </p:blipFill>
        <p:spPr>
          <a:xfrm>
            <a:off x="5672621" y="868680"/>
            <a:ext cx="163923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Foti et al. 2014, Fig. 1.6</a:t>
            </a:r>
          </a:p>
        </p:txBody>
      </p:sp>
      <p:pic>
        <p:nvPicPr>
          <p:cNvPr id="8" name="Picture 7" descr="figuras_informe__fig_curvas.png"/>
          <p:cNvPicPr>
            <a:picLocks noChangeAspect="1"/>
          </p:cNvPicPr>
          <p:nvPr/>
        </p:nvPicPr>
        <p:blipFill>
          <a:blip r:embed="rId4"/>
          <a:stretch>
            <a:fillRect/>
          </a:stretch>
        </p:blipFill>
        <p:spPr>
          <a:xfrm>
            <a:off x="4469130" y="2743200"/>
            <a:ext cx="404622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(MASW)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Curva de dispersión medida → modelo compatible mediante inversión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Problema inverso: encontrar Vs(z) que reproduce cR(f). Algoritmos: Monte Carlo, búsqueda global, gradiente.</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21 | Dispersión</a:t>
            </a:r>
            <a:endParaRPr lang="en-US" sz="1000" dirty="0"/>
          </a:p>
        </p:txBody>
      </p:sp>
      <p:pic>
        <p:nvPicPr>
          <p:cNvPr id="6" name="Picture 5" descr="ch1 Example of inversion procecss.png"/>
          <p:cNvPicPr>
            <a:picLocks noChangeAspect="1"/>
          </p:cNvPicPr>
          <p:nvPr/>
        </p:nvPicPr>
        <p:blipFill>
          <a:blip r:embed="rId3"/>
          <a:stretch>
            <a:fillRect/>
          </a:stretch>
        </p:blipFill>
        <p:spPr>
          <a:xfrm>
            <a:off x="5995057" y="868680"/>
            <a:ext cx="99436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Foti et al. 2014, Fig. 1.7</a:t>
            </a:r>
          </a:p>
        </p:txBody>
      </p:sp>
      <p:pic>
        <p:nvPicPr>
          <p:cNvPr id="8" name="Picture 7" descr="figuras_informe__fig_vs.png"/>
          <p:cNvPicPr>
            <a:picLocks noChangeAspect="1"/>
          </p:cNvPicPr>
          <p:nvPr/>
        </p:nvPicPr>
        <p:blipFill>
          <a:blip r:embed="rId4"/>
          <a:stretch>
            <a:fillRect/>
          </a:stretch>
        </p:blipFill>
        <p:spPr>
          <a:xfrm>
            <a:off x="4873752" y="2743200"/>
            <a:ext cx="323697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(inversión)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SASW (Spectral Analysis of Surface Waves): 2 receptores, diferencia de fase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Medir tiempo de viaje entre dos geófonos → velocidad por banda. Ambigüedad de ciclos.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22 | MASW</a:t>
            </a:r>
            <a:endParaRPr lang="en-US" sz="1000" dirty="0"/>
          </a:p>
        </p:txBody>
      </p:sp>
      <p:pic>
        <p:nvPicPr>
          <p:cNvPr id="6" name="Picture 5" descr="Pasted image 20260414154041.png"/>
          <p:cNvPicPr>
            <a:picLocks noChangeAspect="1"/>
          </p:cNvPicPr>
          <p:nvPr/>
        </p:nvPicPr>
        <p:blipFill>
          <a:blip r:embed="rId3"/>
          <a:stretch>
            <a:fillRect/>
          </a:stretch>
        </p:blipFill>
        <p:spPr>
          <a:xfrm>
            <a:off x="5138397" y="868680"/>
            <a:ext cx="270768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Foti et al. 2014, Fig. 3.43</a:t>
            </a:r>
          </a:p>
        </p:txBody>
      </p:sp>
      <p:pic>
        <p:nvPicPr>
          <p:cNvPr id="8" name="Picture 7" descr="Pasted image 20260415161954.png"/>
          <p:cNvPicPr>
            <a:picLocks noChangeAspect="1"/>
          </p:cNvPicPr>
          <p:nvPr/>
        </p:nvPicPr>
        <p:blipFill>
          <a:blip r:embed="rId4"/>
          <a:stretch>
            <a:fillRect/>
          </a:stretch>
        </p:blipFill>
        <p:spPr>
          <a:xfrm>
            <a:off x="5338793" y="2743200"/>
            <a:ext cx="2306894"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4.5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MASW (MultiChannel Analysis of Surface Waves): múltiples receptores, patrones coherentes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Matriz espacio-tiempo U(x,t) → imaging dispersión (f-k), separación modal, redundancia.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23 | MASW</a:t>
            </a:r>
            <a:endParaRPr lang="en-US" sz="1000" dirty="0"/>
          </a:p>
        </p:txBody>
      </p:sp>
      <p:pic>
        <p:nvPicPr>
          <p:cNvPr id="6" name="Picture 5" descr="Pasted image 20260414154541.png"/>
          <p:cNvPicPr>
            <a:picLocks noChangeAspect="1"/>
          </p:cNvPicPr>
          <p:nvPr/>
        </p:nvPicPr>
        <p:blipFill>
          <a:blip r:embed="rId3"/>
          <a:stretch>
            <a:fillRect/>
          </a:stretch>
        </p:blipFill>
        <p:spPr>
          <a:xfrm>
            <a:off x="4715184" y="868680"/>
            <a:ext cx="355411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Foti et al. 2014, Fig. 3.45</a:t>
            </a:r>
          </a:p>
        </p:txBody>
      </p:sp>
      <p:pic>
        <p:nvPicPr>
          <p:cNvPr id="8" name="Picture 7" descr="Pasted image 20260408105916.png"/>
          <p:cNvPicPr>
            <a:picLocks noChangeAspect="1"/>
          </p:cNvPicPr>
          <p:nvPr/>
        </p:nvPicPr>
        <p:blipFill>
          <a:blip r:embed="rId4"/>
          <a:stretch>
            <a:fillRect/>
          </a:stretch>
        </p:blipFill>
        <p:spPr>
          <a:xfrm>
            <a:off x="5602750" y="2743200"/>
            <a:ext cx="17789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3.5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MASW sintetizado (Lin &amp; Ashlock 2016): desplazamiento recíproco fuente-receptor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Un geófono móvil, fuente fija y desplazada alternativamente → equivalente a arreglo simultáneo.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24 | MASW</a:t>
            </a:r>
            <a:endParaRPr lang="en-US" sz="1000" dirty="0"/>
          </a:p>
        </p:txBody>
      </p:sp>
      <p:pic>
        <p:nvPicPr>
          <p:cNvPr id="6" name="Picture 5" descr="lin2016_fig1_recorte.png"/>
          <p:cNvPicPr>
            <a:picLocks noChangeAspect="1"/>
          </p:cNvPicPr>
          <p:nvPr/>
        </p:nvPicPr>
        <p:blipFill>
          <a:blip r:embed="rId3"/>
          <a:stretch>
            <a:fillRect/>
          </a:stretch>
        </p:blipFill>
        <p:spPr>
          <a:xfrm>
            <a:off x="4206240" y="1051118"/>
            <a:ext cx="4572000" cy="1253612"/>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Lin &amp; Ashlock 2016, Fig. 1</a:t>
            </a:r>
          </a:p>
        </p:txBody>
      </p:sp>
      <p:pic>
        <p:nvPicPr>
          <p:cNvPr id="8" name="Picture 7" descr="figuras__fig1_qc_alineacion_stack.png"/>
          <p:cNvPicPr>
            <a:picLocks noChangeAspect="1"/>
          </p:cNvPicPr>
          <p:nvPr/>
        </p:nvPicPr>
        <p:blipFill>
          <a:blip r:embed="rId4"/>
          <a:stretch>
            <a:fillRect/>
          </a:stretch>
        </p:blipFill>
        <p:spPr>
          <a:xfrm>
            <a:off x="4206240" y="2895219"/>
            <a:ext cx="4572000" cy="131444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(alineación y stack)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Objetivo: matriz U(x,t) = uz(xm, tn), registro espacio-tiempo con fase preservada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21 posiciones, 10-50 m, Δx=2m, alineadas con HAMMER. Flujo de procesamiento → dispersión →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25 | MASW</a:t>
            </a:r>
            <a:endParaRPr lang="en-US" sz="1000" dirty="0"/>
          </a:p>
        </p:txBody>
      </p:sp>
      <p:pic>
        <p:nvPicPr>
          <p:cNvPr id="6" name="Picture 5" descr="figuras_informe__fig_gather.png"/>
          <p:cNvPicPr>
            <a:picLocks noChangeAspect="1"/>
          </p:cNvPicPr>
          <p:nvPr/>
        </p:nvPicPr>
        <p:blipFill>
          <a:blip r:embed="rId3"/>
          <a:stretch>
            <a:fillRect/>
          </a:stretch>
        </p:blipFill>
        <p:spPr>
          <a:xfrm>
            <a:off x="4604004" y="868680"/>
            <a:ext cx="377647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(gather)</a:t>
            </a:r>
          </a:p>
        </p:txBody>
      </p:sp>
      <p:pic>
        <p:nvPicPr>
          <p:cNvPr id="8" name="Picture 7" descr="figuras_informe__fig_imagenes.png"/>
          <p:cNvPicPr>
            <a:picLocks noChangeAspect="1"/>
          </p:cNvPicPr>
          <p:nvPr/>
        </p:nvPicPr>
        <p:blipFill>
          <a:blip r:embed="rId4"/>
          <a:stretch>
            <a:fillRect/>
          </a:stretch>
        </p:blipFill>
        <p:spPr>
          <a:xfrm>
            <a:off x="5143500" y="2743200"/>
            <a:ext cx="269748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(imaging)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Requisitos electrónicos impuestos por MASW</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Banda útil, fase, rango dinámico, antialias, fs, geometría, referencia temporal, excitación, almacenamiento, operación de campo.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26 | Requisitos</a:t>
            </a:r>
            <a:endParaRPr lang="en-US" sz="1000" dirty="0"/>
          </a:p>
        </p:txBody>
      </p:sp>
      <p:pic>
        <p:nvPicPr>
          <p:cNvPr id="6" name="Picture 5" descr="geometria_campanas.png"/>
          <p:cNvPicPr>
            <a:picLocks noChangeAspect="1"/>
          </p:cNvPicPr>
          <p:nvPr/>
        </p:nvPicPr>
        <p:blipFill>
          <a:blip r:embed="rId3"/>
          <a:stretch>
            <a:fillRect/>
          </a:stretch>
        </p:blipFill>
        <p:spPr>
          <a:xfrm>
            <a:off x="4316418" y="868680"/>
            <a:ext cx="4351644"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(histórico, revisar)</a:t>
            </a:r>
          </a:p>
        </p:txBody>
      </p:sp>
      <p:pic>
        <p:nvPicPr>
          <p:cNvPr id="8" name="Picture 7" descr="Pasted image 20260408110343.png"/>
          <p:cNvPicPr>
            <a:picLocks noChangeAspect="1"/>
          </p:cNvPicPr>
          <p:nvPr/>
        </p:nvPicPr>
        <p:blipFill>
          <a:blip r:embed="rId4"/>
          <a:stretch>
            <a:fillRect/>
          </a:stretch>
        </p:blipFill>
        <p:spPr>
          <a:xfrm>
            <a:off x="5376290" y="2743200"/>
            <a:ext cx="223190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Foti et al. 2014, Fig. 3.7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Arquitectura: tres roles especializados (GEO, MASTER, HAMMER)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GEO mide respuesta del suelo. MASTER coordina y sincroniza. HAMMER mide excitación.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27 | Arquitectura</a:t>
            </a:r>
            <a:endParaRPr lang="en-US" sz="1000" dirty="0"/>
          </a:p>
        </p:txBody>
      </p:sp>
      <p:pic>
        <p:nvPicPr>
          <p:cNvPr id="6" name="Picture 5" descr="d_arquitectura_nodos.png"/>
          <p:cNvPicPr>
            <a:picLocks noChangeAspect="1"/>
          </p:cNvPicPr>
          <p:nvPr/>
        </p:nvPicPr>
        <p:blipFill>
          <a:blip r:embed="rId3"/>
          <a:stretch>
            <a:fillRect/>
          </a:stretch>
        </p:blipFill>
        <p:spPr>
          <a:xfrm>
            <a:off x="4285776" y="868680"/>
            <a:ext cx="441292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a:t>
            </a:r>
          </a:p>
        </p:txBody>
      </p:sp>
      <p:pic>
        <p:nvPicPr>
          <p:cNvPr id="8" name="Picture 7" descr="D04.png"/>
          <p:cNvPicPr>
            <a:picLocks noChangeAspect="1"/>
          </p:cNvPicPr>
          <p:nvPr/>
        </p:nvPicPr>
        <p:blipFill>
          <a:blip r:embed="rId4"/>
          <a:stretch>
            <a:fillRect/>
          </a:stretch>
        </p:blipFill>
        <p:spPr>
          <a:xfrm>
            <a:off x="4626775" y="2743200"/>
            <a:ext cx="373093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(drawio D04)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Sensor SM-24: geófono vertical, fn≈10Hz, G0≈28.8 V·s/m</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Masa suspendida en resorte-amortiguador. Transducer inercial: bobina en campo magnético.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28 | GEO</a:t>
            </a:r>
            <a:endParaRPr lang="en-US" sz="1000" dirty="0"/>
          </a:p>
        </p:txBody>
      </p:sp>
      <p:pic>
        <p:nvPicPr>
          <p:cNvPr id="6" name="Picture 5" descr="s26_0c5aa1.png"/>
          <p:cNvPicPr>
            <a:picLocks noChangeAspect="1"/>
          </p:cNvPicPr>
          <p:nvPr/>
        </p:nvPicPr>
        <p:blipFill>
          <a:blip r:embed="rId3"/>
          <a:stretch>
            <a:fillRect/>
          </a:stretch>
        </p:blipFill>
        <p:spPr>
          <a:xfrm>
            <a:off x="4206240" y="956029"/>
            <a:ext cx="4572000" cy="1443789"/>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SM-24 (propio/brochure)</a:t>
            </a:r>
          </a:p>
        </p:txBody>
      </p:sp>
      <p:pic>
        <p:nvPicPr>
          <p:cNvPr id="8" name="Picture 7" descr="sm24_fotografia_cableado.png"/>
          <p:cNvPicPr>
            <a:picLocks noChangeAspect="1"/>
          </p:cNvPicPr>
          <p:nvPr/>
        </p:nvPicPr>
        <p:blipFill>
          <a:blip r:embed="rId4"/>
          <a:stretch>
            <a:fillRect/>
          </a:stretch>
        </p:blipFill>
        <p:spPr>
          <a:xfrm>
            <a:off x="5682996" y="2743200"/>
            <a:ext cx="161848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SM-24 cableado (fotografía comercial)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Problema: el SM-24 pierde sensibilidad por debajo de resonancia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A 1 Hz (f&lt;&lt;fn): |H| ~ (f/fn)² ~ 0.01 ≈ -40 dB respecto a banda alta.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29 | GEO</a:t>
            </a:r>
            <a:endParaRPr lang="en-US" sz="1000" dirty="0"/>
          </a:p>
        </p:txBody>
      </p:sp>
      <p:pic>
        <p:nvPicPr>
          <p:cNvPr id="6" name="Picture 5" descr="fig07_respuesta_sm24_modelo.png"/>
          <p:cNvPicPr>
            <a:picLocks noChangeAspect="1"/>
          </p:cNvPicPr>
          <p:nvPr/>
        </p:nvPicPr>
        <p:blipFill>
          <a:blip r:embed="rId3"/>
          <a:stretch>
            <a:fillRect/>
          </a:stretch>
        </p:blipFill>
        <p:spPr>
          <a:xfrm>
            <a:off x="4206240" y="1780671"/>
            <a:ext cx="4572000" cy="1669025"/>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(modelo SM-24)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Estado del arte LF: alternativas de compensación evaluadas y rechazadas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1. Medición directa + ganancia: insuficiente. 2. Carga/impedancia pasiva: extensión limitada. 3. Inversión/zero-pole: offset DC, ruido LF amplificado. 4. Force balance: complejidad, estabilidad.</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30 | GEO</a:t>
            </a:r>
            <a:endParaRPr lang="en-US" sz="1000" dirty="0"/>
          </a:p>
        </p:txBody>
      </p:sp>
      <p:pic>
        <p:nvPicPr>
          <p:cNvPr id="6" name="Picture 5" descr="gen_compensacion_LF.png"/>
          <p:cNvPicPr>
            <a:picLocks noChangeAspect="1"/>
          </p:cNvPicPr>
          <p:nvPr/>
        </p:nvPicPr>
        <p:blipFill>
          <a:blip r:embed="rId3"/>
          <a:stretch>
            <a:fillRect/>
          </a:stretch>
        </p:blipFill>
        <p:spPr>
          <a:xfrm>
            <a:off x="5278374" y="868680"/>
            <a:ext cx="2427732"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Generado (concepto)</a:t>
            </a:r>
          </a:p>
        </p:txBody>
      </p:sp>
      <p:pic>
        <p:nvPicPr>
          <p:cNvPr id="8" name="Picture 7" descr="sm24_funcion_transferencia_previa.png"/>
          <p:cNvPicPr>
            <a:picLocks noChangeAspect="1"/>
          </p:cNvPicPr>
          <p:nvPr/>
        </p:nvPicPr>
        <p:blipFill>
          <a:blip r:embed="rId4"/>
          <a:stretch>
            <a:fillRect/>
          </a:stretch>
        </p:blipFill>
        <p:spPr>
          <a:xfrm>
            <a:off x="5142720" y="2743200"/>
            <a:ext cx="2699039"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Método elegido: Ma et al. - no levantar agresivamente el fondo, aténuar la región dominante</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Cadena: entrada → PGA → [directo + BP inversor] → SUM → LP → ADC. Compensación LF via BP restador.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31 | GEO</a:t>
            </a:r>
            <a:endParaRPr lang="en-US" sz="1000" dirty="0"/>
          </a:p>
        </p:txBody>
      </p:sp>
      <p:pic>
        <p:nvPicPr>
          <p:cNvPr id="6" name="Picture 5" descr="D08.png"/>
          <p:cNvPicPr>
            <a:picLocks noChangeAspect="1"/>
          </p:cNvPicPr>
          <p:nvPr/>
        </p:nvPicPr>
        <p:blipFill>
          <a:blip r:embed="rId3"/>
          <a:stretch>
            <a:fillRect/>
          </a:stretch>
        </p:blipFill>
        <p:spPr>
          <a:xfrm>
            <a:off x="4206240" y="1156532"/>
            <a:ext cx="4572000" cy="1042784"/>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(drawio D08)</a:t>
            </a:r>
          </a:p>
        </p:txBody>
      </p:sp>
      <p:pic>
        <p:nvPicPr>
          <p:cNvPr id="8" name="Picture 7" descr="gen_compensacion_LF.png"/>
          <p:cNvPicPr>
            <a:picLocks noChangeAspect="1"/>
          </p:cNvPicPr>
          <p:nvPr/>
        </p:nvPicPr>
        <p:blipFill>
          <a:blip r:embed="rId4"/>
          <a:stretch>
            <a:fillRect/>
          </a:stretch>
        </p:blipFill>
        <p:spPr>
          <a:xfrm>
            <a:off x="5278374" y="2743200"/>
            <a:ext cx="242773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Generado (concepto)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AFE implementado: PGA → directo + BP → SUM → LP → ADC</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Rechazo modo común, ganancia programable, compensación LF, antialias, adaptación ADC.</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32 | GEO</a:t>
            </a:r>
            <a:endParaRPr lang="en-US" sz="1000" dirty="0"/>
          </a:p>
        </p:txBody>
      </p:sp>
      <p:pic>
        <p:nvPicPr>
          <p:cNvPr id="6" name="Picture 5" descr="s33_dae964.png"/>
          <p:cNvPicPr>
            <a:picLocks noChangeAspect="1"/>
          </p:cNvPicPr>
          <p:nvPr/>
        </p:nvPicPr>
        <p:blipFill>
          <a:blip r:embed="rId3"/>
          <a:stretch>
            <a:fillRect/>
          </a:stretch>
        </p:blipFill>
        <p:spPr>
          <a:xfrm>
            <a:off x="4970861" y="868680"/>
            <a:ext cx="3042757"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(AFE PSoC)</a:t>
            </a:r>
          </a:p>
        </p:txBody>
      </p:sp>
      <p:pic>
        <p:nvPicPr>
          <p:cNvPr id="8" name="Picture 7" descr="fig08_f_frente_analogico_crop.png"/>
          <p:cNvPicPr>
            <a:picLocks noChangeAspect="1"/>
          </p:cNvPicPr>
          <p:nvPr/>
        </p:nvPicPr>
        <p:blipFill>
          <a:blip r:embed="rId4"/>
          <a:stretch>
            <a:fillRect/>
          </a:stretch>
        </p:blipFill>
        <p:spPr>
          <a:xfrm>
            <a:off x="4696414" y="2743200"/>
            <a:ext cx="3591651"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(frente analógico)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Magnitud y fase: modelo nominal vs medición real, incluyendo tolerancias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Gráficos de Bode: modelo ideal, medido, variaciones por tolerancia de componentes.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33 | GEO</a:t>
            </a:r>
            <a:endParaRPr lang="en-US" sz="1000" dirty="0"/>
          </a:p>
        </p:txBody>
      </p:sp>
      <p:pic>
        <p:nvPicPr>
          <p:cNvPr id="6" name="Picture 5" descr="s34_dc6945.png"/>
          <p:cNvPicPr>
            <a:picLocks noChangeAspect="1"/>
          </p:cNvPicPr>
          <p:nvPr/>
        </p:nvPicPr>
        <p:blipFill>
          <a:blip r:embed="rId3"/>
          <a:stretch>
            <a:fillRect/>
          </a:stretch>
        </p:blipFill>
        <p:spPr>
          <a:xfrm>
            <a:off x="5618685" y="868680"/>
            <a:ext cx="17471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(Bode medido)</a:t>
            </a:r>
          </a:p>
        </p:txBody>
      </p:sp>
      <p:pic>
        <p:nvPicPr>
          <p:cNvPr id="8" name="Picture 7" descr="fig12_f_cadena_geo_adc_magcoh.png"/>
          <p:cNvPicPr>
            <a:picLocks noChangeAspect="1"/>
          </p:cNvPicPr>
          <p:nvPr/>
        </p:nvPicPr>
        <p:blipFill>
          <a:blip r:embed="rId4"/>
          <a:stretch>
            <a:fillRect/>
          </a:stretch>
        </p:blipFill>
        <p:spPr>
          <a:xfrm>
            <a:off x="4959036" y="2743200"/>
            <a:ext cx="3066407"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(cadena GEO-ADC)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DA-AFE: filosofía CALIBRAR → CONGELAR → MEDIR, orden secuencial PGA → BP → SUM → LP</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Problema: alta ganancia + offsets pequeños → margen dinámico consumido. Solución: auto-calibración digital de offset por etapa.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34 | GEO</a:t>
            </a:r>
            <a:endParaRPr lang="en-US" sz="1000" dirty="0"/>
          </a:p>
        </p:txBody>
      </p:sp>
      <p:pic>
        <p:nvPicPr>
          <p:cNvPr id="6" name="Picture 5" descr="fig09_d_calibracion_offset.png"/>
          <p:cNvPicPr>
            <a:picLocks noChangeAspect="1"/>
          </p:cNvPicPr>
          <p:nvPr/>
        </p:nvPicPr>
        <p:blipFill>
          <a:blip r:embed="rId3"/>
          <a:stretch>
            <a:fillRect/>
          </a:stretch>
        </p:blipFill>
        <p:spPr>
          <a:xfrm>
            <a:off x="5042307" y="868680"/>
            <a:ext cx="289986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(calibración offset)</a:t>
            </a:r>
          </a:p>
        </p:txBody>
      </p:sp>
      <p:pic>
        <p:nvPicPr>
          <p:cNvPr id="8" name="Picture 7" descr="D09.png"/>
          <p:cNvPicPr>
            <a:picLocks noChangeAspect="1"/>
          </p:cNvPicPr>
          <p:nvPr/>
        </p:nvPicPr>
        <p:blipFill>
          <a:blip r:embed="rId4"/>
          <a:stretch>
            <a:fillRect/>
          </a:stretch>
        </p:blipFill>
        <p:spPr>
          <a:xfrm>
            <a:off x="4951673" y="2743200"/>
            <a:ext cx="308113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(drawio D09)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Ecuaciones DA-AFE: error ADC, conversión a códigos VDAC, PI, anti-windup, saturación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Error ADC → codes VDAC (conversión de escala). PI controlador. Deadband y anti-windup. Límites.</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35 | GEO</a:t>
            </a:r>
            <a:endParaRPr lang="en-US" sz="1000" dirty="0"/>
          </a:p>
        </p:txBody>
      </p:sp>
      <p:pic>
        <p:nvPicPr>
          <p:cNvPr id="6" name="Picture 5" descr="D10.png"/>
          <p:cNvPicPr>
            <a:picLocks noChangeAspect="1"/>
          </p:cNvPicPr>
          <p:nvPr/>
        </p:nvPicPr>
        <p:blipFill>
          <a:blip r:embed="rId3"/>
          <a:stretch>
            <a:fillRect/>
          </a:stretch>
        </p:blipFill>
        <p:spPr>
          <a:xfrm>
            <a:off x="4551543" y="868680"/>
            <a:ext cx="388139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(FSM captura)</a:t>
            </a:r>
          </a:p>
        </p:txBody>
      </p:sp>
      <p:pic>
        <p:nvPicPr>
          <p:cNvPr id="8" name="Picture 7" descr="fig10_f_senales_por_etapa.png"/>
          <p:cNvPicPr>
            <a:picLocks noChangeAspect="1"/>
          </p:cNvPicPr>
          <p:nvPr/>
        </p:nvPicPr>
        <p:blipFill>
          <a:blip r:embed="rId4"/>
          <a:stretch>
            <a:fillRect/>
          </a:stretch>
        </p:blipFill>
        <p:spPr>
          <a:xfrm>
            <a:off x="5592070" y="2743200"/>
            <a:ext cx="1800340"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(señales por etapa)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Resultado: offset residual se reduce significativamente (papel URUCON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LP residual: 2.9–45.8% FS → 0.4–3.9% FS en 8 configuraciones con UN único controlador.</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36 | GEO</a:t>
            </a:r>
            <a:endParaRPr lang="en-US" sz="1000" dirty="0"/>
          </a:p>
        </p:txBody>
      </p:sp>
      <p:pic>
        <p:nvPicPr>
          <p:cNvPr id="6" name="Picture 5" descr="s39_865328.png"/>
          <p:cNvPicPr>
            <a:picLocks noChangeAspect="1"/>
          </p:cNvPicPr>
          <p:nvPr/>
        </p:nvPicPr>
        <p:blipFill>
          <a:blip r:embed="rId3"/>
          <a:stretch>
            <a:fillRect/>
          </a:stretch>
        </p:blipFill>
        <p:spPr>
          <a:xfrm>
            <a:off x="5696829" y="868680"/>
            <a:ext cx="15908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(señales por etapa)</a:t>
            </a:r>
          </a:p>
        </p:txBody>
      </p:sp>
      <p:pic>
        <p:nvPicPr>
          <p:cNvPr id="8" name="Picture 7" descr="fig11_f_ruta_pga_adc.png"/>
          <p:cNvPicPr>
            <a:picLocks noChangeAspect="1"/>
          </p:cNvPicPr>
          <p:nvPr/>
        </p:nvPicPr>
        <p:blipFill>
          <a:blip r:embed="rId4"/>
          <a:stretch>
            <a:fillRect/>
          </a:stretch>
        </p:blipFill>
        <p:spPr>
          <a:xfrm>
            <a:off x="5460694" y="2743200"/>
            <a:ext cx="2063092"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(ruta PGA-ADC)</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Captura digital GEO: PSoC 5LP, ADC ΔΣ 18-bit, ~2604 Sa/s, DMA, DFB, almacenamiento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Once disparada, timing crítico en hardware/local. DMA mueve muestras sin CPU. DFB para filtrado embebido si necesario.</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37 | GEO</a:t>
            </a:r>
            <a:endParaRPr lang="en-US" sz="1000" dirty="0"/>
          </a:p>
        </p:txBody>
      </p:sp>
      <p:pic>
        <p:nvPicPr>
          <p:cNvPr id="6" name="Picture 5" descr="s40_a0c4b0.png"/>
          <p:cNvPicPr>
            <a:picLocks noChangeAspect="1"/>
          </p:cNvPicPr>
          <p:nvPr/>
        </p:nvPicPr>
        <p:blipFill>
          <a:blip r:embed="rId3"/>
          <a:stretch>
            <a:fillRect/>
          </a:stretch>
        </p:blipFill>
        <p:spPr>
          <a:xfrm>
            <a:off x="4743873" y="868680"/>
            <a:ext cx="34967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(hardware digital PSoC)</a:t>
            </a:r>
          </a:p>
        </p:txBody>
      </p:sp>
      <p:pic>
        <p:nvPicPr>
          <p:cNvPr id="8" name="Picture 7" descr="D13.png"/>
          <p:cNvPicPr>
            <a:picLocks noChangeAspect="1"/>
          </p:cNvPicPr>
          <p:nvPr/>
        </p:nvPicPr>
        <p:blipFill>
          <a:blip r:embed="rId4"/>
          <a:stretch>
            <a:fillRect/>
          </a:stretch>
        </p:blipFill>
        <p:spPr>
          <a:xfrm>
            <a:off x="4945426" y="2743200"/>
            <a:ext cx="3093628"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(drawio D13)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MASTER: coordinación ESP32 con sincronización preliminar y control de flujo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ESP-NOW broadcast para ARM y START. PRESTART para validación previa. Reloj local, captura asíncrona.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38 | MASTER</a:t>
            </a:r>
            <a:endParaRPr lang="en-US" sz="1000" dirty="0"/>
          </a:p>
        </p:txBody>
      </p:sp>
      <p:pic>
        <p:nvPicPr>
          <p:cNvPr id="6" name="Picture 5" descr="s41_f569d7.png"/>
          <p:cNvPicPr>
            <a:picLocks noChangeAspect="1"/>
          </p:cNvPicPr>
          <p:nvPr/>
        </p:nvPicPr>
        <p:blipFill>
          <a:blip r:embed="rId3"/>
          <a:stretch>
            <a:fillRect/>
          </a:stretch>
        </p:blipFill>
        <p:spPr>
          <a:xfrm>
            <a:off x="4780735" y="868680"/>
            <a:ext cx="3423009"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(secuencia START)</a:t>
            </a:r>
          </a:p>
        </p:txBody>
      </p:sp>
      <p:pic>
        <p:nvPicPr>
          <p:cNvPr id="8" name="Picture 7" descr="D05.png"/>
          <p:cNvPicPr>
            <a:picLocks noChangeAspect="1"/>
          </p:cNvPicPr>
          <p:nvPr/>
        </p:nvPicPr>
        <p:blipFill>
          <a:blip r:embed="rId4"/>
          <a:stretch>
            <a:fillRect/>
          </a:stretch>
        </p:blipFill>
        <p:spPr>
          <a:xfrm>
            <a:off x="4404832" y="2743200"/>
            <a:ext cx="4174815"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(drawio D05)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Sincronización y error de fase: Δt=400µs → Δφ~3° @ 20Hz, ~7° @ 50Hz</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Desembarco observado, no garantizado. Impacto en velocidad de fase y picking de dispersión.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39 | MASTER</a:t>
            </a:r>
            <a:endParaRPr lang="en-US" sz="1000" dirty="0"/>
          </a:p>
        </p:txBody>
      </p:sp>
      <p:pic>
        <p:nvPicPr>
          <p:cNvPr id="6" name="Picture 5" descr="sincronizacion_fase.png"/>
          <p:cNvPicPr>
            <a:picLocks noChangeAspect="1"/>
          </p:cNvPicPr>
          <p:nvPr/>
        </p:nvPicPr>
        <p:blipFill>
          <a:blip r:embed="rId3"/>
          <a:stretch>
            <a:fillRect/>
          </a:stretch>
        </p:blipFill>
        <p:spPr>
          <a:xfrm>
            <a:off x="4895623" y="868680"/>
            <a:ext cx="319323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(histórico, rehacer)</a:t>
            </a:r>
          </a:p>
        </p:txBody>
      </p:sp>
      <p:pic>
        <p:nvPicPr>
          <p:cNvPr id="8" name="Picture 7" descr="secuencia_start_multinodo.png"/>
          <p:cNvPicPr>
            <a:picLocks noChangeAspect="1"/>
          </p:cNvPicPr>
          <p:nvPr/>
        </p:nvPicPr>
        <p:blipFill>
          <a:blip r:embed="rId4"/>
          <a:stretch>
            <a:fillRect/>
          </a:stretch>
        </p:blipFill>
        <p:spPr>
          <a:xfrm>
            <a:off x="4404422" y="2743200"/>
            <a:ext cx="417563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HAMMER: PCB 086D20 sensor de fuerza piezoeléctrico, instante y forma de impacto</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Transductor ICP, amplificación local, cadena similar a GEO. Detecta rebote, aceptación/rechazo de captura.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40 | HAMMER</a:t>
            </a:r>
            <a:endParaRPr lang="en-US" sz="1000" dirty="0"/>
          </a:p>
        </p:txBody>
      </p:sp>
      <p:pic>
        <p:nvPicPr>
          <p:cNvPr id="6" name="Picture 5" descr="s43_68a402.png"/>
          <p:cNvPicPr>
            <a:picLocks noChangeAspect="1"/>
          </p:cNvPicPr>
          <p:nvPr/>
        </p:nvPicPr>
        <p:blipFill>
          <a:blip r:embed="rId3"/>
          <a:stretch>
            <a:fillRect/>
          </a:stretch>
        </p:blipFill>
        <p:spPr>
          <a:xfrm>
            <a:off x="5941297" y="868680"/>
            <a:ext cx="1101885"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Martillo PCB 086D20 (propio)</a:t>
            </a:r>
          </a:p>
        </p:txBody>
      </p:sp>
      <p:pic>
        <p:nvPicPr>
          <p:cNvPr id="8" name="Picture 7" descr="fig14_acondicionamiento_martillo_psoc.png"/>
          <p:cNvPicPr>
            <a:picLocks noChangeAspect="1"/>
          </p:cNvPicPr>
          <p:nvPr/>
        </p:nvPicPr>
        <p:blipFill>
          <a:blip r:embed="rId4"/>
          <a:stretch>
            <a:fillRect/>
          </a:stretch>
        </p:blipFill>
        <p:spPr>
          <a:xfrm>
            <a:off x="4356063" y="2743200"/>
            <a:ext cx="4272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Flujo de campo: configurar → calibrar → ARM → impacto → revisar → aceptar/repetir → mover</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Interfaz web: configuración, adquisición, revisión en vivo. Metadatos: posición, ganancia, estado calibración.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41 | Campo</a:t>
            </a:r>
            <a:endParaRPr lang="en-US" sz="1000" dirty="0"/>
          </a:p>
        </p:txBody>
      </p:sp>
      <p:pic>
        <p:nvPicPr>
          <p:cNvPr id="6" name="Picture 5" descr="fig15_i_web_maestro_claro.png"/>
          <p:cNvPicPr>
            <a:picLocks noChangeAspect="1"/>
          </p:cNvPicPr>
          <p:nvPr/>
        </p:nvPicPr>
        <p:blipFill>
          <a:blip r:embed="rId3"/>
          <a:stretch>
            <a:fillRect/>
          </a:stretch>
        </p:blipFill>
        <p:spPr>
          <a:xfrm>
            <a:off x="5054468" y="868680"/>
            <a:ext cx="2875543"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(web maestro)</a:t>
            </a:r>
          </a:p>
        </p:txBody>
      </p:sp>
      <p:pic>
        <p:nvPicPr>
          <p:cNvPr id="8" name="Picture 7" descr="s44_be8902.jpg"/>
          <p:cNvPicPr>
            <a:picLocks noChangeAspect="1"/>
          </p:cNvPicPr>
          <p:nvPr/>
        </p:nvPicPr>
        <p:blipFill>
          <a:blip r:embed="rId4"/>
          <a:stretch>
            <a:fillRect/>
          </a:stretch>
        </p:blipFill>
        <p:spPr>
          <a:xfrm>
            <a:off x="5054468" y="2743200"/>
            <a:ext cx="287554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(Geophone Scope)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Sincronización entre MASTER y esclavos: observación preliminar ~200–400 µs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GPIO timestamp, no equivalente a sincronización ADC-ADC. Limitación declarada, requiere mejora.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42 | Resultados</a:t>
            </a:r>
            <a:endParaRPr lang="en-US" sz="1000" dirty="0"/>
          </a:p>
        </p:txBody>
      </p:sp>
      <p:pic>
        <p:nvPicPr>
          <p:cNvPr id="6" name="Picture 5" descr="s43_8a29b0.png"/>
          <p:cNvPicPr>
            <a:picLocks noChangeAspect="1"/>
          </p:cNvPicPr>
          <p:nvPr/>
        </p:nvPicPr>
        <p:blipFill>
          <a:blip r:embed="rId3"/>
          <a:stretch>
            <a:fillRect/>
          </a:stretch>
        </p:blipFill>
        <p:spPr>
          <a:xfrm>
            <a:off x="4456486" y="868680"/>
            <a:ext cx="407150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(secuencia)</a:t>
            </a:r>
          </a:p>
        </p:txBody>
      </p:sp>
      <p:pic>
        <p:nvPicPr>
          <p:cNvPr id="8" name="Picture 7" descr="esp32.jpg"/>
          <p:cNvPicPr>
            <a:picLocks noChangeAspect="1"/>
          </p:cNvPicPr>
          <p:nvPr/>
        </p:nvPicPr>
        <p:blipFill>
          <a:blip r:embed="rId4"/>
          <a:stretch>
            <a:fillRect/>
          </a:stretch>
        </p:blipFill>
        <p:spPr>
          <a:xfrm>
            <a:off x="5885307" y="2743200"/>
            <a:ext cx="1213866"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ESP32, Wikimedia Commons, CC BY-SA 4.0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SNR aparente por banda: 1–5Hz:0.5dB, 5–10Hz:2.1dB, 10–20Hz:16.7dB, 20–50Hz:24.4dB</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Medianas sobre campañas de campo. Incluye fuente, acoplamiento, terreno, sensor, electrónica.</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43 | Resultados</a:t>
            </a:r>
            <a:endParaRPr lang="en-US" sz="1000" dirty="0"/>
          </a:p>
        </p:txBody>
      </p:sp>
      <p:pic>
        <p:nvPicPr>
          <p:cNvPr id="6" name="Picture 5" descr="s46_047827.png"/>
          <p:cNvPicPr>
            <a:picLocks noChangeAspect="1"/>
          </p:cNvPicPr>
          <p:nvPr/>
        </p:nvPicPr>
        <p:blipFill>
          <a:blip r:embed="rId3"/>
          <a:stretch>
            <a:fillRect/>
          </a:stretch>
        </p:blipFill>
        <p:spPr>
          <a:xfrm>
            <a:off x="4363688" y="868680"/>
            <a:ext cx="4257103" cy="3493008"/>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(SNR por banda)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Registro espacio-tiempo U(x,t): 21 posiciones, 10–50m, Δx=2m, alineadas, matriz construida</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Matriz fundamental: uz(x,t) con fase preservada. Entrada a análisis MASW (dispersión, inversión).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44 | Resultados</a:t>
            </a:r>
            <a:endParaRPr lang="en-US" sz="1000" dirty="0"/>
          </a:p>
        </p:txBody>
      </p:sp>
      <p:pic>
        <p:nvPicPr>
          <p:cNvPr id="6" name="Picture 5" descr="s47_25cc1c.png"/>
          <p:cNvPicPr>
            <a:picLocks noChangeAspect="1"/>
          </p:cNvPicPr>
          <p:nvPr/>
        </p:nvPicPr>
        <p:blipFill>
          <a:blip r:embed="rId3"/>
          <a:stretch>
            <a:fillRect/>
          </a:stretch>
        </p:blipFill>
        <p:spPr>
          <a:xfrm>
            <a:off x="5328952" y="868680"/>
            <a:ext cx="2326576"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(registro U(x,t))</a:t>
            </a:r>
          </a:p>
        </p:txBody>
      </p:sp>
      <p:pic>
        <p:nvPicPr>
          <p:cNvPr id="8" name="Picture 7" descr="fig19_waterfall_4s_v2.png"/>
          <p:cNvPicPr>
            <a:picLocks noChangeAspect="1"/>
          </p:cNvPicPr>
          <p:nvPr/>
        </p:nvPicPr>
        <p:blipFill>
          <a:blip r:embed="rId4"/>
          <a:stretch>
            <a:fillRect/>
          </a:stretch>
        </p:blipFill>
        <p:spPr>
          <a:xfrm>
            <a:off x="5028133" y="2743200"/>
            <a:ext cx="292821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(waterfall)</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Qué está demostrado en la Primera Presentación</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AFE funcional, DA-AFE, captura digital, arquitectura distribuida, HAMMER, flujo campo, U(x,t).</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45 | Roadmap</a:t>
            </a:r>
            <a:endParaRPr lang="en-US" sz="1000" dirty="0"/>
          </a:p>
        </p:txBody>
      </p:sp>
      <p:pic>
        <p:nvPicPr>
          <p:cNvPr id="6" name="Picture 5" descr="s50_154727.png"/>
          <p:cNvPicPr>
            <a:picLocks noChangeAspect="1"/>
          </p:cNvPicPr>
          <p:nvPr/>
        </p:nvPicPr>
        <p:blipFill>
          <a:blip r:embed="rId3"/>
          <a:stretch>
            <a:fillRect/>
          </a:stretch>
        </p:blipFill>
        <p:spPr>
          <a:xfrm>
            <a:off x="6029879" y="868680"/>
            <a:ext cx="924721"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(MASW)</a:t>
            </a:r>
          </a:p>
        </p:txBody>
      </p:sp>
      <p:pic>
        <p:nvPicPr>
          <p:cNvPr id="8" name="Picture 7" descr="s45_29830d.png"/>
          <p:cNvPicPr>
            <a:picLocks noChangeAspect="1"/>
          </p:cNvPicPr>
          <p:nvPr/>
        </p:nvPicPr>
        <p:blipFill>
          <a:blip r:embed="rId4"/>
          <a:stretch>
            <a:fillRect/>
          </a:stretch>
        </p:blipFill>
        <p:spPr>
          <a:xfrm>
            <a:off x="5162563" y="2743200"/>
            <a:ext cx="2659353" cy="1618488"/>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(adquisición real)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Qué falta para la presentación final (diciembre 2026)</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Calibración mecánica extremo a extremo, mejorar excitación LF, ADC-ADC sync, drift relojes, modos múltiples, inversión, Vs(z).</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46 | Roadmap</a:t>
            </a:r>
            <a:endParaRPr lang="en-US" sz="1000" dirty="0"/>
          </a:p>
        </p:txBody>
      </p:sp>
      <p:pic>
        <p:nvPicPr>
          <p:cNvPr id="6" name="Picture 5" descr="fuente_excitacion_actual.jpg"/>
          <p:cNvPicPr>
            <a:picLocks noChangeAspect="1"/>
          </p:cNvPicPr>
          <p:nvPr/>
        </p:nvPicPr>
        <p:blipFill>
          <a:blip r:embed="rId3"/>
          <a:stretch>
            <a:fillRect/>
          </a:stretch>
        </p:blipFill>
        <p:spPr>
          <a:xfrm>
            <a:off x="4215651" y="868680"/>
            <a:ext cx="4553178" cy="1618488"/>
          </a:xfrm>
          <a:prstGeom prst="rect">
            <a:avLst/>
          </a:prstGeom>
        </p:spPr>
      </p:pic>
      <p:sp>
        <p:nvSpPr>
          <p:cNvPr id="7" name="TextBox 6"/>
          <p:cNvSpPr txBox="1"/>
          <p:nvPr/>
        </p:nvSpPr>
        <p:spPr>
          <a:xfrm>
            <a:off x="4206240" y="2487168"/>
            <a:ext cx="4572000" cy="164592"/>
          </a:xfrm>
          <a:prstGeom prst="rect">
            <a:avLst/>
          </a:prstGeom>
          <a:noFill/>
        </p:spPr>
        <p:txBody>
          <a:bodyPr wrap="none" tIns="0" bIns="0">
            <a:spAutoFit/>
          </a:bodyPr>
          <a:lstStyle/>
          <a:p>
            <a:pPr algn="ctr"/>
            <a:r>
              <a:rPr sz="800" i="1">
                <a:solidFill>
                  <a:srgbClr val="808080"/>
                </a:solidFill>
              </a:rPr>
              <a:t>Placeholder · Propio (excitación actual)</a:t>
            </a:r>
          </a:p>
        </p:txBody>
      </p:sp>
      <p:pic>
        <p:nvPicPr>
          <p:cNvPr id="8" name="Picture 7" descr="01_senal_geo1_60s_impactos_aprox_1Hz.png"/>
          <p:cNvPicPr>
            <a:picLocks noChangeAspect="1"/>
          </p:cNvPicPr>
          <p:nvPr/>
        </p:nvPicPr>
        <p:blipFill>
          <a:blip r:embed="rId4"/>
          <a:stretch>
            <a:fillRect/>
          </a:stretch>
        </p:blipFill>
        <p:spPr>
          <a:xfrm>
            <a:off x="4206240" y="3074884"/>
            <a:ext cx="4572000" cy="955119"/>
          </a:xfrm>
          <a:prstGeom prst="rect">
            <a:avLst/>
          </a:prstGeom>
        </p:spPr>
      </p:pic>
      <p:sp>
        <p:nvSpPr>
          <p:cNvPr id="9" name="TextBox 8"/>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(impactos 1 Hz)</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E2761"/>
          </a:solidFill>
          <a:ln/>
        </p:spPr>
        <p:txBody>
          <a:bodyPr/>
          <a:lstStyle/>
          <a:p>
            <a:endParaRPr/>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Preguntas</a:t>
            </a:r>
            <a:endParaRPr lang="en-US" sz="2800" dirty="0"/>
          </a:p>
        </p:txBody>
      </p:sp>
      <p:sp>
        <p:nvSpPr>
          <p:cNvPr id="4" name="Text 2"/>
          <p:cNvSpPr/>
          <p:nvPr/>
        </p:nvSpPr>
        <p:spPr>
          <a:xfrm>
            <a:off x="457200" y="914400"/>
            <a:ext cx="3566160" cy="3474720"/>
          </a:xfrm>
          <a:prstGeom prst="rect">
            <a:avLst/>
          </a:prstGeom>
          <a:noFill/>
          <a:ln/>
        </p:spPr>
        <p:txBody>
          <a:bodyPr wrap="square" rtlCol="0" anchor="t"/>
          <a:lstStyle/>
          <a:p>
            <a:pPr marL="0" indent="0" algn="l">
              <a:buNone/>
            </a:pPr>
            <a:r>
              <a:rPr lang="en-US" sz="1000" dirty="0">
                <a:solidFill>
                  <a:srgbClr val="36454F"/>
                </a:solidFill>
                <a:latin typeface="Calibri" pitchFamily="34" charset="0"/>
                <a:ea typeface="Calibri" pitchFamily="34" charset="-122"/>
                <a:cs typeface="Calibri" pitchFamily="34" charset="-120"/>
              </a:rPr>
              <a:t>Espacio para comentarios, preguntas, discusión.</a:t>
            </a:r>
            <a:endParaRPr lang="en-US" sz="1800" dirty="0"/>
          </a:p>
        </p:txBody>
      </p:sp>
      <p:sp>
        <p:nvSpPr>
          <p:cNvPr id="5" name="Text 3"/>
          <p:cNvSpPr/>
          <p:nvPr/>
        </p:nvSpPr>
        <p:spPr>
          <a:xfrm>
            <a:off x="457200" y="4572000"/>
            <a:ext cx="8229600" cy="0"/>
          </a:xfrm>
          <a:prstGeom prst="rect">
            <a:avLst/>
          </a:prstGeom>
          <a:noFill/>
          <a:ln/>
        </p:spPr>
        <p:txBody>
          <a:bodyPr wrap="square" rtlCol="0" anchor="ctr"/>
          <a:lstStyle/>
          <a:p>
            <a:pPr marL="0" indent="0" algn="r">
              <a:buNone/>
            </a:pPr>
            <a:r>
              <a:rPr lang="en-US" sz="1000" dirty="0">
                <a:solidFill>
                  <a:srgbClr val="028090"/>
                </a:solidFill>
              </a:rPr>
              <a:t>Slide 47 | Cierre</a:t>
            </a:r>
            <a:endParaRPr lang="en-US" sz="1000" dirty="0"/>
          </a:p>
        </p:txBody>
      </p:sp>
      <p:pic>
        <p:nvPicPr>
          <p:cNvPr id="6" name="Picture 5" descr="D01.png"/>
          <p:cNvPicPr>
            <a:picLocks noChangeAspect="1"/>
          </p:cNvPicPr>
          <p:nvPr/>
        </p:nvPicPr>
        <p:blipFill>
          <a:blip r:embed="rId3"/>
          <a:stretch>
            <a:fillRect/>
          </a:stretch>
        </p:blipFill>
        <p:spPr>
          <a:xfrm>
            <a:off x="4206240" y="2181927"/>
            <a:ext cx="4572000" cy="866513"/>
          </a:xfrm>
          <a:prstGeom prst="rect">
            <a:avLst/>
          </a:prstGeom>
        </p:spPr>
      </p:pic>
      <p:sp>
        <p:nvSpPr>
          <p:cNvPr id="7" name="TextBox 6"/>
          <p:cNvSpPr txBox="1"/>
          <p:nvPr/>
        </p:nvSpPr>
        <p:spPr>
          <a:xfrm>
            <a:off x="4206240" y="4361688"/>
            <a:ext cx="4572000" cy="164592"/>
          </a:xfrm>
          <a:prstGeom prst="rect">
            <a:avLst/>
          </a:prstGeom>
          <a:noFill/>
        </p:spPr>
        <p:txBody>
          <a:bodyPr wrap="none" tIns="0" bIns="0">
            <a:spAutoFit/>
          </a:bodyPr>
          <a:lstStyle/>
          <a:p>
            <a:pPr algn="ctr"/>
            <a:r>
              <a:rPr sz="800" i="1">
                <a:solidFill>
                  <a:srgbClr val="808080"/>
                </a:solidFill>
              </a:rPr>
              <a:t>Placeholder · Propio (sistema completo, drawio D01)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Elastodinámica: ecuación de onda vectorial</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∇²u + (λ+2μ)/ρ ∇(∇·u) = ρ ∂²u/∂t²</a:t>
            </a:r>
            <a:br/>
            <a:br/>
            <a:r>
              <a:t>Separación en potenciales escalares (φ) y vectoriales (ψ):</a:t>
            </a:r>
            <a:br/>
            <a:r>
              <a:t>u = ∇φ + ∇×ψ</a:t>
            </a:r>
            <a:br/>
            <a:br/>
            <a:r>
              <a:t>Potencial φ propaga a velocidad Vp = √((λ+2μ)/ρ)</a:t>
            </a:r>
            <a:br/>
            <a:r>
              <a:t>Potencial ψ propaga a velocidad Vs = √(μ/ρ)</a:t>
            </a:r>
            <a:br/>
            <a:br/>
            <a:r>
              <a:t>Referencia: Achenbach (1973), Wave Propagation in Elastic Solids.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 | Auxiliar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Ecuación de Helmholtz y soluciones en multicapas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frecuencia (dominio ω):</a:t>
            </a:r>
            <a:br/>
            <a:r>
              <a:t>∇²u + k² u = 0, donde k = ω/v (número de onda)</a:t>
            </a:r>
            <a:br/>
            <a:br/>
            <a:r>
              <a:t>En capas horizontales, solución: u(x,z,t) = A e^(i(kx x + kz z - ωt))</a:t>
            </a:r>
            <a:br/>
            <a:r>
              <a:t>donde kx² + kz² = k²</a:t>
            </a:r>
            <a:br/>
            <a:br/>
            <a:r>
              <a:t>Condiciones de frontera: continuidad de tracción y desplazamiento.</a:t>
            </a:r>
            <a:br/>
            <a:r>
              <a:t>Ecuación característica (determinante de matriz de rigidez = 0) define</a:t>
            </a:r>
            <a:br/>
            <a:r>
              <a:t>relaciones de dispersión cR(ω) para cada modo.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 | Auxiliar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Relaciones elásticas: Lamé vs módulos ingenieriles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λ y μ (parámetros de Lamé):</a:t>
            </a:r>
            <a:br/>
            <a:r>
              <a:t>μ = G (módulo de corte)</a:t>
            </a:r>
            <a:br/>
            <a:r>
              <a:t>λ = E·ν / ((1+ν)(1-2ν))</a:t>
            </a:r>
            <a:br/>
            <a:br/>
            <a:r>
              <a:t>Relaciones útiles:</a:t>
            </a:r>
            <a:br/>
            <a:r>
              <a:t>Bulk modulus: K = λ + 2μ/3</a:t>
            </a:r>
            <a:br/>
            <a:r>
              <a:t>Poisson: ν = λ / (2(λ+μ))</a:t>
            </a:r>
            <a:br/>
            <a:r>
              <a:t>Young: E = μ(3λ + 2μ) / (λ+μ)</a:t>
            </a:r>
            <a:br/>
            <a:br/>
            <a:r>
              <a:t>Velocidades en función de E y ν:</a:t>
            </a:r>
            <a:br/>
            <a:r>
              <a:t>Vp = √(E(1-ν) / (ρ(1+ν)(1-2ν)))</a:t>
            </a:r>
            <a:br/>
            <a:r>
              <a:t>Vs = √(E / (2ρ(1+ν)))</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A3 | Auxiliar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Ley de Snell generalizada en medios estratificados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interfaz entre capas: θ₁·sin(i₁) = θ₂·sin(i₂) / Vp₁ / Vp₂</a:t>
            </a:r>
            <a:br/>
            <a:br/>
            <a:r>
              <a:t>Parámetro de rayo: p = sin(i) / V (invariante vertical)</a:t>
            </a:r>
            <a:br/>
            <a:br/>
            <a:r>
              <a:t>Conversión P↔SV en incidencia oblicua (&gt;crítica):</a:t>
            </a:r>
            <a:br/>
            <a:r>
              <a:t>- Onda P reflejada como P</a:t>
            </a:r>
            <a:br/>
            <a:r>
              <a:t>- Onda P reflejada/transmitida como SV</a:t>
            </a:r>
            <a:br/>
            <a:r>
              <a:t>- Amplitudes gobernadas por matriz Zoeppritz</a:t>
            </a:r>
            <a:br/>
            <a:br/>
            <a:r>
              <a:t>SH permanece desacoplada (caso 2D isótropo).</a:t>
            </a:r>
            <a:br/>
            <a:r>
              <a:t>Superficie libre (σ=0) genera soluciones ligadas: Love y Rayleigh.</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A4 | Auxiliar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Relación cR/Vs en función de Poisson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Aproximación de Viktorov (1967):</a:t>
            </a:r>
            <a:br/>
            <a:r>
              <a:t>cR / Vs ≈ f(ν)</a:t>
            </a:r>
            <a:br/>
            <a:br/>
            <a:r>
              <a:t>Valores típicos:</a:t>
            </a:r>
            <a:br/>
            <a:r>
              <a:t>ν=0.25 (arcilla típica) → cR ≈ 0.92 Vs</a:t>
            </a:r>
            <a:br/>
            <a:r>
              <a:t>ν=0.33 (lodos saturados) → cR ≈ 0.87 Vs</a:t>
            </a:r>
            <a:br/>
            <a:r>
              <a:t>ν→0.5 (incompresible) → cR → 0.707 Vs</a:t>
            </a:r>
            <a:br/>
            <a:br/>
            <a:r>
              <a:t>En la práctica, cR ≈ (0.87...0.97) Vs para suelos comunes.</a:t>
            </a:r>
            <a:br/>
            <a:r>
              <a:t>La dependencia de ν es débil; usar cR ≈ 0.92 Vs es aproximación segura.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A5 | Auxiliar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Modos de Rayleigh: kernels de sensibilidad</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Kernel de sensibilidad para modo fundamental (m=0):</a:t>
            </a:r>
            <a:br/>
            <a:r>
              <a:t>∂cR/∂Vs(z) ∝ [uz(z)]² / ∫[uz(z)]² dz</a:t>
            </a:r>
            <a:br/>
            <a:br/>
            <a:r>
              <a:t>Interpretación: energía cinética relativa en cada profundidad.</a:t>
            </a:r>
            <a:br/>
            <a:r>
              <a:t>Alta f → kernel concentrado cerca de z=0 (superficial).</a:t>
            </a:r>
            <a:br/>
            <a:r>
              <a:t>Baja f → kernel extendido a z mayor (profundo).</a:t>
            </a:r>
            <a:br/>
            <a:br/>
            <a:r>
              <a:t>Modos superiores: nodos en el desplazamiento vertical.</a:t>
            </a:r>
            <a:br/>
            <a:r>
              <a:t>Picking automático de modos: separación por velocidad de grupo.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A6 | Auxiliar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No-unicidad de la inversión: información complementaria</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Problema inverso: infinitos Vs(z) pueden reproducir cR(ω) medida.</a:t>
            </a:r>
            <a:br/>
            <a:r>
              <a:t>Razones: menor número de datos (f) vs parámetros (espesores + Vs).</a:t>
            </a:r>
            <a:br/>
            <a:br/>
            <a:r>
              <a:t>Restricciones que ayudan:</a:t>
            </a:r>
            <a:br/>
            <a:r>
              <a:t>- Correlaciones SPT → Vs</a:t>
            </a:r>
            <a:br/>
            <a:r>
              <a:t>- Información geológica (profundidad de contactos)</a:t>
            </a:r>
            <a:br/>
            <a:r>
              <a:t>- Suposiciones (número de capas, ν = cte)</a:t>
            </a:r>
            <a:br/>
            <a:r>
              <a:t>- Regularización (minimizar cambios abruptos)</a:t>
            </a:r>
            <a:br/>
            <a:br/>
            <a:r>
              <a:t>Conclusión: MASW es método de información, no determinístico.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A7 | Auxiliar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SASW (Spectral Analysis of Surface Waves): ambigüedad de fase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Método: dos geófonos separados Δx, medir fase relativa Δφ(f).</a:t>
            </a:r>
            <a:br/>
            <a:r>
              <a:t>Velocidad aparente: V_a = ω·Δx / Δφ = f·Δx / (Δφ/2π)</a:t>
            </a:r>
            <a:br/>
            <a:br/>
            <a:r>
              <a:t>Problema: Δφ se mide módulo 2π → ambigüedad de ciclos.</a:t>
            </a:r>
            <a:br/>
            <a:r>
              <a:t>Solución: repetir para múltiples Δx (nested arrays).</a:t>
            </a:r>
            <a:br/>
            <a:br/>
            <a:r>
              <a:t>Limitaciones:</a:t>
            </a:r>
            <a:br/>
            <a:r>
              <a:t>- Mayor sensibilidad a ruido (solo 2 canales)</a:t>
            </a:r>
            <a:br/>
            <a:r>
              <a:t>- Difícil separar modos superiores</a:t>
            </a:r>
            <a:br/>
            <a:r>
              <a:t>- Cobertura frecuencial limitada por apertura.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A8 | Auxiliar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MASW: imaging dispersión (f-k analysis)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Transformada 2D: Fourier(U(x,t)) → U(kx,ω)</a:t>
            </a:r>
            <a:br/>
            <a:r>
              <a:t>Resultado: plano f-k (frecuencia vs número de onda).</a:t>
            </a:r>
            <a:br/>
            <a:br/>
            <a:r>
              <a:t>Máximos de energía trazan dispersión cR(ω) = ω/kx.</a:t>
            </a:r>
            <a:br/>
            <a:r>
              <a:t>Ventajas sobre SASW:</a:t>
            </a:r>
            <a:br/>
            <a:r>
              <a:t>- Múltiples receptores → SNR mejorada</a:t>
            </a:r>
            <a:br/>
            <a:r>
              <a:t>- Separación de modos por patrón de energía</a:t>
            </a:r>
            <a:br/>
            <a:r>
              <a:t>- Redundancia espacial → robustez</a:t>
            </a:r>
            <a:br/>
            <a:br/>
            <a:r>
              <a:t>Desafíos: aliasing espacial y temporal si Δx ó fs inadecuados.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A9 | Auxiliar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Aliasing en MASW: límites espaciales y temporales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Aliasing espacial: Δx &gt; λmin/2 = V_max / (2·f_max)</a:t>
            </a:r>
            <a:br/>
            <a:r>
              <a:t>Ejemplo: V≈150 m/s, f_max=50 Hz → λ_min=3m → Δx&lt;1.5m.</a:t>
            </a:r>
            <a:br/>
            <a:br/>
            <a:r>
              <a:t>Aliasing temporal: Δt &gt; 1/(2·f_max) (Nyquist)</a:t>
            </a:r>
            <a:br/>
            <a:r>
              <a:t>Ejemplo: f_max=50 Hz → Δt&lt;10 ms → fs&gt;100 Hz.</a:t>
            </a:r>
            <a:br/>
            <a:br/>
            <a:r>
              <a:t>En la práctica: usar Δx=1-2m y fs&gt;200 Hz para seguridad.</a:t>
            </a:r>
            <a:br/>
            <a:r>
              <a:t>Trade-off: Δx pequeño → apertura corta → baja f accesible.</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A10 | Auxiliar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Modelo mecánico del SM-24: parámetros típicos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Geófono SM-24 (Sensor Nederland):</a:t>
            </a:r>
            <a:br/>
            <a:r>
              <a:t>- Frecuencia natural: fn = 10±0.5 Hz</a:t>
            </a:r>
            <a:br/>
            <a:r>
              <a:t>- Damping: ζ ≈ 0.37-0.45 (underdamped)</a:t>
            </a:r>
            <a:br/>
            <a:r>
              <a:t>- Sensibilidad: G0 ≈ 28.8 V·s/m</a:t>
            </a:r>
            <a:br/>
            <a:r>
              <a:t>- Rango de cero: ±1 cm desplazamiento</a:t>
            </a:r>
            <a:br/>
            <a:br/>
            <a:r>
              <a:t>Función de transferencia (aceleración):</a:t>
            </a:r>
            <a:br/>
            <a:r>
              <a:t>Ha(s) = G0·s² / (s² + 2ζωn·s + ωn²)</a:t>
            </a:r>
            <a:br/>
            <a:br/>
            <a:r>
              <a:t>Modelos comerciales similares: Mark Products L-4C, Guralp CMG-40T.</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A11 | Auxiliar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Extensión LF por carga/impedancia (método Pazos)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Principio: variar la impedancia mecánica del geófono.</a:t>
            </a:r>
            <a:br/>
            <a:r>
              <a:t>Implementación: añadir masa adicional sobre el diafragma.</a:t>
            </a:r>
            <a:br/>
            <a:br/>
            <a:r>
              <a:t>Efecto: desplaza fn hacia baja (ej. 10 Hz → 5 Hz).</a:t>
            </a:r>
            <a:br/>
            <a:r>
              <a:t>Ventaja: simple, pasivo, sin consumo.</a:t>
            </a:r>
            <a:br/>
            <a:br/>
            <a:r>
              <a:t>Limitación: extensión ~1 octava solamente.</a:t>
            </a:r>
            <a:br/>
            <a:r>
              <a:t>Para 10 Hz → 1 Hz requeriría masa x100 → impracticable.</a:t>
            </a:r>
            <a:br/>
            <a:br/>
            <a:r>
              <a:t>Conclusión: insuficiente para banda objetivo (10-50 Hz desde fn=10 Hz).</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A12 | Auxiliar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Cálculo de ganancia sub-resonante: aproximación simple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En banda f &lt;&lt; fn (ej. 1 Hz):</a:t>
            </a:r>
            <a:br/>
            <a:r>
              <a:t>|Ha(f)| ≈ G0·(f/fn)²</a:t>
            </a:r>
            <a:br/>
            <a:br/>
            <a:r>
              <a:t>Atenuación en dB:</a:t>
            </a:r>
            <a:br/>
            <a:r>
              <a:t>L(dB) = 20·log10(|Ha(f)| / |Ha(f_ref)|)</a:t>
            </a:r>
            <a:br/>
            <a:r>
              <a:t>     = 20·log10((f/f_ref)²)</a:t>
            </a:r>
            <a:br/>
            <a:r>
              <a:t>     = 40·log10(f/f_ref)</a:t>
            </a:r>
            <a:br/>
            <a:br/>
            <a:r>
              <a:t>Ejemplo: a 1 Hz vs 10 Hz:</a:t>
            </a:r>
            <a:br/>
            <a:r>
              <a:t>L = 40·log10(1/10) = -40 dB</a:t>
            </a:r>
            <a:br/>
            <a:br/>
            <a:r>
              <a:t>Para recuperar, amplificación Adc≈ +40 dB → 100× ganancia.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A13 | Auxiliar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Comparativa de métodos LF: pros/contras resumidos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1. Directo+ganancia: Simple, pero rango dinámico insuficiente.</a:t>
            </a:r>
            <a:br/>
            <a:r>
              <a:t>2. Carga/impedancia: +10 dB, sigue siendo insuficiente.</a:t>
            </a:r>
            <a:br/>
            <a:r>
              <a:t>3. Zero-pole (Hakimitoroghi): +30 dB, pero DC-divergent, offset amplificado.</a:t>
            </a:r>
            <a:br/>
            <a:r>
              <a:t>4. Force-balance: +40 dB, activo, complicado, riesgo inestabilidad.</a:t>
            </a:r>
            <a:br/>
            <a:r>
              <a:t>5. Ma et al. (elegido): Atenúa banda dominante, recupera globalmente.</a:t>
            </a:r>
            <a:br/>
            <a:r>
              <a:t>   Ventajas: lineal, tolerancia a componentes, software-controlado.</a:t>
            </a:r>
            <a:br/>
            <a:r>
              <a:t>   Limitación: sigue requiriendo ganancia → DA-AFE necesario.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A14 | Auxiliar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Ma et al.: arquitectura AFE con compensación LF</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Cadena:</a:t>
            </a:r>
            <a:br/>
            <a:r>
              <a:t>Geófono → PGA (x1-100) → [Directo] ─┐</a:t>
            </a:r>
            <a:br/>
            <a:r>
              <a:t>                        → [BP inversor] ─ Sumador → LP (100 Hz) → ADC</a:t>
            </a:r>
            <a:br/>
            <a:br/>
            <a:r>
              <a:t>Rama directa: pasa todo el espectro.</a:t>
            </a:r>
            <a:br/>
            <a:r>
              <a:t>Rama BP inversor: f0≈10 Hz, Q≈0.7, ganancia ~-1.</a:t>
            </a:r>
            <a:br/>
            <a:r>
              <a:t>Resta: Directo - BP → atenuación en banda dominante.</a:t>
            </a:r>
            <a:br/>
            <a:r>
              <a:t>Resultado global: "cuenco" de atenuación alrededor de fn.</a:t>
            </a:r>
            <a:br/>
            <a:r>
              <a:t>Ganancia posterior (PGA) recupera nivel global sin amplificar offset DC.</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A15 | Auxiliar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Esquemático AFE: componentes OPA2333 y filtros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PGA: OPA2333 en configuración no-inversora.</a:t>
            </a:r>
            <a:br/>
            <a:r>
              <a:t>Ganancia: G = 1 + R1/R2, R1/R2 digital (DAC).</a:t>
            </a:r>
            <a:br/>
            <a:r>
              <a:t>Entrada diferencial via instrumentación amplifier.</a:t>
            </a:r>
            <a:br/>
            <a:br/>
            <a:r>
              <a:t>Rama BP: OPA2333 + capacitores C1, C2.</a:t>
            </a:r>
            <a:br/>
            <a:r>
              <a:t>f0 = 1/(2π√(L·C)), L ≈ 50 mH, C ≈ 200 nF → f0 ≈ 10 Hz.</a:t>
            </a:r>
            <a:br/>
            <a:br/>
            <a:r>
              <a:t>LP Sallen-Key: OPA2333 + R=10k, C=100nF → fc≈100 Hz.</a:t>
            </a:r>
            <a:br/>
            <a:r>
              <a:t>ADC PSoC 18-bit ΔΣ mide salida LP.</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A16 | Auxiliar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Barridos de respuesta en frecuencia: medición vs modelo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Procedimiento:</a:t>
            </a:r>
            <a:br/>
            <a:r>
              <a:t>1. Inyectar seno de amplitud conocida (ej. 1V @ 0.5 Hz, 1 Hz, ..., 100 Hz)</a:t>
            </a:r>
            <a:br/>
            <a:r>
              <a:t>2. Medir amplitud y fase de salida (FFT)</a:t>
            </a:r>
            <a:br/>
            <a:r>
              <a:t>3. Normalizar por entrada → función de transferencia</a:t>
            </a:r>
            <a:br/>
            <a:r>
              <a:t>4. Comparar contra modelo de cascada (SM-24 + AFE)</a:t>
            </a:r>
            <a:br/>
            <a:br/>
            <a:r>
              <a:t>Resultado: gráficos de Bode (magnitud y fase).</a:t>
            </a:r>
            <a:br/>
            <a:r>
              <a:t>Tolerancias: resistores ±1%, capacitores ±5% → banda de error ±10%.</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A17 | Auxiliar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Cuantización ADC y VDAC: ruido y resolución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ADC PSoC 18-bit:</a:t>
            </a:r>
            <a:br/>
            <a:r>
              <a:t>Rango: ±Vref (típico ±2.048 V)</a:t>
            </a:r>
            <a:br/>
            <a:r>
              <a:t>LSB = 2×Vref / 2^18 ≈ 15.6 μV</a:t>
            </a:r>
            <a:br/>
            <a:r>
              <a:t>Ruido cuantización: σ ≈ LSB/√12 ≈ 4.5 μV (RMS)</a:t>
            </a:r>
            <a:br/>
            <a:br/>
            <a:r>
              <a:t>VDAC 8-bit (para offset):</a:t>
            </a:r>
            <a:br/>
            <a:r>
              <a:t>Rango: 0-Vref</a:t>
            </a:r>
            <a:br/>
            <a:r>
              <a:t>LSB = Vref / 256 ≈ 8 mV (típico)</a:t>
            </a:r>
            <a:br/>
            <a:r>
              <a:t>Resolución: ~50 mV / 6 códigos → granularidad 8 mV</a:t>
            </a:r>
            <a:br/>
            <a:br/>
            <a:r>
              <a:t>DA-AFE requiere sincronización temporal entre lectura y actualización.</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A18 | Auxiliar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PI controlador: deadband y anti-windup en DA-AFE</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Ecuación discreta:</a:t>
            </a:r>
            <a:br/>
            <a:r>
              <a:t>code[n] = code[n-1] + Kp·e[n] + Ki·Σe[i]</a:t>
            </a:r>
            <a:br/>
            <a:br/>
            <a:r>
              <a:t>Deadband: si |e[n]| &lt; umbral (ej. 1 LSB VDAC), no actualizar.</a:t>
            </a:r>
            <a:br/>
            <a:r>
              <a:t>Propósito: evitar oscilación alrededor del cero.</a:t>
            </a:r>
            <a:br/>
            <a:br/>
            <a:r>
              <a:t>Anti-windup: saturar integrador si code está en riel (0 ó 255).</a:t>
            </a:r>
            <a:br/>
            <a:r>
              <a:t>Sin esto: integrador "enrolla" y tarda en recuperarse.</a:t>
            </a:r>
            <a:br/>
            <a:br/>
            <a:r>
              <a:t>Parámetros típicos: Kp=0.1, Ki=0.05, deadband=1 código.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A19 | Auxiliar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Parámetros finales DA-AFE: tabla de resultados URUCON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Tabla 5 (tesis): offset residual por etapa y configuración PGA.</a:t>
            </a:r>
            <a:br/>
            <a:r>
              <a:t>Ejemplo: PGA=x50</a:t>
            </a:r>
            <a:br/>
            <a:r>
              <a:t>  PGA residual: 2.1±0.3 mV → 0.4%FS</a:t>
            </a:r>
            <a:br/>
            <a:r>
              <a:t>  BP residual: 3.2±0.3 mV → 0.6%FS</a:t>
            </a:r>
            <a:br/>
            <a:r>
              <a:t>  SUM residual: 1.4±1.5 mV → 0.3%FS</a:t>
            </a:r>
            <a:br/>
            <a:r>
              <a:t>  LP residual: 0.4±0.1 mV → 0.08%FS</a:t>
            </a:r>
            <a:br/>
            <a:br/>
            <a:r>
              <a:t>Convergencia: ~1.5-2 segundos por etapa.</a:t>
            </a:r>
            <a:br/>
            <a:r>
              <a:t>Robustez: UN controlador Kp/Ki funciona para todas las configuraciones.</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A20 | Auxiliar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SignalController PSoC: timestamp y determinismo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Componente PSoC que proporciona:</a:t>
            </a:r>
            <a:br/>
            <a:r>
              <a:t>- Contador de ciclos de reloj (timestamp preciso).</a:t>
            </a:r>
            <a:br/>
            <a:r>
              <a:t>- Trigger externo (GPIO del MASTER para sincronización).</a:t>
            </a:r>
            <a:br/>
            <a:r>
              <a:t>- Selección de evento (fin de conversión ADC).</a:t>
            </a:r>
            <a:br/>
            <a:br/>
            <a:r>
              <a:t>Flujo: MASTER envía START → GPIO → SignalController registra t0 → ADC inicia.</a:t>
            </a:r>
            <a:br/>
            <a:r>
              <a:t>Timing: latencia ~2-10 us (típico).</a:t>
            </a:r>
            <a:br/>
            <a:br/>
            <a:r>
              <a:t>DMA: transfiere muestras sin CPU → determinismo garantizado.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A21 | Auxiliar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Error de reloj local: deriva y drift</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Reloj PSoC: oscilador interno ±2% (típico).</a:t>
            </a:r>
            <a:br/>
            <a:r>
              <a:t>Reloj ESP32: RTC crystal ±10 ppm en rango 0-40°C.</a:t>
            </a:r>
            <a:br/>
            <a:br/>
            <a:r>
              <a:t>Deriva lineal: Δt = 0.0001·t (en 1000 s, error ~0.1 s).</a:t>
            </a:r>
            <a:br/>
            <a:r>
              <a:t>Deriva cuadrática (absorción dieléctrica): más lenta pero presente.</a:t>
            </a:r>
            <a:br/>
            <a:br/>
            <a:r>
              <a:t>Medición: captura GPIO timestamps, comparar con GPS/NTP.</a:t>
            </a:r>
            <a:br/>
            <a:r>
              <a:t>Resultado observado en tesis: τ_drift ≈ 29.5 s (constante de tiempo).</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A22 | Auxiliar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Error de fase: cuantificación de retardo temporal</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Relación: Δφ(f) = 360° × f × Δt (en grados)</a:t>
            </a:r>
            <a:br/>
            <a:br/>
            <a:r>
              <a:t>Ejemplo: Δt = 400 μs</a:t>
            </a:r>
            <a:br/>
            <a:r>
              <a:t>  @ 20 Hz: Δφ = 360° × 20 × 0.0004 = 2.88° ≈ 3°</a:t>
            </a:r>
            <a:br/>
            <a:r>
              <a:t>  @ 50 Hz: Δφ = 360° × 50 × 0.0004 = 7.2° ≈ 7°</a:t>
            </a:r>
            <a:br/>
            <a:br/>
            <a:r>
              <a:t>Impacto en MASW:</a:t>
            </a:r>
            <a:br/>
            <a:r>
              <a:t>- Picking de fase: error ±3-7° es tolerable (picking error típico ±5°)</a:t>
            </a:r>
            <a:br/>
            <a:r>
              <a:t>- Velocidad de grupo: δV/V ≈ Δφ/360° × (V_g/V_p) ≈ 0.5-1%</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A23 | Auxiliar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HAMMER (PCB 086D20): cadena analógica y detección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Sensor: piezoeléctrico ICP (4-20 mA alimentación por corriente).</a:t>
            </a:r>
            <a:br/>
            <a:r>
              <a:t>Salida: ±5V (rango típico).</a:t>
            </a:r>
            <a:br/>
            <a:br/>
            <a:r>
              <a:t>Cadena: ICP → desacople/protección → PGA → LP → ADC PSoC.</a:t>
            </a:r>
            <a:br/>
            <a:r>
              <a:t>Diferencia vs GEO: NO compensación LF (banda ancha, no extensión).</a:t>
            </a:r>
            <a:br/>
            <a:br/>
            <a:r>
              <a:t>Detección: threshold en amplitud o en derivada (dV/dt).</a:t>
            </a:r>
            <a:br/>
            <a:r>
              <a:t>Rebote: múltiples picos → filtrado por timing.</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A24 | Auxiliar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SNR aparente: cálculo en ventanas pre/post-impacto</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Método:</a:t>
            </a:r>
            <a:br/>
            <a:r>
              <a:t>1. Ventana pre-impacto: t ∈ [-1s, 0s] (ruido solo)</a:t>
            </a:r>
            <a:br/>
            <a:r>
              <a:t>2. Ventana post-impacto: t ∈ [0s, 1s] (señal + ruido)</a:t>
            </a:r>
            <a:br/>
            <a:r>
              <a:t>3. PSD(f) por Welch (ventanas Hann, 50% overlap)</a:t>
            </a:r>
            <a:br/>
            <a:r>
              <a:t>4. SNR(f) = P_post(f) / P_pre(f)</a:t>
            </a:r>
            <a:br/>
            <a:r>
              <a:t>5. Convertir a dB: SNR_dB = 10·log10(SNR)</a:t>
            </a:r>
            <a:br/>
            <a:br/>
            <a:r>
              <a:t>Resultado: medianas 0.5 dB (1-5 Hz), 16.7 dB (10-20 Hz), 24.4 dB (20-50 Hz).</a:t>
            </a:r>
            <a:br/>
            <a:r>
              <a:t>Nota: incluye todosComponentes (fuente, acoplamiento, terreno, sensor, electrónica).</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A25 | Auxiliar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BOM y costo por nodo: componentes principales</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Presupuesto aproximado por GEO:</a:t>
            </a:r>
            <a:br/>
            <a:r>
              <a:t>- SM-24 sensor: ~$80</a:t>
            </a:r>
            <a:br/>
            <a:r>
              <a:t>- PSoC5 + programación: ~$20</a:t>
            </a:r>
            <a:br/>
            <a:r>
              <a:t>- ESP32: ~$10</a:t>
            </a:r>
            <a:br/>
            <a:r>
              <a:t>- AFE (OPA, resistores, capacitores): ~$5</a:t>
            </a:r>
            <a:br/>
            <a:r>
              <a:t>- SD card + conectores: ~$10</a:t>
            </a:r>
            <a:br/>
            <a:r>
              <a:t>- PCB + soldadura: ~$15</a:t>
            </a:r>
            <a:br/>
            <a:r>
              <a:t>Total GEO: ~$140</a:t>
            </a:r>
            <a:br/>
            <a:br/>
            <a:r>
              <a:t>HAMMER similar (~$150).</a:t>
            </a:r>
            <a:br/>
            <a:r>
              <a:t>MASTER (ESP32 solo): ~$15.</a:t>
            </a:r>
            <a:br/>
            <a:r>
              <a:t>Sistema 3 nodos: ~$450.</a:t>
            </a:r>
            <a:br/>
            <a:br/>
            <a:r>
              <a:t>Comparación: sismógrafo comercial (Guralp CMG-40T): ~$15,000.</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A26 | Auxiliar</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Metadatos y trazabilidad: registro en JSON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Archivo metadata.json por captura:</a:t>
            </a:r>
            <a:br/>
            <a:r>
              <a:t>{</a:t>
            </a:r>
            <a:br/>
            <a:r>
              <a:t>  'node_id': 'GEO_1',</a:t>
            </a:r>
            <a:br/>
            <a:r>
              <a:t>  'position_m': 24.0,</a:t>
            </a:r>
            <a:br/>
            <a:r>
              <a:t>  'timestamp': '2026-09-15T14:32:00Z',</a:t>
            </a:r>
            <a:br/>
            <a:r>
              <a:t>  'pga_gain': 50,</a:t>
            </a:r>
            <a:br/>
            <a:r>
              <a:t>  'adc_range': '±2.048V',</a:t>
            </a:r>
            <a:br/>
            <a:r>
              <a:t>  'calibration_status': 'PASS',</a:t>
            </a:r>
            <a:br/>
            <a:r>
              <a:t>  'fs': 2604,</a:t>
            </a:r>
            <a:br/>
            <a:r>
              <a:t>  'n_samples': 65536,</a:t>
            </a:r>
            <a:br/>
            <a:r>
              <a:t>  'crc32': 'abc123def456'</a:t>
            </a:r>
            <a:br/>
            <a:r>
              <a:t>}</a:t>
            </a:r>
            <a:br/>
            <a:br/>
            <a:r>
              <a:t>Propósito: reproducibilidad, auditoría, detección de errores post-hoc.</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A27 | Auxiliar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E2761"/>
          </a:solidFill>
          <a:ln>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8229600" cy="457200"/>
          </a:xfrm>
          <a:prstGeom prst="rect">
            <a:avLst/>
          </a:prstGeom>
          <a:noFill/>
        </p:spPr>
        <p:txBody>
          <a:bodyPr wrap="none">
            <a:spAutoFit/>
          </a:bodyPr>
          <a:lstStyle/>
          <a:p>
            <a:pPr>
              <a:defRPr sz="2800" b="1">
                <a:solidFill>
                  <a:srgbClr val="FFFFFF"/>
                </a:solidFill>
              </a:defRPr>
            </a:pPr>
            <a:r>
              <a:t>Referencias principales de la presentación</a:t>
            </a:r>
          </a:p>
        </p:txBody>
      </p:sp>
      <p:sp>
        <p:nvSpPr>
          <p:cNvPr id="4" name="TextBox 3"/>
          <p:cNvSpPr txBox="1"/>
          <p:nvPr/>
        </p:nvSpPr>
        <p:spPr>
          <a:xfrm>
            <a:off x="457200" y="914400"/>
            <a:ext cx="8229600" cy="3657600"/>
          </a:xfrm>
          <a:prstGeom prst="rect">
            <a:avLst/>
          </a:prstGeom>
          <a:noFill/>
        </p:spPr>
        <p:txBody>
          <a:bodyPr wrap="square">
            <a:spAutoFit/>
          </a:bodyPr>
          <a:lstStyle/>
          <a:p>
            <a:pPr>
              <a:defRPr sz="1400">
                <a:solidFill>
                  <a:srgbClr val="36454F"/>
                </a:solidFill>
              </a:defRPr>
            </a:pPr>
            <a:r>
              <a:t>Teoría de ondas superficiales:</a:t>
            </a:r>
            <a:br/>
            <a:r>
              <a:t>- Foti et al. (2014). Surface Wave Methods for Near-Surface Site Characterization.</a:t>
            </a:r>
            <a:br/>
            <a:r>
              <a:t>- Park et al. (1998, 1999). MASW imaging and inversion.</a:t>
            </a:r>
            <a:br/>
            <a:br/>
            <a:r>
              <a:t>MASW sintetizado:</a:t>
            </a:r>
            <a:br/>
            <a:r>
              <a:t>- Lin &amp; Ashlock (2016). Surface-wave testing using multichannel simulation with one receiver.</a:t>
            </a:r>
            <a:br/>
            <a:br/>
            <a:r>
              <a:t>Compensación LF:</a:t>
            </a:r>
            <a:br/>
            <a:r>
              <a:t>- Ma et al. (2023). An effective method for improving low-frequency response of geophone.</a:t>
            </a:r>
            <a:br/>
            <a:br/>
            <a:r>
              <a:t>Proyecto actual:</a:t>
            </a:r>
            <a:br/>
            <a:r>
              <a:t>- Álvarez, González &amp; Vargas Cabral (2026). Digitally Assisted Analog Front-End for Geophone Instrumentation. (URUCON 2026)</a:t>
            </a:r>
          </a:p>
        </p:txBody>
      </p:sp>
      <p:sp>
        <p:nvSpPr>
          <p:cNvPr id="5" name="TextBox 4"/>
          <p:cNvSpPr txBox="1"/>
          <p:nvPr/>
        </p:nvSpPr>
        <p:spPr>
          <a:xfrm>
            <a:off x="457200" y="4572000"/>
            <a:ext cx="8229600" cy="365760"/>
          </a:xfrm>
          <a:prstGeom prst="rect">
            <a:avLst/>
          </a:prstGeom>
          <a:noFill/>
        </p:spPr>
        <p:txBody>
          <a:bodyPr wrap="none">
            <a:spAutoFit/>
          </a:bodyPr>
          <a:lstStyle/>
          <a:p>
            <a:pPr algn="r">
              <a:defRPr sz="1000">
                <a:solidFill>
                  <a:srgbClr val="028090"/>
                </a:solidFill>
              </a:defRPr>
            </a:pPr>
            <a:r>
              <a:t>Slide A28 | Auxiliar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9204</Words>
  <Application>Microsoft Office PowerPoint</Application>
  <PresentationFormat>On-screen Show (16:9)</PresentationFormat>
  <Paragraphs>416</Paragraphs>
  <Slides>75</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Elias Alvarez</cp:lastModifiedBy>
  <cp:revision>2</cp:revision>
  <dcterms:created xsi:type="dcterms:W3CDTF">2026-10-04T20:56:40Z</dcterms:created>
  <dcterms:modified xsi:type="dcterms:W3CDTF">2026-10-05T17:26:06Z</dcterms:modified>
</cp:coreProperties>
</file>