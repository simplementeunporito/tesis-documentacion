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b90d0d39de4045" /><Relationship Type="http://schemas.openxmlformats.org/officeDocument/2006/relationships/extended-properties" Target="/docProps/app.xml" Id="Ree1dff45936f4de2" /><Relationship Type="http://schemas.openxmlformats.org/officeDocument/2006/relationships/officeDocument" Target="/ppt/presentation.xml" Id="R42df089f2f1e47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361abee6d04eb6"/>
  </p:sldMasterIdLst>
  <p:notesMasterIdLst>
    <p:notesMasterId xmlns:r="http://schemas.openxmlformats.org/officeDocument/2006/relationships" r:id="Re64bfc3ef80b481d"/>
  </p:notesMasterIdLst>
  <p:sldIdLst>
    <p:sldId xmlns:r="http://schemas.openxmlformats.org/officeDocument/2006/relationships" id="256" r:id="R212b59753c3c4bd1"/>
    <p:sldId xmlns:r="http://schemas.openxmlformats.org/officeDocument/2006/relationships" id="257" r:id="R34a4a8b0ebcd463f"/>
    <p:sldId xmlns:r="http://schemas.openxmlformats.org/officeDocument/2006/relationships" id="258" r:id="R8e68dcb089f94ff5"/>
    <p:sldId xmlns:r="http://schemas.openxmlformats.org/officeDocument/2006/relationships" id="259" r:id="Rf6743917a1fc49a1"/>
    <p:sldId xmlns:r="http://schemas.openxmlformats.org/officeDocument/2006/relationships" id="260" r:id="R0022ee06cfc64fd9"/>
    <p:sldId xmlns:r="http://schemas.openxmlformats.org/officeDocument/2006/relationships" id="261" r:id="R03a5af79aaee4ed8"/>
    <p:sldId xmlns:r="http://schemas.openxmlformats.org/officeDocument/2006/relationships" id="262" r:id="R9c80968d80b74513"/>
    <p:sldId xmlns:r="http://schemas.openxmlformats.org/officeDocument/2006/relationships" id="263" r:id="Re00d8f3ecc844fcb"/>
    <p:sldId xmlns:r="http://schemas.openxmlformats.org/officeDocument/2006/relationships" id="264" r:id="Rb54fd606f1eb4f10"/>
    <p:sldId xmlns:r="http://schemas.openxmlformats.org/officeDocument/2006/relationships" id="265" r:id="Rba76595b6cca45ae"/>
    <p:sldId xmlns:r="http://schemas.openxmlformats.org/officeDocument/2006/relationships" id="266" r:id="Re02c7dc4b7f941a2"/>
    <p:sldId xmlns:r="http://schemas.openxmlformats.org/officeDocument/2006/relationships" id="267" r:id="R91c9ac72abb44c9e"/>
    <p:sldId xmlns:r="http://schemas.openxmlformats.org/officeDocument/2006/relationships" id="268" r:id="R906a8d5e00d047ff"/>
    <p:sldId xmlns:r="http://schemas.openxmlformats.org/officeDocument/2006/relationships" id="269" r:id="R7db116be45d54e92"/>
    <p:sldId xmlns:r="http://schemas.openxmlformats.org/officeDocument/2006/relationships" id="270" r:id="Redccd4f03e864e26"/>
    <p:sldId xmlns:r="http://schemas.openxmlformats.org/officeDocument/2006/relationships" id="271" r:id="R991b844be4964bac"/>
    <p:sldId xmlns:r="http://schemas.openxmlformats.org/officeDocument/2006/relationships" id="272" r:id="Re0fe31a0f3ba4ded"/>
    <p:sldId xmlns:r="http://schemas.openxmlformats.org/officeDocument/2006/relationships" id="273" r:id="Rf2feaca4b71b4ae5"/>
    <p:sldId xmlns:r="http://schemas.openxmlformats.org/officeDocument/2006/relationships" id="274" r:id="R5945b021afd64bb8"/>
    <p:sldId xmlns:r="http://schemas.openxmlformats.org/officeDocument/2006/relationships" id="275" r:id="R8a866a05857546a5"/>
    <p:sldId xmlns:r="http://schemas.openxmlformats.org/officeDocument/2006/relationships" id="276" r:id="R3891ef1016df43ce"/>
    <p:sldId xmlns:r="http://schemas.openxmlformats.org/officeDocument/2006/relationships" id="277" r:id="Rfac58d60cd704e4d"/>
    <p:sldId xmlns:r="http://schemas.openxmlformats.org/officeDocument/2006/relationships" id="278" r:id="R5c90dc53af584c85"/>
    <p:sldId xmlns:r="http://schemas.openxmlformats.org/officeDocument/2006/relationships" id="279" r:id="Rd55ff96fadf54f6b"/>
    <p:sldId xmlns:r="http://schemas.openxmlformats.org/officeDocument/2006/relationships" id="280" r:id="R7969fdc531d94b16"/>
    <p:sldId xmlns:r="http://schemas.openxmlformats.org/officeDocument/2006/relationships" id="281" r:id="R19cd0ea3557d460f"/>
    <p:sldId xmlns:r="http://schemas.openxmlformats.org/officeDocument/2006/relationships" id="282" r:id="R139fbf7c26de4afe"/>
    <p:sldId xmlns:r="http://schemas.openxmlformats.org/officeDocument/2006/relationships" id="283" r:id="R35a036c5419d42e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9aafbefae54f7c" /><Relationship Type="http://schemas.openxmlformats.org/officeDocument/2006/relationships/slideMaster" Target="/ppt/slideMasters/slideMaster1.xml" Id="R61361abee6d04eb6" /><Relationship Type="http://schemas.openxmlformats.org/officeDocument/2006/relationships/notesMaster" Target="/ppt/notesMasters/notesMaster1.xml" Id="Re64bfc3ef80b481d" /><Relationship Type="http://schemas.openxmlformats.org/officeDocument/2006/relationships/presProps" Target="/ppt/presProps.xml" Id="R0bbdb3cc294b4467" /><Relationship Type="http://schemas.openxmlformats.org/officeDocument/2006/relationships/tableStyles" Target="/ppt/tableStyles.xml" Id="Rad52e98d6d314c10" /><Relationship Type="http://schemas.openxmlformats.org/officeDocument/2006/relationships/slide" Target="/ppt/slides/slide1.xml" Id="R212b59753c3c4bd1" /><Relationship Type="http://schemas.openxmlformats.org/officeDocument/2006/relationships/slide" Target="/ppt/slides/slide2.xml" Id="R34a4a8b0ebcd463f" /><Relationship Type="http://schemas.openxmlformats.org/officeDocument/2006/relationships/slide" Target="/ppt/slides/slide3.xml" Id="R8e68dcb089f94ff5" /><Relationship Type="http://schemas.openxmlformats.org/officeDocument/2006/relationships/slide" Target="/ppt/slides/slide4.xml" Id="Rf6743917a1fc49a1" /><Relationship Type="http://schemas.openxmlformats.org/officeDocument/2006/relationships/slide" Target="/ppt/slides/slide5.xml" Id="R0022ee06cfc64fd9" /><Relationship Type="http://schemas.openxmlformats.org/officeDocument/2006/relationships/slide" Target="/ppt/slides/slide6.xml" Id="R03a5af79aaee4ed8" /><Relationship Type="http://schemas.openxmlformats.org/officeDocument/2006/relationships/slide" Target="/ppt/slides/slide7.xml" Id="R9c80968d80b74513" /><Relationship Type="http://schemas.openxmlformats.org/officeDocument/2006/relationships/slide" Target="/ppt/slides/slide8.xml" Id="Re00d8f3ecc844fcb" /><Relationship Type="http://schemas.openxmlformats.org/officeDocument/2006/relationships/slide" Target="/ppt/slides/slide9.xml" Id="Rb54fd606f1eb4f10" /><Relationship Type="http://schemas.openxmlformats.org/officeDocument/2006/relationships/slide" Target="/ppt/slides/slide10.xml" Id="Rba76595b6cca45ae" /><Relationship Type="http://schemas.openxmlformats.org/officeDocument/2006/relationships/slide" Target="/ppt/slides/slide11.xml" Id="Re02c7dc4b7f941a2" /><Relationship Type="http://schemas.openxmlformats.org/officeDocument/2006/relationships/slide" Target="/ppt/slides/slide12.xml" Id="R91c9ac72abb44c9e" /><Relationship Type="http://schemas.openxmlformats.org/officeDocument/2006/relationships/slide" Target="/ppt/slides/slide13.xml" Id="R906a8d5e00d047ff" /><Relationship Type="http://schemas.openxmlformats.org/officeDocument/2006/relationships/slide" Target="/ppt/slides/slide14.xml" Id="R7db116be45d54e92" /><Relationship Type="http://schemas.openxmlformats.org/officeDocument/2006/relationships/slide" Target="/ppt/slides/slide15.xml" Id="Redccd4f03e864e26" /><Relationship Type="http://schemas.openxmlformats.org/officeDocument/2006/relationships/slide" Target="/ppt/slides/slide16.xml" Id="R991b844be4964bac" /><Relationship Type="http://schemas.openxmlformats.org/officeDocument/2006/relationships/slide" Target="/ppt/slides/slide17.xml" Id="Re0fe31a0f3ba4ded" /><Relationship Type="http://schemas.openxmlformats.org/officeDocument/2006/relationships/slide" Target="/ppt/slides/slide18.xml" Id="Rf2feaca4b71b4ae5" /><Relationship Type="http://schemas.openxmlformats.org/officeDocument/2006/relationships/slide" Target="/ppt/slides/slide19.xml" Id="R5945b021afd64bb8" /><Relationship Type="http://schemas.openxmlformats.org/officeDocument/2006/relationships/slide" Target="/ppt/slides/slide20.xml" Id="R8a866a05857546a5" /><Relationship Type="http://schemas.openxmlformats.org/officeDocument/2006/relationships/slide" Target="/ppt/slides/slide21.xml" Id="R3891ef1016df43ce" /><Relationship Type="http://schemas.openxmlformats.org/officeDocument/2006/relationships/slide" Target="/ppt/slides/slide22.xml" Id="Rfac58d60cd704e4d" /><Relationship Type="http://schemas.openxmlformats.org/officeDocument/2006/relationships/slide" Target="/ppt/slides/slide23.xml" Id="R5c90dc53af584c85" /><Relationship Type="http://schemas.openxmlformats.org/officeDocument/2006/relationships/slide" Target="/ppt/slides/slide24.xml" Id="Rd55ff96fadf54f6b" /><Relationship Type="http://schemas.openxmlformats.org/officeDocument/2006/relationships/slide" Target="/ppt/slides/slide25.xml" Id="R7969fdc531d94b16" /><Relationship Type="http://schemas.openxmlformats.org/officeDocument/2006/relationships/slide" Target="/ppt/slides/slide26.xml" Id="R19cd0ea3557d460f" /><Relationship Type="http://schemas.openxmlformats.org/officeDocument/2006/relationships/slide" Target="/ppt/slides/slide27.xml" Id="R139fbf7c26de4afe" /><Relationship Type="http://schemas.openxmlformats.org/officeDocument/2006/relationships/slide" Target="/ppt/slides/slide28.xml" Id="R35a036c5419d42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f9b533a93040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85ddd27d8a4e95" /><Relationship Type="http://schemas.openxmlformats.org/officeDocument/2006/relationships/notesMaster" Target="/ppt/notesMasters/notesMaster1.xml" Id="R3fe2e56e4a9440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54ff51c2a54cb1" /><Relationship Type="http://schemas.openxmlformats.org/officeDocument/2006/relationships/notesMaster" Target="/ppt/notesMasters/notesMaster1.xml" Id="R5fbad08c22ae4e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39755d010e4549" /><Relationship Type="http://schemas.openxmlformats.org/officeDocument/2006/relationships/notesMaster" Target="/ppt/notesMasters/notesMaster1.xml" Id="R21f9bf244af543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cb81f37d4c4903" /><Relationship Type="http://schemas.openxmlformats.org/officeDocument/2006/relationships/notesMaster" Target="/ppt/notesMasters/notesMaster1.xml" Id="R566a961191bf4c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424288f39a4fc8" /><Relationship Type="http://schemas.openxmlformats.org/officeDocument/2006/relationships/notesMaster" Target="/ppt/notesMasters/notesMaster1.xml" Id="Raa9325eb3a0d46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1798598e424115" /><Relationship Type="http://schemas.openxmlformats.org/officeDocument/2006/relationships/notesMaster" Target="/ppt/notesMasters/notesMaster1.xml" Id="R7474a2f2ded74e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69231d21cd449d" /><Relationship Type="http://schemas.openxmlformats.org/officeDocument/2006/relationships/notesMaster" Target="/ppt/notesMasters/notesMaster1.xml" Id="Rc8b51f5c53bb42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6876df0a814037" /><Relationship Type="http://schemas.openxmlformats.org/officeDocument/2006/relationships/notesMaster" Target="/ppt/notesMasters/notesMaster1.xml" Id="Rb026079df6aa4a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ae82cd29e34c76" /><Relationship Type="http://schemas.openxmlformats.org/officeDocument/2006/relationships/notesMaster" Target="/ppt/notesMasters/notesMaster1.xml" Id="Ra993cbf5006c447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e34eb79f544947" /><Relationship Type="http://schemas.openxmlformats.org/officeDocument/2006/relationships/notesMaster" Target="/ppt/notesMasters/notesMaster1.xml" Id="R236574604cbe48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1d33abc9e34779" /><Relationship Type="http://schemas.openxmlformats.org/officeDocument/2006/relationships/notesMaster" Target="/ppt/notesMasters/notesMaster1.xml" Id="R0218bce20af147b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ee812d0c7d549b7" /><Relationship Type="http://schemas.openxmlformats.org/officeDocument/2006/relationships/notesMaster" Target="/ppt/notesMasters/notesMaster1.xml" Id="Rdbbf08f0601640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84690f34da4036" /><Relationship Type="http://schemas.openxmlformats.org/officeDocument/2006/relationships/notesMaster" Target="/ppt/notesMasters/notesMaster1.xml" Id="R02db6006292541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f75b1c0e89345b1" /><Relationship Type="http://schemas.openxmlformats.org/officeDocument/2006/relationships/notesMaster" Target="/ppt/notesMasters/notesMaster1.xml" Id="Refc5dbb9268c415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76a4218706f49d0" /><Relationship Type="http://schemas.openxmlformats.org/officeDocument/2006/relationships/notesMaster" Target="/ppt/notesMasters/notesMaster1.xml" Id="R2de90a0e7f044aa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a8ef02d7ac04c84" /><Relationship Type="http://schemas.openxmlformats.org/officeDocument/2006/relationships/notesMaster" Target="/ppt/notesMasters/notesMaster1.xml" Id="Rd49144ade633428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3e31aea3012431c" /><Relationship Type="http://schemas.openxmlformats.org/officeDocument/2006/relationships/notesMaster" Target="/ppt/notesMasters/notesMaster1.xml" Id="R37b2cf2d38614eb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7ca6eb84cfc42da" /><Relationship Type="http://schemas.openxmlformats.org/officeDocument/2006/relationships/notesMaster" Target="/ppt/notesMasters/notesMaster1.xml" Id="R315390766d2f41b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3b5b922321d476f" /><Relationship Type="http://schemas.openxmlformats.org/officeDocument/2006/relationships/notesMaster" Target="/ppt/notesMasters/notesMaster1.xml" Id="Re6d5d16b91454e8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f8d63416eb94154" /><Relationship Type="http://schemas.openxmlformats.org/officeDocument/2006/relationships/notesMaster" Target="/ppt/notesMasters/notesMaster1.xml" Id="R8c9d82813432434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14ca42ee6fc48bf" /><Relationship Type="http://schemas.openxmlformats.org/officeDocument/2006/relationships/notesMaster" Target="/ppt/notesMasters/notesMaster1.xml" Id="Rd78cbc5e29d94ee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97860b159e04264" /><Relationship Type="http://schemas.openxmlformats.org/officeDocument/2006/relationships/notesMaster" Target="/ppt/notesMasters/notesMaster1.xml" Id="Rbda259a1b37d438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043bf9b0f994ae0" /><Relationship Type="http://schemas.openxmlformats.org/officeDocument/2006/relationships/notesMaster" Target="/ppt/notesMasters/notesMaster1.xml" Id="R62670b6aef7c4cb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f5f764a616543c0" /><Relationship Type="http://schemas.openxmlformats.org/officeDocument/2006/relationships/notesMaster" Target="/ppt/notesMasters/notesMaster1.xml" Id="R3dfb56c7f9f247a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e6548bbdfcf46f7" /><Relationship Type="http://schemas.openxmlformats.org/officeDocument/2006/relationships/notesMaster" Target="/ppt/notesMasters/notesMaster1.xml" Id="R74a0dab3c54f4ef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503aae21fc34897" /><Relationship Type="http://schemas.openxmlformats.org/officeDocument/2006/relationships/notesMaster" Target="/ppt/notesMasters/notesMaster1.xml" Id="R554230f55abe4ca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9e3a03d0b204228" /><Relationship Type="http://schemas.openxmlformats.org/officeDocument/2006/relationships/notesMaster" Target="/ppt/notesMasters/notesMaster1.xml" Id="R470c0032a18f471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b631293f1a744e9" /><Relationship Type="http://schemas.openxmlformats.org/officeDocument/2006/relationships/notesMaster" Target="/ppt/notesMasters/notesMaster1.xml" Id="R3e8a4fbf556c43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presentación recorre el proyecto como una cadena causal: la física fija requisitos, los requisitos fijan la implementación y el experimento revela el límite dominante.</a:t>
            </a:r>
          </a:p>
          <a:p xmlns:a="http://schemas.openxmlformats.org/drawingml/2006/main">
            <a:r>
              <a:t>El objetivo no es defender un instrumento comercial terminado, sino una primera plataforma integrada, accesible y auditable para investigación MASW.</a:t>
            </a:r>
          </a:p>
          <a:p xmlns:a="http://schemas.openxmlformats.org/drawingml/2006/main">
            <a:r>
              <a:t>La tesis se evalúa por la coherencia entre medición, procesamiento, incertidumbre y decisiones de diseño.</a:t>
            </a:r>
          </a:p>
          <a:p xmlns:a="http://schemas.openxmlformats.org/drawingml/2006/main">
            <a:r>
              <a:t>Transición: primero establezco qué magnitud geotécnica buscamos y por qué la fase multicanal es el dato esencial.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magnitud geotécnica de interés es la velocidad de onda de corte Vs y su relación con el módulo de corte máximo Gmax igual a rho por Vs al cuadrado.</a:t>
            </a:r>
          </a:p>
          <a:p xmlns:a="http://schemas.openxmlformats.org/drawingml/2006/main">
            <a:r>
              <a:t>El producto final no es una imagen directa del terreno: es un modelo estratificado compatible con los datos y con la resolución del ensayo.</a:t>
            </a:r>
          </a:p>
          <a:p xmlns:a="http://schemas.openxmlformats.org/drawingml/2006/main">
            <a:r>
              <a:t>Esto obliga a distinguir desde el inicio qué observamos de manera robusta y qué inferimos mediante inversión.</a:t>
            </a:r>
          </a:p>
          <a:p xmlns:a="http://schemas.openxmlformats.org/drawingml/2006/main">
            <a:r>
              <a:t>Transición: MASW explota ondas Rayleigh porque su propagación superficial concentra energía medible a distintas longitudes de onda.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ondas Rayleigh combinan desplazamientos verticales y horizontales y transportan una fracción importante de la energía cerca de la superficie.</a:t>
            </a:r>
          </a:p>
          <a:p xmlns:a="http://schemas.openxmlformats.org/drawingml/2006/main">
            <a:r>
              <a:t>En un medio estratificado, la velocidad aparente depende de la frecuencia porque cada longitud de onda muestrea un volumen diferente.</a:t>
            </a:r>
          </a:p>
          <a:p xmlns:a="http://schemas.openxmlformats.org/drawingml/2006/main">
            <a:r>
              <a:t>La profundidad de investigación no se obtiene con z igual a lambda sobre dos como una identidad universal; depende de sensibilidad, modo y estructura.</a:t>
            </a:r>
          </a:p>
          <a:p xmlns:a="http://schemas.openxmlformats.org/drawingml/2006/main">
            <a:r>
              <a:t>Transición: la relación entre longitud de onda, frecuencia y profundidad explica por qué necesitamos energía de baja frecuencia.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longitud de onda Rayleigh se obtiene como velocidad de fase dividida por frecuencia.</a:t>
            </a:r>
          </a:p>
          <a:p xmlns:a="http://schemas.openxmlformats.org/drawingml/2006/main">
            <a:r>
              <a:t>Para una velocidad dada, reducir la frecuencia aumenta la longitud de onda y desplaza la sensibilidad a mayor profundidad.</a:t>
            </a:r>
          </a:p>
          <a:p xmlns:a="http://schemas.openxmlformats.org/drawingml/2006/main">
            <a:r>
              <a:t>Por eso el requisito de baja frecuencia nace de la física y debe resolverse antes de la digitalización: principalmente en la fuente, el acoplamiento y el ruido del frente analógico.</a:t>
            </a:r>
          </a:p>
          <a:p xmlns:a="http://schemas.openxmlformats.org/drawingml/2006/main">
            <a:r>
              <a:t>Transición: la velocidad de fase se estima a partir de diferencias de fase entre receptores, no de amplitud absoluta.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dos señales mostradas corresponden a receptores vecinos de la campaña Canchita, ubicados a treinta y treinta y dos metros.</a:t>
            </a:r>
          </a:p>
          <a:p xmlns:a="http://schemas.openxmlformats.org/drawingml/2006/main">
            <a:r>
              <a:t>La correlación de esta ventana produce un retardo aparente cercano a cincuenta y cinco milisegundos; no debe interpretarse por sí solo como velocidad de fase.</a:t>
            </a:r>
          </a:p>
          <a:p xmlns:a="http://schemas.openxmlformats.org/drawingml/2006/main">
            <a:r>
              <a:t>En MASW la velocidad se obtiene por diferencia de fase para cada frecuencia y usando el espaciamiento conocido entre receptores.</a:t>
            </a:r>
          </a:p>
          <a:p xmlns:a="http://schemas.openxmlformats.org/drawingml/2006/main">
            <a:r>
              <a:t>Esto conecta directamente errores de sincronización y geometría con el error en c de f.</a:t>
            </a:r>
          </a:p>
          <a:p xmlns:a="http://schemas.openxmlformats.org/drawingml/2006/main">
            <a:r>
              <a:t>Transición: el método de Park extiende esta idea a todos los canales y busca coherencia para cada velocidad candidata.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transformación de Park compensa la fase esperada para una velocidad candidata y suma los canales.</a:t>
            </a:r>
          </a:p>
          <a:p xmlns:a="http://schemas.openxmlformats.org/drawingml/2006/main">
            <a:r>
              <a:t>Cuando la velocidad candidata coincide con la propagación observada, las contribuciones se alinean y la energía aumenta.</a:t>
            </a:r>
          </a:p>
          <a:p xmlns:a="http://schemas.openxmlformats.org/drawingml/2006/main">
            <a:r>
              <a:t>La curva de dispersión se selecciona sobre esta imagen; esa selección necesita criterios de continuidad, soporte y control de calidad.</a:t>
            </a:r>
          </a:p>
          <a:p xmlns:a="http://schemas.openxmlformats.org/drawingml/2006/main">
            <a:r>
              <a:t>Transición: aun con una curva robusta, convertir c de f en Vs de z sigue siendo un problema inverso no único.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inversión busca un modelo cuya curva teórica reproduzca la curva observada, con regularización para controlar soluciones físicamente poco plausibles.</a:t>
            </a:r>
          </a:p>
          <a:p xmlns:a="http://schemas.openxmlformats.org/drawingml/2006/main">
            <a:r>
              <a:t>Distintos perfiles pueden explicar datos similares; por eso el número de capas, los límites y la incertidumbre deben declararse.</a:t>
            </a:r>
          </a:p>
          <a:p xmlns:a="http://schemas.openxmlformats.org/drawingml/2006/main">
            <a:r>
              <a:t>El benchmark confirmó que c de f es más estable que Vs de z y que cinco capas no son defendibles como valor por defecto con los datos actuales.</a:t>
            </a:r>
          </a:p>
          <a:p xmlns:a="http://schemas.openxmlformats.org/drawingml/2006/main">
            <a:r>
              <a:t>Transición: estos hechos físicos se traducen en requisitos concretos para toda la plataforma.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banda observable depende de fuente, sensor y frente analógico; la fase depende de sincronización y geometría.</a:t>
            </a:r>
          </a:p>
          <a:p xmlns:a="http://schemas.openxmlformats.org/drawingml/2006/main">
            <a:r>
              <a:t>La integridad exige no completar silenciosamente paquetes perdidos, porque una muestra inventada altera fase y amplitud.</a:t>
            </a:r>
          </a:p>
          <a:p xmlns:a="http://schemas.openxmlformats.org/drawingml/2006/main">
            <a:r>
              <a:t>La auditoría exige conservar configuración, coordenadas, calidad del picking e incertidumbre de la inversión.</a:t>
            </a:r>
          </a:p>
          <a:p xmlns:a="http://schemas.openxmlformats.org/drawingml/2006/main">
            <a:r>
              <a:t>Transición: recorro ahora la implementación siguiendo la misma cadena física, comenzando por la fuente actual.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campaña actual usa un martillo instrumentado PCB 086D20 con salida ICP.</a:t>
            </a:r>
          </a:p>
          <a:p xmlns:a="http://schemas.openxmlformats.org/drawingml/2006/main">
            <a:r>
              <a:t>El golpe cumple dos funciones: excita el terreno y proporciona una referencia temporal medida para alinear la captura.</a:t>
            </a:r>
          </a:p>
          <a:p xmlns:a="http://schemas.openxmlformats.org/drawingml/2006/main">
            <a:r>
              <a:t>La limitación no es detectar el impacto, sino repetir suficiente energía en baja frecuencia de forma controlada.</a:t>
            </a:r>
          </a:p>
          <a:p xmlns:a="http://schemas.openxmlformats.org/drawingml/2006/main">
            <a:r>
              <a:t>Transición: el segundo límite de banda aparece en el transductor disponible.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 utilizó el SM-24 de 10 hertz porque estaba disponible en la Facultad, no porque optimizara un objetivo de 50 metros.</a:t>
            </a:r>
          </a:p>
          <a:p xmlns:a="http://schemas.openxmlformats.org/drawingml/2006/main">
            <a:r>
              <a:t>Debajo de su frecuencia natural la sensibilidad cae con rapidez, de modo que amplificar también eleva ruido y offset.</a:t>
            </a:r>
          </a:p>
          <a:p xmlns:a="http://schemas.openxmlformats.org/drawingml/2006/main">
            <a:r>
              <a:t>La decisión de ingeniería fue compensar de manera controlada y medir el costo en rango dinámico.</a:t>
            </a:r>
          </a:p>
          <a:p xmlns:a="http://schemas.openxmlformats.org/drawingml/2006/main">
            <a:r>
              <a:t>Transición: la respuesta puede expresarse respecto de velocidad o aceleración; ambas referencias explican la pendiente observada.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respuesta respecto de velocidad presenta dos ceros en el origen y cae aproximadamente cuarenta decibeles por década debajo de la resonancia.</a:t>
            </a:r>
          </a:p>
          <a:p xmlns:a="http://schemas.openxmlformats.org/drawingml/2006/main">
            <a:r>
              <a:t>Respecto de aceleración aparece un cero y la pendiente es aproximadamente veinte decibeles por década.</a:t>
            </a:r>
          </a:p>
          <a:p xmlns:a="http://schemas.openxmlformats.org/drawingml/2006/main">
            <a:r>
              <a:t>Estas dos expresiones no son contradictorias: dependen de qué magnitud se usa como entrada del modelo.</a:t>
            </a:r>
          </a:p>
          <a:p xmlns:a="http://schemas.openxmlformats.org/drawingml/2006/main">
            <a:r>
              <a:t>Transición: el acondicionamiento usa una compensación de fase mínima para recuperar parte de esa banda sin una inversión inestable.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estructura uno menos pasa banda implementa una compensación complementaria de fase mínima.</a:t>
            </a:r>
          </a:p>
          <a:p xmlns:a="http://schemas.openxmlformats.org/drawingml/2006/main">
            <a:r>
              <a:t>El parámetro zeta uno es aproximadamente novecientos treinta y ocho, con un factor de atenuación cercano a mil ochocientos setenta y seis.</a:t>
            </a:r>
          </a:p>
          <a:p xmlns:a="http://schemas.openxmlformats.org/drawingml/2006/main">
            <a:r>
              <a:t>La ganancia máxima total de la cadena es del orden de mil ochocientos y está repartida para evitar saturación localizada.</a:t>
            </a:r>
          </a:p>
          <a:p xmlns:a="http://schemas.openxmlformats.org/drawingml/2006/main">
            <a:r>
              <a:t>Transición: esa recuperación de banda tiene un costo medible en sensibilidad, ruido y margen de offset.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barrido medido verifica la forma esperada de la cadena y su continuidad funcional.</a:t>
            </a:r>
          </a:p>
          <a:p xmlns:a="http://schemas.openxmlformats.org/drawingml/2006/main">
            <a:r>
              <a:t>Sin embargo, la alta ganancia también amplifica ruido, deriva y errores de offset; no equivale a recuperar información inexistente.</a:t>
            </a:r>
          </a:p>
          <a:p xmlns:a="http://schemas.openxmlformats.org/drawingml/2006/main">
            <a:r>
              <a:t>La figura no debe presentarse como calibración sísmica absoluta extremo a extremo, porque ese ensayo aún está pendiente.</a:t>
            </a:r>
          </a:p>
          <a:p xmlns:a="http://schemas.openxmlformats.org/drawingml/2006/main">
            <a:r>
              <a:t>Transición: el offset es especialmente crítico porque desplaza toda la señal dentro de una ventana ADC finita.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morfología mostrada proviene de una captura real de Canchita; para hacer visible el mecanismo se añadió un offset sintético sobre la misma señal.</a:t>
            </a:r>
          </a:p>
          <a:p xmlns:a="http://schemas.openxmlformats.org/drawingml/2006/main">
            <a:r>
              <a:t>Un offset grande desplaza la señal y reduce el rango disponible antes de saturar el convertidor.</a:t>
            </a:r>
          </a:p>
          <a:p xmlns:a="http://schemas.openxmlformats.org/drawingml/2006/main">
            <a:r>
              <a:t>La calibración busca centrar cada etapa para aprovechar la ganancia sin introducir una corrección dinámica durante la captura.</a:t>
            </a:r>
          </a:p>
          <a:p xmlns:a="http://schemas.openxmlformats.org/drawingml/2006/main">
            <a:r>
              <a:t>Modificar el código de compensación mientras se mide podría alterar amplitud y fase, por eso la calibración es foreground.</a:t>
            </a:r>
          </a:p>
          <a:p xmlns:a="http://schemas.openxmlformats.org/drawingml/2006/main">
            <a:r>
              <a:t>Transición: el firmware implementa esa calibración como una secuencia auditable con control PI y persistencia.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calibración recorre las etapas del frente analógico y estima offset con un FIR de ciento veintiocho taps.</a:t>
            </a:r>
          </a:p>
          <a:p xmlns:a="http://schemas.openxmlformats.org/drawingml/2006/main">
            <a:r>
              <a:t>El control PI incorpora banda muerta y anti-windup; los códigos se conservan por ganancia en EEPROM con CRC.</a:t>
            </a:r>
          </a:p>
          <a:p xmlns:a="http://schemas.openxmlformats.org/drawingml/2006/main">
            <a:r>
              <a:t>El grafo del repositorio confirma funciones cal pi start, service y límites de integral en calibration.c, por lo que esto no es sólo diseño documental.</a:t>
            </a:r>
          </a:p>
          <a:p xmlns:a="http://schemas.openxmlformats.org/drawingml/2006/main">
            <a:r>
              <a:t>Durante la adquisición el lazo queda desactivado y los códigos permanecen fijos.</a:t>
            </a:r>
          </a:p>
          <a:p xmlns:a="http://schemas.openxmlformats.org/drawingml/2006/main">
            <a:r>
              <a:t>Transición: existe además una revisión candidata del AFE que amplía margen, pero todavía no debe confundirse con hardware validado.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propuesta sustituye VDAC por IDAC y usa la salida del PGA para ampliar el margen de centrado y ganancia.</a:t>
            </a:r>
          </a:p>
          <a:p xmlns:a="http://schemas.openxmlformats.org/drawingml/2006/main">
            <a:r>
              <a:t>El rango estimado es aproximadamente dos coma cero seis a tres coma cero dos voltios, con ganancia de hasta cincuenta.</a:t>
            </a:r>
          </a:p>
          <a:p xmlns:a="http://schemas.openxmlformats.org/drawingml/2006/main">
            <a:r>
              <a:t>Debe etiquetarse como candidato porque todavía no existe validación de prototipo, ruido, fase y saturación extremo a extremo.</a:t>
            </a:r>
          </a:p>
          <a:p xmlns:a="http://schemas.openxmlformats.org/drawingml/2006/main">
            <a:r>
              <a:t>Transición: la versión implementada ya dispone de una ruta digital determinista desde ADC hasta memoria.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ADC Delta-Sigma opera con dieciocho bits nominales y una tasa de dos mil seiscientas cuatro muestras por segundo.</a:t>
            </a:r>
          </a:p>
          <a:p xmlns:a="http://schemas.openxmlformats.org/drawingml/2006/main">
            <a:r>
              <a:t>La temporización se lleva a hardware UDB y dos canales DMA trasladan datos filtrados y crudos a RAM.</a:t>
            </a:r>
          </a:p>
          <a:p xmlns:a="http://schemas.openxmlformats.org/drawingml/2006/main">
            <a:r>
              <a:t>El grafo confirma las rutas DMA y los estados de armado y muestreo del PSoC, lo que respalda la arquitectura documentada.</a:t>
            </a:r>
          </a:p>
          <a:p xmlns:a="http://schemas.openxmlformats.org/drawingml/2006/main">
            <a:r>
              <a:t>Separar captura determinista de comunicación evita que la latencia de red module el instante de muestreo.</a:t>
            </a:r>
          </a:p>
          <a:p xmlns:a="http://schemas.openxmlformats.org/drawingml/2006/main">
            <a:r>
              <a:t>Transición: el transporte inalámbrico se eligió por operación de campo, con una decisión explícita sobre integridad.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ESP-NOW se eligió por disponibilidad, costo, baja sobrecarga y operación sin router externo.</a:t>
            </a:r>
          </a:p>
          <a:p xmlns:a="http://schemas.openxmlformats.org/drawingml/2006/main">
            <a:r>
              <a:t>El maestro crea su propia red Wi-Fi para la interfaz, mientras los esclavos conservan respaldo local de la captura.</a:t>
            </a:r>
          </a:p>
          <a:p xmlns:a="http://schemas.openxmlformats.org/drawingml/2006/main">
            <a:r>
              <a:t>La comunicación no controla el instante de muestreo; transporta datos ya adquiridos por una ruta determinista.</a:t>
            </a:r>
          </a:p>
          <a:p xmlns:a="http://schemas.openxmlformats.org/drawingml/2006/main">
            <a:r>
              <a:t>Transición: aun así, el error de sincronización debe expresarse como error físico de fase y velocidad.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ciento veintiocho disparos se midió una dispersión temporal del orden de cien a doscientos microsegundos.</a:t>
            </a:r>
          </a:p>
          <a:p xmlns:a="http://schemas.openxmlformats.org/drawingml/2006/main">
            <a:r>
              <a:t>Usando cien metros por segundo, dos metros de separación y doscientos microsegundos, la aproximación da cerca de uno por ciento de error relativo en velocidad.</a:t>
            </a:r>
          </a:p>
          <a:p xmlns:a="http://schemas.openxmlformats.org/drawingml/2006/main">
            <a:r>
              <a:t>A cien hertz, cien microsegundos equivalen a uno por ciento del período o tres coma seis grados de fase.</a:t>
            </a:r>
          </a:p>
          <a:p xmlns:a="http://schemas.openxmlformats.org/drawingml/2006/main">
            <a:r>
              <a:t>La cifra debe expresarse en estos términos físicos y no como porcentaje ambiguo de una muestra.</a:t>
            </a:r>
          </a:p>
          <a:p xmlns:a="http://schemas.openxmlformats.org/drawingml/2006/main">
            <a:r>
              <a:t>Transición: el segundo requisito de red es poder demostrar que ningún fragmento perdido se sustituyó silenciosamente.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capturas se fragmentan y numeran; el maestro reensambla, valida tamaño e integridad y confirma la recepción.</a:t>
            </a:r>
          </a:p>
          <a:p xmlns:a="http://schemas.openxmlformats.org/drawingml/2006/main">
            <a:r>
              <a:t>Si falta un fragmento no se interpola, porque completar una muestra puede fabricar fase; se reintenta y se conserva respaldo local.</a:t>
            </a:r>
          </a:p>
          <a:p xmlns:a="http://schemas.openxmlformats.org/drawingml/2006/main">
            <a:r>
              <a:t>El grafo confirma las funciones de ACK con reintento y servicio de reintento en el firmware ESP32.</a:t>
            </a:r>
          </a:p>
          <a:p xmlns:a="http://schemas.openxmlformats.org/drawingml/2006/main">
            <a:r>
              <a:t>La memoria se libera solamente después de confirmación, de modo que la pérdida de red no se convierte en pérdida silenciosa de datos.</a:t>
            </a:r>
          </a:p>
          <a:p xmlns:a="http://schemas.openxmlformats.org/drawingml/2006/main">
            <a:r>
              <a:t>Transición: esta arquitectura alimenta dos interfaces con responsabilidades diferentes.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interfaz de campo Geophone Scope arma nodos, configura, captura y exporta sin requerir Internet.</a:t>
            </a:r>
          </a:p>
          <a:p xmlns:a="http://schemas.openxmlformats.org/drawingml/2006/main">
            <a:r>
              <a:t>El servidor conserva campañas y metadatos, valida, agrupa, alinea, promedia, genera dispersión e invierte.</a:t>
            </a:r>
          </a:p>
          <a:p xmlns:a="http://schemas.openxmlformats.org/drawingml/2006/main">
            <a:r>
              <a:t>El grafo muestra rutas reales para dispersion, auto-pick, inversions, waterfall, averages, jobs y exports.</a:t>
            </a:r>
          </a:p>
          <a:p xmlns:a="http://schemas.openxmlformats.org/drawingml/2006/main">
            <a:r>
              <a:t>La separación evita sobrecargar la operación de campo y mantiene trazabilidad para el análisis posterior.</a:t>
            </a:r>
          </a:p>
          <a:p xmlns:a="http://schemas.openxmlformats.org/drawingml/2006/main">
            <a:r>
              <a:t>Transición: la campaña Canchita demuestra que la cadena ya produce un registro multicanal y una imagen de dispersión reales.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campaña Canchita utiliza veintiuna posiciones, dos metros de paso y cuarenta metros de apertura.</a:t>
            </a:r>
          </a:p>
          <a:p xmlns:a="http://schemas.openxmlformats.org/drawingml/2006/main">
            <a:r>
              <a:t>La figura reúne el registro wiggle y las imágenes de dispersión obtenidas con datos reales.</a:t>
            </a:r>
          </a:p>
          <a:p xmlns:a="http://schemas.openxmlformats.org/drawingml/2006/main">
            <a:r>
              <a:t>Esto demuestra funcionamiento de punta a punta de la cadena de análisis, pero todavía no valida por sí solo un perfil Vs final.</a:t>
            </a:r>
          </a:p>
          <a:p xmlns:a="http://schemas.openxmlformats.org/drawingml/2006/main">
            <a:r>
              <a:t>Transición: antes de interpretar la cresta debemos imponer los límites geométricos del arreglo.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paso entre receptores fija una cota de aliasing espacial: la velocidad observable debe ser al menos dos veces delta x por frecuencia.</a:t>
            </a:r>
          </a:p>
          <a:p xmlns:a="http://schemas.openxmlformats.org/drawingml/2006/main">
            <a:r>
              <a:t>Con dos metros de paso, la cota es cuatro veces la frecuencia; una cresta de cien metros por segundo cruza esa cota cerca de veinticinco hertz.</a:t>
            </a:r>
          </a:p>
          <a:p xmlns:a="http://schemas.openxmlformats.org/drawingml/2006/main">
            <a:r>
              <a:t>La apertura de cuarenta metros limita las longitudes de onda mayores y el extremo bajo de frecuencia.</a:t>
            </a:r>
          </a:p>
          <a:p xmlns:a="http://schemas.openxmlformats.org/drawingml/2006/main">
            <a:r>
              <a:t>La banda coherente observada está aproximadamente entre seis y veinte hertz y setenta a ciento diez metros por segundo.</a:t>
            </a:r>
          </a:p>
          <a:p xmlns:a="http://schemas.openxmlformats.org/drawingml/2006/main">
            <a:r>
              <a:t>Transición: la autopotencia muestra que el problema principal está precisamente debajo de esa banda.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comparación usa el mismo gather real de Canchita: veintiún canales entre diez y cincuenta metros.</a:t>
            </a:r>
          </a:p>
          <a:p xmlns:a="http://schemas.openxmlformats.org/drawingml/2006/main">
            <a:r>
              <a:t>La CWT Morlet y la S-transform producen una cresta más continua y estable que FFT Park, especialmente fuera de veinte a treinta y cinco hertz.</a:t>
            </a:r>
          </a:p>
          <a:p xmlns:a="http://schemas.openxmlformats.org/drawingml/2006/main">
            <a:r>
              <a:t>La mejora cambia la calidad de la imagen, no la información física disponible: no elimina el aliasing espacial ni recupera energía ausente.</a:t>
            </a:r>
          </a:p>
          <a:p xmlns:a="http://schemas.openxmlformats.org/drawingml/2006/main">
            <a:r>
              <a:t>El costo medido fue aproximadamente ciento treinta y nueve segundos para CWT y ciento cinco para Stockwell, frente a menos de un segundo para FFT Park.</a:t>
            </a:r>
          </a:p>
          <a:p xmlns:a="http://schemas.openxmlformats.org/drawingml/2006/main">
            <a:r>
              <a:t>Por eso se conserva FFT Park como línea base operativa y wavelet como ruta exploratoria y de contraste.</a:t>
            </a:r>
          </a:p>
          <a:p xmlns:a="http://schemas.openxmlformats.org/drawingml/2006/main">
            <a:r>
              <a:t>Transición: incluso con una imagen más estable, la profundidad sigue limitada por la energía medida en baja frecuencia.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 debajo de cinco hertz aparece apenas cero coma uno por ciento de la autopotencia integrada.</a:t>
            </a:r>
          </a:p>
          <a:p xmlns:a="http://schemas.openxmlformats.org/drawingml/2006/main">
            <a:r>
              <a:t>Entre cinco y veinte hertz se concentra cincuenta y cuatro coma tres por ciento, y entre veinte y cincuenta hertz, cuarenta y tres coma dos por ciento.</a:t>
            </a:r>
          </a:p>
          <a:p xmlns:a="http://schemas.openxmlformats.org/drawingml/2006/main">
            <a:r>
              <a:t>La banda que gobierna mayor profundidad casi no tiene energía útil, de modo que el procesamiento no puede crear información que no superó el ruido analógico.</a:t>
            </a:r>
          </a:p>
          <a:p xmlns:a="http://schemas.openxmlformats.org/drawingml/2006/main">
            <a:r>
              <a:t>El benchmark resume esta situación como sobra apertura y falta baja frecuencia.</a:t>
            </a:r>
          </a:p>
          <a:p xmlns:a="http://schemas.openxmlformats.org/drawingml/2006/main">
            <a:r>
              <a:t>Transición: la decisión de diseño vuelve entonces al primer bloque de la cadena: una fuente repetitiva e instrumentada.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 generó una secuencia de impactos y se apilaron las señales para comprobar si la baja frecuencia emergía de forma coherente.</a:t>
            </a:r>
          </a:p>
          <a:p xmlns:a="http://schemas.openxmlformats.org/drawingml/2006/main">
            <a:r>
              <a:t>La prueba sí muestra componente de baja frecuencia y un comportamiento compatible con el pasa-bandas estimado para el conjunto sensor más acondicionamiento.</a:t>
            </a:r>
          </a:p>
          <a:p xmlns:a="http://schemas.openxmlformats.org/drawingml/2006/main">
            <a:r>
              <a:t>La figura concatena capturas reales del receptor a treinta metros hasta completar sesenta segundos y muestra su espectro observado.</a:t>
            </a:r>
          </a:p>
          <a:p xmlns:a="http://schemas.openxmlformats.org/drawingml/2006/main">
            <a:r>
              <a:t>Para la visualización se aplicó primero la resta armónica de red y luego el pasa-bajos de fase cero, en el mismo orden corregido para el pipeline.</a:t>
            </a:r>
          </a:p>
          <a:p xmlns:a="http://schemas.openxmlformats.org/drawingml/2006/main">
            <a:r>
              <a:t>Esto verifica que el sensor puede captar esa banda cuando la excitación repetitiva mejora la relación señal a ruido; no implica que un único golpe ya tenga energía suficiente.</a:t>
            </a:r>
          </a:p>
          <a:p xmlns:a="http://schemas.openxmlformats.org/drawingml/2006/main">
            <a:r>
              <a:t>Sigue pendiente cuantificar ganancia por número de impactos, repetibilidad, fase y comparación bajo una geometría controlada con el martillete definitivo.</a:t>
            </a:r>
          </a:p>
          <a:p xmlns:a="http://schemas.openxmlformats.org/drawingml/2006/main">
            <a:r>
              <a:t>Transición: el benchmark computacional ayuda a priorizar esta mejora por encima de seguir sofisticando el algoritmo.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informe consolidado reúne mil seiscientas cuarenta ejecuciones; el balance final usa cuatrocientas treinta y dos comparables.</a:t>
            </a:r>
          </a:p>
          <a:p xmlns:a="http://schemas.openxmlformats.org/drawingml/2006/main">
            <a:r>
              <a:t>Park más dynamic programming es la línea base en datos reales: veinticinco de cuarenta y ocho casos admisibles y misfit mediano de cuatro coma cero nueve por ciento.</a:t>
            </a:r>
          </a:p>
          <a:p xmlns:a="http://schemas.openxmlformats.org/drawingml/2006/main">
            <a:r>
              <a:t>Eliminar dos offsets desplaza c de f unos veintinueve coma setenta y seis metros por segundo, contra dos coma veintiocho al cambiar transformada: la geometría pesa cerca de trece veces más.</a:t>
            </a:r>
          </a:p>
          <a:p xmlns:a="http://schemas.openxmlformats.org/drawingml/2006/main">
            <a:r>
              <a:t>Tres capas muestran coeficiente de variación cercano a tres por ciento; cinco capas suben a alrededor de ocho por ciento y aumentan la varianza atribuible al optimizador.</a:t>
            </a:r>
          </a:p>
          <a:p xmlns:a="http://schemas.openxmlformats.org/drawingml/2006/main">
            <a:r>
              <a:t>DP puede proponer curva incluso sin energía sintética, por lo que soporte, censura y bootstrap son control de calidad obligatorio.</a:t>
            </a:r>
          </a:p>
          <a:p xmlns:a="http://schemas.openxmlformats.org/drawingml/2006/main">
            <a:r>
              <a:t>Transición: cierro la cadena mostrando qué está medido, implementado y pendiente sin mezclar niveles de evidencia.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plataforma ya integra adquisición, transporte auditable, interfaces, dispersión e inversión sobre datos reales.</a:t>
            </a:r>
          </a:p>
          <a:p xmlns:a="http://schemas.openxmlformats.org/drawingml/2006/main">
            <a:r>
              <a:t>La evidencia medida incluye sincronismo, respuesta funcional del AFE, campaña multicanal y distribución espectral.</a:t>
            </a:r>
          </a:p>
          <a:p xmlns:a="http://schemas.openxmlformats.org/drawingml/2006/main">
            <a:r>
              <a:t>La principal limitación es la falta de energía útil debajo de cinco hertz, reforzada por las restricciones geométricas y por la no unicidad de la inversión.</a:t>
            </a:r>
          </a:p>
          <a:p xmlns:a="http://schemas.openxmlformats.org/drawingml/2006/main">
            <a:r>
              <a:t>El siguiente experimento defendible es mejorar la fuente, mantener geometría comparable y cuantificar repetibilidad, soporte de c de f e incertidumbre de Vs de z.</a:t>
            </a:r>
          </a:p>
          <a:p xmlns:a="http://schemas.openxmlformats.org/drawingml/2006/main">
            <a:r>
              <a:t>Mensaje final: el proyecto avanzó de una colección de bloques a una cadena causal y auditable; ahora la prioridad es mejorar el dato antes de complejizar el modelo.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4d4452be1848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7054291ee94e8d" /><Relationship Type="http://schemas.openxmlformats.org/officeDocument/2006/relationships/slideLayout" Target="/ppt/slideLayouts/slideLayout1.xml" Id="R9033009dfada48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33009dfada48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8c0ee35cf48b5" /><Relationship Type="http://schemas.openxmlformats.org/officeDocument/2006/relationships/image" Target="/ppt/media/image.jpeg" Id="R971c2da631214ff4" /><Relationship Type="http://schemas.openxmlformats.org/officeDocument/2006/relationships/notesSlide" Target="/ppt/notesSlides/notesSlide1.xml" Id="Rf9b1368ccfde4d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b76782c27e4579" /><Relationship Type="http://schemas.openxmlformats.org/officeDocument/2006/relationships/notesSlide" Target="/ppt/notesSlides/notesSlide2.xml" Id="Re3e6fb57866c4b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8f29d22ae14d31" /><Relationship Type="http://schemas.openxmlformats.org/officeDocument/2006/relationships/image" Target="/ppt/media/image.png" Id="Rb1bf34fa221c4313" /><Relationship Type="http://schemas.openxmlformats.org/officeDocument/2006/relationships/notesSlide" Target="/ppt/notesSlides/notesSlide3.xml" Id="Rae3e854bbe8844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4c892ddae4523" /><Relationship Type="http://schemas.openxmlformats.org/officeDocument/2006/relationships/image" Target="/ppt/media/image2.png" Id="R1f69c60d0f9646bf" /><Relationship Type="http://schemas.openxmlformats.org/officeDocument/2006/relationships/notesSlide" Target="/ppt/notesSlides/notesSlide4.xml" Id="Rb73d7788290c42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f2850fb6a41cb" /><Relationship Type="http://schemas.openxmlformats.org/officeDocument/2006/relationships/image" Target="/ppt/media/image3.png" Id="Rf900a26b339e4742" /><Relationship Type="http://schemas.openxmlformats.org/officeDocument/2006/relationships/notesSlide" Target="/ppt/notesSlides/notesSlide5.xml" Id="Recbc3fb2fb024c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51e44707204209" /><Relationship Type="http://schemas.openxmlformats.org/officeDocument/2006/relationships/image" Target="/ppt/media/image4.png" Id="Ra44f880a361b4cae" /><Relationship Type="http://schemas.openxmlformats.org/officeDocument/2006/relationships/image" Target="/ppt/media/image5.png" Id="Ra8b9b09f921b4b74" /><Relationship Type="http://schemas.openxmlformats.org/officeDocument/2006/relationships/notesSlide" Target="/ppt/notesSlides/notesSlide6.xml" Id="R4778101688d942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5b38b89f5469a" /><Relationship Type="http://schemas.openxmlformats.org/officeDocument/2006/relationships/image" Target="/ppt/media/image6.png" Id="R190ede88a3934cd0" /><Relationship Type="http://schemas.openxmlformats.org/officeDocument/2006/relationships/notesSlide" Target="/ppt/notesSlides/notesSlide7.xml" Id="Rdfade8fa3c0645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f6fd9a2bc4b83" /><Relationship Type="http://schemas.openxmlformats.org/officeDocument/2006/relationships/notesSlide" Target="/ppt/notesSlides/notesSlide8.xml" Id="R69c7b517d004452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5ba2debe2455e" /><Relationship Type="http://schemas.openxmlformats.org/officeDocument/2006/relationships/image" Target="/ppt/media/image7.png" Id="R900a1f80fc0640ec" /><Relationship Type="http://schemas.openxmlformats.org/officeDocument/2006/relationships/notesSlide" Target="/ppt/notesSlides/notesSlide9.xml" Id="Rd95c0ccd98cd4b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a26b697c744b8" /><Relationship Type="http://schemas.openxmlformats.org/officeDocument/2006/relationships/image" Target="/ppt/media/image8.png" Id="R9ab9c79586804203" /><Relationship Type="http://schemas.openxmlformats.org/officeDocument/2006/relationships/notesSlide" Target="/ppt/notesSlides/notesSlide10.xml" Id="R2670e7773b434a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0240085304a2b" /><Relationship Type="http://schemas.openxmlformats.org/officeDocument/2006/relationships/image" Target="/ppt/media/image9.png" Id="R842030ed51a547ea" /><Relationship Type="http://schemas.openxmlformats.org/officeDocument/2006/relationships/notesSlide" Target="/ppt/notesSlides/notesSlide11.xml" Id="R49182b04b8c44c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75a038c174f1f" /><Relationship Type="http://schemas.openxmlformats.org/officeDocument/2006/relationships/image" Target="/ppt/media/image10.png" Id="R61becbfdc1cf4d3d" /><Relationship Type="http://schemas.openxmlformats.org/officeDocument/2006/relationships/notesSlide" Target="/ppt/notesSlides/notesSlide12.xml" Id="R3c088e7b0b3242b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79d013f0b44e5a" /><Relationship Type="http://schemas.openxmlformats.org/officeDocument/2006/relationships/image" Target="/ppt/media/image11.png" Id="Rb854e34504044fd9" /><Relationship Type="http://schemas.openxmlformats.org/officeDocument/2006/relationships/notesSlide" Target="/ppt/notesSlides/notesSlide13.xml" Id="R83f3efe7165149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809e12221642c6" /><Relationship Type="http://schemas.openxmlformats.org/officeDocument/2006/relationships/image" Target="/ppt/media/image12.png" Id="Rfbb6d85b210c4f34" /><Relationship Type="http://schemas.openxmlformats.org/officeDocument/2006/relationships/notesSlide" Target="/ppt/notesSlides/notesSlide14.xml" Id="Rd83e5c6db0d7433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1336cb92b4d02" /><Relationship Type="http://schemas.openxmlformats.org/officeDocument/2006/relationships/image" Target="/ppt/media/image13.png" Id="R3c5f865e00e94474" /><Relationship Type="http://schemas.openxmlformats.org/officeDocument/2006/relationships/notesSlide" Target="/ppt/notesSlides/notesSlide15.xml" Id="R1187e4f4ecfe4e0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e434483a1473f" /><Relationship Type="http://schemas.openxmlformats.org/officeDocument/2006/relationships/image" Target="/ppt/media/image14.png" Id="Rcee901cda4794707" /><Relationship Type="http://schemas.openxmlformats.org/officeDocument/2006/relationships/notesSlide" Target="/ppt/notesSlides/notesSlide16.xml" Id="R1284472c8db64c9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4e59ad8e141f5" /><Relationship Type="http://schemas.openxmlformats.org/officeDocument/2006/relationships/image" Target="/ppt/media/image15.png" Id="R682dd6315c9f421d" /><Relationship Type="http://schemas.openxmlformats.org/officeDocument/2006/relationships/notesSlide" Target="/ppt/notesSlides/notesSlide17.xml" Id="R49114c26875e433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55932745d84865" /><Relationship Type="http://schemas.openxmlformats.org/officeDocument/2006/relationships/notesSlide" Target="/ppt/notesSlides/notesSlide18.xml" Id="R084a380457ea439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dc415edb64fe1" /><Relationship Type="http://schemas.openxmlformats.org/officeDocument/2006/relationships/notesSlide" Target="/ppt/notesSlides/notesSlide19.xml" Id="R15d38fa854494a6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4a3a3d6e747e0" /><Relationship Type="http://schemas.openxmlformats.org/officeDocument/2006/relationships/notesSlide" Target="/ppt/notesSlides/notesSlide20.xml" Id="R5b5eaac0e88a4c4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16ad8e45d4aec" /><Relationship Type="http://schemas.openxmlformats.org/officeDocument/2006/relationships/image" Target="/ppt/media/image2.jpeg" Id="R973fd0a2cccf4861" /><Relationship Type="http://schemas.openxmlformats.org/officeDocument/2006/relationships/image" Target="/ppt/media/image3.jpeg" Id="R7c0dcce20c4b4314" /><Relationship Type="http://schemas.openxmlformats.org/officeDocument/2006/relationships/notesSlide" Target="/ppt/notesSlides/notesSlide21.xml" Id="Rb87ac9978fc143d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21571ebd54504" /><Relationship Type="http://schemas.openxmlformats.org/officeDocument/2006/relationships/image" Target="/ppt/media/image16.png" Id="R8e719f7122c94651" /><Relationship Type="http://schemas.openxmlformats.org/officeDocument/2006/relationships/image" Target="/ppt/media/image17.png" Id="R9daaf60858184e3d" /><Relationship Type="http://schemas.openxmlformats.org/officeDocument/2006/relationships/notesSlide" Target="/ppt/notesSlides/notesSlide22.xml" Id="Re246205abe07462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d59ec3baa4659" /><Relationship Type="http://schemas.openxmlformats.org/officeDocument/2006/relationships/image" Target="/ppt/media/image18.png" Id="R5376dd2910164ab3" /><Relationship Type="http://schemas.openxmlformats.org/officeDocument/2006/relationships/notesSlide" Target="/ppt/notesSlides/notesSlide23.xml" Id="Red5498dfea294df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0a1361a8cd42d2" /><Relationship Type="http://schemas.openxmlformats.org/officeDocument/2006/relationships/image" Target="/ppt/media/image19.png" Id="Rfd383ae9c5074ff5" /><Relationship Type="http://schemas.openxmlformats.org/officeDocument/2006/relationships/notesSlide" Target="/ppt/notesSlides/notesSlide24.xml" Id="Rc5b65a1fef934a8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00fd240c0472f" /><Relationship Type="http://schemas.openxmlformats.org/officeDocument/2006/relationships/image" Target="/ppt/media/image20.png" Id="Rc8b3c78aabc34318" /><Relationship Type="http://schemas.openxmlformats.org/officeDocument/2006/relationships/notesSlide" Target="/ppt/notesSlides/notesSlide25.xml" Id="R945ad2c348484cd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c873d58c24e40" /><Relationship Type="http://schemas.openxmlformats.org/officeDocument/2006/relationships/image" Target="/ppt/media/image21.png" Id="Re084dbc269304995" /><Relationship Type="http://schemas.openxmlformats.org/officeDocument/2006/relationships/notesSlide" Target="/ppt/notesSlides/notesSlide26.xml" Id="R76a8966c5f3f4dd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b4e1f8a534409" /><Relationship Type="http://schemas.openxmlformats.org/officeDocument/2006/relationships/image" Target="/ppt/media/image22.png" Id="R2f8971aaaaa84ab2" /><Relationship Type="http://schemas.openxmlformats.org/officeDocument/2006/relationships/notesSlide" Target="/ppt/notesSlides/notesSlide27.xml" Id="Rf067c2de7b4c4bd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41d8b852cc42e6" /><Relationship Type="http://schemas.openxmlformats.org/officeDocument/2006/relationships/notesSlide" Target="/ppt/notesSlides/notesSlide28.xml" Id="Raeac2912a7b845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845231-66EC-4E2F-A88F-C9D24C80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E7A85-8638-48C3-9D07-1B9F9A0A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86F38"/>
                </a:solidFill>
              </a:defRPr>
            </a:pPr>
            <a:r>
              <a:rPr sz="1200" b="1" i="0">
                <a:solidFill>
                  <a:srgbClr val="E86F38"/>
                </a:solidFill>
              </a:rPr>
              <a:t>PROYECTO FINAL DE CARRERA · PRIMERA PRESENTACIÓN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8FB91-96FA-4FCB-9AA5-2B5D636F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6381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 i="0">
                <a:solidFill>
                  <a:srgbClr val="17212B"/>
                </a:solidFill>
              </a:defRPr>
            </a:pPr>
            <a:r>
              <a:rPr sz="5100" b="1" i="0">
                <a:solidFill>
                  <a:srgbClr val="17212B"/>
                </a:solidFill>
              </a:rPr>
              <a:t>Sistema IoT multicanal</a:t>
            </a:r>
          </a:p>
          <a:p xmlns:a="http://schemas.openxmlformats.org/drawingml/2006/main">
            <a:pPr algn="l">
              <a:defRPr sz="5100" b="1" i="0">
                <a:solidFill>
                  <a:srgbClr val="17212B"/>
                </a:solidFill>
              </a:defRPr>
            </a:pPr>
            <a:r>
              <a:rPr sz="5100" b="1" i="0">
                <a:solidFill>
                  <a:srgbClr val="17212B"/>
                </a:solidFill>
              </a:rPr>
              <a:t>para estudios MASW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B69F1-4976-4C0D-9AFE-D67F65AB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5953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0B3C49"/>
                </a:solidFill>
              </a:defRPr>
            </a:pPr>
            <a:r>
              <a:rPr sz="2100" b="0" i="0">
                <a:solidFill>
                  <a:srgbClr val="0B3C49"/>
                </a:solidFill>
              </a:rPr>
              <a:t>De la física de ondas superficiales a una cadena de medición auditable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3143C-728F-4C64-966E-8647F44A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514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A7F270-67BC-448C-B0DD-D549DD07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81525"/>
            <a:ext cx="485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Elías David Álvarez Martínez</a:t>
            </a:r>
          </a:p>
          <a:p xmlns:a="http://schemas.openxmlformats.org/drawingml/2006/main">
            <a:pPr algn="l"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Ingeniería Electrónica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152F0-EBBF-4309-95BB-967341D3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0"/>
            <a:ext cx="4762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C4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1c2da631214ff4"/>
          <a:stretch xmlns:a="http://schemas.openxmlformats.org/drawingml/2006/main"/>
        </p:blipFill>
        <p:spPr>
          <a:xfrm xmlns:a="http://schemas.openxmlformats.org/drawingml/2006/main">
            <a:off x="7715250" y="1786480"/>
            <a:ext cx="3905250" cy="2761164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96E4C-B6DF-453D-8D08-73D8DDDE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781675"/>
            <a:ext cx="3762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FUENTE → SENSOR → AFE → ADC → RED → MASW → Vs(z)</a:t>
            </a:r>
          </a:p>
        </p:txBody>
      </p:sp>
    </p:spTree>
    <p:extLst>
      <p:ext uri="{BB962C8B-B14F-4D97-AF65-F5344CB8AC3E}">
        <p14:creationId xmlns:p14="http://schemas.microsoft.com/office/powerpoint/2010/main" val="13311181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C2E2F2-36BD-4A29-AF0F-BE5F5E92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MAGNITUD OBJETIVO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A7E1F-3A89-4388-BB2A-F8C3E6C2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rigidez que buscamos se observa a través de Vs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75C97-5A35-4D86-96EE-7993D4B9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1BDA7-89C9-4C79-8523-76B8337D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CC6870-7D4C-4804-8075-0CA80AAA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457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350" b="0" i="0">
                <a:solidFill>
                  <a:srgbClr val="0B3C49"/>
                </a:solidFill>
              </a:defRPr>
            </a:pPr>
            <a:r>
              <a:rPr sz="4350" b="0" i="0">
                <a:solidFill>
                  <a:srgbClr val="0B3C49"/>
                </a:solidFill>
              </a:rPr>
              <a:t>Gₘₐₓ = ρ · Vₛ²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C64F68-393D-4885-8CD1-C34B0159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05125"/>
            <a:ext cx="457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7212B"/>
                </a:solidFill>
              </a:defRPr>
            </a:pPr>
            <a:r>
              <a:rPr sz="1875" b="0" i="0">
                <a:solidFill>
                  <a:srgbClr val="17212B"/>
                </a:solidFill>
              </a:rPr>
              <a:t>Un error pequeño en Vs se amplifica al estimar la rigidez. Por eso la cadena debe preservar la información que gobierna la velocidad de propagación.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50563D-41C3-4548-9492-1E1A0851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38300"/>
            <a:ext cx="4095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4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44783-A7CB-490E-955B-65F2AB51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28925"/>
            <a:ext cx="4095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C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D0E7E-4482-429A-81BF-03FF9E40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19550"/>
            <a:ext cx="4095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AC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5DB73-2B85-41B0-A64A-46893147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193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B3C49"/>
                </a:solidFill>
              </a:defRPr>
            </a:pPr>
            <a:r>
              <a:rPr sz="1950" b="1" i="0">
                <a:solidFill>
                  <a:srgbClr val="0B3C49"/>
                </a:solidFill>
              </a:rPr>
              <a:t>capa 1 · Vs₁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FC2591-7A2F-4C6E-A53F-827698E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09925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B3C49"/>
                </a:solidFill>
              </a:defRPr>
            </a:pPr>
            <a:r>
              <a:rPr sz="1950" b="1" i="0">
                <a:solidFill>
                  <a:srgbClr val="0B3C49"/>
                </a:solidFill>
              </a:rPr>
              <a:t>capa 2 · Vs₂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E1F60-AEBD-4F42-BA9C-CE427A5F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5434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semiespacio · Vs₃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29E1A-103F-4269-B01D-3CA39523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8938" y="1952625"/>
            <a:ext cx="476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021EAA-5F68-43B6-A959-63D8E852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181927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22E71-0136-468E-9DD7-18FAB4BD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28637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5717C"/>
                </a:solidFill>
              </a:defRPr>
            </a:pPr>
            <a:r>
              <a:rPr sz="1275" b="0" i="0">
                <a:solidFill>
                  <a:srgbClr val="65717C"/>
                </a:solidFill>
              </a:rPr>
              <a:t>profundidad 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F3B434-B711-45F1-915C-53BBB2C7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relación elástica y alcance del perfil Vs(z)</a:t>
            </a:r>
          </a:p>
        </p:txBody>
      </p:sp>
    </p:spTree>
    <p:extLst>
      <p:ext uri="{BB962C8B-B14F-4D97-AF65-F5344CB8AC3E}">
        <p14:creationId xmlns:p14="http://schemas.microsoft.com/office/powerpoint/2010/main" val="7934132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B5EBDD-F6B2-47D2-A6F5-F07799D0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FÍSICA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AE114-DCC6-4644-9F0A-F0B8CC98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Las ondas Rayleigh convierten la superficie en una sonda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30BC5-DB13-48C3-8742-29738674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A2161-810B-4FA8-9E98-F4C9F209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f34fa221c4313"/>
          <a:stretch xmlns:a="http://schemas.openxmlformats.org/drawingml/2006/main"/>
        </p:blipFill>
        <p:spPr>
          <a:xfrm xmlns:a="http://schemas.openxmlformats.org/drawingml/2006/main">
            <a:off x="745292" y="1428750"/>
            <a:ext cx="5805566" cy="43338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EE7BB-73E8-42E3-8504-E4AFBAE9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638300"/>
            <a:ext cx="20955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3C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582997-5D34-4B73-8F1E-63FBF7A1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676400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ONDAS SUPERFICIALES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E40F3-DA13-45CF-A352-AC4035A5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43125"/>
            <a:ext cx="3714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7212B"/>
                </a:solidFill>
              </a:defRPr>
            </a:pPr>
            <a:r>
              <a:rPr sz="2100" b="1" i="0">
                <a:solidFill>
                  <a:srgbClr val="17212B"/>
                </a:solidFill>
              </a:rPr>
              <a:t>El movimiento elíptico decae con la profundidad, pero no desaparece de inmediato.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DC951-AA01-4F42-8DB3-8C653F42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19450"/>
            <a:ext cx="3714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5717C"/>
                </a:solidFill>
              </a:defRPr>
            </a:pPr>
            <a:r>
              <a:rPr sz="1800" b="0" i="0">
                <a:solidFill>
                  <a:srgbClr val="65717C"/>
                </a:solidFill>
              </a:rPr>
              <a:t>Cada frecuencia concentra sensibilidad en una zona distinta del subsuelo. La dispersión geométrica aparece cuando esas zonas tienen propiedades diferentes.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F1BC8-1037-4CCB-9DE0-474D8CC7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933950"/>
            <a:ext cx="3714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BB4AAB-43D1-4C49-8338-AC1E90F7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1435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3C49"/>
                </a:solidFill>
              </a:defRPr>
            </a:pPr>
            <a:r>
              <a:rPr sz="1650" b="1" i="0">
                <a:solidFill>
                  <a:srgbClr val="0B3C49"/>
                </a:solidFill>
              </a:rPr>
              <a:t>La profundidad se infiere por sensibilidad, no por una regla universal.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ADC1E7-C5ED-4ECE-9CBA-DE096E73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 visual: investigación de tesis · propagación de ondas Rayleigh</a:t>
            </a:r>
          </a:p>
        </p:txBody>
      </p:sp>
    </p:spTree>
    <p:extLst>
      <p:ext uri="{BB962C8B-B14F-4D97-AF65-F5344CB8AC3E}">
        <p14:creationId xmlns:p14="http://schemas.microsoft.com/office/powerpoint/2010/main" val="4269124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E70C10-6526-490E-9D69-0A6F27D0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REQUISITO ESPECTRAL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A2BE32-0134-42D5-B844-2C0C58B7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Para mirar más profundo necesitamos longitudes de onda mayores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651B3B-859A-4661-8B8A-37B912E4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53E358-E4E5-4847-BACA-59F32CE3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69c60d0f9646bf"/>
          <a:stretch xmlns:a="http://schemas.openxmlformats.org/drawingml/2006/main"/>
        </p:blipFill>
        <p:spPr>
          <a:xfrm xmlns:a="http://schemas.openxmlformats.org/drawingml/2006/main">
            <a:off x="523875" y="1814291"/>
            <a:ext cx="6096000" cy="360089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1C5F6-4EE7-4028-94AE-DDEAE892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954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900" b="0" i="0">
                <a:solidFill>
                  <a:srgbClr val="0B3C49"/>
                </a:solidFill>
              </a:defRPr>
            </a:pPr>
            <a:r>
              <a:rPr sz="3900" b="0" i="0">
                <a:solidFill>
                  <a:srgbClr val="0B3C49"/>
                </a:solidFill>
              </a:rPr>
              <a:t>λ = cᴿ / 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80A5E-7268-44CD-9330-26FAC806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67000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E86F38"/>
                </a:solidFill>
              </a:defRPr>
            </a:pPr>
            <a:r>
              <a:rPr sz="2100" b="1" i="0">
                <a:solidFill>
                  <a:srgbClr val="E86F38"/>
                </a:solidFill>
              </a:rPr>
              <a:t>↓ frecuencia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F9705-8151-46E2-A54E-025A1674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6700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0B3C49"/>
                </a:solidFill>
              </a:defRPr>
            </a:pPr>
            <a:r>
              <a:rPr sz="2100" b="1" i="0">
                <a:solidFill>
                  <a:srgbClr val="0B3C49"/>
                </a:solidFill>
              </a:rPr>
              <a:t>↑ longitud de onda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B06FD-42E2-4908-903D-3B4DBFCD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38450"/>
            <a:ext cx="2190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A7BFFB-0846-43FE-B718-0F148A96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963025" y="277177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140064-A0B5-4AD9-9AAF-1A439707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29000"/>
            <a:ext cx="3905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La fuente, el sensor y el AFE deben conservar la banda baja antes del ADC. Ningún filtro digital puede reconstruir señal que quedó por debajo del ruido analógico.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73097-3C97-4EAF-882D-418D0023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219700"/>
            <a:ext cx="17145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380C69-CF7E-44F9-BD74-02AB264D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5267325"/>
            <a:ext cx="1562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E86F38"/>
                </a:solidFill>
              </a:defRPr>
            </a:pPr>
            <a:r>
              <a:rPr sz="975" b="1" i="0">
                <a:solidFill>
                  <a:srgbClr val="E86F38"/>
                </a:solidFill>
              </a:rPr>
              <a:t>REQUISITO FÍSICO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7FBFF-A41A-41D5-919E-2D154797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longitud de onda y profundidad de investigación</a:t>
            </a:r>
          </a:p>
        </p:txBody>
      </p:sp>
    </p:spTree>
    <p:extLst>
      <p:ext uri="{BB962C8B-B14F-4D97-AF65-F5344CB8AC3E}">
        <p14:creationId xmlns:p14="http://schemas.microsoft.com/office/powerpoint/2010/main" val="770891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883C85-1FF9-4954-BB98-021C5DAB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OBSERVABLE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34DFDD-A3D6-4E7B-B05C-BB31204D5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MASW mide cómo cambia la fase entre receptores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3B3563-B9D4-417F-9067-7450CA74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4E1A3-41E8-4CEE-A75A-4A9DC5A5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0a26b339e4742"/>
          <a:stretch xmlns:a="http://schemas.openxmlformats.org/drawingml/2006/main"/>
        </p:blipFill>
        <p:spPr>
          <a:xfrm xmlns:a="http://schemas.openxmlformats.org/drawingml/2006/main">
            <a:off x="556116" y="1504950"/>
            <a:ext cx="6117242" cy="4191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4D7D0C-06A9-4857-B6A6-312B8F5D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52625"/>
            <a:ext cx="4524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0" i="0">
                <a:solidFill>
                  <a:srgbClr val="0B3C49"/>
                </a:solidFill>
              </a:defRPr>
            </a:pPr>
            <a:r>
              <a:rPr sz="3150" b="0" i="0">
                <a:solidFill>
                  <a:srgbClr val="0B3C49"/>
                </a:solidFill>
              </a:rPr>
              <a:t>cᴿ(f) = ω · Δx / |Δφ(f)|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ACCEB-A732-4398-B4B8-F5B6A882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19450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7212B"/>
                </a:solidFill>
              </a:defRPr>
            </a:pPr>
            <a:r>
              <a:rPr sz="2025" b="1" i="0">
                <a:solidFill>
                  <a:srgbClr val="17212B"/>
                </a:solidFill>
              </a:rPr>
              <a:t>La sincronización temporal y la geometría entran directamente en la estimación de velocidad.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BB9476-33C6-4D28-9B14-550405AB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29125"/>
            <a:ext cx="3714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5717C"/>
                </a:solidFill>
              </a:defRPr>
            </a:pPr>
            <a:r>
              <a:rPr sz="1725" b="0" i="0">
                <a:solidFill>
                  <a:srgbClr val="65717C"/>
                </a:solidFill>
              </a:rPr>
              <a:t>Amplitud ayuda al control de calidad; fase y espaciamiento fijan c(f).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ADAE14-7D04-4366-9A6E-0EFEFB6B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velocidad de fase por diferencia de fase</a:t>
            </a:r>
          </a:p>
        </p:txBody>
      </p:sp>
    </p:spTree>
    <p:extLst>
      <p:ext uri="{BB962C8B-B14F-4D97-AF65-F5344CB8AC3E}">
        <p14:creationId xmlns:p14="http://schemas.microsoft.com/office/powerpoint/2010/main" val="20862481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AA6F43-1E59-44EF-ADE9-AE89AAB0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TRANSFORMACIÓN MASW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75CB88-8D1E-43EA-9944-BE92600F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Park enfoca la energía donde la fase es coherente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B3EBE-D6AF-4829-9CBC-75A06D71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377BDB-CC4F-41C5-89C8-9C59124C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8137D-769B-4A84-A4CE-24376161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362075"/>
            <a:ext cx="971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925" b="0" i="0">
                <a:solidFill>
                  <a:srgbClr val="0B3C49"/>
                </a:solidFill>
              </a:defRPr>
            </a:pPr>
            <a:r>
              <a:rPr sz="2925" b="0" i="0">
                <a:solidFill>
                  <a:srgbClr val="0B3C49"/>
                </a:solidFill>
              </a:rPr>
              <a:t>S(ω,c) = | Σⱼ Xⱼ(ω) · eⁱωxʲᐟᶜ |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4f880a361b4cae"/>
          <a:stretch xmlns:a="http://schemas.openxmlformats.org/drawingml/2006/main"/>
        </p:blipFill>
        <p:spPr>
          <a:xfrm xmlns:a="http://schemas.openxmlformats.org/drawingml/2006/main">
            <a:off x="571500" y="2741839"/>
            <a:ext cx="4762500" cy="204107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E7DF2-7A54-4274-902B-81017074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719513"/>
            <a:ext cx="10001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ADF60A-EC0A-4D9E-875B-7C929CBF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438900" y="36576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9b09f921b4b74"/>
          <a:stretch xmlns:a="http://schemas.openxmlformats.org/drawingml/2006/main"/>
        </p:blipFill>
        <p:spPr>
          <a:xfrm xmlns:a="http://schemas.openxmlformats.org/drawingml/2006/main">
            <a:off x="6762750" y="2333625"/>
            <a:ext cx="4762500" cy="2857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72A9FC-3370-48FC-A694-47EE8301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467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B3C49"/>
                </a:solidFill>
              </a:defRPr>
            </a:pPr>
            <a:r>
              <a:rPr sz="1500" b="1" i="0">
                <a:solidFill>
                  <a:srgbClr val="0B3C49"/>
                </a:solidFill>
              </a:rPr>
              <a:t>trazas xⱼ(t)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6F8EA-AC0D-480D-B34A-979EBCA0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467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B3C49"/>
                </a:solidFill>
              </a:defRPr>
            </a:pPr>
            <a:r>
              <a:rPr sz="1500" b="1" i="0">
                <a:solidFill>
                  <a:srgbClr val="0B3C49"/>
                </a:solidFill>
              </a:rPr>
              <a:t>imagen S(f,c)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09897-410C-4D5A-9CE7-4E2E78AD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e INFORME_COMPLETO.pdf · formulación Park y benchmark</a:t>
            </a:r>
          </a:p>
        </p:txBody>
      </p:sp>
    </p:spTree>
    <p:extLst>
      <p:ext uri="{BB962C8B-B14F-4D97-AF65-F5344CB8AC3E}">
        <p14:creationId xmlns:p14="http://schemas.microsoft.com/office/powerpoint/2010/main" val="21197463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661A2A-1002-4907-A94F-8AE9A429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PROBLEMA INVERSO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232273-A2D8-4EE7-BA2C-0E8DFC61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 inversión produce modelos compatibles, no una solución única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50A005-66A6-4292-9E60-0FDE03F3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6CD8E-60A9-47CD-883E-D07AFB6D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0ede88a3934cd0"/>
          <a:stretch xmlns:a="http://schemas.openxmlformats.org/drawingml/2006/main"/>
        </p:blipFill>
        <p:spPr>
          <a:xfrm xmlns:a="http://schemas.openxmlformats.org/drawingml/2006/main">
            <a:off x="1845951" y="1466850"/>
            <a:ext cx="2604123" cy="42386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E640B-9955-4FAA-8C1F-2392A0E6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192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0" i="0">
                <a:solidFill>
                  <a:srgbClr val="0B3C49"/>
                </a:solidFill>
              </a:defRPr>
            </a:pPr>
            <a:r>
              <a:rPr sz="2550" b="0" i="0">
                <a:solidFill>
                  <a:srgbClr val="0B3C49"/>
                </a:solidFill>
              </a:rPr>
              <a:t>F(c, f, h, Vₛ, Vₚ, ρ) =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003FB-D6FA-4FDE-9D32-8C8789CC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76500"/>
            <a:ext cx="5448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 i="0">
                <a:solidFill>
                  <a:srgbClr val="0B3C49"/>
                </a:solidFill>
              </a:defRPr>
            </a:pPr>
            <a:r>
              <a:rPr sz="2250" b="0" i="0">
                <a:solidFill>
                  <a:srgbClr val="0B3C49"/>
                </a:solidFill>
              </a:rPr>
              <a:t>m* = arg minₘ [‖W(dobs−g(m))‖² + λR(m)]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8DACA7-939E-4641-A93B-79ABB11E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7665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F6F62"/>
                </a:solidFill>
              </a:defRPr>
            </a:pPr>
            <a:r>
              <a:rPr sz="1800" b="1" i="0">
                <a:solidFill>
                  <a:srgbClr val="2F6F62"/>
                </a:solidFill>
              </a:rPr>
              <a:t>Lo robusto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3A6D0-A213-4B78-A1F7-2BB9D640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06717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c(f) y su soporte observado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F83220-6B7C-4EC9-8F31-15CE4164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9582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86F38"/>
                </a:solidFill>
              </a:defRPr>
            </a:pPr>
            <a:r>
              <a:rPr sz="1800" b="1" i="0">
                <a:solidFill>
                  <a:srgbClr val="E86F38"/>
                </a:solidFill>
              </a:rPr>
              <a:t>Lo sensible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24A7F8-E0EA-45F7-AE73-5CA0047D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863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número de capas, regularización y Vs(z)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4A62CC-E2C3-4018-9667-D48FC08A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e INFORME_COMPLETO.pdf · inversión y no unicidad</a:t>
            </a:r>
          </a:p>
        </p:txBody>
      </p:sp>
    </p:spTree>
    <p:extLst>
      <p:ext uri="{BB962C8B-B14F-4D97-AF65-F5344CB8AC3E}">
        <p14:creationId xmlns:p14="http://schemas.microsoft.com/office/powerpoint/2010/main" val="13058815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4BA284-CF96-45C8-B878-8BE0DF15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ARQUITECTURA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71190-1C21-4D0A-9B9F-F77FDED2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física se traduce en cuatro requisitos de sistema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E72DA-3EC1-4D29-AEE0-9CF0018A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9D992-FC54-4A36-A3C7-88690798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128E62-E3BB-4447-8438-B03FA143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0F188-D2D2-42F8-ABC4-0714F901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859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6B6BC6-FD7F-4C47-9F09-52C2AC9B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430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E86F38"/>
                </a:solidFill>
              </a:defRPr>
            </a:pPr>
            <a:r>
              <a:rPr sz="1875" b="1" i="0">
                <a:solidFill>
                  <a:srgbClr val="E86F38"/>
                </a:solidFill>
              </a:rPr>
              <a:t>BANDA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73326-E0DF-41F5-834F-E140522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859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inyectar y conservar baja frecuencia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30A15-D7FC-4495-A19F-91C12EF3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82880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214C3-A53E-4FDD-A7AB-7B3DFA53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280831-B416-4FBF-8BC9-E0AA14559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1BAF3A-1059-48A9-8769-88524E94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4317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F6F8B"/>
                </a:solidFill>
              </a:defRPr>
            </a:pPr>
            <a:r>
              <a:rPr sz="1875" b="1" i="0">
                <a:solidFill>
                  <a:srgbClr val="1F6F8B"/>
                </a:solidFill>
              </a:rPr>
              <a:t>FASE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E6E52E-C58C-4E26-ABDB-3E45280D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86075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sincronizar y conocer la geometría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3904F-EA43-4B60-BC21-79A0BB0E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828925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DB92A4-ED2E-4898-A7F4-87E5586BA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58DC81-BB16-4C9B-A8AE-4550B5B3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8617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4AB640-EF90-45B2-AD0C-C8A8C957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433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F6F62"/>
                </a:solidFill>
              </a:defRPr>
            </a:pPr>
            <a:r>
              <a:rPr sz="1875" b="1" i="0">
                <a:solidFill>
                  <a:srgbClr val="2F6F62"/>
                </a:solidFill>
              </a:rPr>
              <a:t>INTEGRIDAD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B0DE42-711F-46C4-9A6F-24AE06B3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8620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transportar sin inventar muestras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1BF436-32F2-4355-AADF-3BBEF081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8290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698782-4C13-4E6A-B135-E20BA840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3C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2D0B44-81C8-441F-8ABB-CD47D55A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23273A-A052-486A-B288-18047881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434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B3C49"/>
                </a:solidFill>
              </a:defRPr>
            </a:pPr>
            <a:r>
              <a:rPr sz="1875" b="1" i="0">
                <a:solidFill>
                  <a:srgbClr val="0B3C49"/>
                </a:solidFill>
              </a:rPr>
              <a:t>AUDITORÍA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BA01D6-4EB2-4513-AC5D-2423C7C1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86325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guardar metadatos, QC e incertidumbre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5EF95F-25E8-4ED2-A7AA-D0977A4C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829175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C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93A628-FB01-48F9-9FE1-139C7E31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Síntesis de requisitos derivada de la física y del alcance de la tesis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597360-97D5-4E28-BB6C-098B6EAB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F47D68-1C19-4B2A-B514-3D87A2DF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FUENTE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E93E20-B0CF-4C65-BDFB-67157A10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919ED5-81F7-4B76-80AC-6965412A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AAB365-F705-46AD-A73C-BBA317C5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2652D7-622A-41AB-9F00-8D76B839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4F09EA-0968-4ED0-9FFD-05DCB3CD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70FEA5-BD38-4B13-8A71-4B80441C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ADC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31029D-3BC4-4A6B-BF75-4DFF3AD3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93D4B2-4A7C-4B0B-85ED-B09FC448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SINCRONÍA / RED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708F22-4AD2-4452-A10A-623F4B86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01B2FE-299F-4FB9-A41D-8754201A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INGESTA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BA601C-AF51-4301-AC1D-6847ED61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33B60C-FEC1-4558-9AE9-9A22F334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AB95A45-ADF4-4C2D-AC9B-EA07F01F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E543E9-2DD6-4318-BC0B-E2DDA0F0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INVERSIÓN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2B5FE7B-8E8E-49C9-9852-FA6C6A04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073116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55C4A0-94DF-4504-8200-8FAEE271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IMPLEMENTACIÓN · FUENTE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61E8BA-9D12-407E-A235-C5BBDC08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fuente actual mide el golpe y fija el tiempo cero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9A685-6ADB-449F-B065-E102E323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5EF29-C25C-481E-88CC-E1B829C8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a1f80fc0640ec"/>
          <a:stretch xmlns:a="http://schemas.openxmlformats.org/drawingml/2006/main"/>
        </p:blipFill>
        <p:spPr>
          <a:xfrm xmlns:a="http://schemas.openxmlformats.org/drawingml/2006/main">
            <a:off x="1707998" y="1476375"/>
            <a:ext cx="2918130" cy="4286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3F9C2D-6E8C-41B1-90CA-A61D9410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76400"/>
            <a:ext cx="15621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3C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BA222-BB02-4642-9F7B-37347896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14500"/>
            <a:ext cx="1409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PCB 086D20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158A4C-D8FC-4E30-8229-8ED86F87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764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0B3C4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5A3A12-9466-487D-A773-D0F230EE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724025"/>
            <a:ext cx="14192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B3C49"/>
                </a:solidFill>
              </a:defRPr>
            </a:pPr>
            <a:r>
              <a:rPr sz="975" b="1" i="0">
                <a:solidFill>
                  <a:srgbClr val="0B3C49"/>
                </a:solidFill>
              </a:rPr>
              <a:t>IMPLEMENTADO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E70CF9-5F06-4348-8092-7D24F6EA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2860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7212B"/>
                </a:solidFill>
              </a:defRPr>
            </a:pPr>
            <a:r>
              <a:rPr sz="1950" b="1" i="0">
                <a:solidFill>
                  <a:srgbClr val="17212B"/>
                </a:solidFill>
              </a:rPr>
              <a:t>Salida ICP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B34998-62FB-4DF1-A10B-46236955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86050"/>
            <a:ext cx="4000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5717C"/>
                </a:solidFill>
              </a:defRPr>
            </a:pPr>
            <a:r>
              <a:rPr sz="1800" b="0" i="0">
                <a:solidFill>
                  <a:srgbClr val="65717C"/>
                </a:solidFill>
              </a:rPr>
              <a:t>El impacto se registra como canal de referencia y genera el disparo de adquisición.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CC2A3C-E3ED-4A33-885E-C0771042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62375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09241-ED50-4CFC-A643-CEB5F5AC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005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F6F62"/>
                </a:solidFill>
              </a:defRPr>
            </a:pPr>
            <a:r>
              <a:rPr sz="1650" b="1" i="0">
                <a:solidFill>
                  <a:srgbClr val="2F6F62"/>
                </a:solidFill>
              </a:rPr>
              <a:t>Fortaleza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FBCBB3-8239-4B55-935A-3171AA9C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00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evento temporal observable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7621B1-91A0-4788-BA0E-D660397D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5148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86F38"/>
                </a:solidFill>
              </a:defRPr>
            </a:pPr>
            <a:r>
              <a:rPr sz="1650" b="1" i="0">
                <a:solidFill>
                  <a:srgbClr val="E86F38"/>
                </a:solidFill>
              </a:rPr>
              <a:t>Límite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E7AE46-F354-4FB8-AEAE-5BA3AA29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14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energía baja poco repetible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13863-87CF-4426-896B-1261805B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excitación instrumentada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B89461-AA1D-4855-A655-5A350CA9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8C329A-5C01-42BC-9D0E-4A34C77C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FUENTE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1EB0D3-3D5E-48B5-A2BF-2B267FC0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4DC1AB-474E-4B52-AD33-A810CE29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B2A27F-B6DE-4985-B9FE-4561D777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9095D3-CE73-456F-8C10-F9C94DB2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148158-A7AB-4833-9217-BB5AA66A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FCB331-18AD-4372-BC2E-55A18698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194D3C-7D3D-4FE6-B5AF-377C1C99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2D9428-B952-4231-89F0-062A72E0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7D390D-F7E4-487C-AAE8-B9D5196F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EA8F65-2C1F-4D42-A84D-B5C0EFFC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265366-1DFC-4FEC-859A-28469E7F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6224EB-1D1C-4117-87E5-B1D37799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085339-4833-4648-A237-6F9898FF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402836-5BBA-41A0-A4C5-D630EFB6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290B16-8105-45FE-893D-180EBA14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744287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08C0F5-E580-480C-8C41-44FB08B68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IMPLEMENTACIÓN · SENSOR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290C3-BF80-4D6F-BD6D-573129F4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El SM-24 es funcional, pero limita la profundidad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62F28D-F617-415C-BDCF-78A85200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4867D-35AB-4F82-818F-6912A424D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b9c79586804203"/>
          <a:stretch xmlns:a="http://schemas.openxmlformats.org/drawingml/2006/main"/>
        </p:blipFill>
        <p:spPr>
          <a:xfrm xmlns:a="http://schemas.openxmlformats.org/drawingml/2006/main">
            <a:off x="947738" y="1524000"/>
            <a:ext cx="4238625" cy="42386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05BF8-8D3F-476F-8EEF-5E1DE5AA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192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0B3C49"/>
                </a:solidFill>
              </a:defRPr>
            </a:pPr>
            <a:r>
              <a:rPr sz="3150" b="1" i="0">
                <a:solidFill>
                  <a:srgbClr val="0B3C49"/>
                </a:solidFill>
              </a:rPr>
              <a:t>SM-24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59D8A-09B7-4DE9-8EEC-33BDBC7F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1704975"/>
            <a:ext cx="15240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0B3C4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FCEB3-33BF-485B-B24E-D82B4E51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1752600"/>
            <a:ext cx="1371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B3C49"/>
                </a:solidFill>
              </a:defRPr>
            </a:pPr>
            <a:r>
              <a:rPr sz="975" b="1" i="0">
                <a:solidFill>
                  <a:srgbClr val="0B3C49"/>
                </a:solidFill>
              </a:rPr>
              <a:t>DISPONIBLE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1B0440-E036-482A-B11E-9ECFE81A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43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Frecuencia natural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DB8041-44B1-43A6-971C-3C80BE99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7650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550" b="1" i="0">
                <a:solidFill>
                  <a:srgbClr val="E86F38"/>
                </a:solidFill>
              </a:defRPr>
            </a:pPr>
            <a:r>
              <a:rPr sz="2550" b="1" i="0">
                <a:solidFill>
                  <a:srgbClr val="E86F38"/>
                </a:solidFill>
              </a:rPr>
              <a:t>10 Hz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CE185E-7619-4EF0-B08A-4557CDF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57525"/>
            <a:ext cx="447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88E8A-EC80-4FDB-8EEE-4365D504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37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Uso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62BAE2-98FA-4A31-8115-E5DC7B4C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861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875" b="1" i="0">
                <a:solidFill>
                  <a:srgbClr val="17212B"/>
                </a:solidFill>
              </a:defRPr>
            </a:pPr>
            <a:r>
              <a:rPr sz="1875" b="1" i="0">
                <a:solidFill>
                  <a:srgbClr val="17212B"/>
                </a:solidFill>
              </a:rPr>
              <a:t>movimiento vertical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B24C73-1B0A-4F38-8998-CC0011B4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38575"/>
            <a:ext cx="447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D65634-A411-40BA-A5EE-12F6B6F5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2432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Decisión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5F8EC9-1E4A-48C5-9D44-09641CE8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76700"/>
            <a:ext cx="2552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875" b="1" i="0">
                <a:solidFill>
                  <a:srgbClr val="17212B"/>
                </a:solidFill>
              </a:defRPr>
            </a:pPr>
            <a:r>
              <a:rPr sz="1875" b="1" i="0">
                <a:solidFill>
                  <a:srgbClr val="17212B"/>
                </a:solidFill>
              </a:rPr>
              <a:t>compensar la caída,</a:t>
            </a:r>
          </a:p>
          <a:p xmlns:a="http://schemas.openxmlformats.org/drawingml/2006/main">
            <a:pPr algn="r">
              <a:defRPr sz="1875" b="1" i="0">
                <a:solidFill>
                  <a:srgbClr val="17212B"/>
                </a:solidFill>
              </a:defRPr>
            </a:pPr>
            <a:r>
              <a:rPr sz="1875" b="1" i="0">
                <a:solidFill>
                  <a:srgbClr val="17212B"/>
                </a:solidFill>
              </a:rPr>
              <a:t>sin ocultar el ruido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467959-0728-4FAE-8464-C9657B66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43500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B3C49"/>
                </a:solidFill>
              </a:defRPr>
            </a:pPr>
            <a:r>
              <a:rPr sz="1575" b="0" i="0">
                <a:solidFill>
                  <a:srgbClr val="0B3C49"/>
                </a:solidFill>
              </a:rPr>
              <a:t>La disponibilidad justificó el prototipo; la banda profunda exige validar otra fuente o sensor.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CACD8A-05E0-4BD2-AE80-9878E7907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transductor SM-24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59497A-3A5B-4056-AAA1-7A4C519C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55B84-FC2D-4AA7-9CBB-31A47883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13642A-96E2-4B32-A742-614EF1DD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0B9922-8CB2-45CE-93AB-F3E04608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935DC7-8A54-41FC-9708-9D4332A3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B90B6A-AEFE-4AF7-A0F5-481994CF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9F9FFD-0B0F-4DF9-A979-249D80CC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C4F63C-0BA9-4492-9899-227F117C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D561F4-E01D-4F97-9672-B22D628F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024564-9776-4BFC-A0F0-A6397A18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D3511F-07B2-4551-AECC-3FC5C7CC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6036EF-5370-462C-8135-002AEF76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023636-6FA8-4677-B1BB-FB2064E3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4502FB-74B0-4F1D-9593-879CD47B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D55310-5C56-4803-8EED-86237795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C359DB-EF91-4EA6-A325-772949BA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84D4D6-86C0-473E-BD77-5239155C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011676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30A2DE-D89B-47DE-A888-223091D4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MODELO DEL SENSOR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2EB211-281F-474C-B7E3-E5B53E9C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 misma mecánica se ve distinta según la variable de entrada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BECA41-E209-452B-9F9C-16EF0C5A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FA1E56-DED1-46ED-A0F3-B482B7D4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2030ed51a547ea"/>
          <a:stretch xmlns:a="http://schemas.openxmlformats.org/drawingml/2006/main"/>
        </p:blipFill>
        <p:spPr>
          <a:xfrm xmlns:a="http://schemas.openxmlformats.org/drawingml/2006/main">
            <a:off x="590550" y="1499714"/>
            <a:ext cx="5905500" cy="423957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8D9D7-F111-4791-B0F6-F599794C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621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F6F8B"/>
                </a:solidFill>
              </a:defRPr>
            </a:pPr>
            <a:r>
              <a:rPr sz="1650" b="1" i="0">
                <a:solidFill>
                  <a:srgbClr val="1F6F8B"/>
                </a:solidFill>
              </a:rPr>
              <a:t>referida a velocidad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09EA6A-7AA1-4DDC-B3C2-7B7A59C9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4524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0B3C49"/>
                </a:solidFill>
              </a:defRPr>
            </a:pPr>
            <a:r>
              <a:rPr sz="2100" b="0" i="0">
                <a:solidFill>
                  <a:srgbClr val="0B3C49"/>
                </a:solidFill>
              </a:rPr>
              <a:t>Hᵥ(s) ∝ s² / (s² + 2ζωₙs + ωₙ²)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C31AA-3BA3-48D1-B0D5-530852D7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289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 i="0">
                <a:solidFill>
                  <a:srgbClr val="65717C"/>
                </a:solidFill>
              </a:defRPr>
            </a:pPr>
            <a:r>
              <a:rPr sz="1575" b="0" i="0">
                <a:solidFill>
                  <a:srgbClr val="65717C"/>
                </a:solidFill>
              </a:rPr>
              <a:t>≈ 40 dB/década debajo de fₙ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EEDB8-0367-4FD4-B13F-A19D4C6D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143250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B89834-FCCF-40B0-9A98-3C092825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409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86F38"/>
                </a:solidFill>
              </a:defRPr>
            </a:pPr>
            <a:r>
              <a:rPr sz="1650" b="1" i="0">
                <a:solidFill>
                  <a:srgbClr val="E86F38"/>
                </a:solidFill>
              </a:rPr>
              <a:t>referida a aceleración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989A5-A162-4A6A-ADED-941A9D1A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10000"/>
            <a:ext cx="4524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0B3C49"/>
                </a:solidFill>
              </a:defRPr>
            </a:pPr>
            <a:r>
              <a:rPr sz="2100" b="0" i="0">
                <a:solidFill>
                  <a:srgbClr val="0B3C49"/>
                </a:solidFill>
              </a:rPr>
              <a:t>Hₐ(s) ∝ s / (s² + 2ζωₙs + ωₙ²)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8DA0B-B110-4FA2-A8F0-8E8B4B80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8627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 i="0">
                <a:solidFill>
                  <a:srgbClr val="65717C"/>
                </a:solidFill>
              </a:defRPr>
            </a:pPr>
            <a:r>
              <a:rPr sz="1575" b="0" i="0">
                <a:solidFill>
                  <a:srgbClr val="65717C"/>
                </a:solidFill>
              </a:rPr>
              <a:t>≈ 20 dB/década debajo de fₙ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9E2D4-E71D-4ADD-9CEC-158C008E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114925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0B3C49"/>
                </a:solidFill>
              </a:defRPr>
            </a:pPr>
            <a:r>
              <a:rPr sz="1575" b="1" i="0">
                <a:solidFill>
                  <a:srgbClr val="0B3C49"/>
                </a:solidFill>
              </a:rPr>
              <a:t>Compensar no cambia la información física: sólo redistribuye ganancia y ruido.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BD8184-41F9-499D-9491-33674C61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funciones de transferencia del geófono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CE3CF7-E84C-4AAC-8D62-12EF56DE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9C2818-2B61-48A4-8508-A9FFA82E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67D78-4F37-4147-800C-15E7C05F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150FBE-9607-4110-A8B3-48381AD7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9F7899-DF5A-4855-8115-61948745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0140CB-9391-4E82-B0CA-54E56237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56311-CE1F-439D-989C-355CA367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CE994C-82CA-4138-8BE6-66343ADD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3BD27F-8BD0-4486-93A6-56302291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A1A8AC-58AC-4B7D-98AC-69A03967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2A9EDF-A6D9-4F4E-9235-7650FC3F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DCEC1E-47DE-4696-BA83-49987109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683830-3D8B-4E79-B78E-9076DCEF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6D8CF7-454B-413F-B552-CC99B36A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649221-2D83-4AE2-B879-94412867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5FBE29-2057-43AC-B313-4B47404E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D948F8-DC73-465C-85BC-05ADD42B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137957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ECC3AF-AFDA-46FE-A96C-87CC5AF3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IMPLEMENTACIÓN · AFE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25E62-5878-4210-988E-EAC79BEB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Compensación Ma para recuperar banda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9ED37-A46D-49E7-9C53-529DA50A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61A081-9995-4E24-87C7-D6A7B83D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ecbfdc1cf4d3d"/>
          <a:stretch xmlns:a="http://schemas.openxmlformats.org/drawingml/2006/main"/>
        </p:blipFill>
        <p:spPr>
          <a:xfrm xmlns:a="http://schemas.openxmlformats.org/drawingml/2006/main">
            <a:off x="495300" y="2038441"/>
            <a:ext cx="5905500" cy="279064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A13CDB-E2CD-4678-BF4A-44794A4A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90675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0" i="0">
                <a:solidFill>
                  <a:srgbClr val="0B3C49"/>
                </a:solidFill>
              </a:defRPr>
            </a:pPr>
            <a:r>
              <a:rPr sz="3150" b="0" i="0">
                <a:solidFill>
                  <a:srgbClr val="0B3C49"/>
                </a:solidFill>
              </a:rPr>
              <a:t>ζ₁ ≈ 938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B6669C-19D8-445D-96A4-8DD4B313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81250"/>
            <a:ext cx="476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625" b="0" i="0">
                <a:solidFill>
                  <a:srgbClr val="0B3C49"/>
                </a:solidFill>
              </a:defRPr>
            </a:pPr>
            <a:r>
              <a:rPr sz="2625" b="0" i="0">
                <a:solidFill>
                  <a:srgbClr val="0B3C49"/>
                </a:solidFill>
              </a:rPr>
              <a:t>1 / (2ζ₁) ≈ 5,3 × 10⁻⁴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6FB3C1-D961-49BE-8123-EA3EF6F3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40481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7212B"/>
                </a:solidFill>
              </a:defRPr>
            </a:pPr>
            <a:r>
              <a:rPr sz="1800" b="0" i="0">
                <a:solidFill>
                  <a:srgbClr val="17212B"/>
                </a:solidFill>
              </a:rPr>
              <a:t>La red genera una respuesta complementaria a la caída del sensor y distribuye la ganancia entre bloques.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41AA7-E9B2-4409-8FCB-0F6A1197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629150"/>
            <a:ext cx="2952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89C9F9-F584-40B7-B0C4-1D69BB3E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667250"/>
            <a:ext cx="2800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GANANCIA TOTAL ≈ 1800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DD492A-FA50-4444-9664-093694FC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compensación Ma y frente analógico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DB7BE8-A767-4DCF-B037-EF652FBB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845148-37DD-407D-A6B4-E426FF9B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EA3DE0-F8F3-4CFB-96F2-305D0710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3421E6-E813-44CF-80AE-6A2EA748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CCF69A-2B1C-47E7-8D51-FCA31DC3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D5AA3E-0E78-4C42-A0D8-3CDFB806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C9DE5D-00EF-441D-94FD-CE50A254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187FB8-4215-4D99-964A-CFAD0F73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8A2D35-5E7F-4495-AEFF-8F9B0A91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598473-030E-4A07-AF63-6A7920A5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4A336B-FF23-4332-B489-D2FAE86E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F057ED-2BB7-4150-9C41-54E42AAC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8B80C2-6EB0-4E50-921A-8BB442AF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014279-1292-484C-A24E-83A79990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02E825-C968-43E4-B5F1-B495D74C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B882AF-D327-4844-9694-135F2418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A7D2A5-18B5-4981-BA11-991A899F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119566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246E46-2E67-48C5-99CB-C095C08E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RESULTADO MEDIDO · AFE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20FA9-C802-4368-9D21-84D984A2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Recuperar baja frecuencia consume rango dinámico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CA117-4FF0-4696-B8C8-42FBA3F5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87659-B22D-4956-BED0-23983CFC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4e34504044fd9"/>
          <a:stretch xmlns:a="http://schemas.openxmlformats.org/drawingml/2006/main"/>
        </p:blipFill>
        <p:spPr>
          <a:xfrm xmlns:a="http://schemas.openxmlformats.org/drawingml/2006/main">
            <a:off x="523875" y="1933131"/>
            <a:ext cx="6572250" cy="346798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28F56-77D0-47A1-9755-C122684E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76375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1DBE0C-40DE-4FA3-80DA-DE4E2C9F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24000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MEDIDO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E4745-8A49-4637-8632-45DD661E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76450"/>
            <a:ext cx="319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525" b="1" i="0">
                <a:solidFill>
                  <a:srgbClr val="E86F38"/>
                </a:solidFill>
              </a:defRPr>
            </a:pPr>
            <a:r>
              <a:rPr sz="3525" b="1" i="0">
                <a:solidFill>
                  <a:srgbClr val="E86F38"/>
                </a:solidFill>
              </a:rPr>
              <a:t>≈ 1876×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E2365-95DA-4F27-9FD5-7F00DF5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667000"/>
            <a:ext cx="3000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65717C"/>
                </a:solidFill>
              </a:defRPr>
            </a:pPr>
            <a:r>
              <a:rPr sz="1500" b="0" i="0">
                <a:solidFill>
                  <a:srgbClr val="65717C"/>
                </a:solidFill>
              </a:rPr>
              <a:t>compensación requerida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7F4980-1934-4F97-A9E9-BA3EB228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257550"/>
            <a:ext cx="3000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90344-6A40-445B-B6AB-96A5FB05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571875"/>
            <a:ext cx="319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525" b="1" i="0">
                <a:solidFill>
                  <a:srgbClr val="0B3C49"/>
                </a:solidFill>
              </a:defRPr>
            </a:pPr>
            <a:r>
              <a:rPr sz="3525" b="1" i="0">
                <a:solidFill>
                  <a:srgbClr val="0B3C49"/>
                </a:solidFill>
              </a:rPr>
              <a:t>≈ 1800×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E3B28-6668-47AF-BC1E-3641903F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62425"/>
            <a:ext cx="3000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65717C"/>
                </a:solidFill>
              </a:defRPr>
            </a:pPr>
            <a:r>
              <a:rPr sz="1500" b="0" i="0">
                <a:solidFill>
                  <a:srgbClr val="65717C"/>
                </a:solidFill>
              </a:rPr>
              <a:t>ganancia total disponible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FC29C3-912B-4AD1-B959-0BDC1E94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819650"/>
            <a:ext cx="319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7212B"/>
                </a:solidFill>
              </a:defRPr>
            </a:pPr>
            <a:r>
              <a:rPr sz="1575" b="1" i="0">
                <a:solidFill>
                  <a:srgbClr val="17212B"/>
                </a:solidFill>
              </a:rPr>
              <a:t>La forma del barrido está verificada; la calibración sísmica extremo a extremo aún está abierta.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F5249A-5DFA-47BC-A5C4-2382E5BD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respuesta medida del AFE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2CC99F-CE92-4A51-85E6-586DDBEE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E32B0-AF9C-400C-B964-C04C4B61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B84F9F-3C35-422F-8051-A507B95A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E10251-690A-445D-8841-0BBDF99F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D8A1D-7874-45DB-964F-ABF17B1B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6453BD-F568-4537-AA08-49A186A5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0FD23A-0C56-4E72-B37D-9225537A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125D60-FCFA-4695-BE21-2B140B7F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220DB-6577-4BC2-99CE-3E59F711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45D30E-C9AB-4003-A201-1EB0C335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113BA4-A77B-4892-864B-F37B62D5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CF5EE3-7A81-48E2-B40F-E3B05BB7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9695A0-8C54-47A6-99CC-E180A846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49D061-8E4C-4BED-98CA-A817FDBD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3096EE-ECCD-4988-8B8F-CA6481A4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466B74-E688-497C-82B2-51014B68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16B0A4-7EFD-4837-80DC-709A3C5D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97375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501BA4-223A-4B8D-B570-54217F7C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RIESGO DE MEDICIÓN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B9A22E-37D4-4486-9FA5-C0A37EFE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El offset reduce el margen útil del ADC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54FF2D-D440-45EF-88D9-F0241AE4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530E8-F6C9-4525-BEF3-CD76A170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b6d85b210c4f34"/>
          <a:stretch xmlns:a="http://schemas.openxmlformats.org/drawingml/2006/main"/>
        </p:blipFill>
        <p:spPr>
          <a:xfrm xmlns:a="http://schemas.openxmlformats.org/drawingml/2006/main">
            <a:off x="913457" y="1562100"/>
            <a:ext cx="6307437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8882FE-0E8F-4FFF-988F-E3E068B2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430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B23A2B"/>
                </a:solidFill>
              </a:defRPr>
            </a:pPr>
            <a:r>
              <a:rPr sz="1875" b="1" i="0">
                <a:solidFill>
                  <a:srgbClr val="B23A2B"/>
                </a:solidFill>
              </a:rPr>
              <a:t>Sin corrección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69FAAE-0626-47FB-89E0-333B6ADB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el offset consume margen y produce recorte en los rieles del ADC.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1FD5B-0C1E-4D35-B0E3-957187DE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24225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FB3D5-1226-422F-97F0-7A1A3F7C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19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F6F62"/>
                </a:solidFill>
              </a:defRPr>
            </a:pPr>
            <a:r>
              <a:rPr sz="1875" b="1" i="0">
                <a:solidFill>
                  <a:srgbClr val="2F6F62"/>
                </a:solidFill>
              </a:rPr>
              <a:t>Con corrección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B50D5-C747-4790-A00E-7DA1D5F0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48125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la señal queda centrada y la ganancia disponible se aprovecha mejor.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A8DF21-1353-499D-A505-6169B55C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1970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B3C49"/>
                </a:solidFill>
              </a:defRPr>
            </a:pPr>
            <a:r>
              <a:rPr sz="1500" b="1" i="0">
                <a:solidFill>
                  <a:srgbClr val="0B3C49"/>
                </a:solidFill>
              </a:rPr>
              <a:t>La corrección se congela durante la adquisición para no modular la fase.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2A5615-ACB6-4959-948B-06C6172A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motivación de la calibración de offset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7800E8-EEC0-41CB-8A74-2537CB03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A422E3-6DA9-4E33-AA0A-D0F503D1B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1EA308-07EC-4F3A-A1EA-63BDEA3A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A9FBD-B9F4-4B79-8ED7-F6BF96DF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A0B4E-66B2-411A-A054-ADDD995E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F75252-BAFE-45D6-814B-0274817C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2E9F87-B592-45AF-9CD2-8DA66C10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796C03-0ED9-4211-950E-CD05AEF7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ADC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E876CE-69CD-4E44-86E4-660EE621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2CCEB1-26C7-4E56-86B7-4087D887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10F1A9-C32B-44F7-8E1F-8C437972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C31498-25F1-4110-8D8F-7D9074A8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BBBE67-140D-4654-8B48-F8AD5EE0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258330-6895-490B-9E48-FDC4B33D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35704D-0527-4E35-A4A7-13B00BDD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9B8D06-3BB2-4695-924C-E89E7976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43D3E0-5C87-45E1-9AEA-1274D261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017795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7E004F-D747-4293-AFEE-6850FE13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FIRMWARE REAL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80868-0884-48A4-A93E-41BB92C7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Calibración foreground implementada y auditable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7D0F9-5346-4D27-AADE-568EF7CC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7D2920-449E-4E99-A7F4-5669A17B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5f865e00e94474"/>
          <a:stretch xmlns:a="http://schemas.openxmlformats.org/drawingml/2006/main"/>
        </p:blipFill>
        <p:spPr>
          <a:xfrm xmlns:a="http://schemas.openxmlformats.org/drawingml/2006/main">
            <a:off x="495300" y="1503712"/>
            <a:ext cx="6762750" cy="4326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18271A-42E3-40DD-AAF3-4B9825F5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447800"/>
            <a:ext cx="1619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0B3C4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EFE1B8-54F6-4C0D-9E1C-557FC9B5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495425"/>
            <a:ext cx="1466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B3C49"/>
                </a:solidFill>
              </a:defRPr>
            </a:pPr>
            <a:r>
              <a:rPr sz="975" b="1" i="0">
                <a:solidFill>
                  <a:srgbClr val="0B3C49"/>
                </a:solidFill>
              </a:rPr>
              <a:t>IMPLEMENTADO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869DF-5397-4F85-ACAD-56B4EE65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955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B3C49"/>
                </a:solidFill>
              </a:defRPr>
            </a:pPr>
            <a:r>
              <a:rPr sz="1725" b="1" i="0">
                <a:solidFill>
                  <a:srgbClr val="0B3C49"/>
                </a:solidFill>
              </a:rPr>
              <a:t>128 taps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074EA-C71B-4E79-9A50-A1340F46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955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2B"/>
                </a:solidFill>
              </a:defRPr>
            </a:pPr>
            <a:r>
              <a:rPr sz="1500" b="0" i="0">
                <a:solidFill>
                  <a:srgbClr val="17212B"/>
                </a:solidFill>
              </a:rPr>
              <a:t>FIR para estimar offset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B9912A-AD12-4521-BBE3-85713E40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47950"/>
            <a:ext cx="3476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334A8-2BE9-4CF9-A897-0E3420E5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9337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B3C49"/>
                </a:solidFill>
              </a:defRPr>
            </a:pPr>
            <a:r>
              <a:rPr sz="1725" b="1" i="0">
                <a:solidFill>
                  <a:srgbClr val="0B3C49"/>
                </a:solidFill>
              </a:rPr>
              <a:t>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DFE235-7224-4BF4-93D1-380F4167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33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2B"/>
                </a:solidFill>
              </a:defRPr>
            </a:pPr>
            <a:r>
              <a:rPr sz="1500" b="0" i="0">
                <a:solidFill>
                  <a:srgbClr val="17212B"/>
                </a:solidFill>
              </a:rPr>
              <a:t>deadband + anti-windup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2973E-9AC6-470C-B1FE-92B20C6F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86150"/>
            <a:ext cx="3476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DA0E09-7C52-4F9E-AC5C-230B17AD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7719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0B3C49"/>
                </a:solidFill>
              </a:defRPr>
            </a:pPr>
            <a:r>
              <a:rPr sz="1725" b="1" i="0">
                <a:solidFill>
                  <a:srgbClr val="0B3C49"/>
                </a:solidFill>
              </a:rPr>
              <a:t>EEPROM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95DD8-C5F0-431C-BFEA-B3B50777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719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2B"/>
                </a:solidFill>
              </a:defRPr>
            </a:pPr>
            <a:r>
              <a:rPr sz="1500" b="0" i="0">
                <a:solidFill>
                  <a:srgbClr val="17212B"/>
                </a:solidFill>
              </a:rPr>
              <a:t>códigos por ganancia + CRC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A68AE4-E184-4883-8F91-58E2E8CF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324350"/>
            <a:ext cx="3476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AE8C0E-1259-46AE-B60E-251E65BD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6101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E86F38"/>
                </a:solidFill>
              </a:defRPr>
            </a:pPr>
            <a:r>
              <a:rPr sz="1725" b="1" i="0">
                <a:solidFill>
                  <a:srgbClr val="E86F38"/>
                </a:solidFill>
              </a:rPr>
              <a:t>CAPTURA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24243-E44B-49BA-BEAA-37724E6F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6101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2B"/>
                </a:solidFill>
              </a:defRPr>
            </a:pPr>
            <a:r>
              <a:rPr sz="1500" b="0" i="0">
                <a:solidFill>
                  <a:srgbClr val="17212B"/>
                </a:solidFill>
              </a:rPr>
              <a:t>control congelado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4A4D6C-CC15-451B-A8AE-2B8AD931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162550"/>
            <a:ext cx="3476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7A6994-4297-49F3-B3D9-A8ECB142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381625"/>
            <a:ext cx="3476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5717C"/>
                </a:solidFill>
              </a:defRPr>
            </a:pPr>
            <a:r>
              <a:rPr sz="1350" b="0" i="0">
                <a:solidFill>
                  <a:srgbClr val="65717C"/>
                </a:solidFill>
              </a:rPr>
              <a:t>El grafo confirma las rutinas cal_pi_* y las etapas de servicio en calibration.c.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11E4B4-D9FB-4C85-A068-781FEDE7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+ código indexado · calibration.c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F8F484-610D-42BE-B106-0A2C01CA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7067D0-64C6-4C48-A172-F2A8F9D1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103293-C40D-4DB3-80A8-43056EC8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C07CA6-9B5C-47BE-82D2-13682AC9B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3688BF-0168-4316-B318-1A460658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6947E4-E8F3-4A0B-937B-4660AD18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49155D-E4BB-4789-86BE-7E075179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E8F8B9-24BF-42ED-A9D3-EC75C3EC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145F3E-34F2-4A02-BE79-440CF3E6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46EF61-CFE2-4EF2-9589-768462CF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55A0BE-AAD9-4499-8F7E-FC66A619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69C60A-7E81-4F60-8117-9D439FC5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CFC84E-7DE3-41EC-B032-54BD7074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F96916-F91C-42D2-A5D4-2637EADC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E8B682-67E4-4853-8B14-66B492C4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9963DB-181F-496D-BE33-23147FA6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CED30C-7D86-4E3C-A664-57935E29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330026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5DF026-3DE8-4D00-90C4-60F7FF07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DECISIÓN DE DISEÑO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12C36-0A6E-42DF-B2B2-C428C125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 revisión candidata amplía margen, pero aún no es resultado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D3728-0D39-426E-A392-8C746D05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226BA-ACB9-4B30-9E60-FDC23868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e901cda4794707"/>
          <a:stretch xmlns:a="http://schemas.openxmlformats.org/drawingml/2006/main"/>
        </p:blipFill>
        <p:spPr>
          <a:xfrm xmlns:a="http://schemas.openxmlformats.org/drawingml/2006/main">
            <a:off x="476250" y="2234642"/>
            <a:ext cx="7143750" cy="286496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2439C6-1FC6-499B-9FBB-A2C3A44B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457325"/>
            <a:ext cx="1428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B4B24-1F63-4444-8BA9-5A1AFCD1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E86F38"/>
                </a:solidFill>
              </a:defRPr>
            </a:pPr>
            <a:r>
              <a:rPr sz="975" b="1" i="0">
                <a:solidFill>
                  <a:srgbClr val="E86F38"/>
                </a:solidFill>
              </a:rPr>
              <a:t>CANDIDATO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B4FD2-9E2B-49D2-8C2D-4DC6A4EF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1457325"/>
            <a:ext cx="128587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3DEDA"/>
          </a:solidFill>
          <a:ln xmlns:a="http://schemas.openxmlformats.org/drawingml/2006/main" w="9525">
            <a:solidFill>
              <a:srgbClr val="B23A2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F7D37-42DB-4113-9FB0-9F4C3166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504950"/>
            <a:ext cx="1133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23A2B"/>
                </a:solidFill>
              </a:defRPr>
            </a:pPr>
            <a:r>
              <a:rPr sz="975" b="1" i="0">
                <a:solidFill>
                  <a:srgbClr val="B23A2B"/>
                </a:solidFill>
              </a:rPr>
              <a:t>PENDIENTE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203B9-4937-4C47-BD7A-D9510086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4312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0B3C49"/>
                </a:solidFill>
              </a:defRPr>
            </a:pPr>
            <a:r>
              <a:rPr sz="2025" b="1" i="0">
                <a:solidFill>
                  <a:srgbClr val="0B3C49"/>
                </a:solidFill>
              </a:rPr>
              <a:t>PGA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360C34-A1DA-4BDC-A607-3256557D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717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rango aproximado 2,06–3,02 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0E0ECE-7890-4862-9C91-FCA4CBDA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286125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53797E-509A-43E6-A5D6-5B3F2932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62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E86F38"/>
                </a:solidFill>
              </a:defRPr>
            </a:pPr>
            <a:r>
              <a:rPr sz="2025" b="1" i="0">
                <a:solidFill>
                  <a:srgbClr val="E86F38"/>
                </a:solidFill>
              </a:rPr>
              <a:t>IDAC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C73A93-63B8-4267-803B-4DF4B06A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990975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7212B"/>
                </a:solidFill>
              </a:defRPr>
            </a:pPr>
            <a:r>
              <a:rPr sz="1650" b="0" i="0">
                <a:solidFill>
                  <a:srgbClr val="17212B"/>
                </a:solidFill>
              </a:rPr>
              <a:t>reemplaza VDAC para corrección fina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1346A4-377F-4668-8659-6D2CEA33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95825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67655-265B-451A-B500-409A16EE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720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2F6F62"/>
                </a:solidFill>
              </a:defRPr>
            </a:pPr>
            <a:r>
              <a:rPr sz="2025" b="1" i="0">
                <a:solidFill>
                  <a:srgbClr val="2F6F62"/>
                </a:solidFill>
              </a:rPr>
              <a:t>Hasta ×50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795AFD-E30B-4423-B8E1-56747CC9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8162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5717C"/>
                </a:solidFill>
              </a:defRPr>
            </a:pPr>
            <a:r>
              <a:rPr sz="1500" b="0" i="0">
                <a:solidFill>
                  <a:srgbClr val="65717C"/>
                </a:solidFill>
              </a:rPr>
              <a:t>requiere prototipo y barrido completo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944DC8-53E7-478D-810A-7346879A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propuesta IDAC + PGAout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E94490-2F78-4C6F-B033-8593BD1D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CD0A38-CDAB-4513-B689-AB4A198D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F09EC9-5013-442B-BF6F-0CC76FF2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D2D969-58EF-41E0-B33D-93699838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709959-150A-4E60-AA58-34CF14D8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EF2313-D9F2-4BC8-B1C3-BF6863C3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2AABDB-A082-4C62-A3E2-52C39AD8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075F4D-63C3-4C04-9AEA-07300226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01FD98-EF3A-470B-9821-129EA296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D591AB-7900-4A78-8A29-5AEBD296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53855C-DB6E-41EC-8DD5-182E62FD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23D88A-7FAB-479A-9DDC-C4488963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6E35CD-3968-4164-8306-85C7E8CA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4D25A6-240C-41A2-B012-3B78B966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BD9720-A3F0-4C0D-B4F9-3ABDF199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1F391A-5C33-4CDF-944E-E20EEC50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E8DFBA-7E24-4362-829E-AFA51F70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0054857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9CE826-8333-4323-88FB-509FEFC9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IMPLEMENTACIÓN · ADQUISICIÓN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A758B-E66B-4C60-830F-82AD08C1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captura digital separa timing y transporte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2F000-FE6C-4673-9F3F-1E43F589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8E2DC-BE58-4BCB-B0DE-35B40D7D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dd6315c9f421d"/>
          <a:stretch xmlns:a="http://schemas.openxmlformats.org/drawingml/2006/main"/>
        </p:blipFill>
        <p:spPr>
          <a:xfrm xmlns:a="http://schemas.openxmlformats.org/drawingml/2006/main">
            <a:off x="495300" y="2081281"/>
            <a:ext cx="7334250" cy="3190738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A73E54-4C97-4465-A159-7FC1022F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1457325"/>
            <a:ext cx="1619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0B3C4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D167E-AE81-4A43-907A-80203A31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1504950"/>
            <a:ext cx="1466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B3C49"/>
                </a:solidFill>
              </a:defRPr>
            </a:pPr>
            <a:r>
              <a:rPr sz="975" b="1" i="0">
                <a:solidFill>
                  <a:srgbClr val="0B3C49"/>
                </a:solidFill>
              </a:rPr>
              <a:t>IMPLEMENTADO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1FCC2-8DF9-4718-8BBE-CE9BDF86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431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B3C49"/>
                </a:solidFill>
              </a:defRPr>
            </a:pPr>
            <a:r>
              <a:rPr sz="2100" b="1" i="0">
                <a:solidFill>
                  <a:srgbClr val="0B3C49"/>
                </a:solidFill>
              </a:rPr>
              <a:t>18 bits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C9A26-BF21-43C8-998C-2E726B0E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16217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ADC ΔΣ nominal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A91325-22EC-4866-906D-9565F100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14625"/>
            <a:ext cx="309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AB6B2-2384-467E-9717-B0B77F43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813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E86F38"/>
                </a:solidFill>
              </a:defRPr>
            </a:pPr>
            <a:r>
              <a:rPr sz="2100" b="1" i="0">
                <a:solidFill>
                  <a:srgbClr val="E86F38"/>
                </a:solidFill>
              </a:rPr>
              <a:t>2604 SPS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20CAE-BF52-43C3-ABC1-D46467DF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0037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tasa de muestreo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BC87E9-097A-4B34-8622-A518F85F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552825"/>
            <a:ext cx="309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3E586F-0869-4339-BD51-183F20D6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195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B3C49"/>
                </a:solidFill>
              </a:defRPr>
            </a:pPr>
            <a:r>
              <a:rPr sz="2100" b="1" i="0">
                <a:solidFill>
                  <a:srgbClr val="0B3C49"/>
                </a:solidFill>
              </a:rPr>
              <a:t>DMA ×2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56921-64D8-4040-B384-FEC080B3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3857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RAM filtrada + cruda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251FC-4A3B-47ED-BB36-1302D6DA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91025"/>
            <a:ext cx="309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34642D-D045-4A88-B59C-35086E84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B3C49"/>
                </a:solidFill>
              </a:defRPr>
            </a:pPr>
            <a:r>
              <a:rPr sz="2100" b="1" i="0">
                <a:solidFill>
                  <a:srgbClr val="0B3C49"/>
                </a:solidFill>
              </a:rPr>
              <a:t>UDB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579B8E-189F-4648-9CC3-7EA43F39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676775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timing en hardware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EA7236-3006-4697-B34E-27BE396C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29225"/>
            <a:ext cx="309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10E07C-D9B4-4625-ACF7-DE8F852E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4768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5717C"/>
                </a:solidFill>
              </a:defRPr>
            </a:pPr>
            <a:r>
              <a:rPr sz="1275" b="0" i="0">
                <a:solidFill>
                  <a:srgbClr val="65717C"/>
                </a:solidFill>
              </a:rPr>
              <a:t>El grafo confirma DMA para RAM filtrada y cruda, además de estados psoc_arm y psoc_enter_sampling.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F0D9B4-9B9F-4E54-946E-6C653C82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+ código indexado · PSoC firmware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97E8E9-23D9-465D-B648-802497D3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2D3AD-6CF9-43B4-8AF4-9529DEEE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5E85BD-CD4B-425C-99D5-60BF654C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0F0F3B-35A7-493B-B630-4E5C4170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9EB6F4-3AB2-427D-8CA0-3DB357D6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F30DC4-70DD-478E-BFD3-4CBCBA8D6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83CB63-6ABA-4081-89F5-77EE597F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1C4EE5-E75D-44EA-81C7-FCDEC1BD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ADC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3683DC-662D-4667-BF63-A61D4123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9B241F-A719-4DB9-99FD-8E775CB8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011341-0380-4555-B488-50AEC7D9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68CFEC-B23A-49E5-B516-5BA5BAA9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5655B3-82DE-49F1-BCD4-722A7DC5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34039-45B5-40DA-8CA1-94E78B60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8F6D8C-BB6A-4066-B573-0D38B562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FBF5E7-4B98-487D-B1DC-A62FE7BD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C60734-A5E1-4F26-87C0-C256D507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1488419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837B44-B384-4FE5-9E94-FE20FE38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DECISIÓN · COMUNICACIÓN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A5FAB-4481-423E-A6F7-91BFA67D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 red inalámbrica prioriza campo autónomo e integridad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CC867-C67D-416C-8723-903F6E92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05B3D-4A61-4ACF-8BD1-629CA3B1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888476-E9D3-4417-B55A-933AA864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295275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65717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AD049-6D71-4D48-BF2C-0F249FE2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9526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65717C"/>
                </a:solidFill>
              </a:defRPr>
            </a:pPr>
            <a:r>
              <a:rPr sz="2400" b="1" i="0">
                <a:solidFill>
                  <a:srgbClr val="65717C"/>
                </a:solidFill>
              </a:rPr>
              <a:t>Wi-Fi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EF2A-1A0A-4D72-AF56-DEDA5837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670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infraestructura</a:t>
            </a:r>
          </a:p>
          <a:p xmlns:a="http://schemas.openxmlformats.org/drawingml/2006/main">
            <a:pPr algn="ctr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y mayor complejidad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15E0B-F708-496C-BF00-2717DE52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66875"/>
            <a:ext cx="295275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AF51BF-2CF6-4403-BB7F-40DBAFCF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526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E86F38"/>
                </a:solidFill>
              </a:defRPr>
            </a:pPr>
            <a:r>
              <a:rPr sz="2400" b="1" i="0">
                <a:solidFill>
                  <a:srgbClr val="E86F38"/>
                </a:solidFill>
              </a:rPr>
              <a:t>ESP-NOW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8F004-43E3-42B6-9E94-5AC9DB20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6670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sin router</a:t>
            </a:r>
          </a:p>
          <a:p xmlns:a="http://schemas.openxmlformats.org/drawingml/2006/main">
            <a:pPr algn="ctr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y baja sobrecarga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3AAE97-8446-449F-9A3C-F5FA5A3A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3619500"/>
            <a:ext cx="1571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FE6DBA-13DC-47B9-A470-05264DEC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667125"/>
            <a:ext cx="14192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E86F38"/>
                </a:solidFill>
              </a:defRPr>
            </a:pPr>
            <a:r>
              <a:rPr sz="975" b="1" i="0">
                <a:solidFill>
                  <a:srgbClr val="E86F38"/>
                </a:solidFill>
              </a:rPr>
              <a:t>SELECCIONADO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7FA5F-525C-4A52-9D6E-BC83A0A0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66875"/>
            <a:ext cx="295275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0B3C4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D93B2-9513-48C3-B56D-85DB59D2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9526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0B3C49"/>
                </a:solidFill>
              </a:defRPr>
            </a:pPr>
            <a:r>
              <a:rPr sz="2400" b="1" i="0">
                <a:solidFill>
                  <a:srgbClr val="0B3C49"/>
                </a:solidFill>
              </a:rPr>
              <a:t>cable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2B95F-9577-4A80-842C-BDFE7444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670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robusto</a:t>
            </a:r>
          </a:p>
          <a:p xmlns:a="http://schemas.openxmlformats.org/drawingml/2006/main">
            <a:pPr algn="ctr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pero menos desplegable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8C8913-9BFA-4D63-AB08-FCE2F0D7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6438" y="4514850"/>
            <a:ext cx="476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53F3EF-4B68-422B-BDF3-BD190E13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5724525" y="50101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FE1861-232B-4027-8007-B86D2EBD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3875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0B3C49"/>
                </a:solidFill>
              </a:defRPr>
            </a:pPr>
            <a:r>
              <a:rPr sz="1875" b="1" i="0">
                <a:solidFill>
                  <a:srgbClr val="0B3C49"/>
                </a:solidFill>
              </a:rPr>
              <a:t>Decisión: ESP-NOW + maestro con Wi-Fi propia + respaldo local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067074-9932-4379-85BC-B74319FD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810250"/>
            <a:ext cx="638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65717C"/>
                </a:solidFill>
              </a:defRPr>
            </a:pPr>
            <a:r>
              <a:rPr sz="1425" b="0" i="0">
                <a:solidFill>
                  <a:srgbClr val="65717C"/>
                </a:solidFill>
              </a:rPr>
              <a:t>La red transporta capturas completas; no gobierna el reloj de muestreo.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34C974-287E-4BDD-873A-0DECE1A9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arquitectura ESP32/ESP-NOW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57F1FF-DA22-4367-8E2E-1B4B4C2B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7058A8-3E26-4038-924E-A4273005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E373F5-A8FD-406A-ACE8-DF1627F7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CDADB7-1F33-41D8-BC82-9348DC69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3733F5-3A21-45CB-8C94-B35B7DC8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3FD1FD-3635-461C-8966-01B6C342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2772FB-9FC9-4740-AB48-70AFB6E3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5B172F-183C-4D1F-A431-7531FA30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3A4272-B476-4085-9F86-2E3B9EA5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D75A09-82B2-4EA1-AF1A-3B218C2F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SINCRONÍA / RED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F55048-12E0-4B31-8988-17DD7547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F5B735-874E-4BBB-8C7B-2A37D27F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67E388-DB05-4B6C-9EED-18DFC689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013F70-4038-4F9D-843B-E5B6A04E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112C51-AF5E-45C2-81E3-D6AA756F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0FA4CC-FEB4-4C7B-BB9B-65C8990F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80687C-7701-4E7D-B877-F016183E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88181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1AE053-D3A4-470F-BAF0-5AF3CDE2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SINCRONIZACIÓN MEDIDA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B0BA35-CBFF-4657-8CB3-04B3D50F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El error temporal se traduce en error de velocidad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CF73F6-85DA-4CC1-B21A-AF18B927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53B666-02AD-4923-B17C-DC25BBEC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041F87-5624-44DA-947D-1D583301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438275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5EBA9-8C17-4CF0-9410-EB7E08B9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85900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MEDIDO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C5441-77E5-4393-BA7E-F7C6899B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571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75" b="0" i="0">
                <a:solidFill>
                  <a:srgbClr val="0B3C49"/>
                </a:solidFill>
              </a:defRPr>
            </a:pPr>
            <a:r>
              <a:rPr sz="3675" b="0" i="0">
                <a:solidFill>
                  <a:srgbClr val="0B3C49"/>
                </a:solidFill>
              </a:rPr>
              <a:t>Δc / c ≈ c · Δt / Δx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375572-DB52-4621-8DA4-54342198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542925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1F6F8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33607A-50CF-49E7-B596-46B4A50E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33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F6F8B"/>
                </a:solidFill>
              </a:defRPr>
            </a:pPr>
            <a:r>
              <a:rPr sz="1350" b="1" i="0">
                <a:solidFill>
                  <a:srgbClr val="1F6F8B"/>
                </a:solidFill>
              </a:rPr>
              <a:t>CASO DE REFERENCIA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A81096-2C97-45FA-B8E1-A8B75E8F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290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7212B"/>
                </a:solidFill>
              </a:defRPr>
            </a:pPr>
            <a:r>
              <a:rPr sz="2025" b="1" i="0">
                <a:solidFill>
                  <a:srgbClr val="17212B"/>
                </a:solidFill>
              </a:rPr>
              <a:t>c = 100 m/s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FE721F-B66E-4AEC-8C25-39DB6F91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1477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7212B"/>
                </a:solidFill>
              </a:defRPr>
            </a:pPr>
            <a:r>
              <a:rPr sz="2025" b="1" i="0">
                <a:solidFill>
                  <a:srgbClr val="17212B"/>
                </a:solidFill>
              </a:rPr>
              <a:t>Δx = 2 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A3E8A5-5C47-44CF-B0FD-572206D5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7212B"/>
                </a:solidFill>
              </a:defRPr>
            </a:pPr>
            <a:r>
              <a:rPr sz="2025" b="1" i="0">
                <a:solidFill>
                  <a:srgbClr val="17212B"/>
                </a:solidFill>
              </a:rPr>
              <a:t>Δt = 200 µs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1F6601-0372-49ED-A20F-04C7198C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86188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EC9A27-1CC5-4EF6-98A2-288B7207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296150" y="372427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97F790-BFC3-4BD2-8F5A-C2BC60BC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857500"/>
            <a:ext cx="314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5400" b="1" i="0">
                <a:solidFill>
                  <a:srgbClr val="E86F38"/>
                </a:solidFill>
              </a:defRPr>
            </a:pPr>
            <a:r>
              <a:rPr sz="5400" b="1" i="0">
                <a:solidFill>
                  <a:srgbClr val="E86F38"/>
                </a:solidFill>
              </a:rPr>
              <a:t>≈ 1%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D2C21F-2638-405B-B972-39F0A317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1952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error relativo de velocidad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83F3A9-4D5F-41F6-91BA-39DE280E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95800"/>
            <a:ext cx="2952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FA5F6-0F98-4716-98F9-3B3625C5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0B3C49"/>
                </a:solidFill>
              </a:defRPr>
            </a:pPr>
            <a:r>
              <a:rPr sz="1875" b="1" i="0">
                <a:solidFill>
                  <a:srgbClr val="0B3C49"/>
                </a:solidFill>
              </a:rPr>
              <a:t>100 µs a 100 Hz = 3,6°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CFEFAA-3D74-4406-B9E7-7C72E573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3149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2F6F62"/>
                </a:solidFill>
              </a:defRPr>
            </a:pPr>
            <a:r>
              <a:rPr sz="1575" b="1" i="0">
                <a:solidFill>
                  <a:srgbClr val="2F6F62"/>
                </a:solidFill>
              </a:rPr>
              <a:t>128 disparos: 100–200 µs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B87DDD-A583-4CF1-856A-30694E60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medición de sincronismo y propagación de error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9C1F6A-95CC-40DD-A46F-EA69E610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AAD1A4-5990-4731-954D-85459779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837251-A9FA-4241-85ED-5B0EEDB3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0C6009-F189-4240-AA28-19D44CB6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EC8400-A407-41CE-801B-B08A9433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D1502D-751D-4E0D-BA12-8E9C6116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467582-3616-45C1-8FC2-2D7CFE60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141311-E505-4F93-AF2A-6FD64F0C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81CB39-AB38-48C9-A705-730ADCC6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E45B45-F2C8-4D88-91CA-46E3ED41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SINCRONÍA / RED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8190F1-BF6D-41AF-A3B5-E1057214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C0214B-02BE-4A9D-A1B2-9CD1DC6A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7171BC-C582-4553-A9F7-7DE3E66A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4E60CE-2B0B-44C0-8448-BB586C6C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5B594F-75C7-4CE5-BA5F-640076EE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172311-E3DF-47D4-BB8D-30780A7D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F2778B-8DC9-4FAC-8D6D-A299D3A70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516032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6A6CAC-4B8D-4CFC-BDA1-5C77A652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INTEGRIDAD AUDITABLE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EC0F9-E6A9-409D-B021-B79F6895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Secuencia, ACK y respaldo hacen auditable cada captura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20FDBF-ACBB-4D17-8D12-A28B041A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FB98D4-7F5F-415E-BFF9-7515B5F9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6574F4-A422-411B-AB53-407EA1D6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0B3C49"/>
                </a:solidFill>
              </a:defRPr>
            </a:pPr>
            <a:r>
              <a:rPr sz="1425" b="1" i="0">
                <a:solidFill>
                  <a:srgbClr val="0B3C49"/>
                </a:solidFill>
              </a:rPr>
              <a:t>ESCLAVO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AE1AA-E29A-429B-95B3-3DD58629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619250"/>
            <a:ext cx="1028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1F6F8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6D83D4-A43E-4012-A3E4-9FC3AF85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17907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B3C49"/>
                </a:solidFill>
              </a:defRPr>
            </a:pPr>
            <a:r>
              <a:rPr sz="1500" b="1" i="0">
                <a:solidFill>
                  <a:srgbClr val="0B3C49"/>
                </a:solidFill>
              </a:rPr>
              <a:t>frag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60325-43C8-4E7A-B3DE-098D6E11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19250"/>
            <a:ext cx="1028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1F6F8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F946EC-93F3-4281-A036-04796330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7907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B3C49"/>
                </a:solidFill>
              </a:defRPr>
            </a:pPr>
            <a:r>
              <a:rPr sz="1500" b="1" i="0">
                <a:solidFill>
                  <a:srgbClr val="0B3C49"/>
                </a:solidFill>
              </a:rPr>
              <a:t>frag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D5884-51E1-442B-A04D-7F4A6D9C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19250"/>
            <a:ext cx="1028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A3C66-58AD-46F5-864E-67C06403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7907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E86F38"/>
                </a:solidFill>
              </a:defRPr>
            </a:pPr>
            <a:r>
              <a:rPr sz="1500" b="1" i="0">
                <a:solidFill>
                  <a:srgbClr val="E86F38"/>
                </a:solidFill>
              </a:rPr>
              <a:t>frag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5F7FB8-9D2B-4049-AC4C-82511C88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619250"/>
            <a:ext cx="1028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DCE9EC"/>
          </a:solidFill>
          <a:ln xmlns:a="http://schemas.openxmlformats.org/drawingml/2006/main" w="9525">
            <a:solidFill>
              <a:srgbClr val="1F6F8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18B759-4368-4589-B335-EAF35594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17907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B3C49"/>
                </a:solidFill>
              </a:defRPr>
            </a:pPr>
            <a:r>
              <a:rPr sz="1500" b="1" i="0">
                <a:solidFill>
                  <a:srgbClr val="0B3C49"/>
                </a:solidFill>
              </a:rPr>
              <a:t>frag 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A3382-D9D8-4EBA-8906-8F17FD5D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28813"/>
            <a:ext cx="133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560DF-3772-416B-A3D0-199F938D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58150" y="18669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6D72BB-FF83-4736-8B2C-B8DAE130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571625"/>
            <a:ext cx="26670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0B3C4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18526-6BF5-4505-807C-4F4EF630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145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B3C49"/>
                </a:solidFill>
              </a:defRPr>
            </a:pPr>
            <a:r>
              <a:rPr sz="1500" b="1" i="0">
                <a:solidFill>
                  <a:srgbClr val="0B3C49"/>
                </a:solidFill>
              </a:rPr>
              <a:t>MAESTRO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7F555-C6F4-4F53-BD67-C0235376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977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17212B"/>
                </a:solidFill>
              </a:defRPr>
            </a:pPr>
            <a:r>
              <a:rPr sz="1350" b="0" i="0">
                <a:solidFill>
                  <a:srgbClr val="17212B"/>
                </a:solidFill>
              </a:rPr>
              <a:t>reensambla + valida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BA5A1F-EC35-4888-98A6-DA8EC31B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76500"/>
            <a:ext cx="419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23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21A45-8B08-4A39-9F84-0E00CC08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5295900" y="307657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23A2B"/>
          </a:solidFill>
          <a:ln xmlns:a="http://schemas.openxmlformats.org/drawingml/2006/main" w="0">
            <a:solidFill>
              <a:srgbClr val="B23A2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217175-A423-4726-A548-9FFB63E37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47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B23A2B"/>
                </a:solidFill>
              </a:defRPr>
            </a:pPr>
            <a:r>
              <a:rPr sz="1500" b="1" i="0">
                <a:solidFill>
                  <a:srgbClr val="B23A2B"/>
                </a:solidFill>
              </a:rPr>
              <a:t>NACK / fragmento faltante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A0786D-64DC-4B3A-9889-7147EDDD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9715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BCCA23-176A-4C9A-966D-206A2D63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6712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E86F38"/>
                </a:solidFill>
              </a:defRPr>
            </a:pPr>
            <a:r>
              <a:rPr sz="1500" b="1" i="0">
                <a:solidFill>
                  <a:srgbClr val="E86F38"/>
                </a:solidFill>
              </a:rPr>
              <a:t>REGLA DE INTEGRIDAD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33463B-2CED-4477-A676-78BF672C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29075"/>
            <a:ext cx="885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7212B"/>
                </a:solidFill>
              </a:defRPr>
            </a:pPr>
            <a:r>
              <a:rPr sz="1800" b="1" i="0">
                <a:solidFill>
                  <a:srgbClr val="17212B"/>
                </a:solidFill>
              </a:rPr>
              <a:t>No interpolar. Reintentar. Conservar respaldo local. Liberar memoria sólo después de confirmar.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5AFF1E-7F07-4C2D-8879-436E9069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958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E79B9C-EB78-46B8-9A5F-9ED9C3CF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114925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3F4614-39AC-42CF-83C8-D8F95923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1054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212B"/>
                </a:solidFill>
              </a:defRPr>
            </a:pPr>
            <a:r>
              <a:rPr sz="1500" b="1" i="0">
                <a:solidFill>
                  <a:srgbClr val="17212B"/>
                </a:solidFill>
              </a:rPr>
              <a:t>secuencia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40D184-0EDC-45D7-B692-A799C267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958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43E439-C3C8-4346-89E1-DFD15827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5114925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77E75C-C75E-4EF4-84CE-6B54EDEE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1054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212B"/>
                </a:solidFill>
              </a:defRPr>
            </a:pPr>
            <a:r>
              <a:rPr sz="1500" b="1" i="0">
                <a:solidFill>
                  <a:srgbClr val="17212B"/>
                </a:solidFill>
              </a:rPr>
              <a:t>CRC / tamaño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840E25-1812-4C7D-B93A-624935D8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958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8D6460-9A4B-42A9-88AE-C8834204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114925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70BC35-923D-414E-A835-D0C8B4B7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054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212B"/>
                </a:solidFill>
              </a:defRPr>
            </a:pPr>
            <a:r>
              <a:rPr sz="1500" b="1" i="0">
                <a:solidFill>
                  <a:srgbClr val="17212B"/>
                </a:solidFill>
              </a:rPr>
              <a:t>ACK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25726F-C1D0-4D3D-AA2A-BB00D90C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0958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D60A51-3F09-48F8-9DBF-A2D9610B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5114925"/>
            <a:ext cx="209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679DE6-837C-4EAB-8152-0C1D6606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1054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212B"/>
                </a:solidFill>
              </a:defRPr>
            </a:pPr>
            <a:r>
              <a:rPr sz="1500" b="1" i="0">
                <a:solidFill>
                  <a:srgbClr val="17212B"/>
                </a:solidFill>
              </a:rPr>
              <a:t>reintento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7EA8C38-7FF4-4053-825A-3CC9A4CE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578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5717C"/>
                </a:solidFill>
              </a:defRPr>
            </a:pPr>
            <a:r>
              <a:rPr sz="1350" b="0" i="0">
                <a:solidFill>
                  <a:srgbClr val="65717C"/>
                </a:solidFill>
              </a:rPr>
              <a:t>El grafo confirma sendCompletionAckWithRetry y serviceCompletionAckRetry en el firmware ESP32.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6B7E2C-1AF1-4745-BE63-B98ED9CD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+ código indexado · transporte ESP32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8D6D63-21CD-4597-A2D5-5E90F771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4006E7-9A03-4C2D-8D8E-720C3184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4EA3D3-5DA6-4B3C-9CE4-1BB4EE60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281107F-16B6-40FA-9323-B2962D4F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ADB954-FE7C-43C1-87BE-BA30FF77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6D9922-FAD2-4E18-9730-1222CB17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A72115-BE9F-4A10-B802-861FC49B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EAEDA6-121D-4041-B7F8-4FFCD1B7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FC5A1B-4F84-4138-A88A-87EE5611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F388538-E157-45E0-8695-1E05640D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SINCRONÍA / RED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C383C4C-F365-4325-90B9-F9B257B2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BA7638-EAFC-47EE-8CC8-334D113C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INGESTA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6BEBDCC-178A-4060-87BA-180ABDDC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560DBE-3E4B-4C62-803D-21357D47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FD6561-545E-40C9-9030-3CD7982C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0B9DD6F-4576-4D75-9322-0D756DB7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D7E00D-C426-456D-A541-580DE4AD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3501782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B9EFEF-0799-4887-A39B-2DFE56D85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INTERFACES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F87BFF-3DF7-4243-99EB-F19C2CA7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Campo y servidor: datos compartidos, roles distintos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9FD2E-6F8B-4B80-B2B2-8E7154B7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53572C-F7F2-4A51-8D88-748DD9E4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fd0a2cccf4861"/>
          <a:stretch xmlns:a="http://schemas.openxmlformats.org/drawingml/2006/main"/>
        </p:blipFill>
        <p:spPr>
          <a:xfrm xmlns:a="http://schemas.openxmlformats.org/drawingml/2006/main">
            <a:off x="495300" y="1996335"/>
            <a:ext cx="5429250" cy="3055831"/>
          </a:xfrm>
          <a:prstGeom xmlns:a="http://schemas.openxmlformats.org/drawingml/2006/main" prst="rect">
            <a:avLst/>
          </a:prstGeom>
        </p:spPr>
      </p:pic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0dcce20c4b4314"/>
          <a:stretch xmlns:a="http://schemas.openxmlformats.org/drawingml/2006/main"/>
        </p:blipFill>
        <p:spPr>
          <a:xfrm xmlns:a="http://schemas.openxmlformats.org/drawingml/2006/main">
            <a:off x="6267450" y="1996335"/>
            <a:ext cx="5429250" cy="305583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B6AB95-B55F-4AA6-90C4-53C9D56E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11430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36ECEF-D15F-4C81-8BE0-D0B7198B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9070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CAMPO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A15A42-9F05-404F-8C9F-35C3ED68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52600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3C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5A1088-E6A8-4B95-9BFA-0BE7A247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90700"/>
            <a:ext cx="12287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SERVIDOR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012AC0-616B-4BCB-AEB4-E02EDAC7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7212B"/>
                </a:solidFill>
              </a:defRPr>
            </a:pPr>
            <a:r>
              <a:rPr sz="1575" b="1" i="0">
                <a:solidFill>
                  <a:srgbClr val="17212B"/>
                </a:solidFill>
              </a:rPr>
              <a:t>armar · configurar · capturar · exportar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C23AF1-5AC5-4E78-866C-00BA3553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245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7212B"/>
                </a:solidFill>
              </a:defRPr>
            </a:pPr>
            <a:r>
              <a:rPr sz="1575" b="1" i="0">
                <a:solidFill>
                  <a:srgbClr val="17212B"/>
                </a:solidFill>
              </a:rPr>
              <a:t>validar · agrupar · promediar · invertir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0D5166-9932-4CBD-9B43-BB3162D6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+ interfaces reales del repositorio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DA827C-6D70-428A-9CA4-335CFE1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7FEFC8-B268-48B9-A03F-671EEC90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4B0169-3968-4225-94B7-F0552FA6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49E620-D577-4A31-A4AC-89A57D24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BA650-03FA-4383-A22D-9EB9E3CE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AC3ED4-43F7-4E33-8CD4-71186007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8D65EF-6B4F-447C-B527-B0FE2889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C520D3-29AA-45E4-A761-27B754BB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B86498-5A7F-4BFC-B6AA-8B9AB51D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A6D5C3-225D-4AF3-BC71-0BBB3FF8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B695B0-AF34-47C8-ABDF-C3B3F046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0DEC0E-661E-49F9-8257-53C1B9EA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INGESTA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185122-79CB-44BE-8A20-BD7355D5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2CF8D5-D510-4EAF-BCF0-E721B4C3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33EBEE-3B9E-46A9-A15D-74F91C27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0081E7-431C-4584-8CCB-296476CA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CE538B-0E32-4A51-BA94-913B1A50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2597286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5E41BB-B72F-4F90-A652-6A4ACC2BB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CAMPAÑA CANCHITA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B8CA7-1635-462B-A5B5-3FC5B2AB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cadena completa ya corre con datos de campo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F9EC9-C65A-4727-9418-7DBB905D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E8715-3A6C-4C70-BD12-C08B0468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719f7122c94651"/>
          <a:stretch xmlns:a="http://schemas.openxmlformats.org/drawingml/2006/main"/>
        </p:blipFill>
        <p:spPr>
          <a:xfrm xmlns:a="http://schemas.openxmlformats.org/drawingml/2006/main">
            <a:off x="304800" y="2146454"/>
            <a:ext cx="4333875" cy="2469843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aaf60858184e3d"/>
          <a:stretch xmlns:a="http://schemas.openxmlformats.org/drawingml/2006/main"/>
        </p:blipFill>
        <p:spPr>
          <a:xfrm xmlns:a="http://schemas.openxmlformats.org/drawingml/2006/main">
            <a:off x="4686300" y="1666049"/>
            <a:ext cx="4429125" cy="343065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EE97A-9E34-459E-9E6D-C50789A0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409700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A49093-8075-4820-978E-37F797AD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457325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MEDIDO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8AB7E-B438-4D70-BD5D-9AB024F3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076450"/>
            <a:ext cx="2238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350" b="1" i="0">
                <a:solidFill>
                  <a:srgbClr val="E86F38"/>
                </a:solidFill>
              </a:defRPr>
            </a:pPr>
            <a:r>
              <a:rPr sz="4350" b="1" i="0">
                <a:solidFill>
                  <a:srgbClr val="E86F38"/>
                </a:solidFill>
              </a:rPr>
              <a:t>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AE8917-F8C2-4F6A-9FAB-A24A5A4D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14625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posiciones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76CAC-FBC5-4CAB-A02D-ABCE3EA1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333750"/>
            <a:ext cx="223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525" b="1" i="0">
                <a:solidFill>
                  <a:srgbClr val="0B3C49"/>
                </a:solidFill>
              </a:defRPr>
            </a:pPr>
            <a:r>
              <a:rPr sz="3525" b="1" i="0">
                <a:solidFill>
                  <a:srgbClr val="0B3C49"/>
                </a:solidFill>
              </a:rPr>
              <a:t>2 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694769-F3DB-4E31-9DC2-39EA0D9C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905250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paso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928C70-4D26-49AB-B3BC-1B5F35BE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524375"/>
            <a:ext cx="223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525" b="1" i="0">
                <a:solidFill>
                  <a:srgbClr val="2F6F62"/>
                </a:solidFill>
              </a:defRPr>
            </a:pPr>
            <a:r>
              <a:rPr sz="3525" b="1" i="0">
                <a:solidFill>
                  <a:srgbClr val="2F6F62"/>
                </a:solidFill>
              </a:rPr>
              <a:t>40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F05AC5-1E58-42A7-9C50-86116CC2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95875"/>
            <a:ext cx="2238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65717C"/>
                </a:solidFill>
              </a:defRPr>
            </a:pPr>
            <a:r>
              <a:rPr sz="1650" b="0" i="0">
                <a:solidFill>
                  <a:srgbClr val="65717C"/>
                </a:solidFill>
              </a:rPr>
              <a:t>apertura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E7CB53-151C-4254-8A1C-05958231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600700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7212B"/>
                </a:solidFill>
              </a:defRPr>
            </a:pPr>
            <a:r>
              <a:rPr sz="1425" b="1" i="0">
                <a:solidFill>
                  <a:srgbClr val="17212B"/>
                </a:solidFill>
              </a:rPr>
              <a:t>Registro → dispersión → selección → inversión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F4A355-6404-4E08-9851-E858ABC0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campaña real Canchita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67A267-552A-43D3-8922-282A235A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4B5401-45B9-4FC5-932A-5ADD8DDD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FUENTE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2F2912-CCA2-4F80-AC11-9B18C656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F5895F-2F25-4031-A23B-76D5A525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0971A7-17BC-4AC7-8DAC-CADFBBA1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1E7554-23D3-41AE-AEC7-BF300EB6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939674-F129-4D29-92F5-B19BC99F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7786D3-44C7-49BD-B3BC-45B56077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ADC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B57194-F671-4638-ACBF-3570E300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7782E8-06D1-438A-ABCE-F3567960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FFF"/>
                </a:solidFill>
              </a:defRPr>
            </a:pPr>
            <a:r>
              <a:rPr sz="900" b="1" i="0">
                <a:solidFill>
                  <a:srgbClr val="FFFFFF"/>
                </a:solidFill>
              </a:rPr>
              <a:t>SINCRONÍA / RED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6F2488-548F-4417-AC80-EA4ADDB5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6759F1-A025-4CE9-BE59-E4FE6380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INGESTA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384B8E-9BA3-4696-B7A6-A14748D2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D4BB51-A9F4-445D-878F-1EB6FD3A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4CFD62-695D-4D87-849D-06B6F031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F199E9-FC32-45C0-8777-8177DA1E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F0254B-E58D-4C42-826D-E20C057E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1556872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647953-13A6-417D-8BC9-039CD650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LÍMITE EXPERIMENTAL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81A844-8E0D-4180-B7EF-AD4928EF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7212B"/>
                </a:solidFill>
              </a:defRPr>
            </a:pPr>
            <a:r>
              <a:rPr sz="2850" b="1" i="0">
                <a:solidFill>
                  <a:srgbClr val="17212B"/>
                </a:solidFill>
              </a:rPr>
              <a:t>La geometría define qué parte de la dispersión es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150FC-CB64-43DA-AAAE-53BEF697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92B28E-5F14-4D28-A320-0B7AC3E4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76dd2910164ab3"/>
          <a:stretch xmlns:a="http://schemas.openxmlformats.org/drawingml/2006/main"/>
        </p:blipFill>
        <p:spPr>
          <a:xfrm xmlns:a="http://schemas.openxmlformats.org/drawingml/2006/main">
            <a:off x="476250" y="2403405"/>
            <a:ext cx="6667500" cy="247981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795C30-55B8-47A3-B460-7F8F5836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714500"/>
            <a:ext cx="361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000" b="0" i="0">
                <a:solidFill>
                  <a:srgbClr val="0B3C49"/>
                </a:solidFill>
              </a:defRPr>
            </a:pPr>
            <a:r>
              <a:rPr sz="3000" b="0" i="0">
                <a:solidFill>
                  <a:srgbClr val="0B3C49"/>
                </a:solidFill>
              </a:rPr>
              <a:t>c ≥ 2 · Δx · 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28E4F7-AD28-4BAE-AF4D-5D3BACF7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6975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65717C"/>
                </a:solidFill>
              </a:defRPr>
            </a:pPr>
            <a:r>
              <a:rPr sz="1800" b="0" i="0">
                <a:solidFill>
                  <a:srgbClr val="65717C"/>
                </a:solidFill>
              </a:rPr>
              <a:t>Con Δx = 2 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1D5242-E7F1-43AC-A23A-0E17586B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527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0" i="0">
                <a:solidFill>
                  <a:srgbClr val="E86F38"/>
                </a:solidFill>
              </a:defRPr>
            </a:pPr>
            <a:r>
              <a:rPr sz="2850" b="0" i="0">
                <a:solidFill>
                  <a:srgbClr val="E86F38"/>
                </a:solidFill>
              </a:rPr>
              <a:t>cₐₗᵢₐₛ = 4f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2F2A41-ED09-4978-9C8F-D064249E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14750"/>
            <a:ext cx="34290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26A8A4-1151-4277-AC2D-456AD43B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05250"/>
            <a:ext cx="152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86F38"/>
                </a:solidFill>
              </a:defRPr>
            </a:pPr>
            <a:r>
              <a:rPr sz="1275" b="1" i="0">
                <a:solidFill>
                  <a:srgbClr val="E86F38"/>
                </a:solidFill>
              </a:rPr>
              <a:t>CRESTA ÚTIL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EE9644-A7E8-48DF-A690-6C311D5D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48150"/>
            <a:ext cx="138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0B3C49"/>
                </a:solidFill>
              </a:defRPr>
            </a:pPr>
            <a:r>
              <a:rPr sz="2325" b="1" i="0">
                <a:solidFill>
                  <a:srgbClr val="0B3C49"/>
                </a:solidFill>
              </a:rPr>
              <a:t>6–20 Hz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A9E5F-6D21-447A-8980-5E8B8D5D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48150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100" b="1" i="0">
                <a:solidFill>
                  <a:srgbClr val="0B3C49"/>
                </a:solidFill>
              </a:defRPr>
            </a:pPr>
            <a:r>
              <a:rPr sz="2100" b="1" i="0">
                <a:solidFill>
                  <a:srgbClr val="0B3C49"/>
                </a:solidFill>
              </a:rPr>
              <a:t>70–110 m/s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9CDADB-4FA6-4DD8-9FA3-9B3C2029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4345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17212B"/>
                </a:solidFill>
              </a:defRPr>
            </a:pPr>
            <a:r>
              <a:rPr sz="1275" b="0" i="0">
                <a:solidFill>
                  <a:srgbClr val="17212B"/>
                </a:solidFill>
              </a:rPr>
              <a:t>La cresta de 100 m/s cruza la cota cerca de 25 Hz.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6A3567-829D-45FA-B43C-F7B34236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476875"/>
            <a:ext cx="3476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5717C"/>
                </a:solidFill>
              </a:defRPr>
            </a:pPr>
            <a:r>
              <a:rPr sz="1350" b="0" i="0">
                <a:solidFill>
                  <a:srgbClr val="65717C"/>
                </a:solidFill>
              </a:rPr>
              <a:t>La apertura de 40 m condiciona el extremo bajo; el paso de 2 m condiciona el alto.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8987B0-B3AD-4F5D-BAF5-AE2D96B2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geometría y aliasing espacial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603CF0-3BCC-466C-BDE0-1A47449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5F0B5D-9972-4A86-87D3-F9A34D33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D13CF4-6877-4ECD-9A3E-54224415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1E1355-72D5-4132-B577-A200E88A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883E43-D693-4F45-A074-96F991CA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1AA6CF-8D01-4F05-B506-13BF7DF3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19CA30-253C-43F0-A839-4631A546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120DC4-27DC-4372-BF45-EFF62402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20373C-779B-445B-BAF4-18EDA421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02AC67-C3CE-4957-8C0F-F9B5E6BF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1A0221-0139-474C-91CF-6B677B96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0CC391-5BB3-4E71-9A78-EB870800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AB32C5-33F5-478A-B9E3-9C406F27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CD8C4D-B830-4B94-A42D-2E32A2F7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AB14DB-B31F-4FC9-822F-2B857B4B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EA387B-21B6-43FB-8A28-9C1589B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0FA0D0-7697-4ABE-ACDC-40774ECE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9421676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999DDC-89D3-484B-A46D-54C7EE30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CWT / MORLET · EXPLORATORIO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6B6D2-4C0F-4232-A4D6-7ABF1FBA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Wavelet estabiliza la imagen con los mismos datos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91188-82A7-4589-9530-3C64E389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75E92-6090-42C9-9D26-595B44B3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83ae9c5074ff5"/>
          <a:stretch xmlns:a="http://schemas.openxmlformats.org/drawingml/2006/main"/>
        </p:blipFill>
        <p:spPr>
          <a:xfrm xmlns:a="http://schemas.openxmlformats.org/drawingml/2006/main">
            <a:off x="400050" y="1844230"/>
            <a:ext cx="11391900" cy="353148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03990C-5E39-4D57-A90E-76FC9C7E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investigación CWT-Morlet · comparación Canchita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A8DB09-7D41-4D0A-8B96-F28D11B6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F2128D-2D69-4BB3-8B0A-FE7B4A2A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8F225E-5C48-43D9-B503-6F5DFA49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2A4E25-6431-481B-BB8D-825822BA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FF6004-4CE8-4C01-BA96-5F9DC93F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80C5E6-7199-4DAE-BE60-8587EDF6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DDC8A5-0F39-48C7-B826-E0D612CE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918A87-5BCF-4360-BF63-8B7A7A0B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65536-90CA-4F55-AEDF-EA267518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8C9C8D-9770-42CE-AEEC-F95890F7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D8E4B-65D5-44D3-91DD-FC08E55C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456EF2-1AAF-4F46-9FFC-A06D12B4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FD1031-3D66-4D44-8D6F-A09893B8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6B118B-9546-4382-A8E0-946109AF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09C94-06A8-4316-9595-90A35312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A02FC-7532-41F1-B698-72346E5D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BCEEDE-B695-4ECC-967F-8C6BA4F5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7401187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BFAFAC-2B6E-4966-931F-B52E2274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HALLAZGO EXPERIMENTAL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83DE49-5E23-4B63-9848-5EC603B4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La profundidad está limitada por energía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B5D9B-D84B-46A2-95FC-6B8CAFA4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52C8FD-DBDB-4D7A-B424-7CDFB51F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3c78aabc34318"/>
          <a:stretch xmlns:a="http://schemas.openxmlformats.org/drawingml/2006/main"/>
        </p:blipFill>
        <p:spPr>
          <a:xfrm xmlns:a="http://schemas.openxmlformats.org/drawingml/2006/main">
            <a:off x="2311739" y="1428750"/>
            <a:ext cx="3225123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655352-5DEA-4FA1-A43D-7EA2EB3C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438275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92AEE-2D42-4AB1-AAB5-40C9539A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485900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MEDIDO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76BC1E-A0D7-4B6E-8836-0AB5490C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478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5717C"/>
                </a:solidFill>
              </a:defRPr>
            </a:pPr>
            <a:r>
              <a:rPr sz="1650" b="1" i="0">
                <a:solidFill>
                  <a:srgbClr val="65717C"/>
                </a:solidFill>
              </a:rPr>
              <a:t>&lt; 5 Hz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D75E6-67CA-4432-B9E6-9C6D983D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16668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850" b="1" i="0">
                <a:solidFill>
                  <a:srgbClr val="B23A2B"/>
                </a:solidFill>
              </a:defRPr>
            </a:pPr>
            <a:r>
              <a:rPr sz="2850" b="1" i="0">
                <a:solidFill>
                  <a:srgbClr val="B23A2B"/>
                </a:solidFill>
              </a:rPr>
              <a:t>0,1%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01B56-48ED-45AB-B42F-02B412FD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71750"/>
            <a:ext cx="319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66BA22-E596-4C5C-B215-473AACE2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5717C"/>
                </a:solidFill>
              </a:defRPr>
            </a:pPr>
            <a:r>
              <a:rPr sz="1650" b="1" i="0">
                <a:solidFill>
                  <a:srgbClr val="65717C"/>
                </a:solidFill>
              </a:rPr>
              <a:t>5–20 Hz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CABCAC-58E0-48BA-AF55-B99AF1AC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00375"/>
            <a:ext cx="16668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850" b="1" i="0">
                <a:solidFill>
                  <a:srgbClr val="E86F38"/>
                </a:solidFill>
              </a:defRPr>
            </a:pPr>
            <a:r>
              <a:rPr sz="2850" b="1" i="0">
                <a:solidFill>
                  <a:srgbClr val="E86F38"/>
                </a:solidFill>
              </a:rPr>
              <a:t>54,3%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AB1221-9F01-4AB8-86BF-8E376DFF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71875"/>
            <a:ext cx="319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23B67B-3940-4304-AD61-6E9C2146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481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5717C"/>
                </a:solidFill>
              </a:defRPr>
            </a:pPr>
            <a:r>
              <a:rPr sz="1650" b="1" i="0">
                <a:solidFill>
                  <a:srgbClr val="65717C"/>
                </a:solidFill>
              </a:rPr>
              <a:t>20–50 Hz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29C837-4997-442C-A336-4CD9E976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00500"/>
            <a:ext cx="16668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850" b="1" i="0">
                <a:solidFill>
                  <a:srgbClr val="0B3C49"/>
                </a:solidFill>
              </a:defRPr>
            </a:pPr>
            <a:r>
              <a:rPr sz="2850" b="1" i="0">
                <a:solidFill>
                  <a:srgbClr val="0B3C49"/>
                </a:solidFill>
              </a:rPr>
              <a:t>43,2%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A6957F-CACC-41E7-BD5B-5CA8E8BA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3190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8A0C1-A526-47FB-A3A8-F884F635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00625"/>
            <a:ext cx="338137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DED3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E644A5-14A7-425E-AE82-031F3F4C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172075"/>
            <a:ext cx="304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212B"/>
                </a:solidFill>
              </a:defRPr>
            </a:pPr>
            <a:r>
              <a:rPr sz="1350" b="1" i="0">
                <a:solidFill>
                  <a:srgbClr val="17212B"/>
                </a:solidFill>
              </a:rPr>
              <a:t>Un filtro no recupera señal que nunca superó el ruido antes del ADC.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F76435-DBB3-4949-95C3-6895AB16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main.pdf · autopotencia multicanal de Canchita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B02225-D369-42DE-BA18-828D241A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CF2DE0-86E1-4D16-BC1D-68BF1891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FUENTE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291E76-94CC-43AF-AD45-28D83EC5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DDEC8F-C75C-4794-93CB-3492D43D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806C91-AA3E-4F71-8E7A-948BADF3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2A0E4A-1677-4669-A9D6-5388E598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B11A4C-445A-4444-A671-4C142A572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CB45A1-E88E-42ED-BC70-D58DA939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AF8217-5CE3-4D0D-B145-CE0144F2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157E1D-8EA2-4F98-97DA-314CFED8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4C4BAB-F142-4FA9-952A-F0956346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D2D088-8EBA-46C2-A763-469463C5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C258EF-ED7F-4CC6-9D2C-8E800E8F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A73D39-1D2C-4B0E-B643-2D1EE98E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CAA90D-B984-44E3-BBE0-38920668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B51878-E42C-4E0E-B310-FEEDB4B4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0889AD-2BA9-49CB-9A25-321F361C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218707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E3C31B-45D9-4621-AB4B-C5160AF8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PRUEBA DE IMPACTOS EN SECUENCIA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05CC1B-1669-40B5-81BB-BCF61CF3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El apilado confirma respuesta en baja frecuencia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9821B-C9A9-4C04-BDB4-4A6A2CF6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77BC9-54CC-4730-A6A7-070B49F1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4dbc269304995"/>
          <a:stretch xmlns:a="http://schemas.openxmlformats.org/drawingml/2006/main"/>
        </p:blipFill>
        <p:spPr>
          <a:xfrm xmlns:a="http://schemas.openxmlformats.org/drawingml/2006/main">
            <a:off x="660686" y="1428750"/>
            <a:ext cx="6812977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A2F256-3598-4030-94A5-9BB2FB4A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438275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AF23D-BF95-4DB5-A8A7-E6F18CBD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485900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PROBADO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C7892-091A-4D65-8FF9-2A621C46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95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0B3C49"/>
                </a:solidFill>
              </a:defRPr>
            </a:pPr>
            <a:r>
              <a:rPr sz="2025" b="1" i="0">
                <a:solidFill>
                  <a:srgbClr val="0B3C49"/>
                </a:solidFill>
              </a:rPr>
              <a:t>La secuencia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76FE57-A08E-416A-A250-EB1232AC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336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permite apilar impactos y elevar la componente coherente sobre el ruido.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340D8-6599-4D6F-9EB7-5F2FC28F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1950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15E951-22D6-43C5-815B-71402FA1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052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E86F38"/>
                </a:solidFill>
              </a:defRPr>
            </a:pPr>
            <a:r>
              <a:rPr sz="2025" b="1" i="0">
                <a:solidFill>
                  <a:srgbClr val="E86F38"/>
                </a:solidFill>
              </a:rPr>
              <a:t>El espectro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EBB27-3637-4991-8252-099656EF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434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7212B"/>
                </a:solidFill>
              </a:defRPr>
            </a:pPr>
            <a:r>
              <a:rPr sz="1725" b="0" i="0">
                <a:solidFill>
                  <a:srgbClr val="17212B"/>
                </a:solidFill>
              </a:rPr>
              <a:t>muestra respuesta en baja frecuencia compatible con el pasa-bandas estimado.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8DF50-F7EE-4CBF-AB2C-75473990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476875"/>
            <a:ext cx="23336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3DEDA"/>
          </a:solidFill>
          <a:ln xmlns:a="http://schemas.openxmlformats.org/drawingml/2006/main" w="9525">
            <a:solidFill>
              <a:srgbClr val="B23A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C8D5D-06C9-4ABF-80A1-168658EF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524500"/>
            <a:ext cx="21812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23A2B"/>
                </a:solidFill>
              </a:defRPr>
            </a:pPr>
            <a:r>
              <a:rPr sz="975" b="1" i="0">
                <a:solidFill>
                  <a:srgbClr val="B23A2B"/>
                </a:solidFill>
              </a:rPr>
              <a:t>MARTILLETE PENDIENTE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0F34EE-8032-4BAC-BD42-D5EDF213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capturas reales Canchita · secuencia y espectro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9EFFF3-0AA3-41F9-A4E3-A0EF0398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2C7DAE-9F2D-4C75-9AAF-571E1035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FUENTE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45004C-0532-408A-AC95-59D82564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6D1BF0-8CF0-4DEA-863E-D25C0733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SENSOR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EF753A-4B30-4BDE-B27D-CF92D3C7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895D88-E9D4-4E90-AE32-DFD19244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AFE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04D5A8-496F-49C0-ABA5-EF827A2B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6177D0-AB53-4D36-8D61-F53547A1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5CC0C4-E9B8-4C66-8A56-CE57DD3E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2808E7-021F-42F8-8C70-3540FE92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F60DCA-A43A-46B5-B505-10F7CFA2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396A2F-F696-4242-8574-53E09543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D1C4AF-D6CE-44EA-8F4F-443D49FB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B97A0A-777F-4173-9D47-9EFF13E6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MASW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865727-3CE9-4F67-9C13-DF8F8DB8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6832B-7800-4829-8E2F-EDC1A26C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INVERSIÓN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E0AD94-FDEA-4A37-97DD-75EF86F1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599747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01638B-3943-4A4C-8FB3-3D303736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1640 EJECUCIONES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5E25C-2B44-495E-8C61-DE30D393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7212B"/>
                </a:solidFill>
              </a:defRPr>
            </a:pPr>
            <a:r>
              <a:rPr sz="3600" b="1" i="0">
                <a:solidFill>
                  <a:srgbClr val="17212B"/>
                </a:solidFill>
              </a:rPr>
              <a:t>Benchmark: incertidumbre de datos vs. modelo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1D873-15B0-4AE9-BD94-C6B7310A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71475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65717C"/>
                </a:solidFill>
              </a:defRPr>
            </a:pPr>
            <a:r>
              <a:rPr sz="1350" b="1" i="0">
                <a:solidFill>
                  <a:srgbClr val="65717C"/>
                </a:solidFill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54C0B-6F09-4152-BC6D-95C572DD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8971aaaaa84ab2"/>
          <a:stretch xmlns:a="http://schemas.openxmlformats.org/drawingml/2006/main"/>
        </p:blipFill>
        <p:spPr>
          <a:xfrm xmlns:a="http://schemas.openxmlformats.org/drawingml/2006/main">
            <a:off x="457200" y="1711694"/>
            <a:ext cx="6762750" cy="391086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130EDD-D3EB-4747-BBC7-76409603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438275"/>
            <a:ext cx="13811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DCE9E4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F2AE22-E328-4BA7-B212-60BB2FBF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485900"/>
            <a:ext cx="1228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2F6F62"/>
                </a:solidFill>
              </a:defRPr>
            </a:pPr>
            <a:r>
              <a:rPr sz="975" b="1" i="0">
                <a:solidFill>
                  <a:srgbClr val="2F6F62"/>
                </a:solidFill>
              </a:rPr>
              <a:t>MEDIDO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9001B-5F2B-409F-B866-32001521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B3C49"/>
                </a:solidFill>
              </a:defRPr>
            </a:pPr>
            <a:r>
              <a:rPr sz="1875" b="1" i="0">
                <a:solidFill>
                  <a:srgbClr val="0B3C49"/>
                </a:solidFill>
              </a:rPr>
              <a:t>Park + DP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A0A0A7-BEAD-437E-85BA-CF44AEA3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241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línea base real: 25/48 admisibles · misfit mediano 4,09%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90A6EF-0729-4CB7-B7AD-531C5EE2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90825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6B3092-F9A6-4416-ADB0-6A327448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051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E86F38"/>
                </a:solidFill>
              </a:defRPr>
            </a:pPr>
            <a:r>
              <a:rPr sz="1875" b="1" i="0">
                <a:solidFill>
                  <a:srgbClr val="E86F38"/>
                </a:solidFill>
              </a:rPr>
              <a:t>29,76 vs 2,28 m/s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8296B2-237A-42E3-960A-277955B1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76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retirar offsets mueve c(f) ≈13× más que cambiar transformada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8F5FB-6F04-4687-B6A8-69E2B220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43325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84EFD-961C-4B46-B3ED-AD1CC791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576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B3C49"/>
                </a:solidFill>
              </a:defRPr>
            </a:pPr>
            <a:r>
              <a:rPr sz="1875" b="1" i="0">
                <a:solidFill>
                  <a:srgbClr val="0B3C49"/>
                </a:solidFill>
              </a:rPr>
              <a:t>3 capas · CV ≈3,0%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55E0B3-F662-4A15-A5F7-8C4730DD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291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mejor condicionadas; cinco capas elevan sensibilidad al optimizador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53CDB5-5A95-409B-B4F1-57626BE2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95825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8D1B9B-40E7-4AAF-B6F8-DAB21DA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10125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B3C49"/>
                </a:solidFill>
              </a:defRPr>
            </a:pPr>
            <a:r>
              <a:rPr sz="1875" b="1" i="0">
                <a:solidFill>
                  <a:srgbClr val="0B3C49"/>
                </a:solidFill>
              </a:rPr>
              <a:t>QC + bootstrap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905283-29BA-43CA-80E8-FCECAA3A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81600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7212B"/>
                </a:solidFill>
              </a:defRPr>
            </a:pPr>
            <a:r>
              <a:rPr sz="1425" b="0" i="0">
                <a:solidFill>
                  <a:srgbClr val="17212B"/>
                </a:solidFill>
              </a:rPr>
              <a:t>DP puede inventar curva sin energía; censura no reemplaza señal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F9FE83-D5B1-4A86-9871-65BCC7CF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648325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B0A953-CFCC-4D0F-8046-9277F21E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7340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5717C"/>
                </a:solidFill>
              </a:defRPr>
            </a:pPr>
            <a:r>
              <a:rPr sz="1350" b="0" i="0">
                <a:solidFill>
                  <a:srgbClr val="65717C"/>
                </a:solidFill>
              </a:rPr>
              <a:t>432 ejecuciones comparables en el balance final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DCE4D5-36CD-44E1-8BE7-EB0ABD8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43625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717C"/>
                </a:solidFill>
              </a:defRPr>
            </a:pPr>
            <a:r>
              <a:rPr sz="975" b="0" i="0">
                <a:solidFill>
                  <a:srgbClr val="65717C"/>
                </a:solidFill>
              </a:rPr>
              <a:t>Fuente: INFORME_COMPLETO.pdf · benchmark consolidado 2026-08-23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936E14-4869-4EDF-AC70-79D6C131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1985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137AB9-6A1A-4418-96E6-E140CBA57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86525"/>
            <a:ext cx="1047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FUENTE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8C7080-AE9A-4699-9A8F-562A17F65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419850"/>
            <a:ext cx="10668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E7E391-F991-4F26-B479-2A5F2DA7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86525"/>
            <a:ext cx="990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SENSOR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A0FCE7-4BFB-424C-AD23-8D817023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6419850"/>
            <a:ext cx="8858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C1FF30-3831-4CFD-966A-D25494E7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486525"/>
            <a:ext cx="8096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AFE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4F3A62-F1F7-4292-880F-2F24D82B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419850"/>
            <a:ext cx="857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D7B466-735A-4288-863F-E449E209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6486525"/>
            <a:ext cx="7810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ADC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8E1BE6-8937-46E7-BCC7-0EB71658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19850"/>
            <a:ext cx="1704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E35B81-EEC9-4AF9-83C0-CA44D2A1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486525"/>
            <a:ext cx="1628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65717C"/>
                </a:solidFill>
              </a:defRPr>
            </a:pPr>
            <a:r>
              <a:rPr sz="900" b="1" i="0">
                <a:solidFill>
                  <a:srgbClr val="65717C"/>
                </a:solidFill>
              </a:rPr>
              <a:t>SINCRONÍA / 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1447E8-8118-48D7-9F22-A7D7A643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6419850"/>
            <a:ext cx="1047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EAE1"/>
          </a:solidFill>
          <a:ln xmlns:a="http://schemas.openxmlformats.org/drawingml/2006/main" w="9525">
            <a:solidFill>
              <a:srgbClr val="E6E1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C92286-E5EC-4EC9-A975-E195CC78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6486525"/>
            <a:ext cx="9715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65717C"/>
                </a:solidFill>
              </a:defRPr>
            </a:pPr>
            <a:r>
              <a:rPr sz="975" b="1" i="0">
                <a:solidFill>
                  <a:srgbClr val="65717C"/>
                </a:solidFill>
              </a:rPr>
              <a:t>INGESTA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1C804C-2BE0-49FB-9450-00145B39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419850"/>
            <a:ext cx="9429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D52030-DA36-41FA-86A5-57F84D18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6486525"/>
            <a:ext cx="8667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MASW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BA18B4-2DF8-420F-B6D6-02390986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19850"/>
            <a:ext cx="117157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DF91E0-4657-4BA0-ACA8-8F51BF75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486525"/>
            <a:ext cx="1095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INVERSIÓN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764701-1101-4ED9-9061-31E65C8E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6553200"/>
            <a:ext cx="2019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1D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5272555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3C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9317FD-BD64-4219-9854-769E5F95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33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86F38"/>
                </a:solidFill>
              </a:defRPr>
            </a:pPr>
            <a:r>
              <a:rPr sz="1125" b="1" i="0">
                <a:solidFill>
                  <a:srgbClr val="E86F38"/>
                </a:solidFill>
              </a:rPr>
              <a:t>CIERRE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558F5-75C1-4D46-882A-B16AE27A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6675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FFFFFF"/>
                </a:solidFill>
              </a:defRPr>
            </a:pPr>
            <a:r>
              <a:rPr sz="3225" b="1" i="0">
                <a:solidFill>
                  <a:srgbClr val="FFFFFF"/>
                </a:solidFill>
              </a:rPr>
              <a:t>La cadena funciona; el próximo avance depende de mejorar el dato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8A75C-02AC-4A71-86B2-E601A4F3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85950"/>
            <a:ext cx="1114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0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90C7B-B418-489B-BD62-DBF7F5A7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17145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2F6F62"/>
          </a:solidFill>
          <a:ln xmlns:a="http://schemas.openxmlformats.org/drawingml/2006/main" w="9525">
            <a:solidFill>
              <a:srgbClr val="2F6F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42848E-3F52-4795-B525-D2BEEF08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09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MEDIDO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6755C-F6A5-4A37-893F-85674D81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162175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sincronismo · respuesta AFE · campaña · espectro · apilado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483385-1F31-47EF-8697-9DD300E4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33700"/>
            <a:ext cx="17145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F6F8B"/>
          </a:solidFill>
          <a:ln xmlns:a="http://schemas.openxmlformats.org/drawingml/2006/main" w="9525">
            <a:solidFill>
              <a:srgbClr val="1F6F8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C3E07-4455-41E1-BE48-EA04B0F8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67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IMPLEMENTADO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D26096-3910-4337-A98C-91BF578C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19425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calibración · ADC/DMA · transporte · interfaces · MASW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ED37F-A9A3-4397-9372-9BFE49F1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17145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86F38"/>
          </a:solidFill>
          <a:ln xmlns:a="http://schemas.openxmlformats.org/drawingml/2006/main" w="9525">
            <a:solidFill>
              <a:srgbClr val="E86F3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C2D16-ED64-4C74-8D0E-AB2F4CBC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243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PENDIENTE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F0249-C64A-4208-A707-6AF95D7E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76675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fuente repetitiva instrumentada · validación extremo a extremo · bootstrap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2C8A3-5D99-49C3-9C5A-27D46CFD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86F38"/>
                </a:solidFill>
              </a:defRPr>
            </a:pPr>
            <a:r>
              <a:rPr sz="1350" b="1" i="0">
                <a:solidFill>
                  <a:srgbClr val="E86F38"/>
                </a:solidFill>
              </a:rPr>
              <a:t>FÍSICA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70A0CB-C77A-4F02-97E0-2EF12609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172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4EBD43-853D-482A-9CA0-2C67213D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581275" y="51054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CC19A7-EBF5-4EB2-B719-9B07CBED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48250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REQUISITOS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9F5652-0B75-4DAD-9E27-EE4DB407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72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3C0622-B6FC-4123-B2BC-2859A6BA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200650" y="51054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BCAA6-62CC-406F-A5A9-A0D5112C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0482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IMPLEMENTACIÓN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35FB33-F600-482E-9B12-DC3A2A70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72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D3E9F1-D483-48C4-BB6C-B59C0FAE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153400" y="51054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45189A-4055-4B7F-A937-2E03E5A2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0482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EVIDENCIA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B55D8D-28F1-4760-A1F6-1F5CD9B1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51720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7ABF52-7763-4C49-86B7-7F410355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677525" y="510540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6F38"/>
          </a:solidFill>
          <a:ln xmlns:a="http://schemas.openxmlformats.org/drawingml/2006/main" w="0">
            <a:solidFill>
              <a:srgbClr val="E86F3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1A111A-7416-4218-B695-77BBB96B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5245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E86F38"/>
                </a:solidFill>
              </a:defRPr>
            </a:pPr>
            <a:r>
              <a:rPr sz="1350" b="1" i="0">
                <a:solidFill>
                  <a:srgbClr val="E86F38"/>
                </a:solidFill>
              </a:rPr>
              <a:t>DECISIÓN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F9CA54-BEE4-4E8B-B0E5-7D8240E2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53125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</a:defRPr>
            </a:pPr>
            <a:r>
              <a:rPr sz="2025" b="1" i="0">
                <a:solidFill>
                  <a:srgbClr val="FFFFFF"/>
                </a:solidFill>
              </a:rPr>
              <a:t>Prioridad: más energía útil de baja frecuencia, misma geometría y validación repetible.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175DD7-BD20-49EC-BE79-F5ACFAE5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94AEB4"/>
                </a:solidFill>
              </a:defRPr>
            </a:pPr>
            <a:r>
              <a:rPr sz="1350" b="1" i="0">
                <a:solidFill>
                  <a:srgbClr val="94AEB4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7140700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2026-08-25T13:17:55.2250000Z</dcterms:created>
  <dcterms:modified xsi:type="dcterms:W3CDTF">2026-08-25T13:17:55.2250000Z</dcterms:modified>
</coreProperties>
</file>