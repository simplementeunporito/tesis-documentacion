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51f2164ab4a2e" /><Relationship Type="http://schemas.openxmlformats.org/officeDocument/2006/relationships/extended-properties" Target="/docProps/app.xml" Id="Ra8a20df29482453d" /><Relationship Type="http://schemas.openxmlformats.org/officeDocument/2006/relationships/officeDocument" Target="/ppt/presentation.xml" Id="R83c44e3c650d4c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04a589a704e17"/>
  </p:sldMasterIdLst>
  <p:notesMasterIdLst>
    <p:notesMasterId xmlns:r="http://schemas.openxmlformats.org/officeDocument/2006/relationships" r:id="Rfccc6bdd4359413c"/>
  </p:notesMasterIdLst>
  <p:sldIdLst>
    <p:sldId xmlns:r="http://schemas.openxmlformats.org/officeDocument/2006/relationships" id="256" r:id="R8e36069f0b2945ec"/>
    <p:sldId xmlns:r="http://schemas.openxmlformats.org/officeDocument/2006/relationships" id="257" r:id="R102b64ec9f3747b0"/>
    <p:sldId xmlns:r="http://schemas.openxmlformats.org/officeDocument/2006/relationships" id="258" r:id="R8cc0e5a1aef54e19"/>
    <p:sldId xmlns:r="http://schemas.openxmlformats.org/officeDocument/2006/relationships" id="259" r:id="R3b12ef8a51a04fb3"/>
    <p:sldId xmlns:r="http://schemas.openxmlformats.org/officeDocument/2006/relationships" id="260" r:id="R799ce95988524e06"/>
    <p:sldId xmlns:r="http://schemas.openxmlformats.org/officeDocument/2006/relationships" id="261" r:id="R3e880b8b9b574f9a"/>
    <p:sldId xmlns:r="http://schemas.openxmlformats.org/officeDocument/2006/relationships" id="262" r:id="R0c62d61e17e84bae"/>
    <p:sldId xmlns:r="http://schemas.openxmlformats.org/officeDocument/2006/relationships" id="263" r:id="R9cd62d423dfb4ae8"/>
    <p:sldId xmlns:r="http://schemas.openxmlformats.org/officeDocument/2006/relationships" id="264" r:id="R7ac56624180f49d4"/>
    <p:sldId xmlns:r="http://schemas.openxmlformats.org/officeDocument/2006/relationships" id="265" r:id="R4a0323b0a1ab499f"/>
    <p:sldId xmlns:r="http://schemas.openxmlformats.org/officeDocument/2006/relationships" id="266" r:id="R0f42271bc3604bf9"/>
    <p:sldId xmlns:r="http://schemas.openxmlformats.org/officeDocument/2006/relationships" id="267" r:id="R8f11130b5ab54baa"/>
    <p:sldId xmlns:r="http://schemas.openxmlformats.org/officeDocument/2006/relationships" id="268" r:id="R469b6a336f534ba6"/>
    <p:sldId xmlns:r="http://schemas.openxmlformats.org/officeDocument/2006/relationships" id="269" r:id="R8154656a21a14ca8"/>
    <p:sldId xmlns:r="http://schemas.openxmlformats.org/officeDocument/2006/relationships" id="270" r:id="R7adfc9fd56cf4770"/>
    <p:sldId xmlns:r="http://schemas.openxmlformats.org/officeDocument/2006/relationships" id="271" r:id="Rd704a6a958574c0e"/>
    <p:sldId xmlns:r="http://schemas.openxmlformats.org/officeDocument/2006/relationships" id="272" r:id="Rf7ce0e1871a64f6a"/>
    <p:sldId xmlns:r="http://schemas.openxmlformats.org/officeDocument/2006/relationships" id="273" r:id="Re88e1528c1ec40fb"/>
    <p:sldId xmlns:r="http://schemas.openxmlformats.org/officeDocument/2006/relationships" id="274" r:id="Rb44d16dbc3d849d9"/>
    <p:sldId xmlns:r="http://schemas.openxmlformats.org/officeDocument/2006/relationships" id="275" r:id="Rca60686073534e94"/>
    <p:sldId xmlns:r="http://schemas.openxmlformats.org/officeDocument/2006/relationships" id="276" r:id="Rbdbd07a8a9f742a4"/>
    <p:sldId xmlns:r="http://schemas.openxmlformats.org/officeDocument/2006/relationships" id="277" r:id="Reb68a2cabb5e4434"/>
    <p:sldId xmlns:r="http://schemas.openxmlformats.org/officeDocument/2006/relationships" id="278" r:id="R6fe9c83927934dc1"/>
    <p:sldId xmlns:r="http://schemas.openxmlformats.org/officeDocument/2006/relationships" id="279" r:id="R50d0d3aab5384879"/>
    <p:sldId xmlns:r="http://schemas.openxmlformats.org/officeDocument/2006/relationships" id="280" r:id="Rbca484c767d84f37"/>
    <p:sldId xmlns:r="http://schemas.openxmlformats.org/officeDocument/2006/relationships" id="281" r:id="Rbe87f7d7b81d4b61"/>
    <p:sldId xmlns:r="http://schemas.openxmlformats.org/officeDocument/2006/relationships" id="282" r:id="Rfe06b21afa7045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471d9d50ce4cb3" /><Relationship Type="http://schemas.openxmlformats.org/officeDocument/2006/relationships/slideMaster" Target="/ppt/slideMasters/slideMaster1.xml" Id="R6b604a589a704e17" /><Relationship Type="http://schemas.openxmlformats.org/officeDocument/2006/relationships/notesMaster" Target="/ppt/notesMasters/notesMaster1.xml" Id="Rfccc6bdd4359413c" /><Relationship Type="http://schemas.openxmlformats.org/officeDocument/2006/relationships/presProps" Target="/ppt/presProps.xml" Id="Raa0259b3eb994dbf" /><Relationship Type="http://schemas.openxmlformats.org/officeDocument/2006/relationships/tableStyles" Target="/ppt/tableStyles.xml" Id="Rf84a00dd473e4671" /><Relationship Type="http://schemas.openxmlformats.org/officeDocument/2006/relationships/slide" Target="/ppt/slides/slide1.xml" Id="R8e36069f0b2945ec" /><Relationship Type="http://schemas.openxmlformats.org/officeDocument/2006/relationships/slide" Target="/ppt/slides/slide2.xml" Id="R102b64ec9f3747b0" /><Relationship Type="http://schemas.openxmlformats.org/officeDocument/2006/relationships/slide" Target="/ppt/slides/slide3.xml" Id="R8cc0e5a1aef54e19" /><Relationship Type="http://schemas.openxmlformats.org/officeDocument/2006/relationships/slide" Target="/ppt/slides/slide4.xml" Id="R3b12ef8a51a04fb3" /><Relationship Type="http://schemas.openxmlformats.org/officeDocument/2006/relationships/slide" Target="/ppt/slides/slide5.xml" Id="R799ce95988524e06" /><Relationship Type="http://schemas.openxmlformats.org/officeDocument/2006/relationships/slide" Target="/ppt/slides/slide6.xml" Id="R3e880b8b9b574f9a" /><Relationship Type="http://schemas.openxmlformats.org/officeDocument/2006/relationships/slide" Target="/ppt/slides/slide7.xml" Id="R0c62d61e17e84bae" /><Relationship Type="http://schemas.openxmlformats.org/officeDocument/2006/relationships/slide" Target="/ppt/slides/slide8.xml" Id="R9cd62d423dfb4ae8" /><Relationship Type="http://schemas.openxmlformats.org/officeDocument/2006/relationships/slide" Target="/ppt/slides/slide9.xml" Id="R7ac56624180f49d4" /><Relationship Type="http://schemas.openxmlformats.org/officeDocument/2006/relationships/slide" Target="/ppt/slides/slide10.xml" Id="R4a0323b0a1ab499f" /><Relationship Type="http://schemas.openxmlformats.org/officeDocument/2006/relationships/slide" Target="/ppt/slides/slide11.xml" Id="R0f42271bc3604bf9" /><Relationship Type="http://schemas.openxmlformats.org/officeDocument/2006/relationships/slide" Target="/ppt/slides/slide12.xml" Id="R8f11130b5ab54baa" /><Relationship Type="http://schemas.openxmlformats.org/officeDocument/2006/relationships/slide" Target="/ppt/slides/slide13.xml" Id="R469b6a336f534ba6" /><Relationship Type="http://schemas.openxmlformats.org/officeDocument/2006/relationships/slide" Target="/ppt/slides/slide14.xml" Id="R8154656a21a14ca8" /><Relationship Type="http://schemas.openxmlformats.org/officeDocument/2006/relationships/slide" Target="/ppt/slides/slide15.xml" Id="R7adfc9fd56cf4770" /><Relationship Type="http://schemas.openxmlformats.org/officeDocument/2006/relationships/slide" Target="/ppt/slides/slide16.xml" Id="Rd704a6a958574c0e" /><Relationship Type="http://schemas.openxmlformats.org/officeDocument/2006/relationships/slide" Target="/ppt/slides/slide17.xml" Id="Rf7ce0e1871a64f6a" /><Relationship Type="http://schemas.openxmlformats.org/officeDocument/2006/relationships/slide" Target="/ppt/slides/slide18.xml" Id="Re88e1528c1ec40fb" /><Relationship Type="http://schemas.openxmlformats.org/officeDocument/2006/relationships/slide" Target="/ppt/slides/slide19.xml" Id="Rb44d16dbc3d849d9" /><Relationship Type="http://schemas.openxmlformats.org/officeDocument/2006/relationships/slide" Target="/ppt/slides/slide20.xml" Id="Rca60686073534e94" /><Relationship Type="http://schemas.openxmlformats.org/officeDocument/2006/relationships/slide" Target="/ppt/slides/slide21.xml" Id="Rbdbd07a8a9f742a4" /><Relationship Type="http://schemas.openxmlformats.org/officeDocument/2006/relationships/slide" Target="/ppt/slides/slide22.xml" Id="Reb68a2cabb5e4434" /><Relationship Type="http://schemas.openxmlformats.org/officeDocument/2006/relationships/slide" Target="/ppt/slides/slide23.xml" Id="R6fe9c83927934dc1" /><Relationship Type="http://schemas.openxmlformats.org/officeDocument/2006/relationships/slide" Target="/ppt/slides/slide24.xml" Id="R50d0d3aab5384879" /><Relationship Type="http://schemas.openxmlformats.org/officeDocument/2006/relationships/slide" Target="/ppt/slides/slide25.xml" Id="Rbca484c767d84f37" /><Relationship Type="http://schemas.openxmlformats.org/officeDocument/2006/relationships/slide" Target="/ppt/slides/slide26.xml" Id="Rbe87f7d7b81d4b61" /><Relationship Type="http://schemas.openxmlformats.org/officeDocument/2006/relationships/slide" Target="/ppt/slides/slide27.xml" Id="Rfe06b21afa7045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66aec94f8648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00f4ffdb324d40" /><Relationship Type="http://schemas.openxmlformats.org/officeDocument/2006/relationships/notesMaster" Target="/ppt/notesMasters/notesMaster1.xml" Id="R24f223cd994b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cb02393f5c474d" /><Relationship Type="http://schemas.openxmlformats.org/officeDocument/2006/relationships/notesMaster" Target="/ppt/notesMasters/notesMaster1.xml" Id="R399c963bf9394b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41b0b7a83146ae" /><Relationship Type="http://schemas.openxmlformats.org/officeDocument/2006/relationships/notesMaster" Target="/ppt/notesMasters/notesMaster1.xml" Id="R121892b28dcb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f694cbe92e4aec" /><Relationship Type="http://schemas.openxmlformats.org/officeDocument/2006/relationships/notesMaster" Target="/ppt/notesMasters/notesMaster1.xml" Id="R1cfab159c1fe4a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25e8e878294d7e" /><Relationship Type="http://schemas.openxmlformats.org/officeDocument/2006/relationships/notesMaster" Target="/ppt/notesMasters/notesMaster1.xml" Id="R38fc9b8be038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bc5b0ff704dbb" /><Relationship Type="http://schemas.openxmlformats.org/officeDocument/2006/relationships/notesMaster" Target="/ppt/notesMasters/notesMaster1.xml" Id="Rd0daddce172540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2c998d6ca4165" /><Relationship Type="http://schemas.openxmlformats.org/officeDocument/2006/relationships/notesMaster" Target="/ppt/notesMasters/notesMaster1.xml" Id="Rcc9c46a6dc8c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a4fd6ba5c046ce" /><Relationship Type="http://schemas.openxmlformats.org/officeDocument/2006/relationships/notesMaster" Target="/ppt/notesMasters/notesMaster1.xml" Id="Ra2b3967feeee4d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11aa6fe19249b6" /><Relationship Type="http://schemas.openxmlformats.org/officeDocument/2006/relationships/notesMaster" Target="/ppt/notesMasters/notesMaster1.xml" Id="R8687232201eb4b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7db405837341c7" /><Relationship Type="http://schemas.openxmlformats.org/officeDocument/2006/relationships/notesMaster" Target="/ppt/notesMasters/notesMaster1.xml" Id="R2e2c80456b1846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774418312f4b78" /><Relationship Type="http://schemas.openxmlformats.org/officeDocument/2006/relationships/notesMaster" Target="/ppt/notesMasters/notesMaster1.xml" Id="R058859a1f4064d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e4289cd06744c3" /><Relationship Type="http://schemas.openxmlformats.org/officeDocument/2006/relationships/notesMaster" Target="/ppt/notesMasters/notesMaster1.xml" Id="Rcf5b3365f5834b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45fe2d563e496d" /><Relationship Type="http://schemas.openxmlformats.org/officeDocument/2006/relationships/notesMaster" Target="/ppt/notesMasters/notesMaster1.xml" Id="R05ca8d06e51e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f60dfd9bce4a25" /><Relationship Type="http://schemas.openxmlformats.org/officeDocument/2006/relationships/notesMaster" Target="/ppt/notesMasters/notesMaster1.xml" Id="R2029d49f2d354e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ba0a0ed2074ecd" /><Relationship Type="http://schemas.openxmlformats.org/officeDocument/2006/relationships/notesMaster" Target="/ppt/notesMasters/notesMaster1.xml" Id="R458635cf414d43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9bf293b81491e" /><Relationship Type="http://schemas.openxmlformats.org/officeDocument/2006/relationships/notesMaster" Target="/ppt/notesMasters/notesMaster1.xml" Id="R67d35cf0841149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4e22777d5b48e0" /><Relationship Type="http://schemas.openxmlformats.org/officeDocument/2006/relationships/notesMaster" Target="/ppt/notesMasters/notesMaster1.xml" Id="R93dd734b97ad47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d60248a4dd42db" /><Relationship Type="http://schemas.openxmlformats.org/officeDocument/2006/relationships/notesMaster" Target="/ppt/notesMasters/notesMaster1.xml" Id="Ra80d2cfc678240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16d6c2afb1424c" /><Relationship Type="http://schemas.openxmlformats.org/officeDocument/2006/relationships/notesMaster" Target="/ppt/notesMasters/notesMaster1.xml" Id="R72cbe5cbfb9949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08833edde44924" /><Relationship Type="http://schemas.openxmlformats.org/officeDocument/2006/relationships/notesMaster" Target="/ppt/notesMasters/notesMaster1.xml" Id="R3cea665b2bb140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83d8cdc66e4ebf" /><Relationship Type="http://schemas.openxmlformats.org/officeDocument/2006/relationships/notesMaster" Target="/ppt/notesMasters/notesMaster1.xml" Id="R9cadbb4e4dfd4d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f102ba671d4088" /><Relationship Type="http://schemas.openxmlformats.org/officeDocument/2006/relationships/notesMaster" Target="/ppt/notesMasters/notesMaster1.xml" Id="Rd0ac7a2ee1fc4b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f8ca8bb7cc4252" /><Relationship Type="http://schemas.openxmlformats.org/officeDocument/2006/relationships/notesMaster" Target="/ppt/notesMasters/notesMaster1.xml" Id="R579138d75e4a42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0e35af078f4555" /><Relationship Type="http://schemas.openxmlformats.org/officeDocument/2006/relationships/notesMaster" Target="/ppt/notesMasters/notesMaster1.xml" Id="Rd7f09215c59341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060d0f6f8840e9" /><Relationship Type="http://schemas.openxmlformats.org/officeDocument/2006/relationships/notesMaster" Target="/ppt/notesMasters/notesMaster1.xml" Id="Rec721561461341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64c377e3e44877" /><Relationship Type="http://schemas.openxmlformats.org/officeDocument/2006/relationships/notesMaster" Target="/ppt/notesMasters/notesMaster1.xml" Id="R96e8539c51ed40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308caefd3a4e13" /><Relationship Type="http://schemas.openxmlformats.org/officeDocument/2006/relationships/notesMaster" Target="/ppt/notesMasters/notesMaster1.xml" Id="R22501baa702e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presentación recorre el proyecto como una cadena causal: la física fija requisitos, los requisitos fijan la implementación y el experimento revela el límite dominante.</a:t>
            </a:r>
          </a:p>
          <a:p xmlns:a="http://schemas.openxmlformats.org/drawingml/2006/main">
            <a:r>
              <a:t>El objetivo no es defender un instrumento comercial terminado, sino una primera plataforma integrada, accesible y auditable para investigación MASW.</a:t>
            </a:r>
          </a:p>
          <a:p xmlns:a="http://schemas.openxmlformats.org/drawingml/2006/main">
            <a:r>
              <a:t>La tesis se evalúa por la coherencia entre medición, procesamiento, incertidumbre y decisiones de diseño.</a:t>
            </a:r>
          </a:p>
          <a:p xmlns:a="http://schemas.openxmlformats.org/drawingml/2006/main">
            <a:r>
              <a:t>Transición: primero establezco qué magnitud geotécnica buscamos y por qué la fase multicanal es el dato esencial.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magnitud geotécnica de interés es la velocidad de onda de corte Vs y su relación con el módulo de corte máximo Gmax igual a rho por Vs al cuadrado.</a:t>
            </a:r>
          </a:p>
          <a:p xmlns:a="http://schemas.openxmlformats.org/drawingml/2006/main">
            <a:r>
              <a:t>El producto final no es una imagen directa del terreno: es un modelo estratificado compatible con los datos y con la resolución del ensayo.</a:t>
            </a:r>
          </a:p>
          <a:p xmlns:a="http://schemas.openxmlformats.org/drawingml/2006/main">
            <a:r>
              <a:t>Esto obliga a distinguir desde el inicio qué observamos de manera robusta y qué inferimos mediante inversión.</a:t>
            </a:r>
          </a:p>
          <a:p xmlns:a="http://schemas.openxmlformats.org/drawingml/2006/main">
            <a:r>
              <a:t>Transición: MASW explota ondas Rayleigh porque su propagación superficial concentra energía medible a distintas longitudes de onda.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ondas Rayleigh combinan desplazamientos verticales y horizontales y transportan una fracción importante de la energía cerca de la superficie.</a:t>
            </a:r>
          </a:p>
          <a:p xmlns:a="http://schemas.openxmlformats.org/drawingml/2006/main">
            <a:r>
              <a:t>En un medio estratificado, la velocidad aparente depende de la frecuencia porque cada longitud de onda muestrea un volumen diferente.</a:t>
            </a:r>
          </a:p>
          <a:p xmlns:a="http://schemas.openxmlformats.org/drawingml/2006/main">
            <a:r>
              <a:t>La profundidad de investigación no se obtiene con z igual a lambda sobre dos como una identidad universal; depende de sensibilidad, modo y estructura.</a:t>
            </a:r>
          </a:p>
          <a:p xmlns:a="http://schemas.openxmlformats.org/drawingml/2006/main">
            <a:r>
              <a:t>Transición: la relación entre longitud de onda, frecuencia y profundidad explica por qué necesitamos energía de baja frecuencia.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longitud de onda Rayleigh se obtiene como velocidad de fase dividida por frecuencia.</a:t>
            </a:r>
          </a:p>
          <a:p xmlns:a="http://schemas.openxmlformats.org/drawingml/2006/main">
            <a:r>
              <a:t>Para una velocidad dada, reducir la frecuencia aumenta la longitud de onda y desplaza la sensibilidad a mayor profundidad.</a:t>
            </a:r>
          </a:p>
          <a:p xmlns:a="http://schemas.openxmlformats.org/drawingml/2006/main">
            <a:r>
              <a:t>Por eso el requisito de baja frecuencia nace de la física y debe resolverse antes de la digitalización: principalmente en la fuente, el acoplamiento y el ruido del frente analógico.</a:t>
            </a:r>
          </a:p>
          <a:p xmlns:a="http://schemas.openxmlformats.org/drawingml/2006/main">
            <a:r>
              <a:t>Transición: la velocidad de fase se estima a partir de diferencias de fase entre receptores, no de amplitud absoluta.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cada frecuencia se calcula la diferencia de fase entre receptores separados una distancia conocida.</a:t>
            </a:r>
          </a:p>
          <a:p xmlns:a="http://schemas.openxmlformats.org/drawingml/2006/main">
            <a:r>
              <a:t>La velocidad de fase es proporcional a frecuencia angular y espaciamiento, e inversamente proporcional a la diferencia de fase observada.</a:t>
            </a:r>
          </a:p>
          <a:p xmlns:a="http://schemas.openxmlformats.org/drawingml/2006/main">
            <a:r>
              <a:t>Esto conecta directamente errores de sincronización y geometría con el error en c de f.</a:t>
            </a:r>
          </a:p>
          <a:p xmlns:a="http://schemas.openxmlformats.org/drawingml/2006/main">
            <a:r>
              <a:t>Transición: el método de Park extiende esta idea a todos los canales y busca coherencia para cada velocidad candidata.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transformación de Park compensa la fase esperada para una velocidad candidata y suma los canales.</a:t>
            </a:r>
          </a:p>
          <a:p xmlns:a="http://schemas.openxmlformats.org/drawingml/2006/main">
            <a:r>
              <a:t>Cuando la velocidad candidata coincide con la propagación observada, las contribuciones se alinean y la energía aumenta.</a:t>
            </a:r>
          </a:p>
          <a:p xmlns:a="http://schemas.openxmlformats.org/drawingml/2006/main">
            <a:r>
              <a:t>La curva de dispersión se selecciona sobre esta imagen; esa selección necesita criterios de continuidad, soporte y control de calidad.</a:t>
            </a:r>
          </a:p>
          <a:p xmlns:a="http://schemas.openxmlformats.org/drawingml/2006/main">
            <a:r>
              <a:t>Transición: aun con una curva robusta, convertir c de f en Vs de z sigue siendo un problema inverso no único.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inversión busca un modelo cuya curva teórica reproduzca la curva observada, con regularización para controlar soluciones físicamente poco plausibles.</a:t>
            </a:r>
          </a:p>
          <a:p xmlns:a="http://schemas.openxmlformats.org/drawingml/2006/main">
            <a:r>
              <a:t>Distintos perfiles pueden explicar datos similares; por eso el número de capas, los límites y la incertidumbre deben declararse.</a:t>
            </a:r>
          </a:p>
          <a:p xmlns:a="http://schemas.openxmlformats.org/drawingml/2006/main">
            <a:r>
              <a:t>El benchmark confirmó que c de f es más estable que Vs de z y que cinco capas no son defendibles como valor por defecto con los datos actuales.</a:t>
            </a:r>
          </a:p>
          <a:p xmlns:a="http://schemas.openxmlformats.org/drawingml/2006/main">
            <a:r>
              <a:t>Transición: estos hechos físicos se traducen en requisitos concretos para toda la plataforma.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banda observable depende de fuente, sensor y frente analógico; la fase depende de sincronización y geometría.</a:t>
            </a:r>
          </a:p>
          <a:p xmlns:a="http://schemas.openxmlformats.org/drawingml/2006/main">
            <a:r>
              <a:t>La integridad exige no completar silenciosamente paquetes perdidos, porque una muestra inventada altera fase y amplitud.</a:t>
            </a:r>
          </a:p>
          <a:p xmlns:a="http://schemas.openxmlformats.org/drawingml/2006/main">
            <a:r>
              <a:t>La auditoría exige conservar configuración, coordenadas, calidad del picking e incertidumbre de la inversión.</a:t>
            </a:r>
          </a:p>
          <a:p xmlns:a="http://schemas.openxmlformats.org/drawingml/2006/main">
            <a:r>
              <a:t>Transición: recorro ahora la implementación siguiendo la misma cadena física, comenzando por la fuente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campaña actual usa un martillo instrumentado PCB 086D20 con salida ICP.</a:t>
            </a:r>
          </a:p>
          <a:p xmlns:a="http://schemas.openxmlformats.org/drawingml/2006/main">
            <a:r>
              <a:t>El golpe cumple dos funciones: excita el terreno y proporciona una referencia temporal medida para alinear la captura.</a:t>
            </a:r>
          </a:p>
          <a:p xmlns:a="http://schemas.openxmlformats.org/drawingml/2006/main">
            <a:r>
              <a:t>La limitación no es detectar el impacto, sino repetir suficiente energía en baja frecuencia de forma controlada.</a:t>
            </a:r>
          </a:p>
          <a:p xmlns:a="http://schemas.openxmlformats.org/drawingml/2006/main">
            <a:r>
              <a:t>Transición: el segundo límite de banda aparece en el transductor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utilizó el SM-24 de 10 hertz porque estaba disponible en la Facultad, no porque optimizara un objetivo de 50 metros.</a:t>
            </a:r>
          </a:p>
          <a:p xmlns:a="http://schemas.openxmlformats.org/drawingml/2006/main">
            <a:r>
              <a:t>Debajo de su frecuencia natural la sensibilidad cae con rapidez, de modo que amplificar también eleva ruido y offset.</a:t>
            </a:r>
          </a:p>
          <a:p xmlns:a="http://schemas.openxmlformats.org/drawingml/2006/main">
            <a:r>
              <a:t>La decisión de ingeniería fue compensar de manera controlada y medir el costo en rango dinámico.</a:t>
            </a:r>
          </a:p>
          <a:p xmlns:a="http://schemas.openxmlformats.org/drawingml/2006/main">
            <a:r>
              <a:t>Transición: la respuesta puede expresarse respecto de velocidad o aceleración; ambas referencias explican la pendiente observada.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respuesta respecto de velocidad presenta dos ceros en el origen y cae aproximadamente cuarenta decibeles por década debajo de la resonancia.</a:t>
            </a:r>
          </a:p>
          <a:p xmlns:a="http://schemas.openxmlformats.org/drawingml/2006/main">
            <a:r>
              <a:t>Respecto de aceleración aparece un cero y la pendiente es aproximadamente veinte decibeles por década.</a:t>
            </a:r>
          </a:p>
          <a:p xmlns:a="http://schemas.openxmlformats.org/drawingml/2006/main">
            <a:r>
              <a:t>Estas dos expresiones no son contradictorias: dependen de qué magnitud se usa como entrada del modelo.</a:t>
            </a:r>
          </a:p>
          <a:p xmlns:a="http://schemas.openxmlformats.org/drawingml/2006/main">
            <a:r>
              <a:t>Transición: el acondicionamiento usa una compensación de fase mínima para recuperar parte de esa banda sin una inversión inestable.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estructura uno menos pasa banda implementa una compensación complementaria de fase mínima.</a:t>
            </a:r>
          </a:p>
          <a:p xmlns:a="http://schemas.openxmlformats.org/drawingml/2006/main">
            <a:r>
              <a:t>El parámetro zeta uno es aproximadamente novecientos treinta y ocho, con un factor de atenuación cercano a mil ochocientos setenta y seis.</a:t>
            </a:r>
          </a:p>
          <a:p xmlns:a="http://schemas.openxmlformats.org/drawingml/2006/main">
            <a:r>
              <a:t>La ganancia máxima total de la cadena es del orden de mil ochocientos y está repartida para evitar saturación localizada.</a:t>
            </a:r>
          </a:p>
          <a:p xmlns:a="http://schemas.openxmlformats.org/drawingml/2006/main">
            <a:r>
              <a:t>Transición: esa recuperación de banda tiene un costo medible en sensibilidad, ruido y margen de offset.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barrido medido verifica la forma esperada de la cadena y su continuidad funcional.</a:t>
            </a:r>
          </a:p>
          <a:p xmlns:a="http://schemas.openxmlformats.org/drawingml/2006/main">
            <a:r>
              <a:t>Sin embargo, la alta ganancia también amplifica ruido, deriva y errores de offset; no equivale a recuperar información inexistente.</a:t>
            </a:r>
          </a:p>
          <a:p xmlns:a="http://schemas.openxmlformats.org/drawingml/2006/main">
            <a:r>
              <a:t>La figura no debe presentarse como calibración sísmica absoluta extremo a extremo, porque ese ensayo aún está pendiente.</a:t>
            </a:r>
          </a:p>
          <a:p xmlns:a="http://schemas.openxmlformats.org/drawingml/2006/main">
            <a:r>
              <a:t>Transición: el offset es especialmente crítico porque desplaza toda la señal dentro de una ventana ADC finita.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offset grande desplaza la señal y reduce el rango disponible antes de saturar el convertidor.</a:t>
            </a:r>
          </a:p>
          <a:p xmlns:a="http://schemas.openxmlformats.org/drawingml/2006/main">
            <a:r>
              <a:t>La calibración busca centrar cada etapa para aprovechar la ganancia sin introducir una corrección dinámica durante la captura.</a:t>
            </a:r>
          </a:p>
          <a:p xmlns:a="http://schemas.openxmlformats.org/drawingml/2006/main">
            <a:r>
              <a:t>Modificar el código de compensación mientras se mide podría alterar amplitud y fase, por eso la calibración es foreground.</a:t>
            </a:r>
          </a:p>
          <a:p xmlns:a="http://schemas.openxmlformats.org/drawingml/2006/main">
            <a:r>
              <a:t>Transición: el firmware implementa esa calibración como una secuencia auditable con control PI y persistencia.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calibración recorre las etapas del frente analógico y estima offset con un FIR de ciento veintiocho taps.</a:t>
            </a:r>
          </a:p>
          <a:p xmlns:a="http://schemas.openxmlformats.org/drawingml/2006/main">
            <a:r>
              <a:t>El control PI incorpora banda muerta y anti-windup; los códigos se conservan por ganancia en EEPROM con CRC.</a:t>
            </a:r>
          </a:p>
          <a:p xmlns:a="http://schemas.openxmlformats.org/drawingml/2006/main">
            <a:r>
              <a:t>El grafo del repositorio confirma funciones cal pi start, service y límites de integral en calibration.c, por lo que esto no es sólo diseño documental.</a:t>
            </a:r>
          </a:p>
          <a:p xmlns:a="http://schemas.openxmlformats.org/drawingml/2006/main">
            <a:r>
              <a:t>Durante la adquisición el lazo queda desactivado y los códigos permanecen fijos.</a:t>
            </a:r>
          </a:p>
          <a:p xmlns:a="http://schemas.openxmlformats.org/drawingml/2006/main">
            <a:r>
              <a:t>Transición: existe además una revisión candidata del AFE que amplía margen, pero todavía no debe confundirse con hardware validado.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propuesta sustituye VDAC por IDAC y usa la salida del PGA para ampliar el margen de centrado y ganancia.</a:t>
            </a:r>
          </a:p>
          <a:p xmlns:a="http://schemas.openxmlformats.org/drawingml/2006/main">
            <a:r>
              <a:t>El rango estimado es aproximadamente dos coma cero seis a tres coma cero dos voltios, con ganancia de hasta cincuenta.</a:t>
            </a:r>
          </a:p>
          <a:p xmlns:a="http://schemas.openxmlformats.org/drawingml/2006/main">
            <a:r>
              <a:t>Debe etiquetarse como candidato porque todavía no existe validación de prototipo, ruido, fase y saturación extremo a extremo.</a:t>
            </a:r>
          </a:p>
          <a:p xmlns:a="http://schemas.openxmlformats.org/drawingml/2006/main">
            <a:r>
              <a:t>Transición: la versión implementada ya dispone de una ruta digital determinista desde ADC hasta memoria.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ADC Delta-Sigma opera con dieciocho bits nominales y una tasa de dos mil seiscientas cuatro muestras por segundo.</a:t>
            </a:r>
          </a:p>
          <a:p xmlns:a="http://schemas.openxmlformats.org/drawingml/2006/main">
            <a:r>
              <a:t>La temporización se lleva a hardware UDB y dos canales DMA trasladan datos filtrados y crudos a RAM.</a:t>
            </a:r>
          </a:p>
          <a:p xmlns:a="http://schemas.openxmlformats.org/drawingml/2006/main">
            <a:r>
              <a:t>El grafo confirma las rutas DMA y los estados de armado y muestreo del PSoC, lo que respalda la arquitectura documentada.</a:t>
            </a:r>
          </a:p>
          <a:p xmlns:a="http://schemas.openxmlformats.org/drawingml/2006/main">
            <a:r>
              <a:t>Separar captura determinista de comunicación evita que la latencia de red module el instante de muestreo.</a:t>
            </a:r>
          </a:p>
          <a:p xmlns:a="http://schemas.openxmlformats.org/drawingml/2006/main">
            <a:r>
              <a:t>Transición: el transporte inalámbrico se eligió por operación de campo, con una decisión explícita sobre integridad.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ESP-NOW se eligió por disponibilidad, costo, baja sobrecarga y operación sin router externo.</a:t>
            </a:r>
          </a:p>
          <a:p xmlns:a="http://schemas.openxmlformats.org/drawingml/2006/main">
            <a:r>
              <a:t>El maestro crea su propia red Wi-Fi para la interfaz, mientras los esclavos conservan respaldo local de la captura.</a:t>
            </a:r>
          </a:p>
          <a:p xmlns:a="http://schemas.openxmlformats.org/drawingml/2006/main">
            <a:r>
              <a:t>La comunicación no controla el instante de muestreo; transporta datos ya adquiridos por una ruta determinista.</a:t>
            </a:r>
          </a:p>
          <a:p xmlns:a="http://schemas.openxmlformats.org/drawingml/2006/main">
            <a:r>
              <a:t>Transición: aun así, el error de sincronización debe expresarse como error físico de fase y velocidad.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ciento veintiocho disparos se midió una dispersión temporal del orden de cien a doscientos microsegundos.</a:t>
            </a:r>
          </a:p>
          <a:p xmlns:a="http://schemas.openxmlformats.org/drawingml/2006/main">
            <a:r>
              <a:t>Usando cien metros por segundo, dos metros de separación y doscientos microsegundos, la aproximación da cerca de uno por ciento de error relativo en velocidad.</a:t>
            </a:r>
          </a:p>
          <a:p xmlns:a="http://schemas.openxmlformats.org/drawingml/2006/main">
            <a:r>
              <a:t>A cien hertz, cien microsegundos equivalen a uno por ciento del período o tres coma seis grados de fase.</a:t>
            </a:r>
          </a:p>
          <a:p xmlns:a="http://schemas.openxmlformats.org/drawingml/2006/main">
            <a:r>
              <a:t>La cifra debe expresarse en estos términos físicos y no como porcentaje ambiguo de una muestra.</a:t>
            </a:r>
          </a:p>
          <a:p xmlns:a="http://schemas.openxmlformats.org/drawingml/2006/main">
            <a:r>
              <a:t>Transición: el segundo requisito de red es poder demostrar que ningún fragmento perdido se sustituyó silenciosamente.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capturas se fragmentan y numeran; el maestro reensambla, valida tamaño e integridad y confirma la recepción.</a:t>
            </a:r>
          </a:p>
          <a:p xmlns:a="http://schemas.openxmlformats.org/drawingml/2006/main">
            <a:r>
              <a:t>Si falta un fragmento no se interpola, porque completar una muestra puede fabricar fase; se reintenta y se conserva respaldo local.</a:t>
            </a:r>
          </a:p>
          <a:p xmlns:a="http://schemas.openxmlformats.org/drawingml/2006/main">
            <a:r>
              <a:t>El grafo confirma las funciones de ACK con reintento y servicio de reintento en el firmware ESP32.</a:t>
            </a:r>
          </a:p>
          <a:p xmlns:a="http://schemas.openxmlformats.org/drawingml/2006/main">
            <a:r>
              <a:t>La memoria se libera solamente después de confirmación, de modo que la pérdida de red no se convierte en pérdida silenciosa de datos.</a:t>
            </a:r>
          </a:p>
          <a:p xmlns:a="http://schemas.openxmlformats.org/drawingml/2006/main">
            <a:r>
              <a:t>Transición: esta arquitectura alimenta dos interfaces con responsabilidades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interfaz de campo Geophone Scope arma nodos, configura, captura y exporta sin requerir Internet.</a:t>
            </a:r>
          </a:p>
          <a:p xmlns:a="http://schemas.openxmlformats.org/drawingml/2006/main">
            <a:r>
              <a:t>El servidor conserva campañas y metadatos, valida, agrupa, alinea, promedia, genera dispersión e invierte.</a:t>
            </a:r>
          </a:p>
          <a:p xmlns:a="http://schemas.openxmlformats.org/drawingml/2006/main">
            <a:r>
              <a:t>El grafo muestra rutas reales para dispersion, auto-pick, inversions, waterfall, averages, jobs y exports.</a:t>
            </a:r>
          </a:p>
          <a:p xmlns:a="http://schemas.openxmlformats.org/drawingml/2006/main">
            <a:r>
              <a:t>La separación evita sobrecargar la operación de campo y mantiene trazabilidad para el análisis posterior.</a:t>
            </a:r>
          </a:p>
          <a:p xmlns:a="http://schemas.openxmlformats.org/drawingml/2006/main">
            <a:r>
              <a:t>Transición: la campaña Canchita demuestra que la cadena ya produce un registro multicanal y una imagen de dispersión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campaña Canchita utiliza veintiuna posiciones, dos metros de paso y cuarenta metros de apertura.</a:t>
            </a:r>
          </a:p>
          <a:p xmlns:a="http://schemas.openxmlformats.org/drawingml/2006/main">
            <a:r>
              <a:t>La figura reúne el registro wiggle y las imágenes de dispersión obtenidas con datos reales.</a:t>
            </a:r>
          </a:p>
          <a:p xmlns:a="http://schemas.openxmlformats.org/drawingml/2006/main">
            <a:r>
              <a:t>Esto demuestra funcionamiento de punta a punta de la cadena de análisis, pero todavía no valida por sí solo un perfil Vs final.</a:t>
            </a:r>
          </a:p>
          <a:p xmlns:a="http://schemas.openxmlformats.org/drawingml/2006/main">
            <a:r>
              <a:t>Transición: antes de interpretar la cresta debemos imponer los límites geométricos del arreglo.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paso entre receptores fija una cota de aliasing espacial: la velocidad observable debe ser al menos dos veces delta x por frecuencia.</a:t>
            </a:r>
          </a:p>
          <a:p xmlns:a="http://schemas.openxmlformats.org/drawingml/2006/main">
            <a:r>
              <a:t>Con dos metros de paso, la cota es cuatro veces la frecuencia; una cresta de cien metros por segundo cruza esa cota cerca de veinticinco hertz.</a:t>
            </a:r>
          </a:p>
          <a:p xmlns:a="http://schemas.openxmlformats.org/drawingml/2006/main">
            <a:r>
              <a:t>La apertura de cuarenta metros limita las longitudes de onda mayores y el extremo bajo de frecuencia.</a:t>
            </a:r>
          </a:p>
          <a:p xmlns:a="http://schemas.openxmlformats.org/drawingml/2006/main">
            <a:r>
              <a:t>La banda coherente observada está aproximadamente entre seis y veinte hertz y setenta a ciento diez metros por segundo.</a:t>
            </a:r>
          </a:p>
          <a:p xmlns:a="http://schemas.openxmlformats.org/drawingml/2006/main">
            <a:r>
              <a:t>Transición: la autopotencia muestra que el problema principal está precisamente debajo de esa banda.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 debajo de cinco hertz aparece apenas cero coma uno por ciento de la autopotencia integrada.</a:t>
            </a:r>
          </a:p>
          <a:p xmlns:a="http://schemas.openxmlformats.org/drawingml/2006/main">
            <a:r>
              <a:t>Entre cinco y veinte hertz se concentra cincuenta y cuatro coma tres por ciento, y entre veinte y cincuenta hertz, cuarenta y tres coma dos por ciento.</a:t>
            </a:r>
          </a:p>
          <a:p xmlns:a="http://schemas.openxmlformats.org/drawingml/2006/main">
            <a:r>
              <a:t>La banda que gobierna mayor profundidad casi no tiene energía útil, de modo que el procesamiento no puede crear información que no superó el ruido analógico.</a:t>
            </a:r>
          </a:p>
          <a:p xmlns:a="http://schemas.openxmlformats.org/drawingml/2006/main">
            <a:r>
              <a:t>El benchmark resume esta situación como sobra apertura y falta baja frecuencia.</a:t>
            </a:r>
          </a:p>
          <a:p xmlns:a="http://schemas.openxmlformats.org/drawingml/2006/main">
            <a:r>
              <a:t>Transición: la decisión de diseño vuelve entonces al primer bloque de la cadena: una fuente repetitiva e instrumentada.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generó una secuencia de impactos y se apilaron las señales para comprobar si la baja frecuencia emergía de forma coherente.</a:t>
            </a:r>
          </a:p>
          <a:p xmlns:a="http://schemas.openxmlformats.org/drawingml/2006/main">
            <a:r>
              <a:t>La prueba sí muestra componente de baja frecuencia y un comportamiento compatible con el pasa-bandas estimado para el conjunto sensor más acondicionamiento.</a:t>
            </a:r>
          </a:p>
          <a:p xmlns:a="http://schemas.openxmlformats.org/drawingml/2006/main">
            <a:r>
              <a:t>Esto verifica que el sensor puede captar esa banda cuando la excitación repetitiva mejora la relación señal a ruido; no implica que un único golpe ya tenga energía suficiente.</a:t>
            </a:r>
          </a:p>
          <a:p xmlns:a="http://schemas.openxmlformats.org/drawingml/2006/main">
            <a:r>
              <a:t>Sigue pendiente cuantificar ganancia por número de impactos, repetibilidad, fase y comparación bajo una geometría controlada con el martillete definitivo.</a:t>
            </a:r>
          </a:p>
          <a:p xmlns:a="http://schemas.openxmlformats.org/drawingml/2006/main">
            <a:r>
              <a:t>Transición: el benchmark computacional ayuda a priorizar esta mejora por encima de seguir sofisticando el algoritmo.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informe consolidado reúne mil seiscientas cuarenta ejecuciones; el balance final usa cuatrocientas treinta y dos comparables.</a:t>
            </a:r>
          </a:p>
          <a:p xmlns:a="http://schemas.openxmlformats.org/drawingml/2006/main">
            <a:r>
              <a:t>Park más dynamic programming es la línea base en datos reales: veinticinco de cuarenta y ocho casos admisibles y misfit mediano de cuatro coma cero nueve por ciento.</a:t>
            </a:r>
          </a:p>
          <a:p xmlns:a="http://schemas.openxmlformats.org/drawingml/2006/main">
            <a:r>
              <a:t>Eliminar dos offsets desplaza c de f unos veintinueve coma setenta y seis metros por segundo, contra dos coma veintiocho al cambiar transformada: la geometría pesa cerca de trece veces más.</a:t>
            </a:r>
          </a:p>
          <a:p xmlns:a="http://schemas.openxmlformats.org/drawingml/2006/main">
            <a:r>
              <a:t>Tres capas muestran coeficiente de variación cercano a tres por ciento; cinco capas suben a alrededor de ocho por ciento y aumentan la varianza atribuible al optimizador.</a:t>
            </a:r>
          </a:p>
          <a:p xmlns:a="http://schemas.openxmlformats.org/drawingml/2006/main">
            <a:r>
              <a:t>DP puede proponer curva incluso sin energía sintética, por lo que soporte, censura y bootstrap son control de calidad obligatorio.</a:t>
            </a:r>
          </a:p>
          <a:p xmlns:a="http://schemas.openxmlformats.org/drawingml/2006/main">
            <a:r>
              <a:t>Transición: cierro la cadena mostrando qué está medido, implementado y pendiente sin mezclar niveles de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plataforma ya integra adquisición, transporte auditable, interfaces, dispersión e inversión sobre datos reales.</a:t>
            </a:r>
          </a:p>
          <a:p xmlns:a="http://schemas.openxmlformats.org/drawingml/2006/main">
            <a:r>
              <a:t>La evidencia medida incluye sincronismo, respuesta funcional del AFE, campaña multicanal y distribución espectral.</a:t>
            </a:r>
          </a:p>
          <a:p xmlns:a="http://schemas.openxmlformats.org/drawingml/2006/main">
            <a:r>
              <a:t>La principal limitación es la falta de energía útil debajo de cinco hertz, reforzada por las restricciones geométricas y por la no unicidad de la inversión.</a:t>
            </a:r>
          </a:p>
          <a:p xmlns:a="http://schemas.openxmlformats.org/drawingml/2006/main">
            <a:r>
              <a:t>El siguiente experimento defendible es mejorar la fuente, mantener geometría comparable y cuantificar repetibilidad, soporte de c de f e incertidumbre de Vs de z.</a:t>
            </a:r>
          </a:p>
          <a:p xmlns:a="http://schemas.openxmlformats.org/drawingml/2006/main">
            <a:r>
              <a:t>Mensaje final: el proyecto avanzó de una colección de bloques a una cadena causal y auditable; ahora la prioridad es mejorar el dato antes de complejizar el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62fe67f68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01d2b84594be1" /><Relationship Type="http://schemas.openxmlformats.org/officeDocument/2006/relationships/slideLayout" Target="/ppt/slideLayouts/slideLayout1.xml" Id="Rae4647d33a07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4647d33a07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ee025c11c4a4c" /><Relationship Type="http://schemas.openxmlformats.org/officeDocument/2006/relationships/image" Target="/ppt/media/image.jpeg" Id="Racf9fc99d79f4e6c" /><Relationship Type="http://schemas.openxmlformats.org/officeDocument/2006/relationships/notesSlide" Target="/ppt/notesSlides/notesSlide1.xml" Id="R82a317f62898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d7c64fb644a3" /><Relationship Type="http://schemas.openxmlformats.org/officeDocument/2006/relationships/notesSlide" Target="/ppt/notesSlides/notesSlide2.xml" Id="Rd922b02c907b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411a5b3d74b3f" /><Relationship Type="http://schemas.openxmlformats.org/officeDocument/2006/relationships/image" Target="/ppt/media/image.png" Id="Re24227fe7902451d" /><Relationship Type="http://schemas.openxmlformats.org/officeDocument/2006/relationships/notesSlide" Target="/ppt/notesSlides/notesSlide3.xml" Id="Rec05c92a96104c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37228a0ae4ea6" /><Relationship Type="http://schemas.openxmlformats.org/officeDocument/2006/relationships/image" Target="/ppt/media/image2.png" Id="R775ed4f062b4410b" /><Relationship Type="http://schemas.openxmlformats.org/officeDocument/2006/relationships/notesSlide" Target="/ppt/notesSlides/notesSlide4.xml" Id="Rac1f15e3bc9c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23525d2564000" /><Relationship Type="http://schemas.openxmlformats.org/officeDocument/2006/relationships/notesSlide" Target="/ppt/notesSlides/notesSlide5.xml" Id="R6f74dbb05f074a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66cb723fd404a" /><Relationship Type="http://schemas.openxmlformats.org/officeDocument/2006/relationships/image" Target="/ppt/media/image3.png" Id="Rc6e250aa5e7f4ee7" /><Relationship Type="http://schemas.openxmlformats.org/officeDocument/2006/relationships/image" Target="/ppt/media/image4.png" Id="R5c9209e294ad417a" /><Relationship Type="http://schemas.openxmlformats.org/officeDocument/2006/relationships/notesSlide" Target="/ppt/notesSlides/notesSlide6.xml" Id="R8757e3980728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60e0d3a2c4165" /><Relationship Type="http://schemas.openxmlformats.org/officeDocument/2006/relationships/image" Target="/ppt/media/image5.png" Id="R5a4beea9131d4663" /><Relationship Type="http://schemas.openxmlformats.org/officeDocument/2006/relationships/notesSlide" Target="/ppt/notesSlides/notesSlide7.xml" Id="R2b71b27dfd9e42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947ec9204a40" /><Relationship Type="http://schemas.openxmlformats.org/officeDocument/2006/relationships/notesSlide" Target="/ppt/notesSlides/notesSlide8.xml" Id="R67d4bb538cb5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b5d5f5f3348e7" /><Relationship Type="http://schemas.openxmlformats.org/officeDocument/2006/relationships/image" Target="/ppt/media/image6.png" Id="R5fe34450919942fa" /><Relationship Type="http://schemas.openxmlformats.org/officeDocument/2006/relationships/notesSlide" Target="/ppt/notesSlides/notesSlide9.xml" Id="R76b2ea5575074e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f6453fb741d7" /><Relationship Type="http://schemas.openxmlformats.org/officeDocument/2006/relationships/image" Target="/ppt/media/image7.png" Id="R5a944df1980c46c7" /><Relationship Type="http://schemas.openxmlformats.org/officeDocument/2006/relationships/notesSlide" Target="/ppt/notesSlides/notesSlide10.xml" Id="Rc92dd1a73bd64b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2da3542014b0f" /><Relationship Type="http://schemas.openxmlformats.org/officeDocument/2006/relationships/image" Target="/ppt/media/image8.png" Id="R1128eb6363834518" /><Relationship Type="http://schemas.openxmlformats.org/officeDocument/2006/relationships/notesSlide" Target="/ppt/notesSlides/notesSlide11.xml" Id="R3fb0cae4368140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ac4ec98954860" /><Relationship Type="http://schemas.openxmlformats.org/officeDocument/2006/relationships/image" Target="/ppt/media/image9.png" Id="R55530674cdde4378" /><Relationship Type="http://schemas.openxmlformats.org/officeDocument/2006/relationships/notesSlide" Target="/ppt/notesSlides/notesSlide12.xml" Id="Rab0e653d4eed46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db44f626e44d7" /><Relationship Type="http://schemas.openxmlformats.org/officeDocument/2006/relationships/image" Target="/ppt/media/image10.png" Id="Ra526491ed3544db7" /><Relationship Type="http://schemas.openxmlformats.org/officeDocument/2006/relationships/notesSlide" Target="/ppt/notesSlides/notesSlide13.xml" Id="R2effec71ea784c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36de3902e4969" /><Relationship Type="http://schemas.openxmlformats.org/officeDocument/2006/relationships/notesSlide" Target="/ppt/notesSlides/notesSlide14.xml" Id="R437a3307031a4a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0db2e0c5746d9" /><Relationship Type="http://schemas.openxmlformats.org/officeDocument/2006/relationships/image" Target="/ppt/media/image11.png" Id="R01a3cbbb5aaf4850" /><Relationship Type="http://schemas.openxmlformats.org/officeDocument/2006/relationships/notesSlide" Target="/ppt/notesSlides/notesSlide15.xml" Id="R470fc0e959364f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a83ffd354a9d" /><Relationship Type="http://schemas.openxmlformats.org/officeDocument/2006/relationships/image" Target="/ppt/media/image12.png" Id="R15cefe0ebcfb4db9" /><Relationship Type="http://schemas.openxmlformats.org/officeDocument/2006/relationships/notesSlide" Target="/ppt/notesSlides/notesSlide16.xml" Id="R68dffd6b124a43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13544c85946e7" /><Relationship Type="http://schemas.openxmlformats.org/officeDocument/2006/relationships/image" Target="/ppt/media/image13.png" Id="Rab540b3f94114308" /><Relationship Type="http://schemas.openxmlformats.org/officeDocument/2006/relationships/notesSlide" Target="/ppt/notesSlides/notesSlide17.xml" Id="R8461ea749e2b47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da85466a047d4" /><Relationship Type="http://schemas.openxmlformats.org/officeDocument/2006/relationships/notesSlide" Target="/ppt/notesSlides/notesSlide18.xml" Id="Rd76fef6087de43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eaac386504a5e" /><Relationship Type="http://schemas.openxmlformats.org/officeDocument/2006/relationships/notesSlide" Target="/ppt/notesSlides/notesSlide19.xml" Id="Re976191a3db24f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ad85d69304524" /><Relationship Type="http://schemas.openxmlformats.org/officeDocument/2006/relationships/notesSlide" Target="/ppt/notesSlides/notesSlide20.xml" Id="Re60efe92bbef45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67faf7fa14cc2" /><Relationship Type="http://schemas.openxmlformats.org/officeDocument/2006/relationships/image" Target="/ppt/media/image2.jpeg" Id="R347a4b41426a46a6" /><Relationship Type="http://schemas.openxmlformats.org/officeDocument/2006/relationships/image" Target="/ppt/media/image3.jpeg" Id="R4558ae9120824328" /><Relationship Type="http://schemas.openxmlformats.org/officeDocument/2006/relationships/notesSlide" Target="/ppt/notesSlides/notesSlide21.xml" Id="Rea7d519fd70d49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e22a0d98b4744" /><Relationship Type="http://schemas.openxmlformats.org/officeDocument/2006/relationships/image" Target="/ppt/media/image14.png" Id="R8b5c85c16c9c4d39" /><Relationship Type="http://schemas.openxmlformats.org/officeDocument/2006/relationships/notesSlide" Target="/ppt/notesSlides/notesSlide22.xml" Id="Rd3888a4f1ac44f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408c936534b65" /><Relationship Type="http://schemas.openxmlformats.org/officeDocument/2006/relationships/image" Target="/ppt/media/image15.png" Id="R87b1e0d0d9de4178" /><Relationship Type="http://schemas.openxmlformats.org/officeDocument/2006/relationships/notesSlide" Target="/ppt/notesSlides/notesSlide23.xml" Id="Rdf3559570cc04c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99eafa282402c" /><Relationship Type="http://schemas.openxmlformats.org/officeDocument/2006/relationships/image" Target="/ppt/media/image16.png" Id="R7b0782d234724b5b" /><Relationship Type="http://schemas.openxmlformats.org/officeDocument/2006/relationships/notesSlide" Target="/ppt/notesSlides/notesSlide24.xml" Id="R162793e7967043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a3cb9c48419b" /><Relationship Type="http://schemas.openxmlformats.org/officeDocument/2006/relationships/image" Target="/ppt/media/image17.png" Id="R6cfda65696a14cb3" /><Relationship Type="http://schemas.openxmlformats.org/officeDocument/2006/relationships/image" Target="/ppt/media/image18.png" Id="R3b50d61167a54133" /><Relationship Type="http://schemas.openxmlformats.org/officeDocument/2006/relationships/notesSlide" Target="/ppt/notesSlides/notesSlide25.xml" Id="R4b5fe72c887b41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f16ba963b46b9" /><Relationship Type="http://schemas.openxmlformats.org/officeDocument/2006/relationships/image" Target="/ppt/media/image19.png" Id="R9e9a5dad94424c5c" /><Relationship Type="http://schemas.openxmlformats.org/officeDocument/2006/relationships/notesSlide" Target="/ppt/notesSlides/notesSlide26.xml" Id="R29667002c4d848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7c325fdbc49d6" /><Relationship Type="http://schemas.openxmlformats.org/officeDocument/2006/relationships/notesSlide" Target="/ppt/notesSlides/notesSlide27.xml" Id="R9535285427ce4c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D3EC8-74BD-4098-9D0E-78B2EA8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9A96C-A22F-4335-9231-0489A9E3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86F38"/>
                </a:solidFill>
              </a:defRPr>
            </a:pPr>
            <a:r>
              <a:rPr sz="1200" b="1" i="0">
                <a:solidFill>
                  <a:srgbClr val="E86F38"/>
                </a:solidFill>
              </a:rPr>
              <a:t>PROYECTO FINAL DE CARRERA · PRIMERA PRESENTACIÓN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B96D1-013E-43A6-8F15-8545CD0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38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7212B"/>
                </a:solidFill>
              </a:defRPr>
            </a:pPr>
            <a:r>
              <a:rPr sz="5100" b="1" i="0">
                <a:solidFill>
                  <a:srgbClr val="17212B"/>
                </a:solidFill>
              </a:rPr>
              <a:t>Sistema IoT multicanal</a:t>
            </a:r>
          </a:p>
          <a:p xmlns:a="http://schemas.openxmlformats.org/drawingml/2006/main">
            <a:pPr algn="l">
              <a:defRPr sz="5100" b="1" i="0">
                <a:solidFill>
                  <a:srgbClr val="17212B"/>
                </a:solidFill>
              </a:defRPr>
            </a:pPr>
            <a:r>
              <a:rPr sz="5100" b="1" i="0">
                <a:solidFill>
                  <a:srgbClr val="17212B"/>
                </a:solidFill>
              </a:rPr>
              <a:t>para estudios MASW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8541A-8843-435F-83CE-DD0C293A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595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B3C49"/>
                </a:solidFill>
              </a:defRPr>
            </a:pPr>
            <a:r>
              <a:rPr sz="2100" b="0" i="0">
                <a:solidFill>
                  <a:srgbClr val="0B3C49"/>
                </a:solidFill>
              </a:rPr>
              <a:t>De la física de ondas superficiales a una cadena de medición auditable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EA35E-D7C9-4A2D-894E-2A3E5C5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AA037-5CA3-40B1-9142-B3F60CB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Elías David Álvarez Martínez</a:t>
            </a:r>
          </a:p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Ingeniería Electrónica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BEC36-871D-4E57-845C-1446C07D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9fc99d79f4e6c"/>
          <a:stretch xmlns:a="http://schemas.openxmlformats.org/drawingml/2006/main"/>
        </p:blipFill>
        <p:spPr>
          <a:xfrm xmlns:a="http://schemas.openxmlformats.org/drawingml/2006/main">
            <a:off x="7715250" y="1786480"/>
            <a:ext cx="3905250" cy="27611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48F9F-AA66-40AE-B8FC-474FE69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81675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FUENTE → SENSOR → AFE → ADC → RED → MASW → Vs(z)</a:t>
            </a:r>
          </a:p>
        </p:txBody>
      </p:sp>
    </p:spTree>
    <p:extLst>
      <p:ext uri="{BB962C8B-B14F-4D97-AF65-F5344CB8AC3E}">
        <p14:creationId xmlns:p14="http://schemas.microsoft.com/office/powerpoint/2010/main" val="18036731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B78A1B-696E-421C-947C-5B0F3A0A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MAGNITUD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ADA1F-BA30-4388-A334-7DE2716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rigidez que buscamos se observa a través de Vs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3942-C650-490C-B78A-586D85A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BE26E-5A2B-40B2-8E0C-EAF61B85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F66C7-2BB4-4042-82C5-24D3B5EE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0" i="0">
                <a:solidFill>
                  <a:srgbClr val="0B3C49"/>
                </a:solidFill>
              </a:defRPr>
            </a:pPr>
            <a:r>
              <a:rPr sz="4350" b="0" i="0">
                <a:solidFill>
                  <a:srgbClr val="0B3C49"/>
                </a:solidFill>
              </a:rPr>
              <a:t>Gₘₐₓ = ρ · Vₛ²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0B45F-535C-4DAA-8DE2-BDA8D336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Un error pequeño en Vs se amplifica al estimar la rigidez. Por eso la cadena debe preservar la información que gobierna la velocidad de propagación.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65D50-9932-44F7-9AE2-805F656F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38300"/>
            <a:ext cx="4095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156B2-7273-4F76-A471-30A01C4C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28925"/>
            <a:ext cx="4095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B599D-EC94-43DD-B877-D5E2194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C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6FF9B-D513-41D1-B73F-AED10088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C49"/>
                </a:solidFill>
              </a:defRPr>
            </a:pPr>
            <a:r>
              <a:rPr sz="1950" b="1" i="0">
                <a:solidFill>
                  <a:srgbClr val="0B3C49"/>
                </a:solidFill>
              </a:rPr>
              <a:t>capa 1 · Vs₁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C3D52-BAF1-4CAF-A268-54B98136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99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C49"/>
                </a:solidFill>
              </a:defRPr>
            </a:pPr>
            <a:r>
              <a:rPr sz="1950" b="1" i="0">
                <a:solidFill>
                  <a:srgbClr val="0B3C49"/>
                </a:solidFill>
              </a:rPr>
              <a:t>capa 2 · Vs₂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5D0F1-0F5B-4F52-88B2-37FE8A1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434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semiespacio · Vs₃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ECF71-7D25-438B-9856-78770596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195262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0605E-EAAE-4298-B56A-A89C98E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8192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C3E72-3E78-46E8-BE0F-EE2F143E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86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717C"/>
                </a:solidFill>
              </a:defRPr>
            </a:pPr>
            <a:r>
              <a:rPr sz="1275" b="0" i="0">
                <a:solidFill>
                  <a:srgbClr val="65717C"/>
                </a:solidFill>
              </a:rPr>
              <a:t>profundidad 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DBAC2-00FF-4119-9FD7-E9F2520D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relación elástica y alcance del perfil Vs(z)</a:t>
            </a:r>
          </a:p>
        </p:txBody>
      </p:sp>
    </p:spTree>
    <p:extLst>
      <p:ext uri="{BB962C8B-B14F-4D97-AF65-F5344CB8AC3E}">
        <p14:creationId xmlns:p14="http://schemas.microsoft.com/office/powerpoint/2010/main" val="450861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3217B-60C3-4F42-B659-A1C00B32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FÍSICA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F59EC-2D3F-447F-8A4E-9259E226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Las ondas Rayleigh convierten la superficie en una sonda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68C74-A7A4-4660-94B6-7420B4E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4128E-D4B7-419A-8775-B7C5FCD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227fe7902451d"/>
          <a:stretch xmlns:a="http://schemas.openxmlformats.org/drawingml/2006/main"/>
        </p:blipFill>
        <p:spPr>
          <a:xfrm xmlns:a="http://schemas.openxmlformats.org/drawingml/2006/main">
            <a:off x="745292" y="1428750"/>
            <a:ext cx="5805566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A9038-48A9-42E6-95BD-5EAAF79E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38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3E80B-513B-4C03-B251-02D705E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ONDAS SUPERFICIALES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88C76-FF77-4005-A0B0-FF84361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431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</a:defRPr>
            </a:pPr>
            <a:r>
              <a:rPr sz="2100" b="1" i="0">
                <a:solidFill>
                  <a:srgbClr val="17212B"/>
                </a:solidFill>
              </a:rPr>
              <a:t>El movimiento elíptico decae con la profundidad, pero no desaparece de inmediato.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43243-D941-4032-BF75-2DF4C6C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71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5717C"/>
                </a:solidFill>
              </a:defRPr>
            </a:pPr>
            <a:r>
              <a:rPr sz="1800" b="0" i="0">
                <a:solidFill>
                  <a:srgbClr val="65717C"/>
                </a:solidFill>
              </a:rPr>
              <a:t>Cada frecuencia concentra sensibilidad en una zona distinta del subsuelo. La dispersión geométrica aparece cuando esas zonas tienen propiedades diferentes.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04D32-4DC5-4FA5-84CE-BEBF831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2651E-2156-456E-9015-35DCEF2E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43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3C49"/>
                </a:solidFill>
              </a:defRPr>
            </a:pPr>
            <a:r>
              <a:rPr sz="1650" b="1" i="0">
                <a:solidFill>
                  <a:srgbClr val="0B3C49"/>
                </a:solidFill>
              </a:rPr>
              <a:t>La profundidad se infiere por sensibilidad, no por una regla universal.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499D4-DEA5-43C8-9844-65625DE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 visual: investigación de tesis · propagación de ondas Rayleigh</a:t>
            </a:r>
          </a:p>
        </p:txBody>
      </p:sp>
    </p:spTree>
    <p:extLst>
      <p:ext uri="{BB962C8B-B14F-4D97-AF65-F5344CB8AC3E}">
        <p14:creationId xmlns:p14="http://schemas.microsoft.com/office/powerpoint/2010/main" val="965517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EB42A-4B5C-4F50-ABF5-A89BD0A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REQUISITO ESPECTRAL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06ABF-7FB9-43B8-81B7-6C6119D2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Para mirar más profundo necesitamos longitudes de onda mayores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448D-F6A9-43BB-B011-39DAA203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08F73-27A2-4BCB-8B96-D4ED750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ed4f062b4410b"/>
          <a:stretch xmlns:a="http://schemas.openxmlformats.org/drawingml/2006/main"/>
        </p:blipFill>
        <p:spPr>
          <a:xfrm xmlns:a="http://schemas.openxmlformats.org/drawingml/2006/main">
            <a:off x="523875" y="1814291"/>
            <a:ext cx="6096000" cy="36008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95EFE-5881-427F-B212-1E105B50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0" i="0">
                <a:solidFill>
                  <a:srgbClr val="0B3C49"/>
                </a:solidFill>
              </a:defRPr>
            </a:pPr>
            <a:r>
              <a:rPr sz="3900" b="0" i="0">
                <a:solidFill>
                  <a:srgbClr val="0B3C49"/>
                </a:solidFill>
              </a:rPr>
              <a:t>λ = cᴿ /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4AD46-DF1C-4C58-8924-89FA1E1B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67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E86F38"/>
                </a:solidFill>
              </a:defRPr>
            </a:pPr>
            <a:r>
              <a:rPr sz="2100" b="1" i="0">
                <a:solidFill>
                  <a:srgbClr val="E86F38"/>
                </a:solidFill>
              </a:rPr>
              <a:t>↓ frecuencia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6991E-1AF6-4724-8EDB-2C5BF4E1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↑ longitud de onda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9216B-484A-4481-9B20-2226CDBC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596F1-6A6B-4F19-B739-3DFD9BA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63025" y="27717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13A71-275E-4C39-9022-0DA203A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La fuente, el sensor y el AFE deben conservar la banda baja antes del ADC. Ningún filtro digital puede reconstruir señal que quedó por debajo del ruido analógico.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9BC42-6146-4B82-AC3D-41E54EB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1970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59691-C5C9-4B0B-94FD-7250335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2673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86F38"/>
                </a:solidFill>
              </a:defRPr>
            </a:pPr>
            <a:r>
              <a:rPr sz="975" b="1" i="0">
                <a:solidFill>
                  <a:srgbClr val="E86F38"/>
                </a:solidFill>
              </a:rPr>
              <a:t>REQUISITO FÍSICO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4B324-9026-4249-A2B8-B1008ED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longitud de onda y profundidad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454173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4CB80B-C995-4F91-AB7C-A086E27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OBSERVABLE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5D3FB-6627-4861-A8D6-55791495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MASW mide cómo cambia la fase entre receptores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33D5A-90BE-47E3-891B-CCABCEB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8F706-0A96-4790-B17A-8B28976F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25344-CEDC-4FB4-8D72-1D583A0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38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3C49"/>
                </a:solidFill>
              </a:defRPr>
            </a:pPr>
            <a:r>
              <a:rPr sz="1650" b="1" i="0">
                <a:solidFill>
                  <a:srgbClr val="0B3C49"/>
                </a:solidFill>
              </a:rPr>
              <a:t>x₁(t)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30EFC-4800-4F2D-AE6A-871B7A02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3C49"/>
                </a:solidFill>
              </a:defRPr>
            </a:pPr>
            <a:r>
              <a:rPr sz="1650" b="1" i="0">
                <a:solidFill>
                  <a:srgbClr val="0B3C49"/>
                </a:solidFill>
              </a:rPr>
              <a:t>x₂(t)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BC62D-1EA0-47DC-90EE-4D2A5FF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F6465-2DED-4E94-8D4E-5C08F753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690D2-22AB-4C6C-9CFA-60A67EB9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1381125" y="2362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98F9B-E55A-4145-9948-0BEED754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1857375" y="1981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BE39A-D800-4402-A0D3-D452E1EC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2333625" y="2362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1F9D3-0CB4-4058-91AB-BFCF66C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2809875" y="2743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7AAA9-9D9F-43E4-87FA-46632B6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3286125" y="2362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94543-E120-4338-ADF2-871AB7E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3762375" y="1981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7D49A-95D1-44D9-8572-8977155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4238625" y="2362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51746-AAE4-443A-87A2-6F15F1EB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4714875" y="2743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59899-09A0-4926-912F-7E081299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5191125" y="2362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0ED2D-239C-4D2C-BC50-7588B95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5667375" y="1981200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12EA9-5D08-4B9A-B54E-5DB6CC4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12432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A82EE-171F-47FF-9BDD-309DC3C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1857375" y="4124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E6ED6-CAA0-42EC-B2B7-6D3A65D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2333625" y="3743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A64CC-C3D2-4BEE-90B2-536DD49A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2809875" y="4124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AE037-6F32-4D0E-9DC6-B2FE6CBF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3286125" y="4505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423D9-680A-449C-9D55-0AC4F8E1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3762375" y="4124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3B46A-5A0B-4C8B-91DB-5899CEA8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4238625" y="3743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C8C465-6051-4D33-9AA6-4DE03E9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19588">
            <a:off x="4714875" y="4124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BCAB3-7044-43E8-B7EE-5E95965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5191125" y="4505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24816-DDC6-40B1-B958-88BC32A4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19588">
            <a:off x="5667375" y="4124325"/>
            <a:ext cx="60989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24757-8537-4809-BE7C-25C800A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E3645-A77C-47E4-AA95-9086D3F9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52775" y="29908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5510AE-B8D7-436D-9252-BD14411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33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86F38"/>
                </a:solidFill>
              </a:defRPr>
            </a:pPr>
            <a:r>
              <a:rPr sz="1725" b="1" i="0">
                <a:solidFill>
                  <a:srgbClr val="E86F38"/>
                </a:solidFill>
              </a:rPr>
              <a:t>Δφ(f)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BA566-1206-4105-A599-EF49C75A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52625"/>
            <a:ext cx="452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0B3C49"/>
                </a:solidFill>
              </a:defRPr>
            </a:pPr>
            <a:r>
              <a:rPr sz="3150" b="0" i="0">
                <a:solidFill>
                  <a:srgbClr val="0B3C49"/>
                </a:solidFill>
              </a:rPr>
              <a:t>cᴿ(f) = ω · Δx / |Δφ(f)|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A7566-F762-4486-B481-6BAC7066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La sincronización temporal y la geometría entran directamente en la estimación de velocidad.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5653E4-ED49-49EF-866A-A3B4AE43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5717C"/>
                </a:solidFill>
              </a:defRPr>
            </a:pPr>
            <a:r>
              <a:rPr sz="1725" b="0" i="0">
                <a:solidFill>
                  <a:srgbClr val="65717C"/>
                </a:solidFill>
              </a:rPr>
              <a:t>Amplitud ayuda al control de calidad; fase y espaciamiento fijan c(f).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8D9F1B-27C0-4091-A600-BB38CBB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velocidad de fase por diferencia de fase</a:t>
            </a:r>
          </a:p>
        </p:txBody>
      </p:sp>
    </p:spTree>
    <p:extLst>
      <p:ext uri="{BB962C8B-B14F-4D97-AF65-F5344CB8AC3E}">
        <p14:creationId xmlns:p14="http://schemas.microsoft.com/office/powerpoint/2010/main" val="948242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C2841-667D-42D8-AB55-C2167570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TRANSFORMACIÓN MASW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96F9-4E23-43D8-918C-78369E2B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Park enfoca la energía donde la fase es coherente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B6A18-39FF-4A93-AEB8-BA7F4E5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E8BE2-F6D8-48E3-8E70-A15BF4CC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4E8CB-DDB0-4A33-AAFE-63BB66FC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0B3C49"/>
                </a:solidFill>
              </a:defRPr>
            </a:pPr>
            <a:r>
              <a:rPr sz="2925" b="0" i="0">
                <a:solidFill>
                  <a:srgbClr val="0B3C49"/>
                </a:solidFill>
              </a:rPr>
              <a:t>S(ω,c) = | Σⱼ Xⱼ(ω) · eⁱωxʲᐟᶜ |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250aa5e7f4ee7"/>
          <a:stretch xmlns:a="http://schemas.openxmlformats.org/drawingml/2006/main"/>
        </p:blipFill>
        <p:spPr>
          <a:xfrm xmlns:a="http://schemas.openxmlformats.org/drawingml/2006/main">
            <a:off x="571500" y="2741839"/>
            <a:ext cx="4762500" cy="20410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EBC04-291D-45BF-A611-274BF95E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9513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A5B72-2BCF-4A2B-A483-1465C117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36576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209e294ad417a"/>
          <a:stretch xmlns:a="http://schemas.openxmlformats.org/drawingml/2006/main"/>
        </p:blipFill>
        <p:spPr>
          <a:xfrm xmlns:a="http://schemas.openxmlformats.org/drawingml/2006/main">
            <a:off x="6762750" y="2333625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CF85-3E35-4BDE-A8DD-B0EE2328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trazas xⱼ(t)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2294D-DE2A-44EB-BC03-65F05F8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imagen S(f,c)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06115-D113-4B4D-881D-68EDA60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e INFORME_COMPLETO.pdf · formulación Park y benchmark</a:t>
            </a:r>
          </a:p>
        </p:txBody>
      </p:sp>
    </p:spTree>
    <p:extLst>
      <p:ext uri="{BB962C8B-B14F-4D97-AF65-F5344CB8AC3E}">
        <p14:creationId xmlns:p14="http://schemas.microsoft.com/office/powerpoint/2010/main" val="273075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10B21-4784-4C60-9A6C-581FAF3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PROBLEMA INVERSO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35DF3-7757-44F0-8A74-76C75238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inversión produce modelos compatibles, no una solución única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49FB9-83BE-43D0-86EA-90D186C4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5004A-381E-43ED-924D-A70B3C51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beea9131d4663"/>
          <a:stretch xmlns:a="http://schemas.openxmlformats.org/drawingml/2006/main"/>
        </p:blipFill>
        <p:spPr>
          <a:xfrm xmlns:a="http://schemas.openxmlformats.org/drawingml/2006/main">
            <a:off x="1845951" y="1466850"/>
            <a:ext cx="2604123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21A6F-EB89-4DBF-A967-176C369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0B3C49"/>
                </a:solidFill>
              </a:defRPr>
            </a:pPr>
            <a:r>
              <a:rPr sz="2550" b="0" i="0">
                <a:solidFill>
                  <a:srgbClr val="0B3C49"/>
                </a:solidFill>
              </a:rPr>
              <a:t>F(c, f, h, Vₛ, Vₚ, ρ)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8AE3A-CC32-4B17-A31C-C823E8F3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76500"/>
            <a:ext cx="544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B3C49"/>
                </a:solidFill>
              </a:defRPr>
            </a:pPr>
            <a:r>
              <a:rPr sz="2250" b="0" i="0">
                <a:solidFill>
                  <a:srgbClr val="0B3C49"/>
                </a:solidFill>
              </a:rPr>
              <a:t>m* = arg minₘ [‖W(dobs−g(m))‖² + λR(m)]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98A0F-6F1E-4DC8-943C-4D9F6ACF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766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F62"/>
                </a:solidFill>
              </a:defRPr>
            </a:pPr>
            <a:r>
              <a:rPr sz="1800" b="1" i="0">
                <a:solidFill>
                  <a:srgbClr val="2F6F62"/>
                </a:solidFill>
              </a:rPr>
              <a:t>Lo robusto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04AF7-E8A3-43B2-BFF5-80C0F91A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67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c(f) y su soporte observado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F5AD3-18D5-4ABB-A702-BADCC479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958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86F38"/>
                </a:solidFill>
              </a:defRPr>
            </a:pPr>
            <a:r>
              <a:rPr sz="1800" b="1" i="0">
                <a:solidFill>
                  <a:srgbClr val="E86F38"/>
                </a:solidFill>
              </a:rPr>
              <a:t>Lo sensible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67FB3-13A8-40B9-9EFE-12DAAE2C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86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número de capas, regularización y Vs(z)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91978-71E9-4D96-9F4D-4668B17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e INFORME_COMPLETO.pdf · inversión y no unicidad</a:t>
            </a:r>
          </a:p>
        </p:txBody>
      </p:sp>
    </p:spTree>
    <p:extLst>
      <p:ext uri="{BB962C8B-B14F-4D97-AF65-F5344CB8AC3E}">
        <p14:creationId xmlns:p14="http://schemas.microsoft.com/office/powerpoint/2010/main" val="353011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AA542-F93A-4BAA-B43C-F85668DB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A5415-DC3B-4F60-AFC4-5C2CDE6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física se traduce en cuatro requisitos de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6B54B-DF7A-4ABE-A5B9-BF6D21E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C253C-1974-4733-A911-4E72F4C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63ABD-1645-4029-82A8-48545D7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77E93-F2B0-4F96-B701-5D371A0D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753A-07B6-43B0-9E77-CA6166C9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43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86F38"/>
                </a:solidFill>
              </a:defRPr>
            </a:pPr>
            <a:r>
              <a:rPr sz="1875" b="1" i="0">
                <a:solidFill>
                  <a:srgbClr val="E86F38"/>
                </a:solidFill>
              </a:rPr>
              <a:t>BANDA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D895A-66A5-453B-A1EA-A4B29C2A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inyectar y conservar baja frecuencia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9B46E-82F4-4D56-9BB0-4973F004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863A8-687C-43E1-8BFF-42D8A577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C9471-5603-4105-BF8B-998866D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0BA50-E904-4B68-9A89-EA961C3C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F6F8B"/>
                </a:solidFill>
              </a:defRPr>
            </a:pPr>
            <a:r>
              <a:rPr sz="1875" b="1" i="0">
                <a:solidFill>
                  <a:srgbClr val="1F6F8B"/>
                </a:solidFill>
              </a:rPr>
              <a:t>FASE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19D8D-D10D-437E-B049-6E06C629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sincronizar y conocer la geometría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1E69D-3359-45F5-A4B3-0AB848EB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2892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5137B-3423-42AC-AB29-285653E5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B082E-7CF4-46FA-BF7A-6372295A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3F602-AFF4-4038-9A20-A73C205B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F62"/>
                </a:solidFill>
              </a:defRPr>
            </a:pPr>
            <a:r>
              <a:rPr sz="1875" b="1" i="0">
                <a:solidFill>
                  <a:srgbClr val="2F6F62"/>
                </a:solidFill>
              </a:rPr>
              <a:t>INTEGRIDAD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317DE-2518-44C9-8F8D-310073FF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transportar sin inventar muestras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B504B-A2B5-4813-BBA4-3DACAC7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B3172-7CC0-4152-88D3-95D11DA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EAC24-DC5C-43BA-B252-82F86E9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57D7E-16C7-40EE-9DAF-A09C6A0F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AUDITORÍA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8CF02-6540-4732-9D77-A4CF912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guardar metadatos, QC e incertidumbre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886E8-AAF1-4168-BB14-4BA4EFF1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291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DB4AC-7C1F-466A-B952-BEBD0C5A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Síntesis de requisitos derivada de la física y del alcance de la tesis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B629B-2AF2-46C5-A78E-9A78F259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9077B-9D72-4DF3-B6FB-6A2181B5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A845A-D30A-46A5-9E2D-DF4A78F0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68B8C-5F04-43F9-8207-E03F2876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9814F-9E07-458B-8BDC-5F7B47D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3C4939-F072-45C6-94D1-1989A0FD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20750B-6981-46D9-95F0-55B5A58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0FB13-3F34-47BC-B737-BE7C40D1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324654-2739-481A-9685-2F9491F7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6E0AF-358C-4B26-82EB-0955FB9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A551B1-E9D6-4C8E-AE85-AF54A517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4A6FCD-A39E-4039-9FED-F3A8919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F593D9-5C84-47F4-9773-746DA6DC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367C40-C2D3-4818-8EBE-9FBB67CD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3C5080-1770-4FC7-9671-905E94E9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E06AA-B689-4D40-9DD5-5E24BFA4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INVERSIÓN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AE614-AA74-4762-B3DF-D82B3E92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0137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F16D3-6460-4361-9933-F08B2BD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FUENTE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196EF-2CAA-4DBD-BEB8-799B7FC7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fuente actual mide el golpe y fija el tiempo cero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FE478-C7CC-4CEF-8B82-61E66AA7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BB752-4E89-40C4-AFC3-BB8F7AF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34450919942fa"/>
          <a:stretch xmlns:a="http://schemas.openxmlformats.org/drawingml/2006/main"/>
        </p:blipFill>
        <p:spPr>
          <a:xfrm xmlns:a="http://schemas.openxmlformats.org/drawingml/2006/main">
            <a:off x="1707998" y="1476375"/>
            <a:ext cx="291813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AB87F-F3E2-47AB-A7B8-22F3830A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CF6F0-B498-4002-94FB-983ACDB5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PCB 086D20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5E666-2B33-4E58-BEEA-09B0EBBB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8A234-F503-4BA9-AD51-3CB8E1B1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2402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IMPLEMENTADO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5A902-65E1-4BBC-962E-4B8ADC45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7212B"/>
                </a:solidFill>
              </a:defRPr>
            </a:pPr>
            <a:r>
              <a:rPr sz="1950" b="1" i="0">
                <a:solidFill>
                  <a:srgbClr val="17212B"/>
                </a:solidFill>
              </a:rPr>
              <a:t>Salida ICP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3F6D2-0543-4564-AAF3-A7518A4C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5717C"/>
                </a:solidFill>
              </a:defRPr>
            </a:pPr>
            <a:r>
              <a:rPr sz="1800" b="0" i="0">
                <a:solidFill>
                  <a:srgbClr val="65717C"/>
                </a:solidFill>
              </a:rPr>
              <a:t>El impacto se registra como canal de referencia y genera el disparo de adquisición.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660C7-6F59-4703-9767-F79B5F0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623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28E01-A32A-49D3-83A1-1F018F4A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6F62"/>
                </a:solidFill>
              </a:defRPr>
            </a:pPr>
            <a:r>
              <a:rPr sz="1650" b="1" i="0">
                <a:solidFill>
                  <a:srgbClr val="2F6F62"/>
                </a:solidFill>
              </a:rPr>
              <a:t>Fortaleza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31253-ACD7-4B40-9064-0EFC5464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evento temporal observable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64D6-9125-488D-BE33-2AF8F69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6F38"/>
                </a:solidFill>
              </a:defRPr>
            </a:pPr>
            <a:r>
              <a:rPr sz="1650" b="1" i="0">
                <a:solidFill>
                  <a:srgbClr val="E86F38"/>
                </a:solidFill>
              </a:rPr>
              <a:t>Límite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8D4CD-8068-411C-931B-4841E44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energía baja poco repetible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C0B55-A27B-41C7-B932-400365E5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excitación instrumentada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BCD32-2908-4EEC-9425-9E9EA5A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8403D-A2AE-48FD-B86E-549871C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6DBD4-B364-4C1C-AD47-E062E004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01949-0399-46C2-9315-0124B440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B8DBD-020F-4D0F-837C-427C057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9206D-94D8-423A-AE76-3F6E3BE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FEA50-8D64-45FE-AEFE-A36C0C4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509C2-D7B7-4792-9E5C-24D14C5F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BEFE5-2131-4B12-80DC-1BDE8EDD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1F309-2636-4FEF-A9BC-CB3B56A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0C03F-50FF-410B-A2FC-D3FBF3AA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FA12C-6864-45E3-8489-AD0D1C6A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50B9D-5F10-43EC-B76F-7235A0C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93D08-6C54-4725-BB9E-ED68D729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8BDFA2-2F45-4A43-A17D-5F3FB6B2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942594-80CF-46EF-BC27-3FBBED2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6C8FCF-F4C9-409B-A7A0-E7A76E6E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8902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FDB1E-DE84-4A00-B2CA-AC2596E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DE64E-0A35-4CC1-989E-501C3C30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SM-24 es funcional, pero limita la profundidad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1FA2E-BC1F-4DE7-BD9E-17D30414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916F3-5165-40AC-941F-5CDCD03B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44df1980c46c7"/>
          <a:stretch xmlns:a="http://schemas.openxmlformats.org/drawingml/2006/main"/>
        </p:blipFill>
        <p:spPr>
          <a:xfrm xmlns:a="http://schemas.openxmlformats.org/drawingml/2006/main">
            <a:off x="947738" y="1524000"/>
            <a:ext cx="4238625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9B554-9528-4B53-BCCC-7E052008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3C49"/>
                </a:solidFill>
              </a:defRPr>
            </a:pPr>
            <a:r>
              <a:rPr sz="3150" b="1" i="0">
                <a:solidFill>
                  <a:srgbClr val="0B3C49"/>
                </a:solidFill>
              </a:rPr>
              <a:t>SM-24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CF58-138E-4570-937C-0BE8B11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04975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7BDFD-F313-45C4-A8D7-3164E8F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5260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DISPONIBLE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C8568-F614-40EF-95A5-23608D90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Frecuencia natural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7663D-AEC6-4169-9E17-63D661B6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550" b="1" i="0">
                <a:solidFill>
                  <a:srgbClr val="E86F38"/>
                </a:solidFill>
              </a:defRPr>
            </a:pPr>
            <a:r>
              <a:rPr sz="2550" b="1" i="0">
                <a:solidFill>
                  <a:srgbClr val="E86F38"/>
                </a:solidFill>
              </a:rPr>
              <a:t>10 Hz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06AF-4751-40DE-9F41-63699820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AD38A-6BBD-4B09-A3CD-57E2512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Uso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54FFD-167B-4819-8E7E-8359F47E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17212B"/>
                </a:solidFill>
              </a:defRPr>
            </a:pPr>
            <a:r>
              <a:rPr sz="1875" b="1" i="0">
                <a:solidFill>
                  <a:srgbClr val="17212B"/>
                </a:solidFill>
              </a:rPr>
              <a:t>movimiento vertical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80F21-0D84-47C9-8A3F-90AB8723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85F86-E3A5-4835-9706-45F74B61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243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Decisión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6D32F-7CDB-448E-AEE4-0500C0C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17212B"/>
                </a:solidFill>
              </a:defRPr>
            </a:pPr>
            <a:r>
              <a:rPr sz="1875" b="1" i="0">
                <a:solidFill>
                  <a:srgbClr val="17212B"/>
                </a:solidFill>
              </a:rPr>
              <a:t>compensar la caída,</a:t>
            </a:r>
          </a:p>
          <a:p xmlns:a="http://schemas.openxmlformats.org/drawingml/2006/main">
            <a:pPr algn="r">
              <a:defRPr sz="1875" b="1" i="0">
                <a:solidFill>
                  <a:srgbClr val="17212B"/>
                </a:solidFill>
              </a:defRPr>
            </a:pPr>
            <a:r>
              <a:rPr sz="1875" b="1" i="0">
                <a:solidFill>
                  <a:srgbClr val="17212B"/>
                </a:solidFill>
              </a:rPr>
              <a:t>sin ocultar el ruido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DEA79-FD37-473F-83E5-4101174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3C49"/>
                </a:solidFill>
              </a:defRPr>
            </a:pPr>
            <a:r>
              <a:rPr sz="1575" b="0" i="0">
                <a:solidFill>
                  <a:srgbClr val="0B3C49"/>
                </a:solidFill>
              </a:rPr>
              <a:t>La disponibilidad justificó el prototipo; la banda profunda exige validar otra fuente o sensor.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C9AC0-03D6-41D9-8B8E-1946B929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transductor SM-24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EB4AE-1E0F-4E1C-82AA-8578E70D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44312-ABD5-45D8-9791-E1130E4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31830-E55D-40DC-8B94-6E1E3E03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F8F4C-A186-423A-8519-226AB691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37D42-0660-41EF-83AF-576A2FD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3615E-E9DF-432C-A3DD-F77CE36B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C8D3A-96A4-4E51-BA90-032C5AB8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236D2-5C6A-43B8-BD81-8C37F54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71A2E-DBCD-40BB-886D-4FEFB56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639C0-2FB1-430E-B0E0-BE8E31B9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4768A-6130-4B65-963E-84F6F3A8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F1F36-4CB5-4B3D-BD4F-9AF01495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B6B83-0691-48F6-85A0-9DC36543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2479D6-2521-4655-8FFE-616FD647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4C01B2-B320-4400-A3AE-0327029F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AA322-059D-498D-B348-0147205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2B5A8-F70F-41B0-BC1E-1E611526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9339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5689C-F627-40CB-9A2A-8FDE8BE4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MODELO DEL 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8142-2120-4150-9073-0B62D7E1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misma mecánica se ve distinta según la variable de 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1D0D1-FFD5-45A7-92AB-46F8E5D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D6F0C-C35E-4CF3-BBC7-B776771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8eb6363834518"/>
          <a:stretch xmlns:a="http://schemas.openxmlformats.org/drawingml/2006/main"/>
        </p:blipFill>
        <p:spPr>
          <a:xfrm xmlns:a="http://schemas.openxmlformats.org/drawingml/2006/main">
            <a:off x="590550" y="1499714"/>
            <a:ext cx="5905500" cy="4239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DDE21-7809-4841-85C8-A7C4856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62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8B"/>
                </a:solidFill>
              </a:defRPr>
            </a:pPr>
            <a:r>
              <a:rPr sz="1650" b="1" i="0">
                <a:solidFill>
                  <a:srgbClr val="1F6F8B"/>
                </a:solidFill>
              </a:rPr>
              <a:t>referida a velocidad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4ADB7-5113-40BB-B756-7DE87C59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3C49"/>
                </a:solidFill>
              </a:defRPr>
            </a:pPr>
            <a:r>
              <a:rPr sz="2100" b="0" i="0">
                <a:solidFill>
                  <a:srgbClr val="0B3C49"/>
                </a:solidFill>
              </a:rPr>
              <a:t>Hᵥ(s) ∝ s² / (s² + 2ζωₙs + ωₙ²)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13A31-E0FC-4772-B93F-199894D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17C"/>
                </a:solidFill>
              </a:defRPr>
            </a:pPr>
            <a:r>
              <a:rPr sz="1575" b="0" i="0">
                <a:solidFill>
                  <a:srgbClr val="65717C"/>
                </a:solidFill>
              </a:rPr>
              <a:t>≈ 40 dB/década debajo de fₙ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8E11D-7F38-434A-AD8D-2D6EE814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C1783-EC95-4BBC-B4D2-B3526F66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9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6F38"/>
                </a:solidFill>
              </a:defRPr>
            </a:pPr>
            <a:r>
              <a:rPr sz="1650" b="1" i="0">
                <a:solidFill>
                  <a:srgbClr val="E86F38"/>
                </a:solidFill>
              </a:rPr>
              <a:t>referida a aceleración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5B097-D6F7-4D6E-A08F-95A13AD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3C49"/>
                </a:solidFill>
              </a:defRPr>
            </a:pPr>
            <a:r>
              <a:rPr sz="2100" b="0" i="0">
                <a:solidFill>
                  <a:srgbClr val="0B3C49"/>
                </a:solidFill>
              </a:rPr>
              <a:t>Hₐ(s) ∝ s / (s² + 2ζωₙs + ωₙ²)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D58F8-7FCA-4B01-9587-4CC3A373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862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17C"/>
                </a:solidFill>
              </a:defRPr>
            </a:pPr>
            <a:r>
              <a:rPr sz="1575" b="0" i="0">
                <a:solidFill>
                  <a:srgbClr val="65717C"/>
                </a:solidFill>
              </a:rPr>
              <a:t>≈ 20 dB/década debajo de fₙ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14911-E2D6-441B-9F76-90B0A11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149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3C49"/>
                </a:solidFill>
              </a:defRPr>
            </a:pPr>
            <a:r>
              <a:rPr sz="1575" b="1" i="0">
                <a:solidFill>
                  <a:srgbClr val="0B3C49"/>
                </a:solidFill>
              </a:rPr>
              <a:t>Compensar no cambia la información física: sólo redistribuye ganancia y ruido.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15370-39C3-424A-BF6C-857DE274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funciones de transferencia del geófono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29138-426D-494F-9A49-FC032814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B352B-B179-4C25-9BF2-6982B916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AA224-9253-47A4-85D0-3F7E291B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8395D-7014-4026-B5DB-16FE946D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AE5EF-B4BB-4CB1-A3A1-C6EC199E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B9704-B92A-471A-917A-2D0293B7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86086-C122-485E-8164-906DECD1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B56D1-5FFF-4E72-B534-06F7355F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81EC8-885B-4901-90B9-B63E9A5B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95581-7412-4B45-B2B7-B73BEA3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85D20-8699-4944-AC38-AC90C7AF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4D386-F06D-4BE9-9E8A-E703909C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41E17-7EC6-45AD-9198-96898C5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97ACC-70D6-4471-8EC5-D9D354A1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D927C-8809-430A-BE7F-9E62CF79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DA789-5B49-4F3B-9E88-542C6554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D7447-309B-4AF2-9475-4AF122D9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3965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9F582-3C99-4CDC-8657-91F0BFA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BEF3-6E47-4616-9B9D-B74A761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compensación Ma recupera banda de forma realizable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75E39-17F9-412A-9888-B9EBD815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2AAF9-5AA2-43FD-9CE4-ADF1A6CE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77F10-44F5-43F5-8356-C498E8E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02E5-CC0C-4B06-9513-983B8FEA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1457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señal directa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5441A-FD6E-41FE-831D-E18ED418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0445-8017-43E1-9BEE-7FDA3279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457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86F38"/>
                </a:solidFill>
              </a:defRPr>
            </a:pPr>
            <a:r>
              <a:rPr sz="1725" b="1" i="0">
                <a:solidFill>
                  <a:srgbClr val="E86F38"/>
                </a:solidFill>
              </a:rPr>
              <a:t>pasa-banda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DEF21-887D-433C-BD78-87F79DC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AC414-CFCB-48DF-9D0C-F7D08231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81400" y="2647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solidFill>
              <a:srgbClr val="1F6F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77BD-34E2-4149-8540-13E027CE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86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54E5D-EEF8-4336-AC52-1D8372D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81400" y="2647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705F-96F0-4E4A-86E7-45D24B64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A4FC2-463B-48DC-9627-C4158A75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955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F1232-DC82-4769-89E1-296C5683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9388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9A3E4-3925-4E31-8974-B1C5D1D4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6400" y="26574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EB2B3-339C-463A-B45E-2C839303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1457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3C49"/>
                </a:solidFill>
              </a:defRPr>
            </a:pPr>
            <a:r>
              <a:rPr sz="1650" b="1" i="0">
                <a:solidFill>
                  <a:srgbClr val="0B3C49"/>
                </a:solidFill>
              </a:rPr>
              <a:t>1 − BP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59C5A-1063-4B07-831C-D0E35D0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0B3C49"/>
                </a:solidFill>
              </a:defRPr>
            </a:pPr>
            <a:r>
              <a:rPr sz="3150" b="0" i="0">
                <a:solidFill>
                  <a:srgbClr val="0B3C49"/>
                </a:solidFill>
              </a:rPr>
              <a:t>ζ₁ ≈ 938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22E14-E681-40C5-A680-F5EC2D31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0B3C49"/>
                </a:solidFill>
              </a:defRPr>
            </a:pPr>
            <a:r>
              <a:rPr sz="2625" b="0" i="0">
                <a:solidFill>
                  <a:srgbClr val="0B3C49"/>
                </a:solidFill>
              </a:rPr>
              <a:t>1 / (2ζ₁) ≈ 5,3 × 10⁻⁴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6BEE3-8A7F-49D9-94CD-34885E54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La red genera una respuesta complementaria a la caída del sensor y distribuye la ganancia entre bloques.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6D452-7FCA-4C58-864D-B757FC63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2952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68357-49DA-4A20-96D4-6126393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GANANCIA TOTAL ≈ 1800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30674cdde4378"/>
          <a:stretch xmlns:a="http://schemas.openxmlformats.org/drawingml/2006/main"/>
        </p:blipFill>
        <p:spPr>
          <a:xfrm xmlns:a="http://schemas.openxmlformats.org/drawingml/2006/main">
            <a:off x="2068570" y="4286250"/>
            <a:ext cx="2111261" cy="1428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18C6C-FA43-4C11-AEAB-FAA38D6C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compensación Ma y frente analógico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D9835-7E8E-41E0-8047-F3C874CD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7921F-6F01-4756-933C-0C18773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04915-4953-4E78-B02F-C732C5F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14151-18B5-4A35-A93C-88F1E4CB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CCF85-55D8-4BC8-B649-F63BF8FA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537F7-7255-4B52-9A00-6EB5ABD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711F6-E9F2-4AED-8E26-4644BAC9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B2F56-5DC4-4AFF-A83F-B070805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5E85AC-7FF4-4A16-BAA4-E8AE0A6D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6842C-B5CE-4F46-B6A5-EE26DD59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0BF19A-9841-409D-B2F7-2D3A37F7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D9338-150A-45CA-8849-44418B8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A874F9-2E90-459B-B24E-64C09657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77868D-DE86-42ED-A558-8109AFDC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B2B4D4-61F0-4C0B-BD0B-432F38C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5EDC79-5037-4C85-8CCF-5C9BEAC0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71B9DA-9F98-442B-95E0-FAF7C5D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0301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312426-3FBD-4616-980E-140159BB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RESULTADO MEDIDO · 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7F736-D963-44FE-B260-0062D10A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Recuperar baja frecuencia consume rango dinámico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25E0B-9091-4C35-9D70-496DB433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A6F81-35E1-4B7B-866F-E0E3D20A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6491ed3544db7"/>
          <a:stretch xmlns:a="http://schemas.openxmlformats.org/drawingml/2006/main"/>
        </p:blipFill>
        <p:spPr>
          <a:xfrm xmlns:a="http://schemas.openxmlformats.org/drawingml/2006/main">
            <a:off x="523875" y="1933131"/>
            <a:ext cx="6572250" cy="346798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056D9-7AC6-482E-A3AC-7DF03ABB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763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4256A-A218-4424-8022-6BE51A4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240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3FB5E-5F53-409D-9A8E-0DC8ED0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E86F38"/>
                </a:solidFill>
              </a:defRPr>
            </a:pPr>
            <a:r>
              <a:rPr sz="3525" b="1" i="0">
                <a:solidFill>
                  <a:srgbClr val="E86F38"/>
                </a:solidFill>
              </a:rPr>
              <a:t>≈ 1876×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5FA60-6837-46FA-9172-F3DAC5DE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5717C"/>
                </a:solidFill>
              </a:defRPr>
            </a:pPr>
            <a:r>
              <a:rPr sz="1500" b="0" i="0">
                <a:solidFill>
                  <a:srgbClr val="65717C"/>
                </a:solidFill>
              </a:rPr>
              <a:t>compensación requerida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604AD-AFD2-48CF-927D-3AAA94C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575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37488-A03A-4D38-908C-48D67ADC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718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B3C49"/>
                </a:solidFill>
              </a:defRPr>
            </a:pPr>
            <a:r>
              <a:rPr sz="3525" b="1" i="0">
                <a:solidFill>
                  <a:srgbClr val="0B3C49"/>
                </a:solidFill>
              </a:rPr>
              <a:t>≈ 1800×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FBC5B-6C86-4A8F-A9A4-8E72A79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62425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5717C"/>
                </a:solidFill>
              </a:defRPr>
            </a:pPr>
            <a:r>
              <a:rPr sz="1500" b="0" i="0">
                <a:solidFill>
                  <a:srgbClr val="65717C"/>
                </a:solidFill>
              </a:rPr>
              <a:t>ganancia total disponible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029F7-35BE-4B8A-8389-3589B3C5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9650"/>
            <a:ext cx="3190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La forma del barrido está verificada; la calibración sísmica extremo a extremo aún está abierta.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2B556-4A41-4AB8-8450-CA3797B7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respuesta medida del AFE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A7848-7B89-4279-8D49-7C6D764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1E0F5-343E-48DF-9181-03E1FE7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4D3ED-4C4A-4F75-8092-6B434A9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0E26B-1E65-4DC2-8C3A-3EA89971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CD266-E445-4E24-BAB9-ADEF86E4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9C0DD-0FA4-4003-B3BC-F0983CBC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3204B-31AE-4663-BE86-23A43D53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A7A39-7E37-4782-8F21-4A2456BB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7F8B6-E298-459C-80BC-AFC228AD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810C9-104E-4074-B272-6F0868E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96489-D8F7-4CBC-A919-A75F077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3E4E3-0910-452D-BF2E-272F04E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FEB80-F6D2-4631-B503-EDDB00F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EC64A-A991-437D-BF3E-1B169E73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E6F09D-1694-486F-9792-3FF0D92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C218C-041A-4FD1-89D4-980D28E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C8E56-68B8-446A-8DFD-272A642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5637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AB1A5-2153-4A01-B327-B2940D4C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RIESGO DE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726F6-367F-489D-992C-EB49F1D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offset compite con la señal por la ventana del ADC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73262-6995-4236-8AC2-B09F3DD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99279-9894-4701-BC08-C970FDD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DE58E-EACD-4088-B895-2D6DE8C1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0F1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71EEE-7F06-4BAB-A5B8-0C26FF7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52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C49"/>
                </a:solidFill>
              </a:defRPr>
            </a:pPr>
            <a:r>
              <a:rPr sz="1350" b="1" i="0">
                <a:solidFill>
                  <a:srgbClr val="0B3C49"/>
                </a:solidFill>
              </a:rPr>
              <a:t>VENTANA ADC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DCA37-E84B-4407-857A-32790DF4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290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0AA8E-7A9D-4CD3-913A-8893BC45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5717C"/>
                </a:solidFill>
              </a:defRPr>
            </a:pPr>
            <a:r>
              <a:rPr sz="1275" b="0" i="0">
                <a:solidFill>
                  <a:srgbClr val="65717C"/>
                </a:solidFill>
              </a:rPr>
              <a:t>0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13AE8-F3E9-4B92-A356-79DD827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5D7B8-2E67-4A72-87ED-24BEE0FE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86F38"/>
                </a:solidFill>
              </a:defRPr>
            </a:pPr>
            <a:r>
              <a:rPr sz="1350" b="1" i="0">
                <a:solidFill>
                  <a:srgbClr val="E86F38"/>
                </a:solidFill>
              </a:rPr>
              <a:t>offset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402D-326B-4E53-9FF9-04CFBE0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21883">
            <a:off x="1428750" y="2533650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06847-B023-4E26-A0B2-5043D56D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21883">
            <a:off x="1857375" y="2124075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A0535-0BF1-4293-AD57-5CF2581C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21883">
            <a:off x="2286000" y="2533650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609E9-07B1-4021-BC61-ADA587D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21883">
            <a:off x="2714625" y="2943225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6D5CE-EB27-4A30-A2A5-5A6AF3F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21883">
            <a:off x="3143250" y="2533650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EA162-CAD0-4C65-8A06-75F5EB09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21883">
            <a:off x="3571875" y="2124075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3A3E5-5100-4E4C-8ACA-A15C9C81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21883">
            <a:off x="4000500" y="2533650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AABC0-C343-443B-B754-17EBB7F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21883">
            <a:off x="4429125" y="2943225"/>
            <a:ext cx="59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BCD8A-6B26-43D1-B765-9AF86E3F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71358">
            <a:off x="4857750" y="2533650"/>
            <a:ext cx="49392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CA80C-5BBA-47A1-82C0-57101B28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23A2B"/>
                </a:solidFill>
              </a:defRPr>
            </a:pPr>
            <a:r>
              <a:rPr sz="1575" b="1" i="0">
                <a:solidFill>
                  <a:srgbClr val="B23A2B"/>
                </a:solidFill>
              </a:rPr>
              <a:t>margen perdido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B3FC9-9424-404D-BB63-11D4F33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381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F8009-91D4-4BC0-941D-B4EA2C97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09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solidFill>
              <a:srgbClr val="B23A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61C38-5F15-4873-8419-08CAE6D7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8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23A2B"/>
                </a:solidFill>
              </a:defRPr>
            </a:pPr>
            <a:r>
              <a:rPr sz="1875" b="1" i="0">
                <a:solidFill>
                  <a:srgbClr val="B23A2B"/>
                </a:solidFill>
              </a:rPr>
              <a:t>Sin corrección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BEAEAC-E456-4C76-846B-35AF921D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saturación temprana</a:t>
            </a:r>
          </a:p>
          <a:p xmlns:a="http://schemas.openxmlformats.org/drawingml/2006/main">
            <a:pPr algn="l"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y menos resolución útil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C3197-C60F-44FE-ABA9-D598F63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F62"/>
                </a:solidFill>
              </a:defRPr>
            </a:pPr>
            <a:r>
              <a:rPr sz="1875" b="1" i="0">
                <a:solidFill>
                  <a:srgbClr val="2F6F62"/>
                </a:solidFill>
              </a:rPr>
              <a:t>Con corrección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4A8E2-2C5F-4678-A2AB-B2BF727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señal centrada</a:t>
            </a:r>
          </a:p>
          <a:p xmlns:a="http://schemas.openxmlformats.org/drawingml/2006/main">
            <a:pPr algn="l"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y ganancia aprovechable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9B546-A0A0-4C50-BC8E-A87B574C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3C49"/>
                </a:solidFill>
              </a:defRPr>
            </a:pPr>
            <a:r>
              <a:rPr sz="1650" b="1" i="0">
                <a:solidFill>
                  <a:srgbClr val="0B3C49"/>
                </a:solidFill>
              </a:rPr>
              <a:t>La corrección debe quedar fija durante la adquisición para no modular la fase.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051CC-3AEA-46FD-9EC9-CC60F957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motivación de la calibración de offset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687F3-46F2-4E0A-91F4-917309DD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74CE9-46A6-4EE2-839D-6568ED29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E8B04-C73D-45E7-87B4-0336F91A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1B783-E36A-4402-86EE-6C659AEB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FA032C-880A-4334-A984-F40AB089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2FA6B0-99A8-4308-A5AB-6F9A409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6EF819-EF16-4EE1-BF90-4EA8010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56703-C99D-4C1B-BE62-4D86037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FB62D1-80A1-492E-A810-433CFC4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B3F6B7-2287-4790-9CA3-5FFA729A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9EAFE0-288F-4F82-868D-662E32DA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3C5E33-715C-41E6-9655-AEA43147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DCE3DC-036D-424F-9F68-D92EB7C7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E38E3A-6AB0-49F4-84A9-2B8A8B9D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C72238-DB39-4973-B66F-7D0A4FD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37C5E-FE5F-43AB-BC98-0E838FF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8381A0-2B83-4CFB-96C5-9299C25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64285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02BD0-E612-47DA-9FDF-C482113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FIRMWARE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D8D73-FB37-494E-A14A-B95412FB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Calibración foreground implementada y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BA855-E80A-4B90-AD2E-141790A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3EE8B-6D5A-4EB9-BF52-262E3929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3cbbb5aaf4850"/>
          <a:stretch xmlns:a="http://schemas.openxmlformats.org/drawingml/2006/main"/>
        </p:blipFill>
        <p:spPr>
          <a:xfrm xmlns:a="http://schemas.openxmlformats.org/drawingml/2006/main">
            <a:off x="495300" y="1503712"/>
            <a:ext cx="6762750" cy="4326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79996-C012-4D7B-B626-F9D4226E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478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8CF7F-A667-41E0-BEC9-952E58DB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9542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IMPLEMENTADO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0A9FA-0AD1-45BA-96B3-A875B4F7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128 taps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87D81-2D4E-4F9C-AA7C-D0E1E9D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FIR para estimar offset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79686-DF81-406B-AB0C-1631E76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196AA-F1B2-4FAD-8CFD-921C24BC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337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E8747-F562-4628-AF09-7FB68219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deadband + anti-windup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DDCE1-711C-4228-BBA2-DB6C7DB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861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DD3BA-19F6-476B-BA29-E914756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719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EEPROM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4F017-B615-46D8-BA77-CA33097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códigos por ganancia + CRC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2985B-A02A-4B00-B9DD-55F64AE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DE383-7B78-4F15-B5CD-BB878463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01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86F38"/>
                </a:solidFill>
              </a:defRPr>
            </a:pPr>
            <a:r>
              <a:rPr sz="1725" b="1" i="0">
                <a:solidFill>
                  <a:srgbClr val="E86F38"/>
                </a:solidFill>
              </a:rPr>
              <a:t>CAPTURA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67356-3E6F-47D2-8854-91D9D938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0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control congelado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E9F9B-68C2-4D4D-A386-4FBACA63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787FF-0A84-4AA9-A192-BF4FDF4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816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El grafo confirma las rutinas cal_pi_* y las etapas de servicio en calibration.c.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C5742-66CB-4AB0-99C6-DF80CA74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código indexado · calibration.c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EB912-DFAE-4549-A514-C6C314FE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E142C-871B-43E0-9CCC-6A4EAEE3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1CEF8-618D-4BC4-8193-D241D65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CDA28-1788-405A-99FE-7A1D3151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CE8BF-0CB6-4764-937B-61FA273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AE24F-0F1D-4586-B254-C596FA6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10347-AA15-4CD6-9AE8-4C61C8C6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89DBF-5355-4E67-8EC5-EC40519B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0DF4C-4BEE-4E66-A867-E792CB9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086F06-D17D-4F85-9A38-9894D9D8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1678CC-547E-44F5-AB00-1146DCAA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D2D80-4AFA-4913-9268-FC664DC9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EFA9D-2253-4A9C-A35F-E4E313EB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47C569-E110-4977-BC41-E316126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48874-6B85-49A7-A2B1-A2CE5F62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F4399C-F49B-4E24-BA8B-9E45636D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214852-F500-4CA8-90AC-6A2AF77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413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6092C-98FE-433B-925F-B625A6B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DECISIÓN DE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FA79C-D96A-4F91-9B25-F347EFB9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revisión candidata amplía margen, pero aún no es 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F0F1F-73FB-4807-95EC-2D9CE58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EC635-FAF4-4EAC-B249-0708A643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efe0ebcfb4db9"/>
          <a:stretch xmlns:a="http://schemas.openxmlformats.org/drawingml/2006/main"/>
        </p:blipFill>
        <p:spPr>
          <a:xfrm xmlns:a="http://schemas.openxmlformats.org/drawingml/2006/main">
            <a:off x="476250" y="2234642"/>
            <a:ext cx="7143750" cy="28649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D0584-7601-437A-8A45-503B86D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573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E987A-9ED9-4D0D-93C3-C14587B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86F38"/>
                </a:solidFill>
              </a:defRPr>
            </a:pPr>
            <a:r>
              <a:rPr sz="975" b="1" i="0">
                <a:solidFill>
                  <a:srgbClr val="E86F38"/>
                </a:solidFill>
              </a:rPr>
              <a:t>CANDIDATO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3A40F-02B0-4090-83DA-EF9F29F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57325"/>
            <a:ext cx="1285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DEDA"/>
          </a:solidFill>
          <a:ln xmlns:a="http://schemas.openxmlformats.org/drawingml/2006/main" w="9525">
            <a:solidFill>
              <a:srgbClr val="B23A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97D99-3C2C-4BEE-B7ED-63C4F4C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04950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23A2B"/>
                </a:solidFill>
              </a:defRPr>
            </a:pPr>
            <a:r>
              <a:rPr sz="975" b="1" i="0">
                <a:solidFill>
                  <a:srgbClr val="B23A2B"/>
                </a:solidFill>
              </a:rPr>
              <a:t>PENDIENTE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5ED52-BC02-4AB4-A278-C8ECAEA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3C49"/>
                </a:solidFill>
              </a:defRPr>
            </a:pPr>
            <a:r>
              <a:rPr sz="2025" b="1" i="0">
                <a:solidFill>
                  <a:srgbClr val="0B3C49"/>
                </a:solidFill>
              </a:rPr>
              <a:t>PGA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C6537-66F5-4623-8AA4-B64B43A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rango aproximado 2,06–3,02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3EA9F-B3C2-49FD-BE68-94C5A9EB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3A683-F589-4776-AD44-BD2F464A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62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86F38"/>
                </a:solidFill>
              </a:defRPr>
            </a:pPr>
            <a:r>
              <a:rPr sz="2025" b="1" i="0">
                <a:solidFill>
                  <a:srgbClr val="E86F38"/>
                </a:solidFill>
              </a:rPr>
              <a:t>IDAC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8FA26-F4D0-455F-B8C2-68E95B7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9097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reemplaza VDAC para corrección fina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A3528-C04E-4FE1-979A-F4F2BB40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9582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1F6D4-970D-4C8C-B936-63E129D2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720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F62"/>
                </a:solidFill>
              </a:defRPr>
            </a:pPr>
            <a:r>
              <a:rPr sz="2025" b="1" i="0">
                <a:solidFill>
                  <a:srgbClr val="2F6F62"/>
                </a:solidFill>
              </a:rPr>
              <a:t>Hasta ×50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491C0-671F-420A-A1A3-855A5F6A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81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717C"/>
                </a:solidFill>
              </a:defRPr>
            </a:pPr>
            <a:r>
              <a:rPr sz="1500" b="0" i="0">
                <a:solidFill>
                  <a:srgbClr val="65717C"/>
                </a:solidFill>
              </a:rPr>
              <a:t>requiere prototipo y barrido completo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0F418-07A5-4BEA-A1DC-F98CE5F5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propuesta IDAC + PGAout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267AB-F1CA-4609-A285-62A5E15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90C7E-C227-4D0D-8CA2-6F3B6B3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6BE89-4076-4944-BFFD-06BB9E2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A2666-515A-4C35-94FD-66304EB6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95FF5-291C-4414-95CC-E94A4CF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701C8-E2B2-45A7-BC5D-F6F707C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BFBEC-60E7-4B9A-81A9-E6976CA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0C9AC-ED0A-49CA-94A8-2E382363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E8169-0D8A-425B-8DB7-D7C43AA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2E53A-5955-4C08-9E72-2F40285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B8E957-3B61-416A-AAB6-122835B3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FE2237-F077-40E8-934F-1EE23525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AF247-D743-465D-816D-35F3782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0681C7-C6DD-41F0-8704-CCFBC7C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B32C1-C8CD-4438-9135-DC07AE66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22A158-BD49-4E33-9361-F9D33D8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77BD3-9724-46BC-8454-FE8DB503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76485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D9976-8632-47FD-BED1-5300276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ADQUISICIÓN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5773D-A606-47F5-90A8-E4FC7180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captura digital separa timing y transporte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ACF1E-EBF4-4E27-A303-C571A8D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CD104-BB0F-4252-BB08-D17A447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40b3f94114308"/>
          <a:stretch xmlns:a="http://schemas.openxmlformats.org/drawingml/2006/main"/>
        </p:blipFill>
        <p:spPr>
          <a:xfrm xmlns:a="http://schemas.openxmlformats.org/drawingml/2006/main">
            <a:off x="495300" y="2081281"/>
            <a:ext cx="7334250" cy="31907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49E04-26D4-497E-9B6B-8421AF3D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457325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0669-F845-41AB-AE33-23261CB2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5049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IMPLEMENTADO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7289B-D28B-4F46-B30C-A0E4140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18 bits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36DE8-602E-447C-B325-E77DF8CD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621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ADC ΔΣ nominal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2149D-BE46-468E-B084-AA49243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0E285-680C-4979-AD66-0100E7F2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86F38"/>
                </a:solidFill>
              </a:defRPr>
            </a:pPr>
            <a:r>
              <a:rPr sz="2100" b="1" i="0">
                <a:solidFill>
                  <a:srgbClr val="E86F38"/>
                </a:solidFill>
              </a:rPr>
              <a:t>2604 SPS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027EC-7D82-4E4C-A7A0-7636654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tasa de muestreo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DA05A-041D-4D0A-BADD-29C2783F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528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D6276-44F3-4423-955F-1199466E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DMA ×2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EFB20-0987-4845-8AF1-9009E46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385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RAM filtrada + cruda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D4C85-8BC0-42B2-B7A5-04361242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910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B58F9-0485-415D-8C67-884DEA91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577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UDB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5C509-3C0D-43E7-B346-6C80317A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767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timing en hardware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7A38-532B-4A06-8D32-529C5A7B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292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587A3-9E9B-4D54-893F-03559F1F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76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17C"/>
                </a:solidFill>
              </a:defRPr>
            </a:pPr>
            <a:r>
              <a:rPr sz="1275" b="0" i="0">
                <a:solidFill>
                  <a:srgbClr val="65717C"/>
                </a:solidFill>
              </a:rPr>
              <a:t>El grafo confirma DMA para RAM filtrada y cruda, además de estados psoc_arm y psoc_enter_sampling.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242AA-5AB3-4142-A679-1CE92966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código indexado · PSoC firmware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C6E8E-DC10-4073-A13E-770E08F2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F5030-A77C-43D7-8ABD-3011D52B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2E8F8-067C-45C7-A7C7-F89A4A3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63F3B-A1B0-4A2C-808F-B4128AEE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B9294-7CF6-4935-B3B3-4A36EDB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E3175-7508-4EE2-A6CB-6DB4A235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A0195-BE98-4291-BA83-6CA2206B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6188A-2A49-4CED-ABF6-4A877C12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EC68E-75C1-459E-9B3E-2EE0BFD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C9D575-608E-4699-B771-87A977B8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E6998C-0777-4950-9182-DD16C13E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045835-AA0A-46E3-A969-D844469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0AF407-CB01-498E-8D43-EF79C19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5CEFCD-E199-4CF6-9F53-082D250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D85D7E-6CCF-4D14-A47A-D6244C1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6930A7-B3B4-48B4-ACA4-57D9076B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D78463-D963-49D0-B1C4-0E1E5B5A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96268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6AF4E-8A44-4879-A553-D403B2D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DECISIÓN · COMUNICACIÓN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8906F-1B9D-41E6-9F8A-230D0D5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red inalámbrica prioriza campo autónomo e integridad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772E7-89EE-471F-8114-4B551C7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65FA0-1092-4DD8-AB84-B5DB161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5B5C0-FCE8-4733-B74C-72835BA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6571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D1DB5-04B1-4D88-A6DF-5DF4E7F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65717C"/>
                </a:solidFill>
              </a:defRPr>
            </a:pPr>
            <a:r>
              <a:rPr sz="2400" b="1" i="0">
                <a:solidFill>
                  <a:srgbClr val="65717C"/>
                </a:solidFill>
              </a:rPr>
              <a:t>Wi-Fi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35B85-9757-4785-8FFF-55FAE2C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infraestructura</a:t>
            </a:r>
          </a:p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y mayor complejidad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58143-7BA8-436B-868F-5691BF3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669F0-22D4-4B19-A91E-EEA3313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E86F38"/>
                </a:solidFill>
              </a:defRPr>
            </a:pPr>
            <a:r>
              <a:rPr sz="2400" b="1" i="0">
                <a:solidFill>
                  <a:srgbClr val="E86F38"/>
                </a:solidFill>
              </a:rPr>
              <a:t>ESP-NOW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B3564-9E05-4970-A930-59764747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670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sin router</a:t>
            </a:r>
          </a:p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y baja sobrecarga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293A6-5E33-4C87-8615-69E67DB3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195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3DC96-0C25-4FDC-8707-0FDF627F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6712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86F38"/>
                </a:solidFill>
              </a:defRPr>
            </a:pPr>
            <a:r>
              <a:rPr sz="975" b="1" i="0">
                <a:solidFill>
                  <a:srgbClr val="E86F38"/>
                </a:solidFill>
              </a:rPr>
              <a:t>SELECCIONADO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B33FD-01E2-4BCE-9E6C-D99D288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5CAEF-0B83-4E40-85C6-96F82A2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3C49"/>
                </a:solidFill>
              </a:defRPr>
            </a:pPr>
            <a:r>
              <a:rPr sz="2400" b="1" i="0">
                <a:solidFill>
                  <a:srgbClr val="0B3C49"/>
                </a:solidFill>
              </a:rPr>
              <a:t>cable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53062-760E-46B4-8D3C-FD264E6B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robusto</a:t>
            </a:r>
          </a:p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pero menos desplegable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321F0-F6DA-4084-8688-59AC0CF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45148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D43D2-BD04-4180-9965-09C16736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24525" y="50101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01CA4-48A5-4F28-B6CC-AF508496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Decisión: ESP-NOW + maestro con Wi-Fi propia + respaldo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62402-6DC5-40BC-9308-B9D3485F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102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5717C"/>
                </a:solidFill>
              </a:defRPr>
            </a:pPr>
            <a:r>
              <a:rPr sz="1425" b="0" i="0">
                <a:solidFill>
                  <a:srgbClr val="65717C"/>
                </a:solidFill>
              </a:rPr>
              <a:t>La red transporta capturas completas; no gobierna el reloj de muestreo.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EB138-B42A-4D27-AF67-03D830B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arquitectura ESP32/ESP-NOW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F8CC5-833F-4A3E-8878-9867446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13AB7-1421-44F7-BBDD-4BD2F78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53DED-4338-472C-92D3-86EC028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5EF7A-40DA-4B18-9606-F60FE5DC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13883-AFC9-41BC-ADD3-CEF70E98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EE579-752F-4853-A9FB-C38E9CD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2C0A16-C972-42F1-8DE6-9195ABCC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5522F-3923-4242-A3FB-6DCE84C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7C1B3F-479B-4D6D-98D8-416E8715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43B37F-9452-4B3F-9CAA-6089224A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5A3C6-D8FE-4435-8095-3E1E50B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F1A10-4216-4884-A9CE-06393E3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55F68-47B0-4B36-B0C6-9F67FB55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75C64C-162B-4058-8432-F5C78C3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40D2B1-A1D6-47AE-BE00-E5BD86B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E65F4A-D224-43B7-A526-A40170F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89F9B-A3A5-46C1-A5D1-05E60C36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95667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7358A-09CF-43A4-B431-0A6FA9CE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SINCRONIZACIÓN MEDIDA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56419-F384-4C79-A7EC-8E774F7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error temporal se traduce en error de velocidad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4309-90E4-44ED-A9AB-C501558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069EE-A3F9-435B-8F48-069BF0A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1C848-D668-4F97-B970-C2E73DF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574C7-38FF-4CC5-9902-638FD64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D0379-0151-42BF-AADF-9FDC10E7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75" b="0" i="0">
                <a:solidFill>
                  <a:srgbClr val="0B3C49"/>
                </a:solidFill>
              </a:defRPr>
            </a:pPr>
            <a:r>
              <a:rPr sz="3675" b="0" i="0">
                <a:solidFill>
                  <a:srgbClr val="0B3C49"/>
                </a:solidFill>
              </a:rPr>
              <a:t>Δc / c ≈ c · Δt / Δx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A794D-B38C-44DD-B339-AFEDE079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5429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6BB7D-4ADC-4A86-9860-7E33D63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6F8B"/>
                </a:solidFill>
              </a:defRPr>
            </a:pPr>
            <a:r>
              <a:rPr sz="1350" b="1" i="0">
                <a:solidFill>
                  <a:srgbClr val="1F6F8B"/>
                </a:solidFill>
              </a:rPr>
              <a:t>CASO DE REFERENCIA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ABE35-5061-45A0-B4B8-5EC5EEF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c = 100 m/s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98894-D5A4-4D55-A122-BE0B3A9C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Δx = 2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1100D-15A2-4DD4-9223-05589824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Δt = 200 µs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85088-39BB-4197-9A10-BBF7516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86188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D3F62-6C6E-44DA-9B84-E56A214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6150" y="37242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FA297-E326-43CA-93F1-A1A3C7B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E86F38"/>
                </a:solidFill>
              </a:defRPr>
            </a:pPr>
            <a:r>
              <a:rPr sz="5400" b="1" i="0">
                <a:solidFill>
                  <a:srgbClr val="E86F38"/>
                </a:solidFill>
              </a:rPr>
              <a:t>≈ 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2B2CF-A3E5-4A7D-868E-5315DE69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95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error relativo de velocidad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4B0F6-FAB3-4CF7-8987-6C83A647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8D514-C801-42BB-9601-592BC3D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100 µs a 100 Hz = 3,6°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DFF61-9649-43A6-A0E4-ECA67EE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14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F62"/>
                </a:solidFill>
              </a:defRPr>
            </a:pPr>
            <a:r>
              <a:rPr sz="1575" b="1" i="0">
                <a:solidFill>
                  <a:srgbClr val="2F6F62"/>
                </a:solidFill>
              </a:rPr>
              <a:t>128 disparos: 100–200 µs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ADCA7-0774-424F-A3C5-2767C74E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medición de sincronismo y propagación de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10ED1-EFEC-46C9-94AE-7D03EFF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0241F-78D7-4013-A929-BE548DE1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542D8-FD6A-4333-BE36-795B11E2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A4573-BB84-42D1-885A-0C8C7A5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A2F22-213E-4269-89C3-FB190B3E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A98E5-1D9E-4F13-AB58-19358EF6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B8744-925E-434F-9F4C-C09364D5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8049E3-B723-407F-AD0F-A469BCA9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B2880-793F-4E70-BB25-8CDDB9FE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12DB49-D4BA-4D94-93F4-9D1BE06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080010-A76A-47E6-A67C-E5D60DE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D35AA-F62B-4FA2-9B5B-065B8EC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11FC75-36A2-4591-B523-918F79C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D2683A-D22F-4269-8C49-BB2FFE92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F3074-8F19-4330-8E0A-1DBAD35A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4A73FA-6DF5-459E-A8C5-6F86D3DC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0785CC-D0E8-42B5-A3B9-5FA05AB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219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EEA1C9-1252-4F78-AD08-EC9A7EB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INTEGRIDAD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8C4F6-53C9-4ABB-B3E7-3F1B327D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Secuencia, ACK y respaldo hacen auditable cada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389E2-F358-4744-A8AE-3C110799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7A46A-48AA-4390-9221-87AB2CCF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273BB-4160-4EF3-86F1-4B14145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3C49"/>
                </a:solidFill>
              </a:defRPr>
            </a:pPr>
            <a:r>
              <a:rPr sz="1425" b="1" i="0">
                <a:solidFill>
                  <a:srgbClr val="0B3C49"/>
                </a:solidFill>
              </a:rPr>
              <a:t>ESCLAVO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4D1E-BE5E-4E74-BF47-0A8F973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94BFE-F2C3-4961-9722-392CF259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frag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CA559-407D-4287-B035-E35AFC0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F25E9-4772-48CC-8FB0-C886DD37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frag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F4094-2247-44F6-9A83-55FC9249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F254E-E7FF-4FAB-BABC-BF2300A2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86F38"/>
                </a:solidFill>
              </a:defRPr>
            </a:pPr>
            <a:r>
              <a:rPr sz="1500" b="1" i="0">
                <a:solidFill>
                  <a:srgbClr val="E86F38"/>
                </a:solidFill>
              </a:rPr>
              <a:t>frag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2B947-D947-4D77-86B0-1371F061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5A296-1803-445B-B476-73A56EFC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frag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E033B-A835-4D03-865F-FBA2677D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8813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DA7E2-B5E4-43A7-995D-202DC2C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58150" y="1866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C78E8-A0B5-4356-8AD3-901DC89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16659-F4BE-44E8-9FCD-45437AA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MAESTRO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A0B12-6E18-4587-893F-928F7B6F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</a:defRPr>
            </a:pPr>
            <a:r>
              <a:rPr sz="1350" b="0" i="0">
                <a:solidFill>
                  <a:srgbClr val="17212B"/>
                </a:solidFill>
              </a:rPr>
              <a:t>reensambla +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FA6CC-A6AE-4407-968C-F747E3A1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FA67B-4868-484E-8A2B-302D5DC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95900" y="30765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solidFill>
              <a:srgbClr val="B23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F620A-CDFF-4B54-88D4-899846BA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23A2B"/>
                </a:solidFill>
              </a:defRPr>
            </a:pPr>
            <a:r>
              <a:rPr sz="1500" b="1" i="0">
                <a:solidFill>
                  <a:srgbClr val="B23A2B"/>
                </a:solidFill>
              </a:rPr>
              <a:t>NACK / fragmento faltante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D64C9-7C8E-4888-8CD7-730A7FF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71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F3AEE-7B0B-443F-9221-0A04A255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6F38"/>
                </a:solidFill>
              </a:defRPr>
            </a:pPr>
            <a:r>
              <a:rPr sz="1500" b="1" i="0">
                <a:solidFill>
                  <a:srgbClr val="E86F38"/>
                </a:solidFill>
              </a:rPr>
              <a:t>REGLA DE INTEGRIDAD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ED4A-E6FD-4DB8-931C-57CD807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290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B"/>
                </a:solidFill>
              </a:defRPr>
            </a:pPr>
            <a:r>
              <a:rPr sz="1800" b="1" i="0">
                <a:solidFill>
                  <a:srgbClr val="17212B"/>
                </a:solidFill>
              </a:rPr>
              <a:t>No interpolar. Reintentar. Conservar respaldo local. Liberar memoria sólo después de confirmar.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A8F4B-37B0-4B94-B619-F81F46FF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CCAD8-642F-41C2-80DF-B048B287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BB41CD-5E4A-485F-A4B7-4759C789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secuencia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DE805-311F-4CF4-9C0E-D7FCDA8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E1431-DB3C-40D8-80EB-E07EA8A4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86AC0-0D32-4FD2-A800-52E14C2C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CRC / tamaño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76696-382E-4645-A021-C43B8394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608B5-EAD6-4618-B082-6EBB721D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FDFD41-976E-4606-A4EC-21DC72C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DABD3-A680-42E0-8404-71A05B4A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F201F8-C137-4BE1-9E66-EB9846E0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3C6761-7A43-4759-8088-A12FFB8A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reintento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A04C59-8117-453E-ABB3-D3472A56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El grafo confirma sendCompletionAckWithRetry y serviceCompletionAckRetry en el firmware ESP32.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ED7BD5-D5BE-481C-93EC-25953C1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código indexado · transporte ESP32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EAC8C-9B18-41E1-8926-76BD3FF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06C23B-621E-4BA5-9483-67167B7E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70F5C0-84E8-4BC0-B7E2-B250053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3EB215-0BDB-4550-AD29-34131F06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5D9430-CC77-4F95-A39A-E964ABF8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E29BC-AE38-422D-AE75-25BDDB23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6FE37F-F67F-4688-BD80-83CB2254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04001A-E739-44D2-9416-19231C5C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EA2675-C894-4D87-9878-A5937432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A07B1A-61D2-4B1D-A1B8-2FEC00F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9A486B-BB33-41D1-962B-7CEDB9D8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084430-2C6A-49DF-9D47-1D7FD7B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3569AD-4CE3-433E-832E-651F147D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112FD5-DB3B-4107-9CF8-2461531A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4D0CA1-0F75-41D8-953E-93FB98C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676F88-FF2A-41B0-8F97-6C83630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065968-2148-47AC-9749-5CF6733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43148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1FB74-7880-496D-9160-8E34DB0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BCA34-90C1-4D2E-9CA4-A58C8BE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Campo y servidor: datos compartidos, roles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487D4-5F82-4DCC-9C3F-A4F7D81B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D5AB5-D4A8-4C3F-8CB5-2821193D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a4b41426a46a6"/>
          <a:stretch xmlns:a="http://schemas.openxmlformats.org/drawingml/2006/main"/>
        </p:blipFill>
        <p:spPr>
          <a:xfrm xmlns:a="http://schemas.openxmlformats.org/drawingml/2006/main">
            <a:off x="495300" y="1996335"/>
            <a:ext cx="5429250" cy="3055831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8ae9120824328"/>
          <a:stretch xmlns:a="http://schemas.openxmlformats.org/drawingml/2006/main"/>
        </p:blipFill>
        <p:spPr>
          <a:xfrm xmlns:a="http://schemas.openxmlformats.org/drawingml/2006/main">
            <a:off x="6267450" y="1996335"/>
            <a:ext cx="5429250" cy="30558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EA47F-A3DC-433E-80A6-F207F59A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F8ECF-A526-403E-98B3-98C4CD6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874CF-7C7D-42BC-B161-710FCBC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17B09-48B2-46D9-B285-E97D79F9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SERVIDOR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BACFC-D36D-4703-81B8-5F7A74A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armar · configurar · capturar · exportar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E893E-97AF-45BD-B6E1-0FB1C1BE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validar · agrupar · promediar · invertir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75E7B-1C77-485C-90C6-AD60A97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interfaces reales del repositorio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38E21-EBF2-4BD1-8A37-7F926E92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CF330-6A9A-4E5D-B450-CF36A623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DB790-99EC-4881-88E5-40F66216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6F6D5-574B-432C-B4CF-44290D31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C34CC-0171-4B1F-ACC6-5ABBE59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1838F-3061-445C-ADE5-44411ED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9B43B-C0CD-4D0A-B1B5-87CB397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A0B28-5D55-4F72-A198-F33B44A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48B1E-93C1-4F3B-BC67-6C37D41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138C8-F86F-4834-A40D-87731A1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2119B-7D74-4C96-9BFB-DDAD2BA5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BD8AA-E226-46A3-9848-04DDEAF1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EACF3-CAC1-4D7D-AABD-33716745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2348B-7BAB-42B8-AD8F-34A2508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3B65F-71AA-4DAF-BD14-63527127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C2DE6-8F77-4597-99AE-5F5D32BC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9F79C-531B-44D2-AB76-A1B00FCE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01869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2EC6A-42B8-4EF6-83B0-AF9954DB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CAMPAÑA CANCHITA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1EB86-FB5D-49F3-A50D-A1F68A97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cadena completa ya corre con datos de campo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D411C-355A-4C80-A04E-55DBE2C1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A71B-26DB-4C32-83CF-877EF64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c85c16c9c4d39"/>
          <a:stretch xmlns:a="http://schemas.openxmlformats.org/drawingml/2006/main"/>
        </p:blipFill>
        <p:spPr>
          <a:xfrm xmlns:a="http://schemas.openxmlformats.org/drawingml/2006/main">
            <a:off x="2995119" y="1381125"/>
            <a:ext cx="267751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B568A-7809-4739-B491-2697EB3C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97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2B712-2893-4A50-B16F-75BA1E31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5732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B615E-45C3-47D2-9937-F022244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E86F38"/>
                </a:solidFill>
              </a:defRPr>
            </a:pPr>
            <a:r>
              <a:rPr sz="4350" b="1" i="0">
                <a:solidFill>
                  <a:srgbClr val="E86F38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409D8-F686-4A56-8323-9EBA28AC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14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posiciones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51A9C-043B-4CC9-BB59-94E1C74A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B3C49"/>
                </a:solidFill>
              </a:defRPr>
            </a:pPr>
            <a:r>
              <a:rPr sz="3525" b="1" i="0">
                <a:solidFill>
                  <a:srgbClr val="0B3C49"/>
                </a:solidFill>
              </a:rPr>
              <a:t>2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39DB5-CEBE-43F8-98D7-6778881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paso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887B6-576C-4967-B7CE-A521CE8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243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2F6F62"/>
                </a:solidFill>
              </a:defRPr>
            </a:pPr>
            <a:r>
              <a:rPr sz="3525" b="1" i="0">
                <a:solidFill>
                  <a:srgbClr val="2F6F62"/>
                </a:solidFill>
              </a:rPr>
              <a:t>40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78FED-0AEF-479C-8F6B-FE2B855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95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apertura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EF7F5-B87F-4976-B72E-2D23C9F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007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Registro → dispersión → selección → inversión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A459D-0E37-4E5B-BD20-5531114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campaña real Canchita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8CE53-DEFE-4864-A396-52DC8CEA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59929-D8B0-45CD-A2FE-0BDD3E07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6A953-0024-4334-89D8-0C38C017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EF3DC-0E0D-4DD0-A889-FB308A5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88619-53A3-42C8-8FF1-6EB2A7EB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839BD-88AE-432C-ACB9-ACB39DEA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DDB15-C93D-4AE4-8257-68B40CD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03C61-8CD2-427E-AFA5-72DC1ACF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72780-FE52-468A-B6FD-0DB8ED95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A423B-87A5-4D27-A7CC-55C1DD7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03810-52A8-4861-B7E2-0D131944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D1743-9A08-4924-9640-BFABBF4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1BF80-E86E-4554-B1B0-B91F6CD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472F7-E98E-4645-8565-5D84BBF1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8B5F5-85A5-4CDE-9533-21674775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6D428-F19F-4C10-8952-0029B6D3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4ADDE7-5AB9-4E11-994A-F3F67E63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7859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DD9F84-27ED-4705-8A9E-BCF60C8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LÍMITE EXPERIMENTAL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A910-A093-4D6F-AC2A-3D895500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geometría define qué parte de la dispersión es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50E67-1229-4020-AFED-4D293E1C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9F667-5459-4D5C-B158-53D1D513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1e0d0d9de4178"/>
          <a:stretch xmlns:a="http://schemas.openxmlformats.org/drawingml/2006/main"/>
        </p:blipFill>
        <p:spPr>
          <a:xfrm xmlns:a="http://schemas.openxmlformats.org/drawingml/2006/main">
            <a:off x="476250" y="2403405"/>
            <a:ext cx="6667500" cy="247981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59146-C952-4C85-8926-859E763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145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0B3C49"/>
                </a:solidFill>
              </a:defRPr>
            </a:pPr>
            <a:r>
              <a:rPr sz="3000" b="0" i="0">
                <a:solidFill>
                  <a:srgbClr val="0B3C49"/>
                </a:solidFill>
              </a:rPr>
              <a:t>c ≥ 2 · Δx ·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91040-1FE0-4111-82AA-90F739AF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669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5717C"/>
                </a:solidFill>
              </a:defRPr>
            </a:pPr>
            <a:r>
              <a:rPr sz="1800" b="0" i="0">
                <a:solidFill>
                  <a:srgbClr val="65717C"/>
                </a:solidFill>
              </a:rPr>
              <a:t>Con Δx = 2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A4360-5B0F-459B-9DA7-5E7CCE9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E86F38"/>
                </a:solidFill>
              </a:defRPr>
            </a:pPr>
            <a:r>
              <a:rPr sz="2850" b="0" i="0">
                <a:solidFill>
                  <a:srgbClr val="E86F38"/>
                </a:solidFill>
              </a:rPr>
              <a:t>cₐₗᵢₐₛ = 4f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F1494-6C1F-42F6-919D-1356A36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BD6D9-DAEC-4ADE-B463-97BFD4B0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86F38"/>
                </a:solidFill>
              </a:defRPr>
            </a:pPr>
            <a:r>
              <a:rPr sz="1275" b="1" i="0">
                <a:solidFill>
                  <a:srgbClr val="E86F38"/>
                </a:solidFill>
              </a:rPr>
              <a:t>CRESTA ÚTIL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0454D-4251-4E3D-83B2-6A7AB054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3C49"/>
                </a:solidFill>
              </a:defRPr>
            </a:pPr>
            <a:r>
              <a:rPr sz="2325" b="1" i="0">
                <a:solidFill>
                  <a:srgbClr val="0B3C49"/>
                </a:solidFill>
              </a:rPr>
              <a:t>6–20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7B35A-E8FD-410A-AF94-7DAC0950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70–110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F244A-ED6E-4954-9BF7-E911C8EE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12B"/>
                </a:solidFill>
              </a:defRPr>
            </a:pPr>
            <a:r>
              <a:rPr sz="1275" b="0" i="0">
                <a:solidFill>
                  <a:srgbClr val="17212B"/>
                </a:solidFill>
              </a:rPr>
              <a:t>La cresta de 100 m/s cruza la cota cerca de 25 Hz.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69A65-B81A-44FB-AB4E-AD9F4611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768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La apertura de 40 m condiciona el extremo bajo; el paso de 2 m condiciona el alto.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4D5DC-2EDD-4A2C-A88D-FCC88984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geometría y aliasing espacial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809FC-2C07-41B2-B31F-D19BFCBC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F8B92-C9BD-4285-ADBB-BDBA98A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B5D13-9519-4950-8760-247069E0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5BDF4-4DC9-4E7D-9435-80F39091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D5CE0-E699-4CC5-BF1C-0142CC55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F24B7-D32E-4E6C-8F37-28472C08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BC93D-2544-4FE5-85AE-505E7F2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A3E0D-E0D7-49CC-97C6-BA3709F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780B7-D318-48DC-841D-6FD1A2E2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D3ADB-7446-4597-B731-7A3963B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77707-1B60-4A2F-8549-4E441BD7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83B34-6A85-486E-A61B-B8C081D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887AE-6B18-4850-B4E7-49AD6DB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24E5A-5CDC-490D-B03E-CFC9FDD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7A964-80A5-48CA-BABE-A55F213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43978-16DF-4C6D-BF65-89BED22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C1367-AA1D-43C9-9985-8F5917B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3947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E0CF2-A504-4B83-922F-5B58B922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HALLAZGO EXPERIMENTAL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3EED3-E5FB-4492-AE64-2DA0557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profundidad está limitada por energía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9F2C-60D9-4FF7-BAAC-3D09C4D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A3868-D0BE-4559-A3AA-BE914BE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782d234724b5b"/>
          <a:stretch xmlns:a="http://schemas.openxmlformats.org/drawingml/2006/main"/>
        </p:blipFill>
        <p:spPr>
          <a:xfrm xmlns:a="http://schemas.openxmlformats.org/drawingml/2006/main">
            <a:off x="2311739" y="1428750"/>
            <a:ext cx="3225123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DAAC6-5939-48DD-9907-682BB49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F1B57-EFD1-46DB-9727-D5C0D358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A91DE-7FDF-4E90-A26F-F44D191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5717C"/>
                </a:solidFill>
              </a:defRPr>
            </a:pPr>
            <a:r>
              <a:rPr sz="1650" b="1" i="0">
                <a:solidFill>
                  <a:srgbClr val="65717C"/>
                </a:solidFill>
              </a:rPr>
              <a:t>&lt; 5 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2C169-D0DA-47F3-873C-CB5E09DB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B23A2B"/>
                </a:solidFill>
              </a:defRPr>
            </a:pPr>
            <a:r>
              <a:rPr sz="2850" b="1" i="0">
                <a:solidFill>
                  <a:srgbClr val="B23A2B"/>
                </a:solidFill>
              </a:rPr>
              <a:t>0,1%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53F5F-8905-42AA-B9A2-0C7896EA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C7975-BBC0-4275-9FA2-7A4DE17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5717C"/>
                </a:solidFill>
              </a:defRPr>
            </a:pPr>
            <a:r>
              <a:rPr sz="1650" b="1" i="0">
                <a:solidFill>
                  <a:srgbClr val="65717C"/>
                </a:solidFill>
              </a:rPr>
              <a:t>5–20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DFF9D-0A53-488F-854A-9755210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E86F38"/>
                </a:solidFill>
              </a:defRPr>
            </a:pPr>
            <a:r>
              <a:rPr sz="2850" b="1" i="0">
                <a:solidFill>
                  <a:srgbClr val="E86F38"/>
                </a:solidFill>
              </a:rPr>
              <a:t>54,3%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F0FB8-3F8E-479A-83BE-F7770A2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C07B4-44A1-4E16-B9BD-0C13911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48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5717C"/>
                </a:solidFill>
              </a:defRPr>
            </a:pPr>
            <a:r>
              <a:rPr sz="1650" b="1" i="0">
                <a:solidFill>
                  <a:srgbClr val="65717C"/>
                </a:solidFill>
              </a:rPr>
              <a:t>20–50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C30F6-9EB0-4DBE-B4A6-9C97F9BB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0B3C49"/>
                </a:solidFill>
              </a:defRPr>
            </a:pPr>
            <a:r>
              <a:rPr sz="2850" b="1" i="0">
                <a:solidFill>
                  <a:srgbClr val="0B3C49"/>
                </a:solidFill>
              </a:rPr>
              <a:t>43,2%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610DC-42B1-4C89-A77F-405969A9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7F0AC-9463-4D97-9388-38668FDF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00625"/>
            <a:ext cx="3381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5A270-6C8B-41DB-96EB-1534D251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7207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Un filtro no recupera señal que nunca superó el ruido antes del ADC.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CDD49-A9A0-484F-8C74-6239431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autopotencia multicanal de Canchita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B3595-1BC1-4637-9F1B-C2BC1078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BECC4-CC6A-41AB-A0DF-1C881206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E5729-637F-4D6E-8C54-46E109E6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45889-849F-4B60-990F-33E3E6AB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0E41A-6BDB-47DF-ABE5-0EC9F4CC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C971F-D4D9-43F5-8184-29FB6B29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4774F-2484-4D94-A723-20CE10F8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1CD31-5BB3-485B-9C50-CE605CF2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50443-8FE9-488B-B25E-C9C5ECA7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31E5C-10EE-4B8E-A68E-152A6DD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FBF32-999C-4FC3-AAA8-A077CE8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E1CB8-2C54-4C57-94C7-19771748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1C57CA-5950-430F-BD06-C2576E3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ED13E-CCAA-4821-9160-191B746B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0BE153-4657-4D1D-8291-6E9CBE3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692D0D-8DFB-40B4-A578-9221D61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CD6584-E49D-4AA4-A71E-6F8E8F7C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27598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CA91C-D90C-4288-966E-48D60608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PRUEBA DE IMPACTOS EN SECUENCIA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E6DD1-A6A5-4D5B-A3EF-7D89FD21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apilado confirma respuesta en baja frecuencia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F693D-37D5-45C7-9BA7-FCA47CD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17B66-38D8-4EEB-B927-8621E485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da65696a14cb3"/>
          <a:stretch xmlns:a="http://schemas.openxmlformats.org/drawingml/2006/main"/>
        </p:blipFill>
        <p:spPr>
          <a:xfrm xmlns:a="http://schemas.openxmlformats.org/drawingml/2006/main">
            <a:off x="495300" y="1730313"/>
            <a:ext cx="7143750" cy="1492375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0d61167a54133"/>
          <a:stretch xmlns:a="http://schemas.openxmlformats.org/drawingml/2006/main"/>
        </p:blipFill>
        <p:spPr>
          <a:xfrm xmlns:a="http://schemas.openxmlformats.org/drawingml/2006/main">
            <a:off x="495300" y="3886364"/>
            <a:ext cx="7143750" cy="18475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AC248-6299-4394-9537-FFCC485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E7C9F-CDA7-417C-8F8E-0E7ED43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PROBADO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9A4F0-8AF7-4EA5-A2A8-E3D3392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3C49"/>
                </a:solidFill>
              </a:defRPr>
            </a:pPr>
            <a:r>
              <a:rPr sz="2025" b="1" i="0">
                <a:solidFill>
                  <a:srgbClr val="0B3C49"/>
                </a:solidFill>
              </a:rPr>
              <a:t>La secuencia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D1B18-0371-4940-8D70-CEB3CD1E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permite apilar impactos y elevar la componente coherente sobre el ruido.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889DE-07BF-4374-B7A9-DDF355A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EEBAB-0F84-4616-A2C4-E5D34DD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86F38"/>
                </a:solidFill>
              </a:defRPr>
            </a:pPr>
            <a:r>
              <a:rPr sz="2025" b="1" i="0">
                <a:solidFill>
                  <a:srgbClr val="E86F38"/>
                </a:solidFill>
              </a:rPr>
              <a:t>El espectro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448B8-017B-4F5D-AEF5-4D02CBF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muestra respuesta en baja frecuencia compatible con el pasa-bandas estimado.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CFB8A-A159-4C1B-8501-9576169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76875"/>
            <a:ext cx="2333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DEDA"/>
          </a:solidFill>
          <a:ln xmlns:a="http://schemas.openxmlformats.org/drawingml/2006/main" w="9525">
            <a:solidFill>
              <a:srgbClr val="B23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3E786-7B2A-46D0-9D4B-E7C19495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24500"/>
            <a:ext cx="2181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23A2B"/>
                </a:solidFill>
              </a:defRPr>
            </a:pPr>
            <a:r>
              <a:rPr sz="975" b="1" i="0">
                <a:solidFill>
                  <a:srgbClr val="B23A2B"/>
                </a:solidFill>
              </a:rPr>
              <a:t>MARTILLETE 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E16E8-1E86-4737-A135-CCD01633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prueba aportada · señal temporal y espectro apilado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168CA-D117-464F-83F7-EB5E3EF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74D1C-EBFB-4BAE-B746-FDA026D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5C342-C83A-4323-9597-8890791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B4046-FCC6-4450-929C-D1230AF4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F486B-A2FA-48EC-8FA2-A42F5B46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046C4-8DDC-45AA-8C0B-FD332B3C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056A7-1821-4917-8A2E-83599F5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0BC5E-69E0-4B0B-9F85-265F975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759A8-39E8-4DC4-980E-7187CB6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B2F4C-01C3-4A36-9ABE-9880B94C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E6673-7A42-4EFA-9769-51BFF399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8D593-E7B9-4394-8C25-ECC044F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D7D20-6AFC-4C4B-9450-6311483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537D5-9270-4DAC-885C-5892AC3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7FF71-5E42-420C-8AE1-62D7F12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B902A-08AD-4055-8BAB-EE23049B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BB67A-3121-45C9-86D0-46A23BE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6104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B5B87-676A-4FC4-B7B8-0D101CDD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1640 EJECUCIONES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A39A0-FB96-4A56-87CD-CE79A99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Benchmark: incertidumbre de datos vs.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D2A59-60F8-40BA-811F-D7894185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EFEB5-EF6E-4801-8DAC-AB869F57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a5dad94424c5c"/>
          <a:stretch xmlns:a="http://schemas.openxmlformats.org/drawingml/2006/main"/>
        </p:blipFill>
        <p:spPr>
          <a:xfrm xmlns:a="http://schemas.openxmlformats.org/drawingml/2006/main">
            <a:off x="457200" y="1711694"/>
            <a:ext cx="6762750" cy="39108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00C4E-FB76-49F6-9B34-5EEA0C2A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BA8F2-DB0A-4790-B5C4-64725AE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2A24D-2B15-4A20-9991-D5892D4E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Park + DP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5A0D3-CD65-4A9E-9ABE-B896155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línea base real: 25/48 admisibles · misfit mediano 4,09%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49341-0C56-40FA-BD6A-68E30FC1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75BA0-6C3B-4F58-A95F-B5E155A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86F38"/>
                </a:solidFill>
              </a:defRPr>
            </a:pPr>
            <a:r>
              <a:rPr sz="1875" b="1" i="0">
                <a:solidFill>
                  <a:srgbClr val="E86F38"/>
                </a:solidFill>
              </a:rPr>
              <a:t>29,76 vs 2,28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1F754-5C3B-4764-8B73-D05B7C02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retirar offsets mueve c(f) ≈13× más que cambiar transformada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0DFDB-9E80-403C-9608-4DB95B05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433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40BB8-1506-413A-80AE-DACAD1E6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3 capas · CV ≈3,0%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4F6E7-1F8A-4DC2-8A18-DF5ECE9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mejor condicionadas; cinco capas elevan sensibilidad al optimizador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C35A7-F81F-4C3F-AAA8-E88CCD61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958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6FBCD-42E0-4594-8DD3-AEA6939B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QC + bootstrap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AAB32-E223-423F-A294-43DB47FA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DP puede inventar curva sin energía; censura no reemplaza señal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42338-A7F9-4228-AB84-9D174BE1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483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8617E-F0C8-41FD-A110-D77728D5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3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432 ejecuciones comparables en el balance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746A4-D57C-412F-B1D6-3055A84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INFORME_COMPLETO.pdf · benchmark consolidado 2026-08-23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D70ED-00BC-4D73-9B2B-020E1DF2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10EA9-1367-4CDD-AE8C-91DC50EB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6DEBD-F247-4502-9ADA-00C5F90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CD2E4-FBED-4D5C-AE7A-E5EE4E3C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7B95E-12A2-4557-BE97-EA084BFE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532FC-3B58-45AA-B2E1-D88180D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8CC81-28A1-4436-A9F3-FF6DA1F9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69450-CFBB-49B5-8841-44B51BB4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C8F28-949E-487B-B0D2-E420798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DEAD2-CC92-417C-8D30-DDA9E6F1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D382DE-B2E6-4747-825E-162B860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559C65-E819-4698-827D-0A64DB7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939E55-82E1-4665-BB39-3E73AB37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3EB27-CCEB-4BAB-9511-7153D42D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7762A4-4682-4536-B406-342A99BB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A164E-66FF-4A43-A0D8-D0BDDAA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48982-8F93-4577-A145-1F0F55B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7201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3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85FFC-61F6-4E32-A861-644D443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1A412-3F0F-4209-A6AD-856D855B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La cadena funciona; el próximo avance depende de mejorar el 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0837A-63BE-4343-8C80-0A29707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88A78-AE39-42FB-8C90-E48FBBE2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6F62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F790E-DCD3-4CD8-B649-F85CC1C1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35751-A9E5-4E86-AAD5-C335BA8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621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sincronismo · respuesta AFE · campaña · espectro · apilado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0D6D1-690A-4F76-ABCF-FE69AF5B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F8D12-6E77-411D-8308-1C5CCDCF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IMPLEMENTADO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807DD-FBF6-451A-B801-5D6640D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1942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calibración · ADC/DMA · transporte · interfaces · MASW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21AA0-049D-4FE6-A150-D693C481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52F2A-DDA5-420E-BC1D-5F07D4BF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E0BFC-C4C5-4A9D-BF78-910153E4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766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fuente repetitiva instrumentada · validación extremo a extremo · bootstrap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ED3F8-C8B6-45C7-89C9-DCB7C66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86F38"/>
                </a:solidFill>
              </a:defRPr>
            </a:pPr>
            <a:r>
              <a:rPr sz="1350" b="1" i="0">
                <a:solidFill>
                  <a:srgbClr val="E86F38"/>
                </a:solidFill>
              </a:rPr>
              <a:t>FÍSICA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21184-C70B-4DEA-91D0-2F269B5F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4F6E3-01F4-4A7A-9444-237A6A39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81275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7A420-24A9-4EC1-AA8E-C2EA2D4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REQUISITOS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AD137-4477-4231-A8B2-D81FA19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3AC80-8894-4A6C-A5F4-98D68D7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00650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76778-1C44-49BF-8439-6083B001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AC784-D6F1-40BD-BEFA-58D2A20C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D301B-E5FE-487D-8715-B1C2CB0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53400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64EB6-A092-4421-91EC-D786C05E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F4C3A-0672-4066-9F62-87DA46E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E6284-290F-4178-959B-FB5B6B9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77525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C9429-F883-4048-9F32-AFC5F373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86F38"/>
                </a:solidFill>
              </a:defRPr>
            </a:pPr>
            <a:r>
              <a:rPr sz="1350" b="1" i="0">
                <a:solidFill>
                  <a:srgbClr val="E86F38"/>
                </a:solidFill>
              </a:rPr>
              <a:t>DECISIÓN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6D0AA-D251-44BE-BC71-84C5B1E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Prioridad: más energía útil de baja frecuencia, misma geometría y validación repetible.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C5079-E8C9-4A50-A097-96FA5398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94AEB4"/>
                </a:solidFill>
              </a:defRPr>
            </a:pPr>
            <a:r>
              <a:rPr sz="1350" b="1" i="0">
                <a:solidFill>
                  <a:srgbClr val="94AEB4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26309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2026-08-24T17:05:12.6130000Z</dcterms:created>
  <dcterms:modified xsi:type="dcterms:W3CDTF">2026-08-24T17:05:12.6130000Z</dcterms:modified>
</coreProperties>
</file>