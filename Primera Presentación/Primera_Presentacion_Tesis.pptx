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4d3fd80a79493a" /><Relationship Type="http://schemas.openxmlformats.org/officeDocument/2006/relationships/extended-properties" Target="/docProps/app.xml" Id="R12d5a44913cd4df5" /><Relationship Type="http://schemas.openxmlformats.org/officeDocument/2006/relationships/officeDocument" Target="/ppt/presentation.xml" Id="Rd4102b90a69945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2ae39d636a4460"/>
  </p:sldMasterIdLst>
  <p:notesMasterIdLst>
    <p:notesMasterId xmlns:r="http://schemas.openxmlformats.org/officeDocument/2006/relationships" r:id="R844082ee55324bfd"/>
  </p:notesMasterIdLst>
  <p:sldIdLst>
    <p:sldId xmlns:r="http://schemas.openxmlformats.org/officeDocument/2006/relationships" id="256" r:id="R7f8f5c397d4e4c7e"/>
    <p:sldId xmlns:r="http://schemas.openxmlformats.org/officeDocument/2006/relationships" id="257" r:id="R5a80e0893e554c8b"/>
    <p:sldId xmlns:r="http://schemas.openxmlformats.org/officeDocument/2006/relationships" id="258" r:id="Rb86144a528e941b8"/>
    <p:sldId xmlns:r="http://schemas.openxmlformats.org/officeDocument/2006/relationships" id="259" r:id="R56889a5cff484ee4"/>
    <p:sldId xmlns:r="http://schemas.openxmlformats.org/officeDocument/2006/relationships" id="260" r:id="R0d2509ae490949cb"/>
    <p:sldId xmlns:r="http://schemas.openxmlformats.org/officeDocument/2006/relationships" id="261" r:id="Re37bc241fcf340fe"/>
    <p:sldId xmlns:r="http://schemas.openxmlformats.org/officeDocument/2006/relationships" id="262" r:id="R616b2d2e2c43410b"/>
    <p:sldId xmlns:r="http://schemas.openxmlformats.org/officeDocument/2006/relationships" id="263" r:id="R3ae679731530417e"/>
    <p:sldId xmlns:r="http://schemas.openxmlformats.org/officeDocument/2006/relationships" id="264" r:id="R77f345aea6dd442b"/>
    <p:sldId xmlns:r="http://schemas.openxmlformats.org/officeDocument/2006/relationships" id="265" r:id="R78360ce223be4978"/>
    <p:sldId xmlns:r="http://schemas.openxmlformats.org/officeDocument/2006/relationships" id="266" r:id="Rb582852a720d4407"/>
    <p:sldId xmlns:r="http://schemas.openxmlformats.org/officeDocument/2006/relationships" id="267" r:id="Rf8c120ac14a84634"/>
    <p:sldId xmlns:r="http://schemas.openxmlformats.org/officeDocument/2006/relationships" id="268" r:id="R2d8ee0dabfc94eb7"/>
    <p:sldId xmlns:r="http://schemas.openxmlformats.org/officeDocument/2006/relationships" id="269" r:id="Rc88fcd0626ce484a"/>
    <p:sldId xmlns:r="http://schemas.openxmlformats.org/officeDocument/2006/relationships" id="270" r:id="Rcb551898357540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6d9cdaa79c4df5" /><Relationship Type="http://schemas.openxmlformats.org/officeDocument/2006/relationships/slideMaster" Target="/ppt/slideMasters/slideMaster1.xml" Id="R582ae39d636a4460" /><Relationship Type="http://schemas.openxmlformats.org/officeDocument/2006/relationships/notesMaster" Target="/ppt/notesMasters/notesMaster1.xml" Id="R844082ee55324bfd" /><Relationship Type="http://schemas.openxmlformats.org/officeDocument/2006/relationships/presProps" Target="/ppt/presProps.xml" Id="R065d4253bc224afc" /><Relationship Type="http://schemas.openxmlformats.org/officeDocument/2006/relationships/tableStyles" Target="/ppt/tableStyles.xml" Id="R089fecedd4024064" /><Relationship Type="http://schemas.openxmlformats.org/officeDocument/2006/relationships/slide" Target="/ppt/slides/slide1.xml" Id="R7f8f5c397d4e4c7e" /><Relationship Type="http://schemas.openxmlformats.org/officeDocument/2006/relationships/slide" Target="/ppt/slides/slide2.xml" Id="R5a80e0893e554c8b" /><Relationship Type="http://schemas.openxmlformats.org/officeDocument/2006/relationships/slide" Target="/ppt/slides/slide3.xml" Id="Rb86144a528e941b8" /><Relationship Type="http://schemas.openxmlformats.org/officeDocument/2006/relationships/slide" Target="/ppt/slides/slide4.xml" Id="R56889a5cff484ee4" /><Relationship Type="http://schemas.openxmlformats.org/officeDocument/2006/relationships/slide" Target="/ppt/slides/slide5.xml" Id="R0d2509ae490949cb" /><Relationship Type="http://schemas.openxmlformats.org/officeDocument/2006/relationships/slide" Target="/ppt/slides/slide6.xml" Id="Re37bc241fcf340fe" /><Relationship Type="http://schemas.openxmlformats.org/officeDocument/2006/relationships/slide" Target="/ppt/slides/slide7.xml" Id="R616b2d2e2c43410b" /><Relationship Type="http://schemas.openxmlformats.org/officeDocument/2006/relationships/slide" Target="/ppt/slides/slide8.xml" Id="R3ae679731530417e" /><Relationship Type="http://schemas.openxmlformats.org/officeDocument/2006/relationships/slide" Target="/ppt/slides/slide9.xml" Id="R77f345aea6dd442b" /><Relationship Type="http://schemas.openxmlformats.org/officeDocument/2006/relationships/slide" Target="/ppt/slides/slide10.xml" Id="R78360ce223be4978" /><Relationship Type="http://schemas.openxmlformats.org/officeDocument/2006/relationships/slide" Target="/ppt/slides/slide11.xml" Id="Rb582852a720d4407" /><Relationship Type="http://schemas.openxmlformats.org/officeDocument/2006/relationships/slide" Target="/ppt/slides/slide12.xml" Id="Rf8c120ac14a84634" /><Relationship Type="http://schemas.openxmlformats.org/officeDocument/2006/relationships/slide" Target="/ppt/slides/slide13.xml" Id="R2d8ee0dabfc94eb7" /><Relationship Type="http://schemas.openxmlformats.org/officeDocument/2006/relationships/slide" Target="/ppt/slides/slide14.xml" Id="Rc88fcd0626ce484a" /><Relationship Type="http://schemas.openxmlformats.org/officeDocument/2006/relationships/slide" Target="/ppt/slides/slide15.xml" Id="Rcb551898357540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68fd4b92bd4a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3843f734f344de" /><Relationship Type="http://schemas.openxmlformats.org/officeDocument/2006/relationships/notesMaster" Target="/ppt/notesMasters/notesMaster1.xml" Id="R3da83a8220fa41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4c653a6e3e4182" /><Relationship Type="http://schemas.openxmlformats.org/officeDocument/2006/relationships/notesMaster" Target="/ppt/notesMasters/notesMaster1.xml" Id="R0a3e130c097045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fac60ab0d146a7" /><Relationship Type="http://schemas.openxmlformats.org/officeDocument/2006/relationships/notesMaster" Target="/ppt/notesMasters/notesMaster1.xml" Id="R7958848c12244c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26b15edfcf4fe7" /><Relationship Type="http://schemas.openxmlformats.org/officeDocument/2006/relationships/notesMaster" Target="/ppt/notesMasters/notesMaster1.xml" Id="R6fe55d4a87e342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9991d9b8c94d0b" /><Relationship Type="http://schemas.openxmlformats.org/officeDocument/2006/relationships/notesMaster" Target="/ppt/notesMasters/notesMaster1.xml" Id="R852c631dae9b40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800b25e0a54c4b" /><Relationship Type="http://schemas.openxmlformats.org/officeDocument/2006/relationships/notesMaster" Target="/ppt/notesMasters/notesMaster1.xml" Id="Rcef146ce701343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82f0b81ec2460a" /><Relationship Type="http://schemas.openxmlformats.org/officeDocument/2006/relationships/notesMaster" Target="/ppt/notesMasters/notesMaster1.xml" Id="R21bcc2c8218a48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35cb6b0155447e" /><Relationship Type="http://schemas.openxmlformats.org/officeDocument/2006/relationships/notesMaster" Target="/ppt/notesMasters/notesMaster1.xml" Id="R91029bb130a14f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36b1e6774d4166" /><Relationship Type="http://schemas.openxmlformats.org/officeDocument/2006/relationships/notesMaster" Target="/ppt/notesMasters/notesMaster1.xml" Id="R3a4ad66d5c6349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a8fb811a244c3b" /><Relationship Type="http://schemas.openxmlformats.org/officeDocument/2006/relationships/notesMaster" Target="/ppt/notesMasters/notesMaster1.xml" Id="Raeda65ea143140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ba721ee07b403f" /><Relationship Type="http://schemas.openxmlformats.org/officeDocument/2006/relationships/notesMaster" Target="/ppt/notesMasters/notesMaster1.xml" Id="R582ee160fa7e4a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5143ae728c4b70" /><Relationship Type="http://schemas.openxmlformats.org/officeDocument/2006/relationships/notesMaster" Target="/ppt/notesMasters/notesMaster1.xml" Id="Rd458654d676e49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06f0b523524a92" /><Relationship Type="http://schemas.openxmlformats.org/officeDocument/2006/relationships/notesMaster" Target="/ppt/notesMasters/notesMaster1.xml" Id="R9d173ba54fb04d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cfb4495ed4451d" /><Relationship Type="http://schemas.openxmlformats.org/officeDocument/2006/relationships/notesMaster" Target="/ppt/notesMasters/notesMaster1.xml" Id="Re88c635fe5d844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a6806947e64e58" /><Relationship Type="http://schemas.openxmlformats.org/officeDocument/2006/relationships/notesMaster" Target="/ppt/notesMasters/notesMaster1.xml" Id="R330c2032025e45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Título oficial: Diseño e implementación de un sistema electrónico multicanal del tipo IoT para caracterización geotécnica del suelo mediante ondas sísmicas.</a:t>
            </a:r>
          </a:p>
          <a:p xmlns:a="http://schemas.openxmlformats.org/drawingml/2006/main">
            <a:r>
              <a:t>Abrir con el objetivo: integrar una plataforma accesible y auditable, no presentar aún un instrumento comercial terminado.</a:t>
            </a:r>
          </a:p>
          <a:p xmlns:a="http://schemas.openxmlformats.org/drawingml/2006/main">
            <a:r>
              <a:t>Fuente: main.pdf, portada y alcance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velocidad de onda de corte VS se relaciona con la rigidez mediante Gmax = rho·VS².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Aclarar que el perfil no es una fotografía del terreno; es un modelo compatible con los datos y la resolución del método.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 visual: figura CentrePort incluida en el documento del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El método usa diferencias de fase entre todos los canales para construir S(f,c).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curva de dispersión alimenta una inversión no única; la geometría y la banda observable condicionan el resultado.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main.pdf, secciones 1.5 y 1.6.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brecha no es ausencia de instrumentación profesional; es falta de una plataforma económica, reproducible y modificable para investigación local.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El prototipo no pretende sustituir equipos profesionales en confiabilidad o soporte.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main.pdf, brecha de acceso y alcance.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la cadena de izquierda a derecha y vincular cada bloque con su riesgo principal.</a:t>
            </a:r>
          </a:p>
          <a:p xmlns:a="http://schemas.openxmlformats.org/drawingml/2006/main">
            <a:r>
              <a:t>La contribución es la integración completa y auditable, no un único circuito o algoritmo aislado.</a:t>
            </a:r>
          </a:p>
          <a:p xmlns:a="http://schemas.openxmlformats.org/drawingml/2006/main">
            <a:r>
              <a:t>Fuente: main.pdf, alcance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Actual: martillo PCB 086D20, 0,23 mV/N, referencia temporal integrada al PSoC.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En desarrollo: martillete de leva para trenes de impactos con cadencia controlada y mayor energía acumulada en baja frecuencia.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Aún faltan transmisión, guiado, control y protecciones.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 empleó el SM-24 de 10 Hz porque estaba disponible en la Facultad, no por optimización de profundidad.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banda profunda estimada para el objetivo de 50 m cae aproximadamente entre 1 y 5 Hz.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salida nominal cae 27,6 dB a 2 Hz y 40 dB a 1 Hz respecto de velocidad.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estrategia 1-BP compensa la región atenuada del geófono y reparte la ganancia en varios bloques.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Ganancias implementadas: x2, PGA x1–x50, sumador x3,6 y pasa-bajos x5; máximo aproximado x1800.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medición mostrada verifica forma y coherencia del barrido; no es todavía una calibración sísmica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calibración recorre PGA, BP, sumador y pasa-bajos; un FIR de 128 taps y un PI corrigen el offset.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Los códigos se guardan por ganancia en EEPROM con CRC; durante la captura quedan fijos.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ADC Delta-Sigma: 18 bits nominales a 2604 SPS; FIR y dos DMA trasladan datos a 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ESP32 se eligió por disponibilidad, costo y Wi-Fi integrado; ESP-NOW evita infraestructura externa en campo.</a:t>
            </a:r>
          </a:p>
          <a:p xmlns:a="http://schemas.openxmlformats.org/drawingml/2006/main">
            <a:r>
              <a:t>Un fragmento perdido no se interpola porque cualquier relleno introduce fase falsa.</a:t>
            </a:r>
          </a:p>
          <a:p xmlns:a="http://schemas.openxmlformats.org/drawingml/2006/main">
            <a:r>
              <a:t>La estimación Δc/c ≈ c·Δt/Δx da aproximadamente 1% para el peor caso medido.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interfaz de campo arma nodos, configura, captura y exporta; puede operar sin Internet.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El servidor valida, filtra, agrupa, alinea, promedia e invierte; conserva campañas y metadatos.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evolución fue MATLAB → Python/Qt → interfaces web por robustez y acceso multiplataforma.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El registro sintetizado cubre 10–50 m con 2 m entre receptores.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figura muestra wiggle, dispersión 1–100 Hz y detalle 5–50 Hz obtenidos de datos de campo.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 afirmar todavía que el perfil VS final esté validado.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Entre 6 y 20 Hz aparece una cresta coherente alrededor de 70–110 m/s.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Para Δx=2 m, una cresta de 100 m/s entra en aliasing espacial cerca de 25 Hz; la apertura de 40 m limita el extremo bajo.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banda está condicionada por la geometría y la fuente antes que por la electrónica.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Por debajo de 5 Hz queda apenas 0,1% de la autopotencia integrada: ése es el extremo que gobierna la profundidad alcanzable.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 filtro digital no recupera información que no superó el piso de ruido antes del convertidor.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acción de diseño es inyectar más energía en baja frecuencia mediante impactos repetitivos y controlados.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honesto: existe una primera plataforma integrada y evidencia funcional, pero no una validación geotécnica completa.</a:t>
            </a:r>
          </a:p>
          <a:p xmlns:a="http://schemas.openxmlformats.org/drawingml/2006/main">
            <a:r>
              <a:t>Próximos hitos: martillete instrumentado, ensayo con todos los nodos, caracterización extremo a extremo y comparación independiente.</a:t>
            </a:r>
          </a:p>
          <a:p xmlns:a="http://schemas.openxmlformats.org/drawingml/2006/main">
            <a:r>
              <a:t>Pregunta para discusión: qué criterio de validación debe priorizarse antes de aceptar un perfil VS(z).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3775a36f54a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3d15c669a4a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adb543aed4d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5250e1eb54e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7d16e9b7064f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4c66c606d4e9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7c359c523454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3a78954b54f9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4dad8bdd34751" /><Relationship Type="http://schemas.openxmlformats.org/officeDocument/2006/relationships/image" Target="/ppt/media/image.png" Id="R38b5a96cef4443f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b4db5dc514e7a" /><Relationship Type="http://schemas.openxmlformats.org/officeDocument/2006/relationships/image" Target="/ppt/media/image2.png" Id="R65f4c8691ab44374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38b5a96cef4443f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65f4c8691ab4437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2e3c870b2b4f02" /><Relationship Type="http://schemas.openxmlformats.org/officeDocument/2006/relationships/slideLayout" Target="/ppt/slideLayouts/slideLayout1.xml" Id="R978a414178204740" /><Relationship Type="http://schemas.openxmlformats.org/officeDocument/2006/relationships/slideLayout" Target="/ppt/slideLayouts/slideLayout2.xml" Id="Rdb3271f3dfa24667" /><Relationship Type="http://schemas.openxmlformats.org/officeDocument/2006/relationships/slideLayout" Target="/ppt/slideLayouts/slideLayout3.xml" Id="R33ca12b50301425a" /><Relationship Type="http://schemas.openxmlformats.org/officeDocument/2006/relationships/slideLayout" Target="/ppt/slideLayouts/slideLayout4.xml" Id="R55fdfe4a26ce4a87" /><Relationship Type="http://schemas.openxmlformats.org/officeDocument/2006/relationships/slideLayout" Target="/ppt/slideLayouts/slideLayout5.xml" Id="R3f60030b96e74b00" /><Relationship Type="http://schemas.openxmlformats.org/officeDocument/2006/relationships/slideLayout" Target="/ppt/slideLayouts/slideLayout6.xml" Id="R21ff4b300a084d9b" /><Relationship Type="http://schemas.openxmlformats.org/officeDocument/2006/relationships/slideLayout" Target="/ppt/slideLayouts/slideLayout7.xml" Id="Rc83d0990e4a6419f" /><Relationship Type="http://schemas.openxmlformats.org/officeDocument/2006/relationships/slideLayout" Target="/ppt/slideLayouts/slideLayout8.xml" Id="Rcb6de0fb438745f5" /><Relationship Type="http://schemas.openxmlformats.org/officeDocument/2006/relationships/slideLayout" Target="/ppt/slideLayouts/slideLayout9.xml" Id="R1389785c23254f2d" /><Relationship Type="http://schemas.openxmlformats.org/officeDocument/2006/relationships/slideLayout" Target="/ppt/slideLayouts/slideLayout10.xml" Id="R0a68176acda149b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8a414178204740"/>
    <p:sldLayoutId xmlns:r="http://schemas.openxmlformats.org/officeDocument/2006/relationships" id="2147483650" r:id="Rdb3271f3dfa24667"/>
    <p:sldLayoutId xmlns:r="http://schemas.openxmlformats.org/officeDocument/2006/relationships" id="2147483651" r:id="R33ca12b50301425a"/>
    <p:sldLayoutId xmlns:r="http://schemas.openxmlformats.org/officeDocument/2006/relationships" id="2147483652" r:id="R55fdfe4a26ce4a87"/>
    <p:sldLayoutId xmlns:r="http://schemas.openxmlformats.org/officeDocument/2006/relationships" id="2147483653" r:id="R3f60030b96e74b00"/>
    <p:sldLayoutId xmlns:r="http://schemas.openxmlformats.org/officeDocument/2006/relationships" id="2147483654" r:id="R21ff4b300a084d9b"/>
    <p:sldLayoutId xmlns:r="http://schemas.openxmlformats.org/officeDocument/2006/relationships" id="2147483655" r:id="Rc83d0990e4a6419f"/>
    <p:sldLayoutId xmlns:r="http://schemas.openxmlformats.org/officeDocument/2006/relationships" id="2147483656" r:id="Rcb6de0fb438745f5"/>
    <p:sldLayoutId xmlns:r="http://schemas.openxmlformats.org/officeDocument/2006/relationships" id="2147483657" r:id="R1389785c23254f2d"/>
    <p:sldLayoutId xmlns:r="http://schemas.openxmlformats.org/officeDocument/2006/relationships" id="2147483658" r:id="R0a68176acda149ba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cfbece76c44fc" /><Relationship Type="http://schemas.openxmlformats.org/officeDocument/2006/relationships/notesSlide" Target="/ppt/notesSlides/notesSlide1.xml" Id="R94d872030b044e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4d4d21e8154a9f" /><Relationship Type="http://schemas.openxmlformats.org/officeDocument/2006/relationships/image" Target="/ppt/media/image3.png" Id="R8c383d8c76644476" /><Relationship Type="http://schemas.openxmlformats.org/officeDocument/2006/relationships/notesSlide" Target="/ppt/notesSlides/notesSlide2.xml" Id="Rd76fdac0e6c54c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31725587b534d50" /><Relationship Type="http://schemas.openxmlformats.org/officeDocument/2006/relationships/notesSlide" Target="/ppt/notesSlides/notesSlide3.xml" Id="R4ef9b19c8d2743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922bc9d514cf6" /><Relationship Type="http://schemas.openxmlformats.org/officeDocument/2006/relationships/notesSlide" Target="/ppt/notesSlides/notesSlide4.xml" Id="Re8bcf3aa1ff049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89bc38d7e4f37" /><Relationship Type="http://schemas.openxmlformats.org/officeDocument/2006/relationships/notesSlide" Target="/ppt/notesSlides/notesSlide5.xml" Id="R67dc3fb9ede94c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ff0acd36254ac7" /><Relationship Type="http://schemas.openxmlformats.org/officeDocument/2006/relationships/image" Target="/ppt/media/image4.png" Id="R47bb547137744068" /><Relationship Type="http://schemas.openxmlformats.org/officeDocument/2006/relationships/image" Target="/ppt/media/image.jpeg" Id="R9b5a015e3f644e25" /><Relationship Type="http://schemas.openxmlformats.org/officeDocument/2006/relationships/notesSlide" Target="/ppt/notesSlides/notesSlide6.xml" Id="Re37f357f9c1244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eaaee3463b4c8b" /><Relationship Type="http://schemas.openxmlformats.org/officeDocument/2006/relationships/image" Target="/ppt/media/image5.png" Id="Re83bf8b1ab78487f" /><Relationship Type="http://schemas.openxmlformats.org/officeDocument/2006/relationships/image" Target="/ppt/media/image6.png" Id="Ra5c6c0087eb34921" /><Relationship Type="http://schemas.openxmlformats.org/officeDocument/2006/relationships/notesSlide" Target="/ppt/notesSlides/notesSlide7.xml" Id="Rbc8871cf9f1f43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e3a753ed4147fc" /><Relationship Type="http://schemas.openxmlformats.org/officeDocument/2006/relationships/image" Target="/ppt/media/image7.png" Id="Rfdaab47e53984571" /><Relationship Type="http://schemas.openxmlformats.org/officeDocument/2006/relationships/image" Target="/ppt/media/image8.png" Id="R6b6c04a74d014f86" /><Relationship Type="http://schemas.openxmlformats.org/officeDocument/2006/relationships/notesSlide" Target="/ppt/notesSlides/notesSlide8.xml" Id="Reabbc0aafcec4c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dae6f122db744a0" /><Relationship Type="http://schemas.openxmlformats.org/officeDocument/2006/relationships/image" Target="/ppt/media/image9.png" Id="Ra4714cf4dceb480e" /><Relationship Type="http://schemas.openxmlformats.org/officeDocument/2006/relationships/image" Target="/ppt/media/image10.png" Id="Ra79588959c6140a8" /><Relationship Type="http://schemas.openxmlformats.org/officeDocument/2006/relationships/notesSlide" Target="/ppt/notesSlides/notesSlide9.xml" Id="R8932256e6e3540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747f653977a492c" /><Relationship Type="http://schemas.openxmlformats.org/officeDocument/2006/relationships/notesSlide" Target="/ppt/notesSlides/notesSlide10.xml" Id="R328f779a011946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9fae729d2046d5" /><Relationship Type="http://schemas.openxmlformats.org/officeDocument/2006/relationships/image" Target="/ppt/media/image2.jpeg" Id="R2fd1a3c8e2354548" /><Relationship Type="http://schemas.openxmlformats.org/officeDocument/2006/relationships/image" Target="/ppt/media/image3.jpeg" Id="R8da5b26ed13c4543" /><Relationship Type="http://schemas.openxmlformats.org/officeDocument/2006/relationships/notesSlide" Target="/ppt/notesSlides/notesSlide11.xml" Id="R1c4170df0e9248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6eeb1aef8b4422" /><Relationship Type="http://schemas.openxmlformats.org/officeDocument/2006/relationships/image" Target="/ppt/media/image11.png" Id="R3c2c8e8da1ad48fc" /><Relationship Type="http://schemas.openxmlformats.org/officeDocument/2006/relationships/notesSlide" Target="/ppt/notesSlides/notesSlide12.xml" Id="R02417f0d2df941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7adcbf9bff141b9" /><Relationship Type="http://schemas.openxmlformats.org/officeDocument/2006/relationships/image" Target="/ppt/media/image12.png" Id="Rac1fba2a7d7f43ee" /><Relationship Type="http://schemas.openxmlformats.org/officeDocument/2006/relationships/image" Target="/ppt/media/image13.png" Id="R9283ad1670584c3d" /><Relationship Type="http://schemas.openxmlformats.org/officeDocument/2006/relationships/notesSlide" Target="/ppt/notesSlides/notesSlide13.xml" Id="Rbabb344d820e48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82e6af0520f450d" /><Relationship Type="http://schemas.openxmlformats.org/officeDocument/2006/relationships/notesSlide" Target="/ppt/notesSlides/notesSlide14.xml" Id="R135056728d2643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7c7f0cf313945ec" /><Relationship Type="http://schemas.openxmlformats.org/officeDocument/2006/relationships/notesSlide" Target="/ppt/notesSlides/notesSlide15.xml" Id="R8889008818b84ee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Sistema IoT multicanal</a:t>
            </a:r>
          </a:p>
          <a:p xmlns:a="http://schemas.openxmlformats.org/drawingml/2006/main">
            <a:r>
              <a:rPr sz="7200"/>
              <a:t>para estudios MASW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Elías David Álvarez Martínez</a:t>
            </a:r>
          </a:p>
          <a:p xmlns:a="http://schemas.openxmlformats.org/drawingml/2006/main">
            <a:r>
              <a:rPr sz="2000"/>
              <a:t>Proyecto final de carrera</a:t>
            </a:r>
          </a:p>
          <a:p xmlns:a="http://schemas.openxmlformats.org/drawingml/2006/main">
            <a:r>
              <a:rPr sz="2000"/>
              <a:t>Primera presentación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PROYECTO FINAL DE CARRERA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PRIMERA PRESENTACIÓN · 2026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Del registro sísmico al modelo del subsuelo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54330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>La señal es el dato crudo.</a:t>
            </a:r>
          </a:p>
          <a:p xmlns:a="http://schemas.openxmlformats.org/drawingml/2006/main">
            <a:r>
              <a:rPr sz="4200"/>
              <a:t>El producto de ingeniería es el perfil VS(z).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83d8c76644476"/>
          <a:stretch xmlns:a="http://schemas.openxmlformats.org/drawingml/2006/main"/>
        </p:blipFill>
        <p:spPr>
          <a:xfrm xmlns:a="http://schemas.openxmlformats.org/drawingml/2006/main">
            <a:off x="5930900" y="1020885"/>
            <a:ext cx="6261100" cy="48162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3CCF01B0-424D-4E7C-8A5B-1C686B55E51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1 · ADQUISICIÓN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Fuente controlada + arreglo sincronizado</a:t>
            </a: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A09C1AA6-99E6-42B2-8785-29D76954082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7E7D3424-3D00-4525-960C-FA45A0515FE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2 · DISPERSIÓN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Transformación al dominio frecuencia–velocidad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23DD6411-DB8A-48FE-9367-26F77E5696B1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3 · INVERSIÓN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Curva modal → modelo estratificado con incertidumbre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01240AF7-2854-414A-B32F-EB2EA68AAF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MASW convierte fase multicanal en un perfil VS(z)</a:t>
            </a:r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509FFEE4-121D-49AA-8A4C-07119FAD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433102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A42DCC4F-D331-4E49-95A7-133B6BD8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66" y="3429011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918A0549-B250-40E6-A19F-6A8C1858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64" y="3474581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927352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¿Cómo integrar una cadena MASW accesible, operable en campo y trazable?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CRITERIO DE DISEÑO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Conservar fase, geometría y datos sin ocultar los límites del sistema.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ALCANCE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Fuente → sensor → AFE/ADC → red → interfaces → inversión.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8745C74-45EB-AE28-C330-5C7EA227B3A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D03F6A93-D8A5-5E1B-B897-7FC43395C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484432" cy="68705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Arquitectura de la plataforma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B8E9A03-4B2C-B18E-82B3-81A4A01C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B9C5A0A-A5A1-9670-2D34-4ADE3A9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8B1C048-B419-3AD6-93D8-57A7BA14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Footer Placeholder 24">
            <a:extLst xmlns:a="http://schemas.openxmlformats.org/drawingml/2006/main">
              <a:ext uri="{FF2B5EF4-FFF2-40B4-BE49-F238E27FC236}">
                <a16:creationId xmlns:a16="http://schemas.microsoft.com/office/drawing/2014/main" id="{95A1BACE-9FEC-6113-E43D-CADED94947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00"/>
              <a:t>Fuente: documento de primera presentación</a:t>
            </a:r>
          </a:p>
        </p:txBody>
      </p:sp>
      <p:sp>
        <p:nvSpPr>
          <p:cNvPr id="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C3191E-B483-A5B1-1BFC-8359BB56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863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Cada bloque fija una limitación distinta.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banda observable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ruido y rango dinámico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coherencia temporal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trazabilidad e incertidumbre</a:t>
            </a:r>
          </a:p>
        </p:txBody>
      </p:sp>
      <p:sp>
        <p:nvSpPr>
          <p:cNvPr id="3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2629DBE-08D2-7E4E-7363-739E24C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D533C57-9277-DA71-420A-852FB37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Sincronismo</a:t>
            </a:r>
          </a:p>
        </p:txBody>
      </p:sp>
      <p:sp>
        <p:nvSpPr>
          <p:cNvPr id="3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960D833-F6EA-C5E9-6DE4-D21876F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33EEB6-55CD-E6FE-95D2-55A288BC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Transporte</a:t>
            </a: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ABC2165-3103-0F8C-58B6-34BB686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48CB7DC-F282-1D69-FD55-0B1565A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Análisis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D5FE77B-90E1-5236-3990-7079CE78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0C351F7-AC2A-1B40-78B5-13B90FA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1CEE641-9418-21DE-A949-29DF25A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27408C0-0932-3E46-A6F1-86E2F1C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6E44BE8-FC97-2F06-AD91-3DEB9C1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Generación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F499E89-5132-2D79-D060-7F883BF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C3FD83C-7E51-3532-0CC5-3111AC37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Transducción</a:t>
            </a: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9C6FF59-91B0-A266-F811-6C509F3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B933D0C-0148-034A-E964-ED7F56E5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AFE + ADC</a:t>
            </a:r>
          </a:p>
        </p:txBody>
      </p:sp>
    </p:spTree>
    <p:extLst>
      <p:ext uri="{BB962C8B-B14F-4D97-AF65-F5344CB8AC3E}">
        <p14:creationId xmlns:p14="http://schemas.microsoft.com/office/powerpoint/2010/main" val="8550199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Excitación: medir el golpe hoy, repetirlo mañana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b547137744068"/>
          <a:stretch xmlns:a="http://schemas.openxmlformats.org/drawingml/2006/main"/>
        </p:blipFill>
        <p:spPr>
          <a:xfrm xmlns:a="http://schemas.openxmlformats.org/drawingml/2006/main">
            <a:off x="1813428" y="2031968"/>
            <a:ext cx="2697649" cy="3962400"/>
          </a:xfrm>
          <a:prstGeom xmlns:a="http://schemas.openxmlformats.org/drawingml/2006/main" prst="rect">
            <a:avLst/>
          </a:prstGeom>
        </p:spPr>
      </p:pic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a015e3f644e25"/>
          <a:stretch xmlns:a="http://schemas.openxmlformats.org/drawingml/2006/main"/>
        </p:blipFill>
        <p:spPr>
          <a:xfrm xmlns:a="http://schemas.openxmlformats.org/drawingml/2006/main">
            <a:off x="6256592" y="3029038"/>
            <a:ext cx="5537168" cy="19682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El SM-24 disponible define el límite de banda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bf8b1ab78487f"/>
          <a:stretch xmlns:a="http://schemas.openxmlformats.org/drawingml/2006/main"/>
        </p:blipFill>
        <p:spPr>
          <a:xfrm xmlns:a="http://schemas.openxmlformats.org/drawingml/2006/main">
            <a:off x="1181052" y="2031968"/>
            <a:ext cx="3962400" cy="3962400"/>
          </a:xfrm>
          <a:prstGeom xmlns:a="http://schemas.openxmlformats.org/drawingml/2006/main" prst="rect">
            <a:avLst/>
          </a:prstGeom>
        </p:spPr>
      </p:pic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6c0087eb34921"/>
          <a:stretch xmlns:a="http://schemas.openxmlformats.org/drawingml/2006/main"/>
        </p:blipFill>
        <p:spPr>
          <a:xfrm xmlns:a="http://schemas.openxmlformats.org/drawingml/2006/main">
            <a:off x="6265469" y="2031968"/>
            <a:ext cx="5519414" cy="396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AFE: compensar sin perder rango ni fase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ab47e53984571"/>
          <a:stretch xmlns:a="http://schemas.openxmlformats.org/drawingml/2006/main"/>
        </p:blipFill>
        <p:spPr>
          <a:xfrm xmlns:a="http://schemas.openxmlformats.org/drawingml/2006/main">
            <a:off x="393668" y="2552266"/>
            <a:ext cx="5537168" cy="2921804"/>
          </a:xfrm>
          <a:prstGeom xmlns:a="http://schemas.openxmlformats.org/drawingml/2006/main" prst="rect">
            <a:avLst/>
          </a:prstGeom>
        </p:spPr>
      </p:pic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c04a74d014f86"/>
          <a:stretch xmlns:a="http://schemas.openxmlformats.org/drawingml/2006/main"/>
        </p:blipFill>
        <p:spPr>
          <a:xfrm xmlns:a="http://schemas.openxmlformats.org/drawingml/2006/main">
            <a:off x="6256592" y="2802158"/>
            <a:ext cx="5537168" cy="24220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Calibración foreground y captura determinista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14cf4dceb480e"/>
          <a:stretch xmlns:a="http://schemas.openxmlformats.org/drawingml/2006/main"/>
        </p:blipFill>
        <p:spPr>
          <a:xfrm xmlns:a="http://schemas.openxmlformats.org/drawingml/2006/main">
            <a:off x="393668" y="2241821"/>
            <a:ext cx="5537168" cy="3542695"/>
          </a:xfrm>
          <a:prstGeom xmlns:a="http://schemas.openxmlformats.org/drawingml/2006/main" prst="rect">
            <a:avLst/>
          </a:prstGeom>
        </p:spPr>
      </p:pic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588959c6140a8"/>
          <a:stretch xmlns:a="http://schemas.openxmlformats.org/drawingml/2006/main"/>
        </p:blipFill>
        <p:spPr>
          <a:xfrm xmlns:a="http://schemas.openxmlformats.org/drawingml/2006/main">
            <a:off x="6256592" y="2808706"/>
            <a:ext cx="5537168" cy="24089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ESP-NOW sin router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Cada esclavo fragmenta y numera la captura.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Entrega verificable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ACK, reintentos y respaldo local: sin interpolación.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Sincronismo medido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100–200 µs en 128 disparos; ≈1% de error en el caso de referencia.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Comunicación: no perder fase ni trazabilidad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captura sin Internet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paquetes secuenciados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maestro con Wi-Fi propia</a:t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no rellenar muestras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conservar registro local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liberar tras confirmar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c ≈ 100 m/s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Δx = 2 m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peor caso: 200 µs</a:t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Dos interfaces: operar en campo, analizar en servidor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1a3c8e2354548"/>
          <a:stretch xmlns:a="http://schemas.openxmlformats.org/drawingml/2006/main"/>
        </p:blipFill>
        <p:spPr>
          <a:xfrm xmlns:a="http://schemas.openxmlformats.org/drawingml/2006/main">
            <a:off x="393668" y="2454882"/>
            <a:ext cx="5537168" cy="3116572"/>
          </a:xfrm>
          <a:prstGeom xmlns:a="http://schemas.openxmlformats.org/drawingml/2006/main" prst="rect">
            <a:avLst/>
          </a:prstGeom>
        </p:spPr>
      </p:pic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5b26ed13c4543"/>
          <a:stretch xmlns:a="http://schemas.openxmlformats.org/drawingml/2006/main"/>
        </p:blipFill>
        <p:spPr>
          <a:xfrm xmlns:a="http://schemas.openxmlformats.org/drawingml/2006/main">
            <a:off x="6256592" y="2454882"/>
            <a:ext cx="5537168" cy="31165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Campaña Canchita: adquisición multicanal real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86200"/>
            <a:ext cx="4953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>21 trazas · paso de 2 m · apertura de 40 m</a:t>
            </a:r>
          </a:p>
          <a:p xmlns:a="http://schemas.openxmlformats.org/drawingml/2006/main">
            <a:r>
              <a:rPr sz="4200"/>
              <a:t>La cadena de análisis ya corre de punta a punta.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c8e8da1ad48fc"/>
          <a:stretch xmlns:a="http://schemas.openxmlformats.org/drawingml/2006/main"/>
        </p:blipFill>
        <p:spPr>
          <a:xfrm xmlns:a="http://schemas.openxmlformats.org/drawingml/2006/main">
            <a:off x="7102294" y="0"/>
            <a:ext cx="3918311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Resultado preliminar: la banda útil es estrecha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fba2a7d7f43ee"/>
          <a:stretch xmlns:a="http://schemas.openxmlformats.org/drawingml/2006/main"/>
        </p:blipFill>
        <p:spPr>
          <a:xfrm xmlns:a="http://schemas.openxmlformats.org/drawingml/2006/main">
            <a:off x="2030296" y="2031968"/>
            <a:ext cx="2263913" cy="3962400"/>
          </a:xfrm>
          <a:prstGeom xmlns:a="http://schemas.openxmlformats.org/drawingml/2006/main" prst="rect">
            <a:avLst/>
          </a:prstGeom>
        </p:spPr>
      </p:pic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3ad1670584c3d"/>
          <a:stretch xmlns:a="http://schemas.openxmlformats.org/drawingml/2006/main"/>
        </p:blipFill>
        <p:spPr>
          <a:xfrm xmlns:a="http://schemas.openxmlformats.org/drawingml/2006/main">
            <a:off x="7597887" y="2031968"/>
            <a:ext cx="2854577" cy="396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&lt; 5 Hz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0,1% de la autopotencia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Banda que controla la profundidad alcanzable.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5–20 Hz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54,3% de la autopotencia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Banda dominante de la campaña.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20–50 Hz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43,2% de la autopotencia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La cresta cruza la cota de aliasing.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La profundidad hoy está limitada por la energía disponible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8553E75-49E9-9C40-983B-A38A5D9DE5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0DED229D-8FB1-A98B-48DE-0F84D8CCF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Primera integración funcional; validación aún abierta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C769086-2F0B-B36D-7560-45B38E87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4B4F040-FAA4-CBA4-C03F-67330800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3282E3A-FC17-B9FF-87A4-5434FC2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2E4F352-DEC2-5D62-627F-FCEDE88978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DESARROLLADO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Cadena trazas → dispersión → selección → inversión → VS(z).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Operación web de campo y servidor.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9F8FFA6-07EE-FB23-ECDF-907422B2BA20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VERIFICADO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AFE por barrido; calibración foreground; sincronismo de 100–200 µs; campaña de 21 canales.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FA7F576-9166-371F-C253-9344F3BA9E13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PENDIENTE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Baja frecuencia y fuente repetitiva; magnitud/fase extremo a extremo; incertidumbre y repetibilidad.</a:t>
            </a:r>
          </a:p>
        </p:txBody>
      </p:sp>
    </p:spTree>
    <p:extLst>
      <p:ext uri="{BB962C8B-B14F-4D97-AF65-F5344CB8AC3E}">
        <p14:creationId xmlns:p14="http://schemas.microsoft.com/office/powerpoint/2010/main" val="11075796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2026-08-24T14:37:13.0050000Z</dcterms:created>
  <dcterms:modified xsi:type="dcterms:W3CDTF">2026-08-24T14:37:13.0050000Z</dcterms:modified>
</coreProperties>
</file>