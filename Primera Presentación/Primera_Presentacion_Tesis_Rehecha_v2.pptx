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061f03fe294b73" /><Relationship Type="http://schemas.openxmlformats.org/officeDocument/2006/relationships/extended-properties" Target="/docProps/app.xml" Id="Rd7738926db9447f0" /><Relationship Type="http://schemas.openxmlformats.org/officeDocument/2006/relationships/officeDocument" Target="/ppt/presentation.xml" Id="R7137afec8afa45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efb3a6b0984500"/>
  </p:sldMasterIdLst>
  <p:notesMasterIdLst>
    <p:notesMasterId xmlns:r="http://schemas.openxmlformats.org/officeDocument/2006/relationships" r:id="R3de16795d2f54b50"/>
  </p:notesMasterIdLst>
  <p:sldIdLst>
    <p:sldId xmlns:r="http://schemas.openxmlformats.org/officeDocument/2006/relationships" id="256" r:id="Rce4eaf1a0ac0491b"/>
    <p:sldId xmlns:r="http://schemas.openxmlformats.org/officeDocument/2006/relationships" id="257" r:id="Rc23b7c7851564fd4"/>
    <p:sldId xmlns:r="http://schemas.openxmlformats.org/officeDocument/2006/relationships" id="258" r:id="Rf8b4d9ea9a0f4211"/>
    <p:sldId xmlns:r="http://schemas.openxmlformats.org/officeDocument/2006/relationships" id="259" r:id="R4d51323ea2774cdf"/>
    <p:sldId xmlns:r="http://schemas.openxmlformats.org/officeDocument/2006/relationships" id="260" r:id="Ra1e64d2b72894f95"/>
    <p:sldId xmlns:r="http://schemas.openxmlformats.org/officeDocument/2006/relationships" id="261" r:id="Rf47485a3eab048ba"/>
    <p:sldId xmlns:r="http://schemas.openxmlformats.org/officeDocument/2006/relationships" id="262" r:id="R7d6e18573efd4b99"/>
    <p:sldId xmlns:r="http://schemas.openxmlformats.org/officeDocument/2006/relationships" id="263" r:id="R5de7e4ea7e394591"/>
    <p:sldId xmlns:r="http://schemas.openxmlformats.org/officeDocument/2006/relationships" id="264" r:id="R0508f65dac544380"/>
    <p:sldId xmlns:r="http://schemas.openxmlformats.org/officeDocument/2006/relationships" id="265" r:id="R01bce6aa4c964daf"/>
    <p:sldId xmlns:r="http://schemas.openxmlformats.org/officeDocument/2006/relationships" id="266" r:id="Ree5741716f594569"/>
    <p:sldId xmlns:r="http://schemas.openxmlformats.org/officeDocument/2006/relationships" id="267" r:id="R6aeb9f8ef9554b5a"/>
    <p:sldId xmlns:r="http://schemas.openxmlformats.org/officeDocument/2006/relationships" id="268" r:id="R0d3e5a5690ed4c1c"/>
    <p:sldId xmlns:r="http://schemas.openxmlformats.org/officeDocument/2006/relationships" id="269" r:id="R2303a0763ac04dfa"/>
    <p:sldId xmlns:r="http://schemas.openxmlformats.org/officeDocument/2006/relationships" id="270" r:id="Rb4c06453b6e44b2e"/>
    <p:sldId xmlns:r="http://schemas.openxmlformats.org/officeDocument/2006/relationships" id="271" r:id="Rc4da678b61e44cee"/>
    <p:sldId xmlns:r="http://schemas.openxmlformats.org/officeDocument/2006/relationships" id="272" r:id="R20e9baa946294671"/>
    <p:sldId xmlns:r="http://schemas.openxmlformats.org/officeDocument/2006/relationships" id="273" r:id="Red305abf29644d4e"/>
    <p:sldId xmlns:r="http://schemas.openxmlformats.org/officeDocument/2006/relationships" id="274" r:id="R659396bdb80e406f"/>
    <p:sldId xmlns:r="http://schemas.openxmlformats.org/officeDocument/2006/relationships" id="275" r:id="R348fb61debbf4cfe"/>
    <p:sldId xmlns:r="http://schemas.openxmlformats.org/officeDocument/2006/relationships" id="276" r:id="Rec0c6ffcad094c43"/>
    <p:sldId xmlns:r="http://schemas.openxmlformats.org/officeDocument/2006/relationships" id="277" r:id="Re965c4b245144022"/>
    <p:sldId xmlns:r="http://schemas.openxmlformats.org/officeDocument/2006/relationships" id="278" r:id="R93b51c32fcab4fb1"/>
    <p:sldId xmlns:r="http://schemas.openxmlformats.org/officeDocument/2006/relationships" id="279" r:id="R957c4b7e0bc24d77"/>
    <p:sldId xmlns:r="http://schemas.openxmlformats.org/officeDocument/2006/relationships" id="280" r:id="Rc3552acb724342ef"/>
    <p:sldId xmlns:r="http://schemas.openxmlformats.org/officeDocument/2006/relationships" id="281" r:id="R6b05f1aaf4ce40b3"/>
    <p:sldId xmlns:r="http://schemas.openxmlformats.org/officeDocument/2006/relationships" id="282" r:id="R8bb58c8ce2654ab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7148eb970a438c" /><Relationship Type="http://schemas.openxmlformats.org/officeDocument/2006/relationships/slideMaster" Target="/ppt/slideMasters/slideMaster1.xml" Id="R5fefb3a6b0984500" /><Relationship Type="http://schemas.openxmlformats.org/officeDocument/2006/relationships/notesMaster" Target="/ppt/notesMasters/notesMaster1.xml" Id="R3de16795d2f54b50" /><Relationship Type="http://schemas.openxmlformats.org/officeDocument/2006/relationships/presProps" Target="/ppt/presProps.xml" Id="R9366882de31e44dd" /><Relationship Type="http://schemas.openxmlformats.org/officeDocument/2006/relationships/tableStyles" Target="/ppt/tableStyles.xml" Id="R6f4348de00104c91" /><Relationship Type="http://schemas.openxmlformats.org/officeDocument/2006/relationships/slide" Target="/ppt/slides/slide1.xml" Id="Rce4eaf1a0ac0491b" /><Relationship Type="http://schemas.openxmlformats.org/officeDocument/2006/relationships/slide" Target="/ppt/slides/slide2.xml" Id="Rc23b7c7851564fd4" /><Relationship Type="http://schemas.openxmlformats.org/officeDocument/2006/relationships/slide" Target="/ppt/slides/slide3.xml" Id="Rf8b4d9ea9a0f4211" /><Relationship Type="http://schemas.openxmlformats.org/officeDocument/2006/relationships/slide" Target="/ppt/slides/slide4.xml" Id="R4d51323ea2774cdf" /><Relationship Type="http://schemas.openxmlformats.org/officeDocument/2006/relationships/slide" Target="/ppt/slides/slide5.xml" Id="Ra1e64d2b72894f95" /><Relationship Type="http://schemas.openxmlformats.org/officeDocument/2006/relationships/slide" Target="/ppt/slides/slide6.xml" Id="Rf47485a3eab048ba" /><Relationship Type="http://schemas.openxmlformats.org/officeDocument/2006/relationships/slide" Target="/ppt/slides/slide7.xml" Id="R7d6e18573efd4b99" /><Relationship Type="http://schemas.openxmlformats.org/officeDocument/2006/relationships/slide" Target="/ppt/slides/slide8.xml" Id="R5de7e4ea7e394591" /><Relationship Type="http://schemas.openxmlformats.org/officeDocument/2006/relationships/slide" Target="/ppt/slides/slide9.xml" Id="R0508f65dac544380" /><Relationship Type="http://schemas.openxmlformats.org/officeDocument/2006/relationships/slide" Target="/ppt/slides/slide10.xml" Id="R01bce6aa4c964daf" /><Relationship Type="http://schemas.openxmlformats.org/officeDocument/2006/relationships/slide" Target="/ppt/slides/slide11.xml" Id="Ree5741716f594569" /><Relationship Type="http://schemas.openxmlformats.org/officeDocument/2006/relationships/slide" Target="/ppt/slides/slide12.xml" Id="R6aeb9f8ef9554b5a" /><Relationship Type="http://schemas.openxmlformats.org/officeDocument/2006/relationships/slide" Target="/ppt/slides/slide13.xml" Id="R0d3e5a5690ed4c1c" /><Relationship Type="http://schemas.openxmlformats.org/officeDocument/2006/relationships/slide" Target="/ppt/slides/slide14.xml" Id="R2303a0763ac04dfa" /><Relationship Type="http://schemas.openxmlformats.org/officeDocument/2006/relationships/slide" Target="/ppt/slides/slide15.xml" Id="Rb4c06453b6e44b2e" /><Relationship Type="http://schemas.openxmlformats.org/officeDocument/2006/relationships/slide" Target="/ppt/slides/slide16.xml" Id="Rc4da678b61e44cee" /><Relationship Type="http://schemas.openxmlformats.org/officeDocument/2006/relationships/slide" Target="/ppt/slides/slide17.xml" Id="R20e9baa946294671" /><Relationship Type="http://schemas.openxmlformats.org/officeDocument/2006/relationships/slide" Target="/ppt/slides/slide18.xml" Id="Red305abf29644d4e" /><Relationship Type="http://schemas.openxmlformats.org/officeDocument/2006/relationships/slide" Target="/ppt/slides/slide19.xml" Id="R659396bdb80e406f" /><Relationship Type="http://schemas.openxmlformats.org/officeDocument/2006/relationships/slide" Target="/ppt/slides/slide20.xml" Id="R348fb61debbf4cfe" /><Relationship Type="http://schemas.openxmlformats.org/officeDocument/2006/relationships/slide" Target="/ppt/slides/slide21.xml" Id="Rec0c6ffcad094c43" /><Relationship Type="http://schemas.openxmlformats.org/officeDocument/2006/relationships/slide" Target="/ppt/slides/slide22.xml" Id="Re965c4b245144022" /><Relationship Type="http://schemas.openxmlformats.org/officeDocument/2006/relationships/slide" Target="/ppt/slides/slide23.xml" Id="R93b51c32fcab4fb1" /><Relationship Type="http://schemas.openxmlformats.org/officeDocument/2006/relationships/slide" Target="/ppt/slides/slide24.xml" Id="R957c4b7e0bc24d77" /><Relationship Type="http://schemas.openxmlformats.org/officeDocument/2006/relationships/slide" Target="/ppt/slides/slide25.xml" Id="Rc3552acb724342ef" /><Relationship Type="http://schemas.openxmlformats.org/officeDocument/2006/relationships/slide" Target="/ppt/slides/slide26.xml" Id="R6b05f1aaf4ce40b3" /><Relationship Type="http://schemas.openxmlformats.org/officeDocument/2006/relationships/slide" Target="/ppt/slides/slide27.xml" Id="R8bb58c8ce2654a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ed837468744b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1a0236ba7248e9" /><Relationship Type="http://schemas.openxmlformats.org/officeDocument/2006/relationships/notesMaster" Target="/ppt/notesMasters/notesMaster1.xml" Id="Rc6c359c07d114c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df61a3dff64b56" /><Relationship Type="http://schemas.openxmlformats.org/officeDocument/2006/relationships/notesMaster" Target="/ppt/notesMasters/notesMaster1.xml" Id="R28ab9a66903d48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7b0606017e4718" /><Relationship Type="http://schemas.openxmlformats.org/officeDocument/2006/relationships/notesMaster" Target="/ppt/notesMasters/notesMaster1.xml" Id="R1331362ea31e46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690680474e4625" /><Relationship Type="http://schemas.openxmlformats.org/officeDocument/2006/relationships/notesMaster" Target="/ppt/notesMasters/notesMaster1.xml" Id="Rf99ea5befbb042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3213afb1e847b3" /><Relationship Type="http://schemas.openxmlformats.org/officeDocument/2006/relationships/notesMaster" Target="/ppt/notesMasters/notesMaster1.xml" Id="R42e20437318f41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872920eb914938" /><Relationship Type="http://schemas.openxmlformats.org/officeDocument/2006/relationships/notesMaster" Target="/ppt/notesMasters/notesMaster1.xml" Id="R0abb637803dd41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21b533464a4504" /><Relationship Type="http://schemas.openxmlformats.org/officeDocument/2006/relationships/notesMaster" Target="/ppt/notesMasters/notesMaster1.xml" Id="Red66687e7f574d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49d15247134f1a" /><Relationship Type="http://schemas.openxmlformats.org/officeDocument/2006/relationships/notesMaster" Target="/ppt/notesMasters/notesMaster1.xml" Id="R2ab2e749f69242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248825cf9a4f91" /><Relationship Type="http://schemas.openxmlformats.org/officeDocument/2006/relationships/notesMaster" Target="/ppt/notesMasters/notesMaster1.xml" Id="Rac6f589704a14e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ac82727c814584" /><Relationship Type="http://schemas.openxmlformats.org/officeDocument/2006/relationships/notesMaster" Target="/ppt/notesMasters/notesMaster1.xml" Id="R4d5a8825621b47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efe2f8362542a0" /><Relationship Type="http://schemas.openxmlformats.org/officeDocument/2006/relationships/notesMaster" Target="/ppt/notesMasters/notesMaster1.xml" Id="R7e1bba726c794b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c440d4ed3d4b1c" /><Relationship Type="http://schemas.openxmlformats.org/officeDocument/2006/relationships/notesMaster" Target="/ppt/notesMasters/notesMaster1.xml" Id="R3d214afe20614e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95d97ae7914bcb" /><Relationship Type="http://schemas.openxmlformats.org/officeDocument/2006/relationships/notesMaster" Target="/ppt/notesMasters/notesMaster1.xml" Id="R89f991edf3cb42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7084447cef48ab" /><Relationship Type="http://schemas.openxmlformats.org/officeDocument/2006/relationships/notesMaster" Target="/ppt/notesMasters/notesMaster1.xml" Id="R6fe0b0ab1e3443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1aa4b57bdb4f71" /><Relationship Type="http://schemas.openxmlformats.org/officeDocument/2006/relationships/notesMaster" Target="/ppt/notesMasters/notesMaster1.xml" Id="R7ae9242c2c9c432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c673608f184979" /><Relationship Type="http://schemas.openxmlformats.org/officeDocument/2006/relationships/notesMaster" Target="/ppt/notesMasters/notesMaster1.xml" Id="Rd317b5227b0a4ad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4fb59e646e4ce0" /><Relationship Type="http://schemas.openxmlformats.org/officeDocument/2006/relationships/notesMaster" Target="/ppt/notesMasters/notesMaster1.xml" Id="R9da924efe98544f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671bc6191d406d" /><Relationship Type="http://schemas.openxmlformats.org/officeDocument/2006/relationships/notesMaster" Target="/ppt/notesMasters/notesMaster1.xml" Id="Rc1f7e858fae84c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214b38275534bef" /><Relationship Type="http://schemas.openxmlformats.org/officeDocument/2006/relationships/notesMaster" Target="/ppt/notesMasters/notesMaster1.xml" Id="R0dc3a125f7d24be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9b2445d18754a64" /><Relationship Type="http://schemas.openxmlformats.org/officeDocument/2006/relationships/notesMaster" Target="/ppt/notesMasters/notesMaster1.xml" Id="R339f48aae78641d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6a3108c50c64624" /><Relationship Type="http://schemas.openxmlformats.org/officeDocument/2006/relationships/notesMaster" Target="/ppt/notesMasters/notesMaster1.xml" Id="R7c53dc4c3ed1415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6542c6bcab443db" /><Relationship Type="http://schemas.openxmlformats.org/officeDocument/2006/relationships/notesMaster" Target="/ppt/notesMasters/notesMaster1.xml" Id="R6ad92a7f383c441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b59b8d7a83e4733" /><Relationship Type="http://schemas.openxmlformats.org/officeDocument/2006/relationships/notesMaster" Target="/ppt/notesMasters/notesMaster1.xml" Id="Re925c83a5b8b4bb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7fe404956b142b7" /><Relationship Type="http://schemas.openxmlformats.org/officeDocument/2006/relationships/notesMaster" Target="/ppt/notesMasters/notesMaster1.xml" Id="R97144b63b2eb499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d96bf1057bd4f9e" /><Relationship Type="http://schemas.openxmlformats.org/officeDocument/2006/relationships/notesMaster" Target="/ppt/notesMasters/notesMaster1.xml" Id="Rea8f2834740d464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0ed606899224364" /><Relationship Type="http://schemas.openxmlformats.org/officeDocument/2006/relationships/notesMaster" Target="/ppt/notesMasters/notesMaster1.xml" Id="R6456aa1913c04c3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6b416cb85f44d42" /><Relationship Type="http://schemas.openxmlformats.org/officeDocument/2006/relationships/notesMaster" Target="/ppt/notesMasters/notesMaster1.xml" Id="R91dad36474e94d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presentación recorre el proyecto como una cadena causal: la física fija requisitos, los requisitos fijan la implementación y el experimento revela el límite dominante.</a:t>
            </a:r>
          </a:p>
          <a:p xmlns:a="http://schemas.openxmlformats.org/drawingml/2006/main">
            <a:r>
              <a:t>El objetivo no es defender un instrumento comercial terminado, sino una primera plataforma integrada, accesible y auditable para investigación MASW.</a:t>
            </a:r>
          </a:p>
          <a:p xmlns:a="http://schemas.openxmlformats.org/drawingml/2006/main">
            <a:r>
              <a:t>La tesis se evalúa por la coherencia entre medición, procesamiento, incertidumbre y decisiones de diseño.</a:t>
            </a:r>
          </a:p>
          <a:p xmlns:a="http://schemas.openxmlformats.org/drawingml/2006/main">
            <a:r>
              <a:t>Transición: primero establezco qué magnitud geotécnica buscamos y por qué la fase multicanal es el dato esencial.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magnitud geotécnica de interés es la velocidad de onda de corte Vs y su relación con el módulo de corte máximo Gmax igual a rho por Vs al cuadrado.</a:t>
            </a:r>
          </a:p>
          <a:p xmlns:a="http://schemas.openxmlformats.org/drawingml/2006/main">
            <a:r>
              <a:t>El producto final no es una imagen directa del terreno: es un modelo estratificado compatible con los datos y con la resolución del ensayo.</a:t>
            </a:r>
          </a:p>
          <a:p xmlns:a="http://schemas.openxmlformats.org/drawingml/2006/main">
            <a:r>
              <a:t>Esto obliga a distinguir desde el inicio qué observamos de manera robusta y qué inferimos mediante inversión.</a:t>
            </a:r>
          </a:p>
          <a:p xmlns:a="http://schemas.openxmlformats.org/drawingml/2006/main">
            <a:r>
              <a:t>Transición: MASW explota ondas Rayleigh porque su propagación superficial concentra energía medible a distintas longitudes de onda.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ondas Rayleigh combinan desplazamientos verticales y horizontales y transportan una fracción importante de la energía cerca de la superficie.</a:t>
            </a:r>
          </a:p>
          <a:p xmlns:a="http://schemas.openxmlformats.org/drawingml/2006/main">
            <a:r>
              <a:t>En un medio estratificado, la velocidad aparente depende de la frecuencia porque cada longitud de onda muestrea un volumen diferente.</a:t>
            </a:r>
          </a:p>
          <a:p xmlns:a="http://schemas.openxmlformats.org/drawingml/2006/main">
            <a:r>
              <a:t>La profundidad de investigación no se obtiene con z igual a lambda sobre dos como una identidad universal; depende de sensibilidad, modo y estructura.</a:t>
            </a:r>
          </a:p>
          <a:p xmlns:a="http://schemas.openxmlformats.org/drawingml/2006/main">
            <a:r>
              <a:t>Transición: la relación entre longitud de onda, frecuencia y profundidad explica por qué necesitamos energía de baja frecuencia.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longitud de onda Rayleigh se obtiene como velocidad de fase dividida por frecuencia.</a:t>
            </a:r>
          </a:p>
          <a:p xmlns:a="http://schemas.openxmlformats.org/drawingml/2006/main">
            <a:r>
              <a:t>Para una velocidad dada, reducir la frecuencia aumenta la longitud de onda y desplaza la sensibilidad a mayor profundidad.</a:t>
            </a:r>
          </a:p>
          <a:p xmlns:a="http://schemas.openxmlformats.org/drawingml/2006/main">
            <a:r>
              <a:t>Por eso el requisito de baja frecuencia nace de la física y debe resolverse antes de la digitalización: principalmente en la fuente, el acoplamiento y el ruido del frente analógico.</a:t>
            </a:r>
          </a:p>
          <a:p xmlns:a="http://schemas.openxmlformats.org/drawingml/2006/main">
            <a:r>
              <a:t>Transición: la velocidad de fase se estima a partir de diferencias de fase entre receptores, no de amplitud absoluta.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cada frecuencia se calcula la diferencia de fase entre receptores separados una distancia conocida.</a:t>
            </a:r>
          </a:p>
          <a:p xmlns:a="http://schemas.openxmlformats.org/drawingml/2006/main">
            <a:r>
              <a:t>La velocidad de fase es proporcional a frecuencia angular y espaciamiento, e inversamente proporcional a la diferencia de fase observada.</a:t>
            </a:r>
          </a:p>
          <a:p xmlns:a="http://schemas.openxmlformats.org/drawingml/2006/main">
            <a:r>
              <a:t>Esto conecta directamente errores de sincronización y geometría con el error en c de f.</a:t>
            </a:r>
          </a:p>
          <a:p xmlns:a="http://schemas.openxmlformats.org/drawingml/2006/main">
            <a:r>
              <a:t>Transición: el método de Park extiende esta idea a todos los canales y busca coherencia para cada velocidad candidata.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transformación de Park compensa la fase esperada para una velocidad candidata y suma los canales.</a:t>
            </a:r>
          </a:p>
          <a:p xmlns:a="http://schemas.openxmlformats.org/drawingml/2006/main">
            <a:r>
              <a:t>Cuando la velocidad candidata coincide con la propagación observada, las contribuciones se alinean y la energía aumenta.</a:t>
            </a:r>
          </a:p>
          <a:p xmlns:a="http://schemas.openxmlformats.org/drawingml/2006/main">
            <a:r>
              <a:t>La curva de dispersión se selecciona sobre esta imagen; esa selección necesita criterios de continuidad, soporte y control de calidad.</a:t>
            </a:r>
          </a:p>
          <a:p xmlns:a="http://schemas.openxmlformats.org/drawingml/2006/main">
            <a:r>
              <a:t>Transición: aun con una curva robusta, convertir c de f en Vs de z sigue siendo un problema inverso no único.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inversión busca un modelo cuya curva teórica reproduzca la curva observada, con regularización para controlar soluciones físicamente poco plausibles.</a:t>
            </a:r>
          </a:p>
          <a:p xmlns:a="http://schemas.openxmlformats.org/drawingml/2006/main">
            <a:r>
              <a:t>Distintos perfiles pueden explicar datos similares; por eso el número de capas, los límites y la incertidumbre deben declararse.</a:t>
            </a:r>
          </a:p>
          <a:p xmlns:a="http://schemas.openxmlformats.org/drawingml/2006/main">
            <a:r>
              <a:t>El benchmark confirmó que c de f es más estable que Vs de z y que cinco capas no son defendibles como valor por defecto con los datos actuales.</a:t>
            </a:r>
          </a:p>
          <a:p xmlns:a="http://schemas.openxmlformats.org/drawingml/2006/main">
            <a:r>
              <a:t>Transición: estos hechos físicos se traducen en requisitos concretos para toda la plataforma.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banda observable depende de fuente, sensor y frente analógico; la fase depende de sincronización y geometría.</a:t>
            </a:r>
          </a:p>
          <a:p xmlns:a="http://schemas.openxmlformats.org/drawingml/2006/main">
            <a:r>
              <a:t>La integridad exige no completar silenciosamente paquetes perdidos, porque una muestra inventada altera fase y amplitud.</a:t>
            </a:r>
          </a:p>
          <a:p xmlns:a="http://schemas.openxmlformats.org/drawingml/2006/main">
            <a:r>
              <a:t>La auditoría exige conservar configuración, coordenadas, calidad del picking e incertidumbre de la inversión.</a:t>
            </a:r>
          </a:p>
          <a:p xmlns:a="http://schemas.openxmlformats.org/drawingml/2006/main">
            <a:r>
              <a:t>Transición: recorro ahora la implementación siguiendo la misma cadena física, comenzando por la fuente actual.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campaña actual usa un martillo instrumentado PCB 086D20 con salida ICP.</a:t>
            </a:r>
          </a:p>
          <a:p xmlns:a="http://schemas.openxmlformats.org/drawingml/2006/main">
            <a:r>
              <a:t>El golpe cumple dos funciones: excita el terreno y proporciona una referencia temporal medida para alinear la captura.</a:t>
            </a:r>
          </a:p>
          <a:p xmlns:a="http://schemas.openxmlformats.org/drawingml/2006/main">
            <a:r>
              <a:t>La limitación no es detectar el impacto, sino repetir suficiente energía en baja frecuencia de forma controlada.</a:t>
            </a:r>
          </a:p>
          <a:p xmlns:a="http://schemas.openxmlformats.org/drawingml/2006/main">
            <a:r>
              <a:t>Transición: el segundo límite de banda aparece en el transductor disponible.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utilizó el SM-24 de 10 hertz porque estaba disponible en la Facultad, no porque optimizara un objetivo de 50 metros.</a:t>
            </a:r>
          </a:p>
          <a:p xmlns:a="http://schemas.openxmlformats.org/drawingml/2006/main">
            <a:r>
              <a:t>Debajo de su frecuencia natural la sensibilidad cae con rapidez, de modo que amplificar también eleva ruido y offset.</a:t>
            </a:r>
          </a:p>
          <a:p xmlns:a="http://schemas.openxmlformats.org/drawingml/2006/main">
            <a:r>
              <a:t>La decisión de ingeniería fue compensar de manera controlada y medir el costo en rango dinámico.</a:t>
            </a:r>
          </a:p>
          <a:p xmlns:a="http://schemas.openxmlformats.org/drawingml/2006/main">
            <a:r>
              <a:t>Transición: la respuesta puede expresarse respecto de velocidad o aceleración; ambas referencias explican la pendiente observada.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respuesta respecto de velocidad presenta dos ceros en el origen y cae aproximadamente cuarenta decibeles por década debajo de la resonancia.</a:t>
            </a:r>
          </a:p>
          <a:p xmlns:a="http://schemas.openxmlformats.org/drawingml/2006/main">
            <a:r>
              <a:t>Respecto de aceleración aparece un cero y la pendiente es aproximadamente veinte decibeles por década.</a:t>
            </a:r>
          </a:p>
          <a:p xmlns:a="http://schemas.openxmlformats.org/drawingml/2006/main">
            <a:r>
              <a:t>Estas dos expresiones no son contradictorias: dependen de qué magnitud se usa como entrada del modelo.</a:t>
            </a:r>
          </a:p>
          <a:p xmlns:a="http://schemas.openxmlformats.org/drawingml/2006/main">
            <a:r>
              <a:t>Transición: el acondicionamiento usa una compensación de fase mínima para recuperar parte de esa banda sin una inversión inestable.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estructura uno menos pasa banda implementa una compensación complementaria de fase mínima.</a:t>
            </a:r>
          </a:p>
          <a:p xmlns:a="http://schemas.openxmlformats.org/drawingml/2006/main">
            <a:r>
              <a:t>El parámetro zeta uno es aproximadamente novecientos treinta y ocho, con un factor de atenuación cercano a mil ochocientos setenta y seis.</a:t>
            </a:r>
          </a:p>
          <a:p xmlns:a="http://schemas.openxmlformats.org/drawingml/2006/main">
            <a:r>
              <a:t>La ganancia máxima total de la cadena es del orden de mil ochocientos y está repartida para evitar saturación localizada.</a:t>
            </a:r>
          </a:p>
          <a:p xmlns:a="http://schemas.openxmlformats.org/drawingml/2006/main">
            <a:r>
              <a:t>Transición: esa recuperación de banda tiene un costo medible en sensibilidad, ruido y margen de offset.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barrido medido verifica la forma esperada de la cadena y su continuidad funcional.</a:t>
            </a:r>
          </a:p>
          <a:p xmlns:a="http://schemas.openxmlformats.org/drawingml/2006/main">
            <a:r>
              <a:t>Sin embargo, la alta ganancia también amplifica ruido, deriva y errores de offset; no equivale a recuperar información inexistente.</a:t>
            </a:r>
          </a:p>
          <a:p xmlns:a="http://schemas.openxmlformats.org/drawingml/2006/main">
            <a:r>
              <a:t>La figura no debe presentarse como calibración sísmica absoluta extremo a extremo, porque ese ensayo aún está pendiente.</a:t>
            </a:r>
          </a:p>
          <a:p xmlns:a="http://schemas.openxmlformats.org/drawingml/2006/main">
            <a:r>
              <a:t>Transición: el offset es especialmente crítico porque desplaza toda la señal dentro de una ventana ADC finita.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offset grande desplaza la señal y reduce el rango disponible antes de saturar el convertidor.</a:t>
            </a:r>
          </a:p>
          <a:p xmlns:a="http://schemas.openxmlformats.org/drawingml/2006/main">
            <a:r>
              <a:t>La calibración busca centrar cada etapa para aprovechar la ganancia sin introducir una corrección dinámica durante la captura.</a:t>
            </a:r>
          </a:p>
          <a:p xmlns:a="http://schemas.openxmlformats.org/drawingml/2006/main">
            <a:r>
              <a:t>Modificar el código de compensación mientras se mide podría alterar amplitud y fase, por eso la calibración es foreground.</a:t>
            </a:r>
          </a:p>
          <a:p xmlns:a="http://schemas.openxmlformats.org/drawingml/2006/main">
            <a:r>
              <a:t>Transición: el firmware implementa esa calibración como una secuencia auditable con control PI y persistencia.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calibración recorre las etapas del frente analógico y estima offset con un FIR de ciento veintiocho taps.</a:t>
            </a:r>
          </a:p>
          <a:p xmlns:a="http://schemas.openxmlformats.org/drawingml/2006/main">
            <a:r>
              <a:t>El control PI incorpora banda muerta y anti-windup; los códigos se conservan por ganancia en EEPROM con CRC.</a:t>
            </a:r>
          </a:p>
          <a:p xmlns:a="http://schemas.openxmlformats.org/drawingml/2006/main">
            <a:r>
              <a:t>El grafo del repositorio confirma funciones cal pi start, service y límites de integral en calibration.c, por lo que esto no es sólo diseño documental.</a:t>
            </a:r>
          </a:p>
          <a:p xmlns:a="http://schemas.openxmlformats.org/drawingml/2006/main">
            <a:r>
              <a:t>Durante la adquisición el lazo queda desactivado y los códigos permanecen fijos.</a:t>
            </a:r>
          </a:p>
          <a:p xmlns:a="http://schemas.openxmlformats.org/drawingml/2006/main">
            <a:r>
              <a:t>Transición: existe además una revisión candidata del AFE que amplía margen, pero todavía no debe confundirse con hardware validado.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propuesta sustituye VDAC por IDAC y usa la salida del PGA para ampliar el margen de centrado y ganancia.</a:t>
            </a:r>
          </a:p>
          <a:p xmlns:a="http://schemas.openxmlformats.org/drawingml/2006/main">
            <a:r>
              <a:t>El rango estimado es aproximadamente dos coma cero seis a tres coma cero dos voltios, con ganancia de hasta cincuenta.</a:t>
            </a:r>
          </a:p>
          <a:p xmlns:a="http://schemas.openxmlformats.org/drawingml/2006/main">
            <a:r>
              <a:t>Debe etiquetarse como candidato porque todavía no existe validación de prototipo, ruido, fase y saturación extremo a extremo.</a:t>
            </a:r>
          </a:p>
          <a:p xmlns:a="http://schemas.openxmlformats.org/drawingml/2006/main">
            <a:r>
              <a:t>Transición: la versión implementada ya dispone de una ruta digital determinista desde ADC hasta memoria.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ADC Delta-Sigma opera con dieciocho bits nominales y una tasa de dos mil seiscientas cuatro muestras por segundo.</a:t>
            </a:r>
          </a:p>
          <a:p xmlns:a="http://schemas.openxmlformats.org/drawingml/2006/main">
            <a:r>
              <a:t>La temporización se lleva a hardware UDB y dos canales DMA trasladan datos filtrados y crudos a RAM.</a:t>
            </a:r>
          </a:p>
          <a:p xmlns:a="http://schemas.openxmlformats.org/drawingml/2006/main">
            <a:r>
              <a:t>El grafo confirma las rutas DMA y los estados de armado y muestreo del PSoC, lo que respalda la arquitectura documentada.</a:t>
            </a:r>
          </a:p>
          <a:p xmlns:a="http://schemas.openxmlformats.org/drawingml/2006/main">
            <a:r>
              <a:t>Separar captura determinista de comunicación evita que la latencia de red module el instante de muestreo.</a:t>
            </a:r>
          </a:p>
          <a:p xmlns:a="http://schemas.openxmlformats.org/drawingml/2006/main">
            <a:r>
              <a:t>Transición: el transporte inalámbrico se eligió por operación de campo, con una decisión explícita sobre integridad.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ESP-NOW se eligió por disponibilidad, costo, baja sobrecarga y operación sin router externo.</a:t>
            </a:r>
          </a:p>
          <a:p xmlns:a="http://schemas.openxmlformats.org/drawingml/2006/main">
            <a:r>
              <a:t>El maestro crea su propia red Wi-Fi para la interfaz, mientras los esclavos conservan respaldo local de la captura.</a:t>
            </a:r>
          </a:p>
          <a:p xmlns:a="http://schemas.openxmlformats.org/drawingml/2006/main">
            <a:r>
              <a:t>La comunicación no controla el instante de muestreo; transporta datos ya adquiridos por una ruta determinista.</a:t>
            </a:r>
          </a:p>
          <a:p xmlns:a="http://schemas.openxmlformats.org/drawingml/2006/main">
            <a:r>
              <a:t>Transición: aun así, el error de sincronización debe expresarse como error físico de fase y velocidad.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ciento veintiocho disparos se midió una dispersión temporal del orden de cien a doscientos microsegundos.</a:t>
            </a:r>
          </a:p>
          <a:p xmlns:a="http://schemas.openxmlformats.org/drawingml/2006/main">
            <a:r>
              <a:t>Usando cien metros por segundo, dos metros de separación y doscientos microsegundos, la aproximación da cerca de uno por ciento de error relativo en velocidad.</a:t>
            </a:r>
          </a:p>
          <a:p xmlns:a="http://schemas.openxmlformats.org/drawingml/2006/main">
            <a:r>
              <a:t>A cien hertz, cien microsegundos equivalen a uno por ciento del período o tres coma seis grados de fase.</a:t>
            </a:r>
          </a:p>
          <a:p xmlns:a="http://schemas.openxmlformats.org/drawingml/2006/main">
            <a:r>
              <a:t>La cifra debe expresarse en estos términos físicos y no como porcentaje ambiguo de una muestra.</a:t>
            </a:r>
          </a:p>
          <a:p xmlns:a="http://schemas.openxmlformats.org/drawingml/2006/main">
            <a:r>
              <a:t>Transición: el segundo requisito de red es poder demostrar que ningún fragmento perdido se sustituyó silenciosamente.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capturas se fragmentan y numeran; el maestro reensambla, valida tamaño e integridad y confirma la recepción.</a:t>
            </a:r>
          </a:p>
          <a:p xmlns:a="http://schemas.openxmlformats.org/drawingml/2006/main">
            <a:r>
              <a:t>Si falta un fragmento no se interpola, porque completar una muestra puede fabricar fase; se reintenta y se conserva respaldo local.</a:t>
            </a:r>
          </a:p>
          <a:p xmlns:a="http://schemas.openxmlformats.org/drawingml/2006/main">
            <a:r>
              <a:t>El grafo confirma las funciones de ACK con reintento y servicio de reintento en el firmware ESP32.</a:t>
            </a:r>
          </a:p>
          <a:p xmlns:a="http://schemas.openxmlformats.org/drawingml/2006/main">
            <a:r>
              <a:t>La memoria se libera solamente después de confirmación, de modo que la pérdida de red no se convierte en pérdida silenciosa de datos.</a:t>
            </a:r>
          </a:p>
          <a:p xmlns:a="http://schemas.openxmlformats.org/drawingml/2006/main">
            <a:r>
              <a:t>Transición: esta arquitectura alimenta dos interfaces con responsabilidades diferentes.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interfaz de campo Geophone Scope arma nodos, configura, captura y exporta sin requerir Internet.</a:t>
            </a:r>
          </a:p>
          <a:p xmlns:a="http://schemas.openxmlformats.org/drawingml/2006/main">
            <a:r>
              <a:t>El servidor conserva campañas y metadatos, valida, agrupa, alinea, promedia, genera dispersión e invierte.</a:t>
            </a:r>
          </a:p>
          <a:p xmlns:a="http://schemas.openxmlformats.org/drawingml/2006/main">
            <a:r>
              <a:t>El grafo muestra rutas reales para dispersion, auto-pick, inversions, waterfall, averages, jobs y exports.</a:t>
            </a:r>
          </a:p>
          <a:p xmlns:a="http://schemas.openxmlformats.org/drawingml/2006/main">
            <a:r>
              <a:t>La separación evita sobrecargar la operación de campo y mantiene trazabilidad para el análisis posterior.</a:t>
            </a:r>
          </a:p>
          <a:p xmlns:a="http://schemas.openxmlformats.org/drawingml/2006/main">
            <a:r>
              <a:t>Transición: la campaña Canchita demuestra que la cadena ya produce un registro multicanal y una imagen de dispersión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campaña Canchita utiliza veintiuna posiciones, dos metros de paso y cuarenta metros de apertura.</a:t>
            </a:r>
          </a:p>
          <a:p xmlns:a="http://schemas.openxmlformats.org/drawingml/2006/main">
            <a:r>
              <a:t>La figura reúne el registro wiggle y las imágenes de dispersión obtenidas con datos reales.</a:t>
            </a:r>
          </a:p>
          <a:p xmlns:a="http://schemas.openxmlformats.org/drawingml/2006/main">
            <a:r>
              <a:t>Esto demuestra funcionamiento de punta a punta de la cadena de análisis, pero todavía no valida por sí solo un perfil Vs final.</a:t>
            </a:r>
          </a:p>
          <a:p xmlns:a="http://schemas.openxmlformats.org/drawingml/2006/main">
            <a:r>
              <a:t>Transición: antes de interpretar la cresta debemos imponer los límites geométricos del arreglo.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paso entre receptores fija una cota de aliasing espacial: la velocidad observable debe ser al menos dos veces delta x por frecuencia.</a:t>
            </a:r>
          </a:p>
          <a:p xmlns:a="http://schemas.openxmlformats.org/drawingml/2006/main">
            <a:r>
              <a:t>Con dos metros de paso, la cota es cuatro veces la frecuencia; una cresta de cien metros por segundo cruza esa cota cerca de veinticinco hertz.</a:t>
            </a:r>
          </a:p>
          <a:p xmlns:a="http://schemas.openxmlformats.org/drawingml/2006/main">
            <a:r>
              <a:t>La apertura de cuarenta metros limita las longitudes de onda mayores y el extremo bajo de frecuencia.</a:t>
            </a:r>
          </a:p>
          <a:p xmlns:a="http://schemas.openxmlformats.org/drawingml/2006/main">
            <a:r>
              <a:t>La banda coherente observada está aproximadamente entre seis y veinte hertz y setenta a ciento diez metros por segundo.</a:t>
            </a:r>
          </a:p>
          <a:p xmlns:a="http://schemas.openxmlformats.org/drawingml/2006/main">
            <a:r>
              <a:t>Transición: la autopotencia muestra que el problema principal está precisamente debajo de esa banda.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 debajo de cinco hertz aparece apenas cero coma uno por ciento de la autopotencia integrada.</a:t>
            </a:r>
          </a:p>
          <a:p xmlns:a="http://schemas.openxmlformats.org/drawingml/2006/main">
            <a:r>
              <a:t>Entre cinco y veinte hertz se concentra cincuenta y cuatro coma tres por ciento, y entre veinte y cincuenta hertz, cuarenta y tres coma dos por ciento.</a:t>
            </a:r>
          </a:p>
          <a:p xmlns:a="http://schemas.openxmlformats.org/drawingml/2006/main">
            <a:r>
              <a:t>La banda que gobierna mayor profundidad casi no tiene energía útil, de modo que el procesamiento no puede crear información que no superó el ruido analógico.</a:t>
            </a:r>
          </a:p>
          <a:p xmlns:a="http://schemas.openxmlformats.org/drawingml/2006/main">
            <a:r>
              <a:t>El benchmark resume esta situación como sobra apertura y falta baja frecuencia.</a:t>
            </a:r>
          </a:p>
          <a:p xmlns:a="http://schemas.openxmlformats.org/drawingml/2006/main">
            <a:r>
              <a:t>Transición: la decisión de diseño vuelve entonces al primer bloque de la cadena: una fuente repetitiva e instrumentada.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generó una secuencia de impactos y se apilaron las señales para comprobar si la baja frecuencia emergía de forma coherente.</a:t>
            </a:r>
          </a:p>
          <a:p xmlns:a="http://schemas.openxmlformats.org/drawingml/2006/main">
            <a:r>
              <a:t>La prueba sí muestra componente de baja frecuencia y un comportamiento compatible con el pasa-bandas estimado para el conjunto sensor más acondicionamiento.</a:t>
            </a:r>
          </a:p>
          <a:p xmlns:a="http://schemas.openxmlformats.org/drawingml/2006/main">
            <a:r>
              <a:t>Esto verifica que el sensor puede captar esa banda cuando la excitación repetitiva mejora la relación señal a ruido; no implica que un único golpe ya tenga energía suficiente.</a:t>
            </a:r>
          </a:p>
          <a:p xmlns:a="http://schemas.openxmlformats.org/drawingml/2006/main">
            <a:r>
              <a:t>Sigue pendiente cuantificar ganancia por número de impactos, repetibilidad, fase y comparación bajo una geometría controlada con el martillete definitivo.</a:t>
            </a:r>
          </a:p>
          <a:p xmlns:a="http://schemas.openxmlformats.org/drawingml/2006/main">
            <a:r>
              <a:t>Transición: el benchmark computacional ayuda a priorizar esta mejora por encima de seguir sofisticando el algoritmo.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informe consolidado reúne mil seiscientas cuarenta ejecuciones; el balance final usa cuatrocientas treinta y dos comparables.</a:t>
            </a:r>
          </a:p>
          <a:p xmlns:a="http://schemas.openxmlformats.org/drawingml/2006/main">
            <a:r>
              <a:t>Park más dynamic programming es la línea base en datos reales: veinticinco de cuarenta y ocho casos admisibles y misfit mediano de cuatro coma cero nueve por ciento.</a:t>
            </a:r>
          </a:p>
          <a:p xmlns:a="http://schemas.openxmlformats.org/drawingml/2006/main">
            <a:r>
              <a:t>Eliminar dos offsets desplaza c de f unos veintinueve coma setenta y seis metros por segundo, contra dos coma veintiocho al cambiar transformada: la geometría pesa cerca de trece veces más.</a:t>
            </a:r>
          </a:p>
          <a:p xmlns:a="http://schemas.openxmlformats.org/drawingml/2006/main">
            <a:r>
              <a:t>Tres capas muestran coeficiente de variación cercano a tres por ciento; cinco capas suben a alrededor de ocho por ciento y aumentan la varianza atribuible al optimizador.</a:t>
            </a:r>
          </a:p>
          <a:p xmlns:a="http://schemas.openxmlformats.org/drawingml/2006/main">
            <a:r>
              <a:t>DP puede proponer curva incluso sin energía sintética, por lo que soporte, censura y bootstrap son control de calidad obligatorio.</a:t>
            </a:r>
          </a:p>
          <a:p xmlns:a="http://schemas.openxmlformats.org/drawingml/2006/main">
            <a:r>
              <a:t>Transición: cierro la cadena mostrando qué está medido, implementado y pendiente sin mezclar niveles de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plataforma ya integra adquisición, transporte auditable, interfaces, dispersión e inversión sobre datos reales.</a:t>
            </a:r>
          </a:p>
          <a:p xmlns:a="http://schemas.openxmlformats.org/drawingml/2006/main">
            <a:r>
              <a:t>La evidencia medida incluye sincronismo, respuesta funcional del AFE, campaña multicanal y distribución espectral.</a:t>
            </a:r>
          </a:p>
          <a:p xmlns:a="http://schemas.openxmlformats.org/drawingml/2006/main">
            <a:r>
              <a:t>La principal limitación es la falta de energía útil debajo de cinco hertz, reforzada por las restricciones geométricas y por la no unicidad de la inversión.</a:t>
            </a:r>
          </a:p>
          <a:p xmlns:a="http://schemas.openxmlformats.org/drawingml/2006/main">
            <a:r>
              <a:t>El siguiente experimento defendible es mejorar la fuente, mantener geometría comparable y cuantificar repetibilidad, soporte de c de f e incertidumbre de Vs de z.</a:t>
            </a:r>
          </a:p>
          <a:p xmlns:a="http://schemas.openxmlformats.org/drawingml/2006/main">
            <a:r>
              <a:t>Mensaje final: el proyecto avanzó de una colección de bloques a una cadena causal y auditable; ahora la prioridad es mejorar el dato antes de complejizar el modelo.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17abdbe6c4c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56bf8fe107472d" /><Relationship Type="http://schemas.openxmlformats.org/officeDocument/2006/relationships/slideLayout" Target="/ppt/slideLayouts/slideLayout1.xml" Id="R65298ddf30ea48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298ddf30ea48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24279f9ec4751" /><Relationship Type="http://schemas.openxmlformats.org/officeDocument/2006/relationships/image" Target="/ppt/media/image.jpeg" Id="R7baf070aa38d4d72" /><Relationship Type="http://schemas.openxmlformats.org/officeDocument/2006/relationships/notesSlide" Target="/ppt/notesSlides/notesSlide1.xml" Id="R78f1d451632d40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6a303c18343c9" /><Relationship Type="http://schemas.openxmlformats.org/officeDocument/2006/relationships/notesSlide" Target="/ppt/notesSlides/notesSlide2.xml" Id="R7cd8342ffcfa41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dc8f4bcc342c6" /><Relationship Type="http://schemas.openxmlformats.org/officeDocument/2006/relationships/image" Target="/ppt/media/image.png" Id="Rb27a1eac41124853" /><Relationship Type="http://schemas.openxmlformats.org/officeDocument/2006/relationships/notesSlide" Target="/ppt/notesSlides/notesSlide3.xml" Id="Rf30efc8d57cb4e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37f6751714878" /><Relationship Type="http://schemas.openxmlformats.org/officeDocument/2006/relationships/image" Target="/ppt/media/image2.png" Id="R50e62630debd4703" /><Relationship Type="http://schemas.openxmlformats.org/officeDocument/2006/relationships/notesSlide" Target="/ppt/notesSlides/notesSlide4.xml" Id="R73457fc8ce7f4e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7333193e9491b" /><Relationship Type="http://schemas.openxmlformats.org/officeDocument/2006/relationships/image" Target="/ppt/media/image3.png" Id="R777a6d4610624149" /><Relationship Type="http://schemas.openxmlformats.org/officeDocument/2006/relationships/notesSlide" Target="/ppt/notesSlides/notesSlide5.xml" Id="R3a991934f94e40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535baba544c2e" /><Relationship Type="http://schemas.openxmlformats.org/officeDocument/2006/relationships/image" Target="/ppt/media/image4.png" Id="Rf5afc2cc56084d33" /><Relationship Type="http://schemas.openxmlformats.org/officeDocument/2006/relationships/image" Target="/ppt/media/image5.png" Id="R9210d1792de246cc" /><Relationship Type="http://schemas.openxmlformats.org/officeDocument/2006/relationships/notesSlide" Target="/ppt/notesSlides/notesSlide6.xml" Id="Rb22f71ef3b9742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941bfba304cb3" /><Relationship Type="http://schemas.openxmlformats.org/officeDocument/2006/relationships/image" Target="/ppt/media/image6.png" Id="Rd5e44dad16a84f1f" /><Relationship Type="http://schemas.openxmlformats.org/officeDocument/2006/relationships/notesSlide" Target="/ppt/notesSlides/notesSlide7.xml" Id="R800e66a8231d4e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07a91a0f54c81" /><Relationship Type="http://schemas.openxmlformats.org/officeDocument/2006/relationships/notesSlide" Target="/ppt/notesSlides/notesSlide8.xml" Id="Rcb248185f27444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1a4e3734a455a" /><Relationship Type="http://schemas.openxmlformats.org/officeDocument/2006/relationships/image" Target="/ppt/media/image7.png" Id="R289f25d2033849b7" /><Relationship Type="http://schemas.openxmlformats.org/officeDocument/2006/relationships/notesSlide" Target="/ppt/notesSlides/notesSlide9.xml" Id="R51eed93f6a594a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8128978794e59" /><Relationship Type="http://schemas.openxmlformats.org/officeDocument/2006/relationships/image" Target="/ppt/media/image8.png" Id="R7461b6d2e2a3425e" /><Relationship Type="http://schemas.openxmlformats.org/officeDocument/2006/relationships/notesSlide" Target="/ppt/notesSlides/notesSlide10.xml" Id="R93ea4a60894b45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497944c1045b1" /><Relationship Type="http://schemas.openxmlformats.org/officeDocument/2006/relationships/image" Target="/ppt/media/image9.png" Id="Rba6e7218e5bb4fe8" /><Relationship Type="http://schemas.openxmlformats.org/officeDocument/2006/relationships/notesSlide" Target="/ppt/notesSlides/notesSlide11.xml" Id="R4f375d8578e14b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a11d0ca0749cd" /><Relationship Type="http://schemas.openxmlformats.org/officeDocument/2006/relationships/image" Target="/ppt/media/image10.png" Id="R2f772cd9da9f4ddf" /><Relationship Type="http://schemas.openxmlformats.org/officeDocument/2006/relationships/notesSlide" Target="/ppt/notesSlides/notesSlide12.xml" Id="R4b650eeb48814f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19f75ff97414b" /><Relationship Type="http://schemas.openxmlformats.org/officeDocument/2006/relationships/image" Target="/ppt/media/image11.png" Id="Rbb1208095e3644f0" /><Relationship Type="http://schemas.openxmlformats.org/officeDocument/2006/relationships/notesSlide" Target="/ppt/notesSlides/notesSlide13.xml" Id="Rc4f32e2783a64e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519ddeb0b4117" /><Relationship Type="http://schemas.openxmlformats.org/officeDocument/2006/relationships/image" Target="/ppt/media/image12.png" Id="R3371998997064857" /><Relationship Type="http://schemas.openxmlformats.org/officeDocument/2006/relationships/notesSlide" Target="/ppt/notesSlides/notesSlide14.xml" Id="Rac6a77140d0c40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20df572ea4b7e" /><Relationship Type="http://schemas.openxmlformats.org/officeDocument/2006/relationships/image" Target="/ppt/media/image13.png" Id="Rd360f483b50a43bf" /><Relationship Type="http://schemas.openxmlformats.org/officeDocument/2006/relationships/notesSlide" Target="/ppt/notesSlides/notesSlide15.xml" Id="Re204d2c8014d4c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4e7464637480b" /><Relationship Type="http://schemas.openxmlformats.org/officeDocument/2006/relationships/image" Target="/ppt/media/image14.png" Id="R7b57db3e5d9b42e1" /><Relationship Type="http://schemas.openxmlformats.org/officeDocument/2006/relationships/notesSlide" Target="/ppt/notesSlides/notesSlide16.xml" Id="R3541151201df41e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92fd9e0fb41de" /><Relationship Type="http://schemas.openxmlformats.org/officeDocument/2006/relationships/image" Target="/ppt/media/image15.png" Id="Rd1df5b88d4034317" /><Relationship Type="http://schemas.openxmlformats.org/officeDocument/2006/relationships/notesSlide" Target="/ppt/notesSlides/notesSlide17.xml" Id="R0034813f7fa4478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8af349b8b456d" /><Relationship Type="http://schemas.openxmlformats.org/officeDocument/2006/relationships/notesSlide" Target="/ppt/notesSlides/notesSlide18.xml" Id="R548d23982ad04ec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d9a4c1a9e40eb" /><Relationship Type="http://schemas.openxmlformats.org/officeDocument/2006/relationships/notesSlide" Target="/ppt/notesSlides/notesSlide19.xml" Id="Rcf48870edfca416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c3ba3060b4269" /><Relationship Type="http://schemas.openxmlformats.org/officeDocument/2006/relationships/notesSlide" Target="/ppt/notesSlides/notesSlide20.xml" Id="R354cdc31161a4bf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0d7c28a8143a5" /><Relationship Type="http://schemas.openxmlformats.org/officeDocument/2006/relationships/image" Target="/ppt/media/image2.jpeg" Id="Rd94a6a41e2444dad" /><Relationship Type="http://schemas.openxmlformats.org/officeDocument/2006/relationships/image" Target="/ppt/media/image3.jpeg" Id="R0e24c9a96cf74703" /><Relationship Type="http://schemas.openxmlformats.org/officeDocument/2006/relationships/notesSlide" Target="/ppt/notesSlides/notesSlide21.xml" Id="R4192a4ffffc547d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d4750880b466f" /><Relationship Type="http://schemas.openxmlformats.org/officeDocument/2006/relationships/image" Target="/ppt/media/image16.png" Id="R7e208807aa88485c" /><Relationship Type="http://schemas.openxmlformats.org/officeDocument/2006/relationships/notesSlide" Target="/ppt/notesSlides/notesSlide22.xml" Id="Rbbba1a7a0f004ea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b0286c6c64a63" /><Relationship Type="http://schemas.openxmlformats.org/officeDocument/2006/relationships/image" Target="/ppt/media/image17.png" Id="Re566e1f46c5047e2" /><Relationship Type="http://schemas.openxmlformats.org/officeDocument/2006/relationships/notesSlide" Target="/ppt/notesSlides/notesSlide23.xml" Id="R7a5b1b1b4caf460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0a481041345cb" /><Relationship Type="http://schemas.openxmlformats.org/officeDocument/2006/relationships/image" Target="/ppt/media/image18.png" Id="Rd290d902f0cc45b7" /><Relationship Type="http://schemas.openxmlformats.org/officeDocument/2006/relationships/notesSlide" Target="/ppt/notesSlides/notesSlide24.xml" Id="R7ceb151b88024f4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5ef2df38a4eb2" /><Relationship Type="http://schemas.openxmlformats.org/officeDocument/2006/relationships/image" Target="/ppt/media/image19.png" Id="R57748321f6e74890" /><Relationship Type="http://schemas.openxmlformats.org/officeDocument/2006/relationships/image" Target="/ppt/media/image20.png" Id="R54f232883f5e4981" /><Relationship Type="http://schemas.openxmlformats.org/officeDocument/2006/relationships/notesSlide" Target="/ppt/notesSlides/notesSlide25.xml" Id="R621ef0d0b1fb444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22083cdce4b7c" /><Relationship Type="http://schemas.openxmlformats.org/officeDocument/2006/relationships/image" Target="/ppt/media/image21.png" Id="R998857bd579e4810" /><Relationship Type="http://schemas.openxmlformats.org/officeDocument/2006/relationships/notesSlide" Target="/ppt/notesSlides/notesSlide26.xml" Id="Rdd36203d64534f8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8a25f67e74c1a" /><Relationship Type="http://schemas.openxmlformats.org/officeDocument/2006/relationships/notesSlide" Target="/ppt/notesSlides/notesSlide27.xml" Id="Rc633dafeda5444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2C85F1-FD5F-4EF8-BD95-94970D3B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D4B33-6CA1-4936-B3BB-FBECF00D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86F38"/>
                </a:solidFill>
              </a:defRPr>
            </a:pPr>
            <a:r>
              <a:rPr sz="1200" b="1" i="0">
                <a:solidFill>
                  <a:srgbClr val="E86F38"/>
                </a:solidFill>
              </a:rPr>
              <a:t>PROYECTO FINAL DE CARRERA · PRIMERA PRESENTACIÓN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205D6-E593-4FBF-8EF9-79D4B9CE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6381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7212B"/>
                </a:solidFill>
              </a:defRPr>
            </a:pPr>
            <a:r>
              <a:rPr sz="5100" b="1" i="0">
                <a:solidFill>
                  <a:srgbClr val="17212B"/>
                </a:solidFill>
              </a:rPr>
              <a:t>Sistema IoT multicanal</a:t>
            </a:r>
          </a:p>
          <a:p xmlns:a="http://schemas.openxmlformats.org/drawingml/2006/main">
            <a:pPr algn="l">
              <a:defRPr sz="5100" b="1" i="0">
                <a:solidFill>
                  <a:srgbClr val="17212B"/>
                </a:solidFill>
              </a:defRPr>
            </a:pPr>
            <a:r>
              <a:rPr sz="5100" b="1" i="0">
                <a:solidFill>
                  <a:srgbClr val="17212B"/>
                </a:solidFill>
              </a:rPr>
              <a:t>para estudios MASW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8C259-A47A-4EB4-B3DA-0AC1144A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595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0B3C49"/>
                </a:solidFill>
              </a:defRPr>
            </a:pPr>
            <a:r>
              <a:rPr sz="2100" b="0" i="0">
                <a:solidFill>
                  <a:srgbClr val="0B3C49"/>
                </a:solidFill>
              </a:rPr>
              <a:t>De la física de ondas superficiales a una cadena de medición auditable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A4598-F051-4EE7-8205-28512442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F8210-0EE1-4F98-8F6A-6421EA6B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5717C"/>
                </a:solidFill>
              </a:defRPr>
            </a:pPr>
            <a:r>
              <a:rPr sz="1650" b="0" i="0">
                <a:solidFill>
                  <a:srgbClr val="65717C"/>
                </a:solidFill>
              </a:rPr>
              <a:t>Elías David Álvarez Martínez</a:t>
            </a:r>
          </a:p>
          <a:p xmlns:a="http://schemas.openxmlformats.org/drawingml/2006/main">
            <a:pPr algn="l">
              <a:defRPr sz="1650" b="0" i="0">
                <a:solidFill>
                  <a:srgbClr val="65717C"/>
                </a:solidFill>
              </a:defRPr>
            </a:pPr>
            <a:r>
              <a:rPr sz="1650" b="0" i="0">
                <a:solidFill>
                  <a:srgbClr val="65717C"/>
                </a:solidFill>
              </a:rPr>
              <a:t>Ingeniería Electrónica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DB70C-41FE-4D18-8649-AFC2016B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C4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f070aa38d4d72"/>
          <a:stretch xmlns:a="http://schemas.openxmlformats.org/drawingml/2006/main"/>
        </p:blipFill>
        <p:spPr>
          <a:xfrm xmlns:a="http://schemas.openxmlformats.org/drawingml/2006/main">
            <a:off x="7715250" y="1786480"/>
            <a:ext cx="3905250" cy="276116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69439-D788-4270-AE3E-73FE4A0E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781675"/>
            <a:ext cx="3762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FUENTE → SENSOR → AFE → ADC → RED → MASW → Vs(z)</a:t>
            </a:r>
          </a:p>
        </p:txBody>
      </p:sp>
    </p:spTree>
    <p:extLst>
      <p:ext uri="{BB962C8B-B14F-4D97-AF65-F5344CB8AC3E}">
        <p14:creationId xmlns:p14="http://schemas.microsoft.com/office/powerpoint/2010/main" val="1707393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FB948E-A097-4EE7-B949-BEC0A664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MAGNITUD 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5CE0D-D5F7-496D-A5BD-3877BD5A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La rigidez que buscamos se observa a través de Vs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D02F1-6482-41FD-9DBE-5F60C073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D31F9-1229-48F7-9AB8-37181BD7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EE2E5-8709-4385-B5D0-3ADCCB9B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0" i="0">
                <a:solidFill>
                  <a:srgbClr val="0B3C49"/>
                </a:solidFill>
              </a:defRPr>
            </a:pPr>
            <a:r>
              <a:rPr sz="4350" b="0" i="0">
                <a:solidFill>
                  <a:srgbClr val="0B3C49"/>
                </a:solidFill>
              </a:rPr>
              <a:t>Gₘₐₓ = ρ · Vₛ²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E29DB-C32B-4EF5-AE4A-08D1DED0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212B"/>
                </a:solidFill>
              </a:defRPr>
            </a:pPr>
            <a:r>
              <a:rPr sz="1875" b="0" i="0">
                <a:solidFill>
                  <a:srgbClr val="17212B"/>
                </a:solidFill>
              </a:rPr>
              <a:t>Un error pequeño en Vs se amplifica al estimar la rigidez. Por eso la cadena debe preservar la información que gobierna la velocidad de propagación.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115EF-FADC-4FA7-8F3E-937707C1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38300"/>
            <a:ext cx="4095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9D54A-6600-40F4-A2C2-237D6F3D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28925"/>
            <a:ext cx="4095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6E520-201A-4875-88B8-7976638B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4095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C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E9947-5075-44BC-BCB4-6B712477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3C49"/>
                </a:solidFill>
              </a:defRPr>
            </a:pPr>
            <a:r>
              <a:rPr sz="1950" b="1" i="0">
                <a:solidFill>
                  <a:srgbClr val="0B3C49"/>
                </a:solidFill>
              </a:rPr>
              <a:t>capa 1 · Vs₁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6933A-4E9D-4400-AB01-E0A4DA9A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99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3C49"/>
                </a:solidFill>
              </a:defRPr>
            </a:pPr>
            <a:r>
              <a:rPr sz="1950" b="1" i="0">
                <a:solidFill>
                  <a:srgbClr val="0B3C49"/>
                </a:solidFill>
              </a:rPr>
              <a:t>capa 2 · Vs₂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2E182-A3E6-4382-9911-5C55DFE4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434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semiespacio · Vs₃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A4AE2-E77C-4E17-A5B6-A62C7B2C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38" y="1952625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2199F-FF70-4226-B45E-AB3AEE22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18192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FD866-4C42-4522-ABFF-B090DAF3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863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5717C"/>
                </a:solidFill>
              </a:defRPr>
            </a:pPr>
            <a:r>
              <a:rPr sz="1275" b="0" i="0">
                <a:solidFill>
                  <a:srgbClr val="65717C"/>
                </a:solidFill>
              </a:rPr>
              <a:t>profundidad 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CB4C9-37D0-49D0-BC55-C4CD0223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relación elástica y alcance del perfil Vs(z)</a:t>
            </a:r>
          </a:p>
        </p:txBody>
      </p:sp>
    </p:spTree>
    <p:extLst>
      <p:ext uri="{BB962C8B-B14F-4D97-AF65-F5344CB8AC3E}">
        <p14:creationId xmlns:p14="http://schemas.microsoft.com/office/powerpoint/2010/main" val="17532480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4B7EB5-7009-406E-B988-9B0230EA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FÍSICA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A02FB-1B49-4BA7-868C-203BDD65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12B"/>
                </a:solidFill>
              </a:defRPr>
            </a:pPr>
            <a:r>
              <a:rPr sz="2850" b="1" i="0">
                <a:solidFill>
                  <a:srgbClr val="17212B"/>
                </a:solidFill>
              </a:rPr>
              <a:t>Las ondas Rayleigh convierten la superficie en una sonda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46799-6E00-411B-8D88-14E7E43A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FC3D7-FBC3-4BBF-81C2-48623B91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a1eac41124853"/>
          <a:stretch xmlns:a="http://schemas.openxmlformats.org/drawingml/2006/main"/>
        </p:blipFill>
        <p:spPr>
          <a:xfrm xmlns:a="http://schemas.openxmlformats.org/drawingml/2006/main">
            <a:off x="745292" y="1428750"/>
            <a:ext cx="5805566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DCB2F-93DF-4CF5-BA35-678EE036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38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3C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F2981-8CD3-463D-BE52-359E7999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764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ONDAS SUPERFICIALES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CC0C7-6B3E-4F5F-A46B-CCE86A5E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431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12B"/>
                </a:solidFill>
              </a:defRPr>
            </a:pPr>
            <a:r>
              <a:rPr sz="2100" b="1" i="0">
                <a:solidFill>
                  <a:srgbClr val="17212B"/>
                </a:solidFill>
              </a:rPr>
              <a:t>El movimiento elíptico decae con la profundidad, pero no desaparece de inmediato.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9989D-64CD-49C5-B9A6-B38B3385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3714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5717C"/>
                </a:solidFill>
              </a:defRPr>
            </a:pPr>
            <a:r>
              <a:rPr sz="1800" b="0" i="0">
                <a:solidFill>
                  <a:srgbClr val="65717C"/>
                </a:solidFill>
              </a:rPr>
              <a:t>Cada frecuencia concentra sensibilidad en una zona distinta del subsuelo. La dispersión geométrica aparece cuando esas zonas tienen propiedades diferentes.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7CC8D-7E16-403C-883C-6E9FDEDB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33950"/>
            <a:ext cx="371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A96EC-6F65-4031-8F6A-2DC832D9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435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3C49"/>
                </a:solidFill>
              </a:defRPr>
            </a:pPr>
            <a:r>
              <a:rPr sz="1650" b="1" i="0">
                <a:solidFill>
                  <a:srgbClr val="0B3C49"/>
                </a:solidFill>
              </a:rPr>
              <a:t>La profundidad se infiere por sensibilidad, no por una regla universal.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666D3-B4E4-4045-A9DF-E9BF87BD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 visual: investigación de tesis · propagación de ondas Rayleigh</a:t>
            </a:r>
          </a:p>
        </p:txBody>
      </p:sp>
    </p:spTree>
    <p:extLst>
      <p:ext uri="{BB962C8B-B14F-4D97-AF65-F5344CB8AC3E}">
        <p14:creationId xmlns:p14="http://schemas.microsoft.com/office/powerpoint/2010/main" val="10650788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05E9F9-E42B-4C1A-A461-61249AA2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REQUISITO ESPECTRAL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202D1-9B73-4478-BFA6-2EAF81C4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12B"/>
                </a:solidFill>
              </a:defRPr>
            </a:pPr>
            <a:r>
              <a:rPr sz="2850" b="1" i="0">
                <a:solidFill>
                  <a:srgbClr val="17212B"/>
                </a:solidFill>
              </a:rPr>
              <a:t>Para mirar más profundo necesitamos longitudes de onda mayores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B9865-FF04-40C8-AAE9-B3F37F75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E9FA2-6F08-4E88-85D7-EC9ECE3D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62630debd4703"/>
          <a:stretch xmlns:a="http://schemas.openxmlformats.org/drawingml/2006/main"/>
        </p:blipFill>
        <p:spPr>
          <a:xfrm xmlns:a="http://schemas.openxmlformats.org/drawingml/2006/main">
            <a:off x="523875" y="1814291"/>
            <a:ext cx="6096000" cy="360089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162A2-A8C2-4B1F-8791-EE4BBA58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00" b="0" i="0">
                <a:solidFill>
                  <a:srgbClr val="0B3C49"/>
                </a:solidFill>
              </a:defRPr>
            </a:pPr>
            <a:r>
              <a:rPr sz="3900" b="0" i="0">
                <a:solidFill>
                  <a:srgbClr val="0B3C49"/>
                </a:solidFill>
              </a:rPr>
              <a:t>λ = cᴿ / 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0C736-C510-46FF-B524-7D01F11A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670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E86F38"/>
                </a:solidFill>
              </a:defRPr>
            </a:pPr>
            <a:r>
              <a:rPr sz="2100" b="1" i="0">
                <a:solidFill>
                  <a:srgbClr val="E86F38"/>
                </a:solidFill>
              </a:rPr>
              <a:t>↓ frecuencia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5D178-E41F-4145-BCF7-9468510F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670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3C49"/>
                </a:solidFill>
              </a:defRPr>
            </a:pPr>
            <a:r>
              <a:rPr sz="2100" b="1" i="0">
                <a:solidFill>
                  <a:srgbClr val="0B3C49"/>
                </a:solidFill>
              </a:rPr>
              <a:t>↑ longitud de onda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06EDA-14BE-4D33-8805-709F3477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38450"/>
            <a:ext cx="2190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6696E-E202-4472-AC4B-E00B7CEB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63025" y="27717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ABBB0-9453-483D-9460-48C9240F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2900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</a:defRPr>
            </a:pPr>
            <a:r>
              <a:rPr sz="1800" b="0" i="0">
                <a:solidFill>
                  <a:srgbClr val="17212B"/>
                </a:solidFill>
              </a:rPr>
              <a:t>La fuente, el sensor y el AFE deben conservar la banda baja antes del ADC. Ningún filtro digital puede reconstruir señal que quedó por debajo del ruido analógico.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CA6A8-6B67-4B7C-933D-9BDED5D3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19700"/>
            <a:ext cx="1714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DED3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77215-5F4F-4706-953F-E7EFB626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26732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86F38"/>
                </a:solidFill>
              </a:defRPr>
            </a:pPr>
            <a:r>
              <a:rPr sz="975" b="1" i="0">
                <a:solidFill>
                  <a:srgbClr val="E86F38"/>
                </a:solidFill>
              </a:rPr>
              <a:t>REQUISITO FÍSICO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4C730-6ED6-4086-9659-B48C43E9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longitud de onda y profundidad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1429300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D2E59F-4910-4E28-902E-687ACD59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OBSERVABLE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C20F7-A76E-46A8-9CBB-A6D5DFDD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MASW mide cómo cambia la fase entre receptores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F4A30-AD14-4CFA-BBE5-19CA7CC1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A2DFF-651F-4F14-B28B-8057A602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a6d4610624149"/>
          <a:stretch xmlns:a="http://schemas.openxmlformats.org/drawingml/2006/main"/>
        </p:blipFill>
        <p:spPr>
          <a:xfrm xmlns:a="http://schemas.openxmlformats.org/drawingml/2006/main">
            <a:off x="495300" y="1870040"/>
            <a:ext cx="6238875" cy="346081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5EB99-B2A5-402B-875E-556438EB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52625"/>
            <a:ext cx="4524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0B3C49"/>
                </a:solidFill>
              </a:defRPr>
            </a:pPr>
            <a:r>
              <a:rPr sz="3150" b="0" i="0">
                <a:solidFill>
                  <a:srgbClr val="0B3C49"/>
                </a:solidFill>
              </a:rPr>
              <a:t>cᴿ(f) = ω · Δx / |Δφ(f)|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73FDF-FB6B-417D-85BC-280BB0C8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212B"/>
                </a:solidFill>
              </a:defRPr>
            </a:pPr>
            <a:r>
              <a:rPr sz="2025" b="1" i="0">
                <a:solidFill>
                  <a:srgbClr val="17212B"/>
                </a:solidFill>
              </a:rPr>
              <a:t>La sincronización temporal y la geometría entran directamente en la estimación de velocidad.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1CE35-5B20-4AE8-AF34-82E9F7DE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371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5717C"/>
                </a:solidFill>
              </a:defRPr>
            </a:pPr>
            <a:r>
              <a:rPr sz="1725" b="0" i="0">
                <a:solidFill>
                  <a:srgbClr val="65717C"/>
                </a:solidFill>
              </a:rPr>
              <a:t>Amplitud ayuda al control de calidad; fase y espaciamiento fijan c(f).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EB213-D482-450F-BF0B-FF49287C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velocidad de fase por diferencia de fase</a:t>
            </a:r>
          </a:p>
        </p:txBody>
      </p:sp>
    </p:spTree>
    <p:extLst>
      <p:ext uri="{BB962C8B-B14F-4D97-AF65-F5344CB8AC3E}">
        <p14:creationId xmlns:p14="http://schemas.microsoft.com/office/powerpoint/2010/main" val="19793797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959BB3-382E-4B19-A753-9121785D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TRANSFORMACIÓN MASW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FF16E-5D07-4197-AC94-450C2701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Park enfoca la energía donde la fase es coherente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16504-2600-4324-99F3-4E2A1741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4C017-0E5C-4AA7-94DC-BED9AF42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4EC0A-5C7C-436B-9FB6-36E74620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6207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925" b="0" i="0">
                <a:solidFill>
                  <a:srgbClr val="0B3C49"/>
                </a:solidFill>
              </a:defRPr>
            </a:pPr>
            <a:r>
              <a:rPr sz="2925" b="0" i="0">
                <a:solidFill>
                  <a:srgbClr val="0B3C49"/>
                </a:solidFill>
              </a:rPr>
              <a:t>S(ω,c) = | Σⱼ Xⱼ(ω) · eⁱωxʲᐟᶜ |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fc2cc56084d33"/>
          <a:stretch xmlns:a="http://schemas.openxmlformats.org/drawingml/2006/main"/>
        </p:blipFill>
        <p:spPr>
          <a:xfrm xmlns:a="http://schemas.openxmlformats.org/drawingml/2006/main">
            <a:off x="571500" y="2741839"/>
            <a:ext cx="4762500" cy="204107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74AC8-3A51-46AD-8113-C9C76CD8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19513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4F1F0-26AF-440C-BF55-492DA7CF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38900" y="36576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0d1792de246cc"/>
          <a:stretch xmlns:a="http://schemas.openxmlformats.org/drawingml/2006/main"/>
        </p:blipFill>
        <p:spPr>
          <a:xfrm xmlns:a="http://schemas.openxmlformats.org/drawingml/2006/main">
            <a:off x="6762750" y="2333625"/>
            <a:ext cx="4762500" cy="2857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A7214-4809-4D90-91CA-1BEF735D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6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3C49"/>
                </a:solidFill>
              </a:defRPr>
            </a:pPr>
            <a:r>
              <a:rPr sz="1500" b="1" i="0">
                <a:solidFill>
                  <a:srgbClr val="0B3C49"/>
                </a:solidFill>
              </a:rPr>
              <a:t>trazas xⱼ(t)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9FE1E-32C6-4646-862D-390AD8D8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6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3C49"/>
                </a:solidFill>
              </a:defRPr>
            </a:pPr>
            <a:r>
              <a:rPr sz="1500" b="1" i="0">
                <a:solidFill>
                  <a:srgbClr val="0B3C49"/>
                </a:solidFill>
              </a:rPr>
              <a:t>imagen S(f,c)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D7AFC-5995-429D-B81F-F49252F8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e INFORME_COMPLETO.pdf · formulación Park y benchmark</a:t>
            </a:r>
          </a:p>
        </p:txBody>
      </p:sp>
    </p:spTree>
    <p:extLst>
      <p:ext uri="{BB962C8B-B14F-4D97-AF65-F5344CB8AC3E}">
        <p14:creationId xmlns:p14="http://schemas.microsoft.com/office/powerpoint/2010/main" val="9498355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D3AF6D-04A6-482C-B6F6-6B77FC83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PROBLEMA INVERSO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5F9BB-ECE8-4935-833D-98F3DAF5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12B"/>
                </a:solidFill>
              </a:defRPr>
            </a:pPr>
            <a:r>
              <a:rPr sz="2850" b="1" i="0">
                <a:solidFill>
                  <a:srgbClr val="17212B"/>
                </a:solidFill>
              </a:rPr>
              <a:t>La inversión produce modelos compatibles, no una solución única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30C9F-4909-45C1-B273-886EA4E3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3129A-B6B2-4CD5-9D89-154AA192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44dad16a84f1f"/>
          <a:stretch xmlns:a="http://schemas.openxmlformats.org/drawingml/2006/main"/>
        </p:blipFill>
        <p:spPr>
          <a:xfrm xmlns:a="http://schemas.openxmlformats.org/drawingml/2006/main">
            <a:off x="1845951" y="1466850"/>
            <a:ext cx="2604123" cy="4238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8F522-4379-4724-A6D5-F2EA754D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0B3C49"/>
                </a:solidFill>
              </a:defRPr>
            </a:pPr>
            <a:r>
              <a:rPr sz="2550" b="0" i="0">
                <a:solidFill>
                  <a:srgbClr val="0B3C49"/>
                </a:solidFill>
              </a:rPr>
              <a:t>F(c, f, h, Vₛ, Vₚ, ρ) =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88F87-C5F8-4FCF-BF64-FB783C33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76500"/>
            <a:ext cx="5448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0B3C49"/>
                </a:solidFill>
              </a:defRPr>
            </a:pPr>
            <a:r>
              <a:rPr sz="2250" b="0" i="0">
                <a:solidFill>
                  <a:srgbClr val="0B3C49"/>
                </a:solidFill>
              </a:rPr>
              <a:t>m* = arg minₘ [‖W(dobs−g(m))‖² + λR(m)]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01E04-106D-41A3-94B5-3E41827C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766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F6F62"/>
                </a:solidFill>
              </a:defRPr>
            </a:pPr>
            <a:r>
              <a:rPr sz="1800" b="1" i="0">
                <a:solidFill>
                  <a:srgbClr val="2F6F62"/>
                </a:solidFill>
              </a:rPr>
              <a:t>Lo robusto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23B2A-CADE-4227-BEFA-D7B1CA4D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671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c(f) y su soporte observado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DFD43-A80B-469B-950B-29B7AEE3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9582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86F38"/>
                </a:solidFill>
              </a:defRPr>
            </a:pPr>
            <a:r>
              <a:rPr sz="1800" b="1" i="0">
                <a:solidFill>
                  <a:srgbClr val="E86F38"/>
                </a:solidFill>
              </a:rPr>
              <a:t>Lo sensible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A8559-7F09-4C98-826B-5B07BA9A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0863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número de capas, regularización y Vs(z)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D5A6E-DB2E-4040-9CE5-196DB5EF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e INFORME_COMPLETO.pdf · inversión y no unicidad</a:t>
            </a:r>
          </a:p>
        </p:txBody>
      </p:sp>
    </p:spTree>
    <p:extLst>
      <p:ext uri="{BB962C8B-B14F-4D97-AF65-F5344CB8AC3E}">
        <p14:creationId xmlns:p14="http://schemas.microsoft.com/office/powerpoint/2010/main" val="7392885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2796EF-0E4F-48FF-ACD1-A332DB67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5CC4C-798E-4FA9-9336-C1FDA504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La física se traduce en cuatro requisitos de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1109C-97CD-4590-939D-9AC49EF7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B1479-06AB-4881-9569-FBF42DC9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BEBA7-9644-4347-A91E-C3351BA8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3EB5B-E804-4822-BF54-F2BCC0A6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FF12D-B405-487D-9D36-F27BE0AE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430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86F38"/>
                </a:solidFill>
              </a:defRPr>
            </a:pPr>
            <a:r>
              <a:rPr sz="1875" b="1" i="0">
                <a:solidFill>
                  <a:srgbClr val="E86F38"/>
                </a:solidFill>
              </a:rPr>
              <a:t>BANDA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87AA6-EF57-4F34-B79E-110E0B94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</a:defRPr>
            </a:pPr>
            <a:r>
              <a:rPr sz="1800" b="0" i="0">
                <a:solidFill>
                  <a:srgbClr val="17212B"/>
                </a:solidFill>
              </a:rPr>
              <a:t>inyectar y conservar baja frecuencia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7D27D-2D2C-47EE-AAFF-1F27FA4B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288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CEF61-9F5C-4B59-B8E8-675F4A46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5A514-429E-4DB1-9A76-42E5A2D6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AF5FB-5B6E-404B-A7D4-AADAD84C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F6F8B"/>
                </a:solidFill>
              </a:defRPr>
            </a:pPr>
            <a:r>
              <a:rPr sz="1875" b="1" i="0">
                <a:solidFill>
                  <a:srgbClr val="1F6F8B"/>
                </a:solidFill>
              </a:rPr>
              <a:t>FASE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C50AB-1660-4ED3-9A9E-54D8B397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860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</a:defRPr>
            </a:pPr>
            <a:r>
              <a:rPr sz="1800" b="0" i="0">
                <a:solidFill>
                  <a:srgbClr val="17212B"/>
                </a:solidFill>
              </a:rPr>
              <a:t>sincronizar y conocer la geometría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AE4ED-7531-42C1-8D80-A28A52DE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28925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98C62-539E-4430-B085-1C18BC42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5EB34-9BFA-4B94-86D5-A30848FF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99777-87D6-458C-92F5-261CA6FA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3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6F62"/>
                </a:solidFill>
              </a:defRPr>
            </a:pPr>
            <a:r>
              <a:rPr sz="1875" b="1" i="0">
                <a:solidFill>
                  <a:srgbClr val="2F6F62"/>
                </a:solidFill>
              </a:rPr>
              <a:t>INTEGRIDAD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738A5-5152-4671-8D13-2CCFB788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862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</a:defRPr>
            </a:pPr>
            <a:r>
              <a:rPr sz="1800" b="0" i="0">
                <a:solidFill>
                  <a:srgbClr val="17212B"/>
                </a:solidFill>
              </a:rPr>
              <a:t>transportar sin inventar muestras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9B9B3-1CB1-4B24-B11A-2972C0BD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290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84CFD-3138-4A62-B74D-FBF6A117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C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5BDEB-3C5D-43C9-BE0F-8DBFE07B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4F910-0C18-408D-A8F3-AA1950A5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434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3C49"/>
                </a:solidFill>
              </a:defRPr>
            </a:pPr>
            <a:r>
              <a:rPr sz="1875" b="1" i="0">
                <a:solidFill>
                  <a:srgbClr val="0B3C49"/>
                </a:solidFill>
              </a:rPr>
              <a:t>AUDITORÍA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2E516B-EEDF-40E6-8B42-7E72B380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8632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</a:defRPr>
            </a:pPr>
            <a:r>
              <a:rPr sz="1800" b="0" i="0">
                <a:solidFill>
                  <a:srgbClr val="17212B"/>
                </a:solidFill>
              </a:rPr>
              <a:t>guardar metadatos, QC e incertidumbre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C62F3-0197-4C8E-B9D6-E1454530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29175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C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D86900-785F-4796-83B9-B0A83A26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Síntesis de requisitos derivada de la física y del alcance de la tesis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533E5C-86AB-4CE4-A973-F1DAB4A5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F95370-E63A-4C0A-BF91-70061818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FUENTE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DC8A10-3004-4597-A658-6D7E8378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33205F-3E23-451B-A4A7-0FB92BFB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SENSOR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47E397-34E5-4F89-A69D-500FE5B3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D4E6D9-65A4-459E-A651-FC5C34BE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4321A0-9699-4D1F-A8B2-F211BFE5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6A9317-CE06-4968-B092-32F9165F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ADC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38120F-C004-42B9-BB21-92C6561E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A73F81-8BA4-402D-9FEE-D8F1B46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SINCRONÍA / 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19A482-8289-4888-BC6F-31E14F59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874472-6E76-4EF7-9720-4F878BA5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INGESTA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71FD74-14E1-4C5E-A564-3CE62D0B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8F9946-EF9A-4824-8F1E-C899C7FB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MASW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7E0513-6667-4E65-9FAA-2DFC2730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665ABA-0DD3-4E57-9CC9-16AB53AF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INVERSIÓN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E10E4A-7D77-4561-95C8-734F2013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93291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2E78F5-E538-4F7B-AB39-2EB7C7F5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IMPLEMENTACIÓN · FUENTE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0E952-F903-4EBE-AAFF-E87F5E43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La fuente actual mide el golpe y fija el tiempo cero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2FBC5-D7A8-431D-8191-B7A090E5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F62A4-9102-456F-9BCB-D230CFA5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f25d2033849b7"/>
          <a:stretch xmlns:a="http://schemas.openxmlformats.org/drawingml/2006/main"/>
        </p:blipFill>
        <p:spPr>
          <a:xfrm xmlns:a="http://schemas.openxmlformats.org/drawingml/2006/main">
            <a:off x="1707998" y="1476375"/>
            <a:ext cx="2918130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FDFFD-38CE-43A1-B648-94D32B40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15621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3C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6DAED-0D3B-4B5B-A370-880E48AF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1450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PCB 086D20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0B2AF-4F22-471C-87C7-9AC9F85E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764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C"/>
          </a:solidFill>
          <a:ln xmlns:a="http://schemas.openxmlformats.org/drawingml/2006/main" w="9525">
            <a:solidFill>
              <a:srgbClr val="0B3C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470EE-4731-4858-95AC-2BBD375C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24025"/>
            <a:ext cx="1419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B3C49"/>
                </a:solidFill>
              </a:defRPr>
            </a:pPr>
            <a:r>
              <a:rPr sz="975" b="1" i="0">
                <a:solidFill>
                  <a:srgbClr val="0B3C49"/>
                </a:solidFill>
              </a:rPr>
              <a:t>IMPLEMENTADO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5CF17-8AC7-4A8F-A7FB-58EEADAD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86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7212B"/>
                </a:solidFill>
              </a:defRPr>
            </a:pPr>
            <a:r>
              <a:rPr sz="1950" b="1" i="0">
                <a:solidFill>
                  <a:srgbClr val="17212B"/>
                </a:solidFill>
              </a:rPr>
              <a:t>Salida ICP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CD484-F3C1-477A-8BA1-26944E29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8605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5717C"/>
                </a:solidFill>
              </a:defRPr>
            </a:pPr>
            <a:r>
              <a:rPr sz="1800" b="0" i="0">
                <a:solidFill>
                  <a:srgbClr val="65717C"/>
                </a:solidFill>
              </a:rPr>
              <a:t>El impacto se registra como canal de referencia y genera el disparo de adquisición.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4617C-0D6E-4948-AA2B-1CEFB532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623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9A149-9311-468E-A136-38F8AE6F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6F62"/>
                </a:solidFill>
              </a:defRPr>
            </a:pPr>
            <a:r>
              <a:rPr sz="1650" b="1" i="0">
                <a:solidFill>
                  <a:srgbClr val="2F6F62"/>
                </a:solidFill>
              </a:rPr>
              <a:t>Fortaleza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BE0D3-683C-4C3D-B6A3-988F8F10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12B"/>
                </a:solidFill>
              </a:defRPr>
            </a:pPr>
            <a:r>
              <a:rPr sz="1650" b="0" i="0">
                <a:solidFill>
                  <a:srgbClr val="17212B"/>
                </a:solidFill>
              </a:rPr>
              <a:t>evento temporal observable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8E7B8-2A8D-44C3-B2DD-11C330BB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14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86F38"/>
                </a:solidFill>
              </a:defRPr>
            </a:pPr>
            <a:r>
              <a:rPr sz="1650" b="1" i="0">
                <a:solidFill>
                  <a:srgbClr val="E86F38"/>
                </a:solidFill>
              </a:rPr>
              <a:t>Límite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AA1EF-8ECD-49FF-AA19-405955F6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12B"/>
                </a:solidFill>
              </a:defRPr>
            </a:pPr>
            <a:r>
              <a:rPr sz="1650" b="0" i="0">
                <a:solidFill>
                  <a:srgbClr val="17212B"/>
                </a:solidFill>
              </a:rPr>
              <a:t>energía baja poco repetible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2FFAE7-65D1-4D9E-803F-618340DE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excitación instrumentada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13474F-20C3-4ECF-9D8A-4737560B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833D7-2376-4C76-93AB-1A38D335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FUENTE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CF708-F0C1-47CB-987F-698592B8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53678-14EF-40C0-A19F-01F8BE94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0B119-340C-4B80-9E8C-8AA54990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3FFEC3-5B00-4B79-AF73-C144F034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AFE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37A1E-362A-460C-BDBA-545A6749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CAE41E-C7C8-4861-913D-64A36426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E32517-0B3E-4857-9FC6-1F8199BB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A9FD30-A3AE-4AA6-B49B-4C93DE41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B3CEEC-BE2F-49D3-8958-96EEBA2D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31E8AC-B20A-440D-A40A-930C3EAC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A216F7-9F34-48C6-9926-0C40325F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3EC3A9-F1FC-448C-A4C4-320717FD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06D401-50BC-4108-BB25-DA2CC07A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370089-A2B9-4569-8731-0DADBCE5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EDC219-E86E-4BE2-B8F9-1326D365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3826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758CDE-F8F2-477A-B152-760FDBB6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IMPLEMENTACIÓN · SENSOR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EA664-31F7-4EE6-BC0C-B79C4AA4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El SM-24 es funcional, pero limita la profundidad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91A09-CCCA-4294-BF1E-4FDE7045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DDC7D-6958-4F04-8E9C-86AEE40F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1b6d2e2a3425e"/>
          <a:stretch xmlns:a="http://schemas.openxmlformats.org/drawingml/2006/main"/>
        </p:blipFill>
        <p:spPr>
          <a:xfrm xmlns:a="http://schemas.openxmlformats.org/drawingml/2006/main">
            <a:off x="947738" y="1524000"/>
            <a:ext cx="4238625" cy="4238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A9E62-8B15-4907-BB5F-20DEC5F1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3C49"/>
                </a:solidFill>
              </a:defRPr>
            </a:pPr>
            <a:r>
              <a:rPr sz="3150" b="1" i="0">
                <a:solidFill>
                  <a:srgbClr val="0B3C49"/>
                </a:solidFill>
              </a:rPr>
              <a:t>SM-24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54E8D-3E30-4641-98C3-F092DDEB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704975"/>
            <a:ext cx="1524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C"/>
          </a:solidFill>
          <a:ln xmlns:a="http://schemas.openxmlformats.org/drawingml/2006/main" w="9525">
            <a:solidFill>
              <a:srgbClr val="0B3C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67E0E-225B-4B1F-9260-45158180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75260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B3C49"/>
                </a:solidFill>
              </a:defRPr>
            </a:pPr>
            <a:r>
              <a:rPr sz="975" b="1" i="0">
                <a:solidFill>
                  <a:srgbClr val="0B3C49"/>
                </a:solidFill>
              </a:rPr>
              <a:t>DISPONIBLE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B79E5-D9CC-430C-AFA5-EE58B0F5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5717C"/>
                </a:solidFill>
              </a:defRPr>
            </a:pPr>
            <a:r>
              <a:rPr sz="1650" b="0" i="0">
                <a:solidFill>
                  <a:srgbClr val="65717C"/>
                </a:solidFill>
              </a:rPr>
              <a:t>Frecuencia natural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F735B-6929-4D89-B980-A7AF53C8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550" b="1" i="0">
                <a:solidFill>
                  <a:srgbClr val="E86F38"/>
                </a:solidFill>
              </a:defRPr>
            </a:pPr>
            <a:r>
              <a:rPr sz="2550" b="1" i="0">
                <a:solidFill>
                  <a:srgbClr val="E86F38"/>
                </a:solidFill>
              </a:rPr>
              <a:t>10 Hz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0FD3D-6958-4FCE-8DA9-BF9B11D4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5752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FD526-34BC-4045-9F96-0EF4816A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5717C"/>
                </a:solidFill>
              </a:defRPr>
            </a:pPr>
            <a:r>
              <a:rPr sz="1650" b="0" i="0">
                <a:solidFill>
                  <a:srgbClr val="65717C"/>
                </a:solidFill>
              </a:rPr>
              <a:t>Uso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0A1F7-A344-45A6-9795-C7E5FAD1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861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75" b="1" i="0">
                <a:solidFill>
                  <a:srgbClr val="17212B"/>
                </a:solidFill>
              </a:defRPr>
            </a:pPr>
            <a:r>
              <a:rPr sz="1875" b="1" i="0">
                <a:solidFill>
                  <a:srgbClr val="17212B"/>
                </a:solidFill>
              </a:rPr>
              <a:t>movimiento vertical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5303C-507A-4632-AC43-2EEFE903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3857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06371-D875-4A21-89D5-0A965D9E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243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5717C"/>
                </a:solidFill>
              </a:defRPr>
            </a:pPr>
            <a:r>
              <a:rPr sz="1650" b="0" i="0">
                <a:solidFill>
                  <a:srgbClr val="65717C"/>
                </a:solidFill>
              </a:rPr>
              <a:t>Decisión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56FE1-483C-4B58-95B5-76E31EE8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767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75" b="1" i="0">
                <a:solidFill>
                  <a:srgbClr val="17212B"/>
                </a:solidFill>
              </a:defRPr>
            </a:pPr>
            <a:r>
              <a:rPr sz="1875" b="1" i="0">
                <a:solidFill>
                  <a:srgbClr val="17212B"/>
                </a:solidFill>
              </a:rPr>
              <a:t>compensar la caída,</a:t>
            </a:r>
          </a:p>
          <a:p xmlns:a="http://schemas.openxmlformats.org/drawingml/2006/main">
            <a:pPr algn="r">
              <a:defRPr sz="1875" b="1" i="0">
                <a:solidFill>
                  <a:srgbClr val="17212B"/>
                </a:solidFill>
              </a:defRPr>
            </a:pPr>
            <a:r>
              <a:rPr sz="1875" b="1" i="0">
                <a:solidFill>
                  <a:srgbClr val="17212B"/>
                </a:solidFill>
              </a:rPr>
              <a:t>sin ocultar el ruido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6CD4B-1251-4FEC-BB77-11029F6B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435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B3C49"/>
                </a:solidFill>
              </a:defRPr>
            </a:pPr>
            <a:r>
              <a:rPr sz="1575" b="0" i="0">
                <a:solidFill>
                  <a:srgbClr val="0B3C49"/>
                </a:solidFill>
              </a:rPr>
              <a:t>La disponibilidad justificó el prototipo; la banda profunda exige validar otra fuente o sensor.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87EBB4-F064-4685-B538-74497CE5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transductor SM-24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802E5-4777-4509-B128-6EF80F97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8B45A6-0AE1-44B9-A036-5146FB09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BD0C78-3225-4707-8F0A-CA6F32D4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4D1BA-FF01-4B25-B28C-B09500D9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SENSOR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A25287-5353-4BD2-84AD-3878C682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67359C-524F-4A06-B405-07E670C7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AFE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18BD86-A2FA-4085-BE41-1D046413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094F68-42E8-4BBD-9E7E-998A4DA7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8E1DEC-739B-4E4A-9D10-956FC42E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B64903-D956-4F20-8694-21BF3B16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10E456-5E22-4226-ADBA-D27FEE05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CD9876-6F74-443D-9CF0-A6F204BC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29219A-A96D-49DD-AF7E-C2F4408B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BA9D60-9749-47CE-8B63-05D7A278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D5F9AC-B3A4-4C1F-8FA4-85616FEA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6739A1-8B50-49BC-B810-20374F11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3360D0-AC6D-42DE-A869-84119DC2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959355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84A744-B4CA-456C-BE93-F3D89ABC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MODELO DEL SENSOR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59737-2020-4BA0-9C7F-BB232162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12B"/>
                </a:solidFill>
              </a:defRPr>
            </a:pPr>
            <a:r>
              <a:rPr sz="2850" b="1" i="0">
                <a:solidFill>
                  <a:srgbClr val="17212B"/>
                </a:solidFill>
              </a:rPr>
              <a:t>La misma mecánica se ve distinta según la variable de entrada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00919-955F-4EF2-B137-650FE3EA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277DD-C89B-4158-9261-C0FB51BC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e7218e5bb4fe8"/>
          <a:stretch xmlns:a="http://schemas.openxmlformats.org/drawingml/2006/main"/>
        </p:blipFill>
        <p:spPr>
          <a:xfrm xmlns:a="http://schemas.openxmlformats.org/drawingml/2006/main">
            <a:off x="590550" y="1499714"/>
            <a:ext cx="5905500" cy="42395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7C2A8-B94D-4A17-B735-A6BB2A35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621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6F8B"/>
                </a:solidFill>
              </a:defRPr>
            </a:pPr>
            <a:r>
              <a:rPr sz="1650" b="1" i="0">
                <a:solidFill>
                  <a:srgbClr val="1F6F8B"/>
                </a:solidFill>
              </a:rPr>
              <a:t>referida a velocidad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1118D-4A3C-4E03-A2E4-E7CB4E3D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B3C49"/>
                </a:solidFill>
              </a:defRPr>
            </a:pPr>
            <a:r>
              <a:rPr sz="2100" b="0" i="0">
                <a:solidFill>
                  <a:srgbClr val="0B3C49"/>
                </a:solidFill>
              </a:rPr>
              <a:t>Hᵥ(s) ∝ s² / (s² + 2ζωₙs + ωₙ²)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632C8-0ACA-4ECB-B077-F9E5AB8E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289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5717C"/>
                </a:solidFill>
              </a:defRPr>
            </a:pPr>
            <a:r>
              <a:rPr sz="1575" b="0" i="0">
                <a:solidFill>
                  <a:srgbClr val="65717C"/>
                </a:solidFill>
              </a:rPr>
              <a:t>≈ 40 dB/década debajo de fₙ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2B538-BB7C-4B87-BA70-90F8A289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4325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B2F1C-5B02-448B-91D0-456D99D5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099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86F38"/>
                </a:solidFill>
              </a:defRPr>
            </a:pPr>
            <a:r>
              <a:rPr sz="1650" b="1" i="0">
                <a:solidFill>
                  <a:srgbClr val="E86F38"/>
                </a:solidFill>
              </a:rPr>
              <a:t>referida a aceleración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DC720-7FBA-4AD9-B4A9-1BC4F4A4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B3C49"/>
                </a:solidFill>
              </a:defRPr>
            </a:pPr>
            <a:r>
              <a:rPr sz="2100" b="0" i="0">
                <a:solidFill>
                  <a:srgbClr val="0B3C49"/>
                </a:solidFill>
              </a:rPr>
              <a:t>Hₐ(s) ∝ s / (s² + 2ζωₙs + ωₙ²)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B3705-ACA4-4CF5-8053-066A0183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862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5717C"/>
                </a:solidFill>
              </a:defRPr>
            </a:pPr>
            <a:r>
              <a:rPr sz="1575" b="0" i="0">
                <a:solidFill>
                  <a:srgbClr val="65717C"/>
                </a:solidFill>
              </a:rPr>
              <a:t>≈ 20 dB/década debajo de fₙ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C04E4-4592-4915-AEFE-357D23FC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1492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3C49"/>
                </a:solidFill>
              </a:defRPr>
            </a:pPr>
            <a:r>
              <a:rPr sz="1575" b="1" i="0">
                <a:solidFill>
                  <a:srgbClr val="0B3C49"/>
                </a:solidFill>
              </a:rPr>
              <a:t>Compensar no cambia la información física: sólo redistribuye ganancia y ruido.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C8223-EB7F-48E5-92CB-30ABC4CB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funciones de transferencia del geófono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954F2E-F250-4A0F-B622-CFEF676A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E1ECF-9182-44DC-B5F9-AE71A66F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A762B-4742-488C-8B69-35DB0AA7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9E8624-4094-43E7-A3A8-F66224A7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SENSOR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05251B-3CA3-45A3-84A6-B800F806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AE8879-7168-4D19-90A0-82012A18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46FC8F-0461-476E-9DE1-453CDBA1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755F7A-955A-406E-B3C1-4CEFCEA5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B31165-0658-403F-88DF-E78035E9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0706C5-FAAB-4DAD-81CD-7016BF3C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933176-6E5C-404A-ADEE-70216917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7381F7-2D4D-4DED-A462-76B99C88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874521-1C82-413D-9967-CE6E3D86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137B7F-7239-4746-A389-D1093816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1B03BC-619C-49A5-985D-3247FDD3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774109-4996-4E56-B48F-C0C729AC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C2C839-7C91-44DE-834C-4C53BFA2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23104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5B446D-0904-45AD-A92F-A3F6D091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IMPLEMENTACIÓN · AFE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61B11-6C04-4172-BAC8-DA426311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Compensación Ma para recuperar banda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0C800-FE4D-47C3-9CE4-11B474DA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74032-C55B-4594-87DC-14BECF3F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72cd9da9f4ddf"/>
          <a:stretch xmlns:a="http://schemas.openxmlformats.org/drawingml/2006/main"/>
        </p:blipFill>
        <p:spPr>
          <a:xfrm xmlns:a="http://schemas.openxmlformats.org/drawingml/2006/main">
            <a:off x="495300" y="2038441"/>
            <a:ext cx="5905500" cy="279064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ECC4B-085E-4B4B-A6D7-E51C0DC7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906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0B3C49"/>
                </a:solidFill>
              </a:defRPr>
            </a:pPr>
            <a:r>
              <a:rPr sz="3150" b="0" i="0">
                <a:solidFill>
                  <a:srgbClr val="0B3C49"/>
                </a:solidFill>
              </a:rPr>
              <a:t>ζ₁ ≈ 938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29A34-F0E1-4786-8233-8DF98355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625" b="0" i="0">
                <a:solidFill>
                  <a:srgbClr val="0B3C49"/>
                </a:solidFill>
              </a:defRPr>
            </a:pPr>
            <a:r>
              <a:rPr sz="2625" b="0" i="0">
                <a:solidFill>
                  <a:srgbClr val="0B3C49"/>
                </a:solidFill>
              </a:rPr>
              <a:t>1 / (2ζ₁) ≈ 5,3 × 10⁻⁴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CB3A7-6F9B-4155-A913-72CF5D39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4048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</a:defRPr>
            </a:pPr>
            <a:r>
              <a:rPr sz="1800" b="0" i="0">
                <a:solidFill>
                  <a:srgbClr val="17212B"/>
                </a:solidFill>
              </a:rPr>
              <a:t>La red genera una respuesta complementaria a la caída del sensor y distribuye la ganancia entre bloques.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C337D-F8F6-406B-9F5B-7179E5E7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29150"/>
            <a:ext cx="2952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73BF6-28E8-45DF-B6EF-1764517D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6725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GANANCIA TOTAL ≈ 1800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DCA4A-53F6-492F-AB79-08AD4A3E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compensación Ma y frente analógico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A0936-52A6-4B33-8C80-181C48E8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330D8-9088-4AF0-8987-520B81B5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6DE2D-937E-49E3-9915-0BE8EF7E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42F53-A40A-4F84-BB87-3ABC9629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2BF68-B756-4D1F-97C0-CB1BF367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4B8BF-F322-4937-959C-1AB4F8F5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D3013-B4F6-4990-8559-5F4FEDD5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15216D-714A-4357-A3E5-418E80FF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F02F5-A028-4885-842D-A992BC27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4A0D9F-BC8E-4BD8-941E-34628C87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0F458E-2A5E-4287-A94D-CFE0CB85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5DD751-88BB-43D1-A918-D00434E6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586593-0EA4-4A90-A498-D07F9818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180C43-CF73-48C3-8B9E-A385A982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A95C1E-3146-40BD-9A4F-923D6298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FF74C5-B1CE-4ADA-8618-B1DD0686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4A3D06-E258-4D43-BA28-CDB1A1B1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51418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E7013F-A2A9-4F8D-AE8F-2CCE7ADD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RESULTADO MEDIDO · AFE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C2853-D8D8-4E7E-A310-3065E9B6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Recuperar baja frecuencia consume rango dinámico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B811B-A44B-4039-9F4F-7F141114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99643-7CA5-4235-81DD-B32DE89A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208095e3644f0"/>
          <a:stretch xmlns:a="http://schemas.openxmlformats.org/drawingml/2006/main"/>
        </p:blipFill>
        <p:spPr>
          <a:xfrm xmlns:a="http://schemas.openxmlformats.org/drawingml/2006/main">
            <a:off x="523875" y="1933131"/>
            <a:ext cx="6572250" cy="346798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01AFF-AD1A-47FA-9D77-9B3C2DA8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76375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4"/>
          </a:solidFill>
          <a:ln xmlns:a="http://schemas.openxmlformats.org/drawingml/2006/main" w="9525">
            <a:solidFill>
              <a:srgbClr val="2F6F6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5603A-764B-454E-81DF-907A5E53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24000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F6F62"/>
                </a:solidFill>
              </a:defRPr>
            </a:pPr>
            <a:r>
              <a:rPr sz="975" b="1" i="0">
                <a:solidFill>
                  <a:srgbClr val="2F6F62"/>
                </a:solidFill>
              </a:rPr>
              <a:t>MEDIDO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65A19-BB3D-4F8C-B7DC-CEC25B61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76450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525" b="1" i="0">
                <a:solidFill>
                  <a:srgbClr val="E86F38"/>
                </a:solidFill>
              </a:defRPr>
            </a:pPr>
            <a:r>
              <a:rPr sz="3525" b="1" i="0">
                <a:solidFill>
                  <a:srgbClr val="E86F38"/>
                </a:solidFill>
              </a:rPr>
              <a:t>≈ 1876×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97CD8-B565-42D7-B21A-47A4150F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0"/>
            <a:ext cx="300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5717C"/>
                </a:solidFill>
              </a:defRPr>
            </a:pPr>
            <a:r>
              <a:rPr sz="1500" b="0" i="0">
                <a:solidFill>
                  <a:srgbClr val="65717C"/>
                </a:solidFill>
              </a:rPr>
              <a:t>compensación requerida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5949A-236B-4D11-8C52-040DBC90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57550"/>
            <a:ext cx="300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0F33E-BE05-4B5C-A09E-4955D846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71875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525" b="1" i="0">
                <a:solidFill>
                  <a:srgbClr val="0B3C49"/>
                </a:solidFill>
              </a:defRPr>
            </a:pPr>
            <a:r>
              <a:rPr sz="3525" b="1" i="0">
                <a:solidFill>
                  <a:srgbClr val="0B3C49"/>
                </a:solidFill>
              </a:rPr>
              <a:t>≈ 1800×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321DE-25AC-4877-820F-540C7B53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62425"/>
            <a:ext cx="300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5717C"/>
                </a:solidFill>
              </a:defRPr>
            </a:pPr>
            <a:r>
              <a:rPr sz="1500" b="0" i="0">
                <a:solidFill>
                  <a:srgbClr val="65717C"/>
                </a:solidFill>
              </a:rPr>
              <a:t>ganancia total disponible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55C17-9571-4A1A-9666-B6451F9F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19650"/>
            <a:ext cx="3190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212B"/>
                </a:solidFill>
              </a:defRPr>
            </a:pPr>
            <a:r>
              <a:rPr sz="1575" b="1" i="0">
                <a:solidFill>
                  <a:srgbClr val="17212B"/>
                </a:solidFill>
              </a:rPr>
              <a:t>La forma del barrido está verificada; la calibración sísmica extremo a extremo aún está abierta.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78B79-0486-448D-9744-B524E3B0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respuesta medida del AFE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5406F-5635-4F29-9FF6-DAED6730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7B26D-013F-4603-A4E7-68A172DB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9513F-EF00-4738-B756-98536AD2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241FD-9060-4526-B2F7-0B2CA65E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B4381B-95D8-46BC-B1F5-5FB56485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895401-85FB-49AF-881F-63256396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3B660-AA28-493F-9445-B764E5C4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960FCC-0CAB-410B-B751-360ED90C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C9D087-32E0-4CE5-AA19-A581C715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1B380C-F5CC-4FC1-9283-AEC8DF45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C0275B-2828-4F51-9231-1375E1CE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7934F2-34D8-4978-8690-C4BD34E8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8EBEAE-CB30-4CC7-806F-AA7A691E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7F21C5-81A9-4AD0-B72A-8C4DB594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A575B8-9545-49A3-AAF2-89066B63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9D9DBF-C27D-48B3-BA7C-BD119612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7E4BA0-BD98-4E63-A880-4ACAD787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58390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267C91-ABC0-44B2-A54F-D58ED181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RIESGO DE MEDICIÓN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3433F-28CE-4EA9-BD72-1F89649B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El offset compite con la señal por la ventana del ADC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C5A73-6A2B-4D2E-ADBC-26228490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B2187-9A72-40A5-B380-C364D927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1998997064857"/>
          <a:stretch xmlns:a="http://schemas.openxmlformats.org/drawingml/2006/main"/>
        </p:blipFill>
        <p:spPr>
          <a:xfrm xmlns:a="http://schemas.openxmlformats.org/drawingml/2006/main">
            <a:off x="495300" y="1775051"/>
            <a:ext cx="7143750" cy="357459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1B04C-0F33-4F33-B7F3-86B39E77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430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B23A2B"/>
                </a:solidFill>
              </a:defRPr>
            </a:pPr>
            <a:r>
              <a:rPr sz="1875" b="1" i="0">
                <a:solidFill>
                  <a:srgbClr val="B23A2B"/>
                </a:solidFill>
              </a:rPr>
              <a:t>Sin corrección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69ADC-E89C-47E6-9D12-555D8A11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el offset consume margen y produce recorte en los rieles del ADC.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A2D0E-B207-4608-93E3-2388E9FE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242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7EAF4-A402-4644-B488-1EDD93B2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6F62"/>
                </a:solidFill>
              </a:defRPr>
            </a:pPr>
            <a:r>
              <a:rPr sz="1875" b="1" i="0">
                <a:solidFill>
                  <a:srgbClr val="2F6F62"/>
                </a:solidFill>
              </a:rPr>
              <a:t>Con corrección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CE77B-D666-4B55-ACE9-9DB0DF40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481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la señal queda centrada y la ganancia disponible se aprovecha mejor.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ECEEE-E7DE-4B37-A97E-4B0E4BEC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197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3C49"/>
                </a:solidFill>
              </a:defRPr>
            </a:pPr>
            <a:r>
              <a:rPr sz="1500" b="1" i="0">
                <a:solidFill>
                  <a:srgbClr val="0B3C49"/>
                </a:solidFill>
              </a:rPr>
              <a:t>La corrección se congela durante la adquisición para no modular la fase.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F62A5-CE0D-43B0-A955-E7331CB3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motivación de la calibración de offset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1FAA0-70C9-4940-A42A-BD6FED76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ED05C-3311-419C-9A51-9E9A1E2A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D1516-944D-4F11-8F90-731E6F47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B93F0-0100-43D8-8C0D-37C8D8DB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265927-CAED-428B-969A-A480042E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537FC4-AD3D-49DA-9C1A-8827B4C3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C2B634-5C52-41E2-BE50-B8E68CE1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12B23-F0FC-4DFF-B4DA-BC2DBAC7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ADC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2B6F18-342F-4D43-9C10-47B88A0F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2F323-BA6A-405D-B484-04F8D111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19B3F0-66A0-494A-8D68-BE1E389E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8FA79D-6D85-4300-8C83-0D1B97DC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56BEDC-9E39-482C-BB39-6D475B1D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0E3CEA-0286-4680-A704-3D5F9ADF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F962A0-A33C-4F4F-A91F-2D2FB95B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8AB5AB-5A63-433D-9145-2FA08C8F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AD4E87-BD1E-4DD7-AD9D-34D3698D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54731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E1D6A1-D0E0-42C2-ACC5-F0FE9C43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FIRMWARE REAL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45C86-B61C-4971-A440-BF37017F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Calibración foreground implementada y auditable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FC887-9B6F-438D-85DE-17522A87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76276-369B-4DD1-9703-923ABB8F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0f483b50a43bf"/>
          <a:stretch xmlns:a="http://schemas.openxmlformats.org/drawingml/2006/main"/>
        </p:blipFill>
        <p:spPr>
          <a:xfrm xmlns:a="http://schemas.openxmlformats.org/drawingml/2006/main">
            <a:off x="495300" y="1503712"/>
            <a:ext cx="6762750" cy="43268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796A9-4E79-40B4-9919-1EE89B52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4780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C"/>
          </a:solidFill>
          <a:ln xmlns:a="http://schemas.openxmlformats.org/drawingml/2006/main" w="9525">
            <a:solidFill>
              <a:srgbClr val="0B3C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2CCEA-0F39-4687-A887-9D4F2B67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49542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B3C49"/>
                </a:solidFill>
              </a:defRPr>
            </a:pPr>
            <a:r>
              <a:rPr sz="975" b="1" i="0">
                <a:solidFill>
                  <a:srgbClr val="0B3C49"/>
                </a:solidFill>
              </a:rPr>
              <a:t>IMPLEMENTADO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FE0D9-80D9-4DD6-A561-309AE1B9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9550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3C49"/>
                </a:solidFill>
              </a:defRPr>
            </a:pPr>
            <a:r>
              <a:rPr sz="1725" b="1" i="0">
                <a:solidFill>
                  <a:srgbClr val="0B3C49"/>
                </a:solidFill>
              </a:rPr>
              <a:t>128 taps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868D8-502B-4189-BEB8-9EBF3BB1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2B"/>
                </a:solidFill>
              </a:defRPr>
            </a:pPr>
            <a:r>
              <a:rPr sz="1500" b="0" i="0">
                <a:solidFill>
                  <a:srgbClr val="17212B"/>
                </a:solidFill>
              </a:rPr>
              <a:t>FIR para estimar offset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51474-A926-42F2-A599-FFA13AC5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47950"/>
            <a:ext cx="347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221F9-6B8D-4BAE-B3FA-BF851E81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3370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3C49"/>
                </a:solidFill>
              </a:defRPr>
            </a:pPr>
            <a:r>
              <a:rPr sz="1725" b="1" i="0">
                <a:solidFill>
                  <a:srgbClr val="0B3C49"/>
                </a:solidFill>
              </a:rPr>
              <a:t>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7E55B-F047-4D01-8B1C-EE59A847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33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2B"/>
                </a:solidFill>
              </a:defRPr>
            </a:pPr>
            <a:r>
              <a:rPr sz="1500" b="0" i="0">
                <a:solidFill>
                  <a:srgbClr val="17212B"/>
                </a:solidFill>
              </a:rPr>
              <a:t>deadband + anti-windup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60E0C-9316-4FF6-BEAE-953A40EF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86150"/>
            <a:ext cx="347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0E274-42FC-4E77-97BD-CB3CDB99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7190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3C49"/>
                </a:solidFill>
              </a:defRPr>
            </a:pPr>
            <a:r>
              <a:rPr sz="1725" b="1" i="0">
                <a:solidFill>
                  <a:srgbClr val="0B3C49"/>
                </a:solidFill>
              </a:rPr>
              <a:t>EEPROM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4CE94-3611-44BF-AC36-567850A2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719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2B"/>
                </a:solidFill>
              </a:defRPr>
            </a:pPr>
            <a:r>
              <a:rPr sz="1500" b="0" i="0">
                <a:solidFill>
                  <a:srgbClr val="17212B"/>
                </a:solidFill>
              </a:rPr>
              <a:t>códigos por ganancia + CRC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BBA04-A4BF-49A7-BED7-FDC50B8E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24350"/>
            <a:ext cx="347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1E1DE-8102-49B6-A89E-7C0C7F6A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1010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86F38"/>
                </a:solidFill>
              </a:defRPr>
            </a:pPr>
            <a:r>
              <a:rPr sz="1725" b="1" i="0">
                <a:solidFill>
                  <a:srgbClr val="E86F38"/>
                </a:solidFill>
              </a:rPr>
              <a:t>CAPTURA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EF6C3-3DBA-47AE-87F7-494DE957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01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2B"/>
                </a:solidFill>
              </a:defRPr>
            </a:pPr>
            <a:r>
              <a:rPr sz="1500" b="0" i="0">
                <a:solidFill>
                  <a:srgbClr val="17212B"/>
                </a:solidFill>
              </a:rPr>
              <a:t>control congelado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A35AC-9159-43DE-ABE3-60946232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62550"/>
            <a:ext cx="347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223DC3-CAA8-40C9-A00C-968180CF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8162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717C"/>
                </a:solidFill>
              </a:defRPr>
            </a:pPr>
            <a:r>
              <a:rPr sz="1350" b="0" i="0">
                <a:solidFill>
                  <a:srgbClr val="65717C"/>
                </a:solidFill>
              </a:rPr>
              <a:t>El grafo confirma las rutinas cal_pi_* y las etapas de servicio en calibration.c.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F93C61-399D-486C-9269-0A44B4FC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+ código indexado · calibration.c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B76B10-68B0-4FB0-9204-64E3BCBD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1609AF-D7F0-4CE4-A539-2ED6CC49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AD56AF-FD64-451B-B610-A636D26C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45D291-E997-4FE9-BAA9-FE3B519C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46FBA1-EC22-47AA-898B-45B52687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693845-65DB-47ED-877B-50D35B95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E9FEF3-7790-42B9-916F-D32FC82F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F8CB9B-63D1-4263-87CC-51619906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66ADCE-5B04-402C-AFF4-D371F018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B97954-B7D8-436D-9E78-E3D184CF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D51D24-CC16-4F96-92D8-962ABABE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82C6DA-7341-4703-9558-264270EA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69059D-E73F-4CBE-83D3-EF3A6C4B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4281E2-607C-42CC-86B6-11029FB6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4F5A87-79DA-4337-A83B-CE253B9D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E39200-FE20-436E-BD41-B96DCFBC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4B56F7-4097-4688-9828-76623716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502395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A33094-15B4-45F5-9D06-70C8A2E3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DECISIÓN DE DISEÑO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A74BD-2549-4859-AAC9-D6283476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12B"/>
                </a:solidFill>
              </a:defRPr>
            </a:pPr>
            <a:r>
              <a:rPr sz="2850" b="1" i="0">
                <a:solidFill>
                  <a:srgbClr val="17212B"/>
                </a:solidFill>
              </a:rPr>
              <a:t>La revisión candidata amplía margen, pero aún no es resultado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CE024-E6C6-4399-A780-CD89D77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ADC76-AB44-4EAE-8F5E-0D35B8BE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7db3e5d9b42e1"/>
          <a:stretch xmlns:a="http://schemas.openxmlformats.org/drawingml/2006/main"/>
        </p:blipFill>
        <p:spPr>
          <a:xfrm xmlns:a="http://schemas.openxmlformats.org/drawingml/2006/main">
            <a:off x="476250" y="2234642"/>
            <a:ext cx="7143750" cy="286496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CABB8-6860-48A4-885F-ECEC689E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57325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DED3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77B90-C287-4003-8F76-9FECC98D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86F38"/>
                </a:solidFill>
              </a:defRPr>
            </a:pPr>
            <a:r>
              <a:rPr sz="975" b="1" i="0">
                <a:solidFill>
                  <a:srgbClr val="E86F38"/>
                </a:solidFill>
              </a:rPr>
              <a:t>CANDIDATO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2FDFA-1A7D-427C-8E3E-D5427545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457325"/>
            <a:ext cx="12858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3DEDA"/>
          </a:solidFill>
          <a:ln xmlns:a="http://schemas.openxmlformats.org/drawingml/2006/main" w="9525">
            <a:solidFill>
              <a:srgbClr val="B23A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8F815-E4B9-4C60-8030-DF22131F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04950"/>
            <a:ext cx="1133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23A2B"/>
                </a:solidFill>
              </a:defRPr>
            </a:pPr>
            <a:r>
              <a:rPr sz="975" b="1" i="0">
                <a:solidFill>
                  <a:srgbClr val="B23A2B"/>
                </a:solidFill>
              </a:rPr>
              <a:t>PENDIENTE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20D6D-B70A-43F9-A21C-3C55BE3A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431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3C49"/>
                </a:solidFill>
              </a:defRPr>
            </a:pPr>
            <a:r>
              <a:rPr sz="2025" b="1" i="0">
                <a:solidFill>
                  <a:srgbClr val="0B3C49"/>
                </a:solidFill>
              </a:rPr>
              <a:t>PGA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8EAB8-1250-4B70-BDFE-4EF98E55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17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12B"/>
                </a:solidFill>
              </a:defRPr>
            </a:pPr>
            <a:r>
              <a:rPr sz="1650" b="0" i="0">
                <a:solidFill>
                  <a:srgbClr val="17212B"/>
                </a:solidFill>
              </a:rPr>
              <a:t>rango aproximado 2,06–3,02 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630AC-0B4C-46B9-AFD7-37CF9C41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86125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1C4C0-A769-4D5C-92AA-D600B23F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62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E86F38"/>
                </a:solidFill>
              </a:defRPr>
            </a:pPr>
            <a:r>
              <a:rPr sz="2025" b="1" i="0">
                <a:solidFill>
                  <a:srgbClr val="E86F38"/>
                </a:solidFill>
              </a:rPr>
              <a:t>IDAC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F1C0A-B85C-48C6-9259-3A95EDDD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90975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12B"/>
                </a:solidFill>
              </a:defRPr>
            </a:pPr>
            <a:r>
              <a:rPr sz="1650" b="0" i="0">
                <a:solidFill>
                  <a:srgbClr val="17212B"/>
                </a:solidFill>
              </a:rPr>
              <a:t>reemplaza VDAC para corrección fina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A4524-73DB-443F-B4D8-DAE4DA2B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95825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037A0-67F5-4F6B-83A6-9D3F7945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720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F6F62"/>
                </a:solidFill>
              </a:defRPr>
            </a:pPr>
            <a:r>
              <a:rPr sz="2025" b="1" i="0">
                <a:solidFill>
                  <a:srgbClr val="2F6F62"/>
                </a:solidFill>
              </a:rPr>
              <a:t>Hasta ×50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10469-F8A1-4117-99C7-9A0E6B09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816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5717C"/>
                </a:solidFill>
              </a:defRPr>
            </a:pPr>
            <a:r>
              <a:rPr sz="1500" b="0" i="0">
                <a:solidFill>
                  <a:srgbClr val="65717C"/>
                </a:solidFill>
              </a:rPr>
              <a:t>requiere prototipo y barrido completo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C616A-F21E-46BF-AEB3-CB91F03A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propuesta IDAC + PGAout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3443D-826C-4134-A548-9B44530B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E7D4E3-8C2E-4C58-B2E1-6BDC4531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70426-B8E9-46E4-ACC8-18A1E455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0F4B1-9634-41D2-A81F-31DF5434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9054C8-B1AE-4475-8042-4A1E3670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D3DBA6-E7D2-4C56-8A5D-D7E10F9C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73C70B-8E06-4A20-832F-151A035F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D219E3-93E4-4C44-A65F-3EF9D119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84F0FE-4807-4213-B23B-696C5548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47AA10-6EAC-46D1-B65E-8E9AC9E1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F78D90-687F-41B6-96FE-F1F2CCC1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6B9BC4-852A-400D-B300-4A716551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352A5A-BF95-433F-A4F7-238B07FE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4B2955-37C5-4FCF-8CB8-5D610AFF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AD270A-1DD8-491B-8989-1CEC5B81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61C03A-224A-4B67-9CCA-E6F014C6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CE049F-C803-4B51-924F-A8E89EB9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13809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56C008-B82C-4E09-9A09-AE5532D3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IMPLEMENTACIÓN · ADQUISICIÓN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435A8-19FB-4BAF-B2EA-B381EA25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La captura digital separa timing y transporte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C7066-F664-4208-967B-69D26465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C3419-6039-4175-9E6B-F29E69D7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f5b88d4034317"/>
          <a:stretch xmlns:a="http://schemas.openxmlformats.org/drawingml/2006/main"/>
        </p:blipFill>
        <p:spPr>
          <a:xfrm xmlns:a="http://schemas.openxmlformats.org/drawingml/2006/main">
            <a:off x="495300" y="2081281"/>
            <a:ext cx="7334250" cy="31907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BFA36-ABA1-495E-9F5A-7C8CB4AD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457325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C"/>
          </a:solidFill>
          <a:ln xmlns:a="http://schemas.openxmlformats.org/drawingml/2006/main" w="9525">
            <a:solidFill>
              <a:srgbClr val="0B3C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346E1-33A8-403E-A043-8720B2D0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15049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B3C49"/>
                </a:solidFill>
              </a:defRPr>
            </a:pPr>
            <a:r>
              <a:rPr sz="975" b="1" i="0">
                <a:solidFill>
                  <a:srgbClr val="0B3C49"/>
                </a:solidFill>
              </a:rPr>
              <a:t>IMPLEMENTADO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FC9BC-F859-433F-B996-3D98D1B4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431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C49"/>
                </a:solidFill>
              </a:defRPr>
            </a:pPr>
            <a:r>
              <a:rPr sz="2100" b="1" i="0">
                <a:solidFill>
                  <a:srgbClr val="0B3C49"/>
                </a:solidFill>
              </a:rPr>
              <a:t>18 bits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ED937-0989-4C4F-927A-36A55326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621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</a:defRPr>
            </a:pPr>
            <a:r>
              <a:rPr sz="1425" b="0" i="0">
                <a:solidFill>
                  <a:srgbClr val="17212B"/>
                </a:solidFill>
              </a:rPr>
              <a:t>ADC ΔΣ nominal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DEB1B-C5EF-4061-95EB-03124EE2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14625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420A6-99A9-4633-893B-400984F3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813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E86F38"/>
                </a:solidFill>
              </a:defRPr>
            </a:pPr>
            <a:r>
              <a:rPr sz="2100" b="1" i="0">
                <a:solidFill>
                  <a:srgbClr val="E86F38"/>
                </a:solidFill>
              </a:rPr>
              <a:t>2604 SPS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43F3C-9781-4D44-B87C-195EF6DD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003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</a:defRPr>
            </a:pPr>
            <a:r>
              <a:rPr sz="1425" b="0" i="0">
                <a:solidFill>
                  <a:srgbClr val="17212B"/>
                </a:solidFill>
              </a:rPr>
              <a:t>tasa de muestreo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A84C0-A7D5-4DE4-AB9A-FED3C062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52825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09B99-FB34-4289-838B-ED44FB47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95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C49"/>
                </a:solidFill>
              </a:defRPr>
            </a:pPr>
            <a:r>
              <a:rPr sz="2100" b="1" i="0">
                <a:solidFill>
                  <a:srgbClr val="0B3C49"/>
                </a:solidFill>
              </a:rPr>
              <a:t>DMA ×2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E6860-790A-4B32-AD6B-1B854A1B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385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</a:defRPr>
            </a:pPr>
            <a:r>
              <a:rPr sz="1425" b="0" i="0">
                <a:solidFill>
                  <a:srgbClr val="17212B"/>
                </a:solidFill>
              </a:rPr>
              <a:t>RAM filtrada + cruda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EE287-A20D-455F-A3E6-FFBB90B5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91025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2EF2D-6C35-42BE-8E9F-2542BA85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577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C49"/>
                </a:solidFill>
              </a:defRPr>
            </a:pPr>
            <a:r>
              <a:rPr sz="2100" b="1" i="0">
                <a:solidFill>
                  <a:srgbClr val="0B3C49"/>
                </a:solidFill>
              </a:rPr>
              <a:t>UDB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0BD9AC-03DF-47F1-9C86-8889895E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767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</a:defRPr>
            </a:pPr>
            <a:r>
              <a:rPr sz="1425" b="0" i="0">
                <a:solidFill>
                  <a:srgbClr val="17212B"/>
                </a:solidFill>
              </a:rPr>
              <a:t>timing en hardware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032CF-ACB5-4318-9126-7519FE10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29225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C36B9-A1A2-481E-AA62-740654BF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768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17C"/>
                </a:solidFill>
              </a:defRPr>
            </a:pPr>
            <a:r>
              <a:rPr sz="1275" b="0" i="0">
                <a:solidFill>
                  <a:srgbClr val="65717C"/>
                </a:solidFill>
              </a:rPr>
              <a:t>El grafo confirma DMA para RAM filtrada y cruda, además de estados psoc_arm y psoc_enter_sampling.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9F031-5E7F-4D6E-9A5F-9684934D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+ código indexado · PSoC firmware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9EE247-4FBF-4913-9759-420F6F3F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6CF273-2377-44CD-AABF-DA1DB138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491E8C-8555-4245-B9C5-0883A13C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124678-54E8-4E71-82FC-E92761FF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CEA8FB-4AD8-4C00-9171-A24A1223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25314D-6702-4679-BC7F-49D0B970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AFE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C78C2F-1342-49B6-883B-5F1DE81D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24EA2D-DFED-476B-B748-F3950707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ADC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11C1F7-D843-44F2-9FA7-95BDF834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6A5D8E-522E-4F52-9788-71CFEE08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68D527-8281-42B2-815D-FEF7CC4C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FA8F1D-C13A-4AA5-B8F8-59F07A29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3FCE89-B0B3-4247-8742-8EAF4D27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923432-0C64-4A47-8FBA-6C03548D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8E6011-4349-4FD1-B90B-0D3B79A7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6DA9EA-60C9-4F8E-AEF2-A68BB911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FA8872-DE2F-471E-AE6A-C88693D5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00889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276F49-C37F-4E50-9D63-830A21D9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DECISIÓN · COMUNICACIÓN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81575-D156-415A-9882-136D3994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12B"/>
                </a:solidFill>
              </a:defRPr>
            </a:pPr>
            <a:r>
              <a:rPr sz="2850" b="1" i="0">
                <a:solidFill>
                  <a:srgbClr val="17212B"/>
                </a:solidFill>
              </a:rPr>
              <a:t>La red inalámbrica prioriza campo autónomo e integridad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21561-FC7D-44E2-A2C2-A1DC83ED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676B0-20F7-472E-9D80-EF479F2C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1F72E-A328-4F8F-BD26-63EC80CE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952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65717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AE623-D286-4963-942E-5061CE65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65717C"/>
                </a:solidFill>
              </a:defRPr>
            </a:pPr>
            <a:r>
              <a:rPr sz="2400" b="1" i="0">
                <a:solidFill>
                  <a:srgbClr val="65717C"/>
                </a:solidFill>
              </a:rPr>
              <a:t>Wi-Fi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A4791-485E-491C-BA2B-5C4BC05F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infraestructura</a:t>
            </a:r>
          </a:p>
          <a:p xmlns:a="http://schemas.openxmlformats.org/drawingml/2006/main">
            <a:pPr algn="ctr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y mayor complejidad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8A41A-16C4-47E3-A17F-DD0B5047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2952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DED3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FB060-B9CC-42F5-AFAC-7EDB37CF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E86F38"/>
                </a:solidFill>
              </a:defRPr>
            </a:pPr>
            <a:r>
              <a:rPr sz="2400" b="1" i="0">
                <a:solidFill>
                  <a:srgbClr val="E86F38"/>
                </a:solidFill>
              </a:rPr>
              <a:t>ESP-NOW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C4E19-DCC8-4B7A-90FD-7FDEBB97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670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sin router</a:t>
            </a:r>
          </a:p>
          <a:p xmlns:a="http://schemas.openxmlformats.org/drawingml/2006/main">
            <a:pPr algn="ctr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y baja sobrecarga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24B19-79F2-42A9-8564-6E0AB103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6195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DED3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D7210-A48E-427B-BBDF-05583E38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67125"/>
            <a:ext cx="1419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86F38"/>
                </a:solidFill>
              </a:defRPr>
            </a:pPr>
            <a:r>
              <a:rPr sz="975" b="1" i="0">
                <a:solidFill>
                  <a:srgbClr val="E86F38"/>
                </a:solidFill>
              </a:rPr>
              <a:t>SELECCIONADO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F7CB3-CFF0-411C-A03B-0C7FEBB0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2952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0B3C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D1F71-6D3D-49CE-835F-4D00D42B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B3C49"/>
                </a:solidFill>
              </a:defRPr>
            </a:pPr>
            <a:r>
              <a:rPr sz="2400" b="1" i="0">
                <a:solidFill>
                  <a:srgbClr val="0B3C49"/>
                </a:solidFill>
              </a:rPr>
              <a:t>cable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A0AFD-C287-49EF-B49D-27E6FEC9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670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robusto</a:t>
            </a:r>
          </a:p>
          <a:p xmlns:a="http://schemas.openxmlformats.org/drawingml/2006/main">
            <a:pPr algn="ctr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pero menos desplegable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BD57C-DAE0-45B1-A533-87A621B7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45148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BE526-35CC-433F-B5C1-45DADBFE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724525" y="50101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737049-E417-431B-97B8-F9F30232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3C49"/>
                </a:solidFill>
              </a:defRPr>
            </a:pPr>
            <a:r>
              <a:rPr sz="1875" b="1" i="0">
                <a:solidFill>
                  <a:srgbClr val="0B3C49"/>
                </a:solidFill>
              </a:rPr>
              <a:t>Decisión: ESP-NOW + maestro con Wi-Fi propia + respaldo local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661ED-D73A-43C8-A34B-00E41EB5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8102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5717C"/>
                </a:solidFill>
              </a:defRPr>
            </a:pPr>
            <a:r>
              <a:rPr sz="1425" b="0" i="0">
                <a:solidFill>
                  <a:srgbClr val="65717C"/>
                </a:solidFill>
              </a:rPr>
              <a:t>La red transporta capturas completas; no gobierna el reloj de muestreo.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473F6D-D558-4569-B934-6229DD4F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arquitectura ESP32/ESP-NOW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CAEBE4-713F-440F-9B0B-B853898A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EB8D5-5401-4015-BF6A-B52BF47E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AE72C8-83DB-4429-843C-55EBCFAC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B0955-9A84-4B62-96F6-5267CECA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28D692-1F7B-4932-9F24-7A01DCA9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845AEC-453D-4AA4-A80C-846EF70C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AFE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542AD5-66FD-4C76-8E54-11C3AF37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602FF7-773A-4EF4-BD62-BC93284C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8A358F-CC52-4EAD-B911-66B9B1CD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B759A6-AFFC-4609-8BFE-F1A338C2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SINCRONÍA / 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F6C8EC-D3C5-4BB8-9E36-7ECBEC3C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F4482C-BF17-412D-B208-699542AD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E9244B-8AB6-4CB5-BDEC-F4C9FF48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405C1F-3CEC-43B3-BC8A-7C2F0AEE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753883-F9A3-41D8-B944-4A0FA812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907785-0703-4B2F-BC59-44213DBD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F12A2E-93DB-4A83-B470-8619133A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72684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FEC2CD-1A71-40C9-B227-2012DF76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SINCRONIZACIÓN MEDIDA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8B3C4-C84F-4447-8CD6-98C610D9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El error temporal se traduce en error de velocidad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10BE1-A7BD-473A-8AEA-2D0B89D8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75D0E-E7DE-4DB8-B498-E1A66721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9F665-CDC9-49A4-BDA8-6D9AB0D5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38275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4"/>
          </a:solidFill>
          <a:ln xmlns:a="http://schemas.openxmlformats.org/drawingml/2006/main" w="9525">
            <a:solidFill>
              <a:srgbClr val="2F6F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0451A-8AFE-4F58-BBEE-826056F6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485900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F6F62"/>
                </a:solidFill>
              </a:defRPr>
            </a:pPr>
            <a:r>
              <a:rPr sz="975" b="1" i="0">
                <a:solidFill>
                  <a:srgbClr val="2F6F62"/>
                </a:solidFill>
              </a:rPr>
              <a:t>MEDIDO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DADC9-B81D-4187-B5F5-DDC10F88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75" b="0" i="0">
                <a:solidFill>
                  <a:srgbClr val="0B3C49"/>
                </a:solidFill>
              </a:defRPr>
            </a:pPr>
            <a:r>
              <a:rPr sz="3675" b="0" i="0">
                <a:solidFill>
                  <a:srgbClr val="0B3C49"/>
                </a:solidFill>
              </a:rPr>
              <a:t>Δc / c ≈ c · Δt / Δx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E5EFD-9AAE-4948-86AE-65DB18A8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5429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CE9EC"/>
          </a:solidFill>
          <a:ln xmlns:a="http://schemas.openxmlformats.org/drawingml/2006/main" w="9525">
            <a:solidFill>
              <a:srgbClr val="1F6F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B3E98-0C7C-433A-99DA-6356BD64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6F8B"/>
                </a:solidFill>
              </a:defRPr>
            </a:pPr>
            <a:r>
              <a:rPr sz="1350" b="1" i="0">
                <a:solidFill>
                  <a:srgbClr val="1F6F8B"/>
                </a:solidFill>
              </a:rPr>
              <a:t>CASO DE REFERENCIA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7B790-405C-4BE2-9D20-DE8D0FF1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212B"/>
                </a:solidFill>
              </a:defRPr>
            </a:pPr>
            <a:r>
              <a:rPr sz="2025" b="1" i="0">
                <a:solidFill>
                  <a:srgbClr val="17212B"/>
                </a:solidFill>
              </a:rPr>
              <a:t>c = 100 m/s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B4FCA-82CB-4F13-8454-B88B9862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147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212B"/>
                </a:solidFill>
              </a:defRPr>
            </a:pPr>
            <a:r>
              <a:rPr sz="2025" b="1" i="0">
                <a:solidFill>
                  <a:srgbClr val="17212B"/>
                </a:solidFill>
              </a:rPr>
              <a:t>Δx = 2 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0CC06-D69A-4BE2-943C-C4913EF3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212B"/>
                </a:solidFill>
              </a:defRPr>
            </a:pPr>
            <a:r>
              <a:rPr sz="2025" b="1" i="0">
                <a:solidFill>
                  <a:srgbClr val="17212B"/>
                </a:solidFill>
              </a:rPr>
              <a:t>Δt = 200 µs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F19A6-1134-4C68-A9F0-04FAE776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86188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DC774-B653-4497-B3AA-4E7D9F2C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96150" y="37242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CF117-080A-42EB-8C21-A3954F5A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400" b="1" i="0">
                <a:solidFill>
                  <a:srgbClr val="E86F38"/>
                </a:solidFill>
              </a:defRPr>
            </a:pPr>
            <a:r>
              <a:rPr sz="5400" b="1" i="0">
                <a:solidFill>
                  <a:srgbClr val="E86F38"/>
                </a:solidFill>
              </a:rPr>
              <a:t>≈ 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43D88-BB8B-428E-9C75-5370E673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95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5717C"/>
                </a:solidFill>
              </a:defRPr>
            </a:pPr>
            <a:r>
              <a:rPr sz="1650" b="0" i="0">
                <a:solidFill>
                  <a:srgbClr val="65717C"/>
                </a:solidFill>
              </a:rPr>
              <a:t>error relativo de velocidad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B0AD3-DF01-4683-ACF0-0B44DD73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958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73611-1C48-4A6F-AFA8-8015DD92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3C49"/>
                </a:solidFill>
              </a:defRPr>
            </a:pPr>
            <a:r>
              <a:rPr sz="1875" b="1" i="0">
                <a:solidFill>
                  <a:srgbClr val="0B3C49"/>
                </a:solidFill>
              </a:rPr>
              <a:t>100 µs a 100 Hz = 3,6°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FE244-BE87-4330-B0E7-4155AF51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149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F6F62"/>
                </a:solidFill>
              </a:defRPr>
            </a:pPr>
            <a:r>
              <a:rPr sz="1575" b="1" i="0">
                <a:solidFill>
                  <a:srgbClr val="2F6F62"/>
                </a:solidFill>
              </a:rPr>
              <a:t>128 disparos: 100–200 µs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97DA2-56B0-4D08-9B06-59620D77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medición de sincronismo y propagación de error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F50CAC-915B-440A-83E3-19E6E80F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28E97-7264-4DF5-A6B5-F8C855E5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721800-AD54-4995-A825-177DFDE1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3E282D-B8B2-4D53-A5BF-7C01568D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87DF00-7DEC-4935-926E-E528E396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235487-805F-468C-A834-B4D060BE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AFE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693842-FE30-42DB-B664-9C49931D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8370CB-0DA6-4814-B3AC-E3D90E62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2C3256-B22D-4185-819D-EB49F5CB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B7E816-7623-43D9-8419-8084EF18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SINCRONÍA / 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271EA0-4A71-4ED3-87C1-5ACB29F6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A042D0-6C0A-4522-B7FA-A6A4C165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B5D585-2ADA-4656-8A79-6DFCA489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429A03-9BD1-4C2D-85B8-311CCE28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43DCB3-44B9-4340-B4B7-1A7A521F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33102E-078B-4F52-8B4F-4EF0BAB8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63574F-47D0-4579-B42C-ABD5B29D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12734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5602F2-0F00-4C40-9FA5-DB17917D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INTEGRIDAD AUDITABLE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EFA29-8638-4D20-B5C8-DE11AAD0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Secuencia, ACK y respaldo hacen auditable cada captura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62D1C-BA71-425F-9388-602C0687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04267-19F2-4059-B62A-EE06CA53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2C623-6D80-4AD4-B02B-AE6010FE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3C49"/>
                </a:solidFill>
              </a:defRPr>
            </a:pPr>
            <a:r>
              <a:rPr sz="1425" b="1" i="0">
                <a:solidFill>
                  <a:srgbClr val="0B3C49"/>
                </a:solidFill>
              </a:rPr>
              <a:t>ESCLAVO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B7722-D824-4AE0-B31D-3E67E678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19250"/>
            <a:ext cx="102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E9EC"/>
          </a:solidFill>
          <a:ln xmlns:a="http://schemas.openxmlformats.org/drawingml/2006/main" w="9525">
            <a:solidFill>
              <a:srgbClr val="1F6F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218B1-01C7-46B8-9C1B-537B240A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7907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3C49"/>
                </a:solidFill>
              </a:defRPr>
            </a:pPr>
            <a:r>
              <a:rPr sz="1500" b="1" i="0">
                <a:solidFill>
                  <a:srgbClr val="0B3C49"/>
                </a:solidFill>
              </a:rPr>
              <a:t>frag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63A03-0B73-4889-A915-068291DD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02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E9EC"/>
          </a:solidFill>
          <a:ln xmlns:a="http://schemas.openxmlformats.org/drawingml/2006/main" w="9525">
            <a:solidFill>
              <a:srgbClr val="1F6F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7E79B-A483-43CE-9EB9-5960A06B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7907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3C49"/>
                </a:solidFill>
              </a:defRPr>
            </a:pPr>
            <a:r>
              <a:rPr sz="1500" b="1" i="0">
                <a:solidFill>
                  <a:srgbClr val="0B3C49"/>
                </a:solidFill>
              </a:rPr>
              <a:t>frag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F7ABD-4E39-462B-9FAB-3C03238A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102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DED3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D258A-9BF8-4A4E-A8F0-B6AF13A2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907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86F38"/>
                </a:solidFill>
              </a:defRPr>
            </a:pPr>
            <a:r>
              <a:rPr sz="1500" b="1" i="0">
                <a:solidFill>
                  <a:srgbClr val="E86F38"/>
                </a:solidFill>
              </a:rPr>
              <a:t>frag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EC974-A3E8-42DB-9D1A-C509919C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19250"/>
            <a:ext cx="102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E9EC"/>
          </a:solidFill>
          <a:ln xmlns:a="http://schemas.openxmlformats.org/drawingml/2006/main" w="9525">
            <a:solidFill>
              <a:srgbClr val="1F6F8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0FC9B-EF0D-4DA2-BB6D-F1BE9578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7907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3C49"/>
                </a:solidFill>
              </a:defRPr>
            </a:pPr>
            <a:r>
              <a:rPr sz="1500" b="1" i="0">
                <a:solidFill>
                  <a:srgbClr val="0B3C49"/>
                </a:solidFill>
              </a:rPr>
              <a:t>frag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A9A02-94F3-4771-834B-F0C71EF5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28813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AF007-7C26-47D2-9A0C-8453D3EC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58150" y="18669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FC58C-11BF-4C27-800F-8AEAC110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2667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0B3C4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9D00F-D59B-46CD-BEFC-6A9F5BF7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3C49"/>
                </a:solidFill>
              </a:defRPr>
            </a:pPr>
            <a:r>
              <a:rPr sz="1500" b="1" i="0">
                <a:solidFill>
                  <a:srgbClr val="0B3C49"/>
                </a:solidFill>
              </a:rPr>
              <a:t>MAESTRO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9E3AA-9CC8-49A3-BC93-73ED7C0F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97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12B"/>
                </a:solidFill>
              </a:defRPr>
            </a:pPr>
            <a:r>
              <a:rPr sz="1350" b="0" i="0">
                <a:solidFill>
                  <a:srgbClr val="17212B"/>
                </a:solidFill>
              </a:rPr>
              <a:t>reensambla + valida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06FBC-B33B-4C1C-89BE-4569A866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419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6F7B13-36B3-4EB9-9103-1146F73E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295900" y="30765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23A2B"/>
          </a:solidFill>
          <a:ln xmlns:a="http://schemas.openxmlformats.org/drawingml/2006/main" w="0">
            <a:solidFill>
              <a:srgbClr val="B23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60E43A-84A2-4182-9347-AC6A0B72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23A2B"/>
                </a:solidFill>
              </a:defRPr>
            </a:pPr>
            <a:r>
              <a:rPr sz="1500" b="1" i="0">
                <a:solidFill>
                  <a:srgbClr val="B23A2B"/>
                </a:solidFill>
              </a:rPr>
              <a:t>NACK / fragmento faltante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582AE3-5765-40F9-ABA9-BF77379D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971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3A87E-F1AE-4340-950D-2DCA09F4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86F38"/>
                </a:solidFill>
              </a:defRPr>
            </a:pPr>
            <a:r>
              <a:rPr sz="1500" b="1" i="0">
                <a:solidFill>
                  <a:srgbClr val="E86F38"/>
                </a:solidFill>
              </a:rPr>
              <a:t>REGLA DE INTEGRIDAD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1BC750-6639-4215-ACB2-52A91A53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29075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12B"/>
                </a:solidFill>
              </a:defRPr>
            </a:pPr>
            <a:r>
              <a:rPr sz="1800" b="1" i="0">
                <a:solidFill>
                  <a:srgbClr val="17212B"/>
                </a:solidFill>
              </a:rPr>
              <a:t>No interpolar. Reintentar. Conservar respaldo local. Liberar memoria sólo después de confirmar.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F20932-B477-4AD9-A57C-6A0A36FD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906B41-41EA-453C-8886-23A8D7CC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1149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F9A9A6-2E79-4A3F-AE53-0E3C29A9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05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secuencia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9C6F00-4DFD-42DC-A76A-18737FFB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95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AF3EBD-8AFB-4621-AE7D-4D2E74DC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1149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990017-D419-4487-9619-3F398CA7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05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CRC / tamaño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7FE2BA-629F-4075-A80B-CF4D4185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95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271CF8-46C8-4384-86C1-EB9F902B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1149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1D4BF5-1C16-4844-B6C1-8F75DBC7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05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283230-E2A7-469F-8981-E4EE1127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95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99D98F-84C5-461F-A481-226AD5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1149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FD49AE-9468-44E7-B566-3ACBCCF8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05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reintento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E11008-6A7F-4F62-94FB-F0AE6595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5717C"/>
                </a:solidFill>
              </a:defRPr>
            </a:pPr>
            <a:r>
              <a:rPr sz="1350" b="0" i="0">
                <a:solidFill>
                  <a:srgbClr val="65717C"/>
                </a:solidFill>
              </a:rPr>
              <a:t>El grafo confirma sendCompletionAckWithRetry y serviceCompletionAckRetry en el firmware ESP32.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E80CEA-E03D-47DF-AE20-7D0FDD67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+ código indexado · transporte ESP32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FE886B-E955-4EB5-AFEE-7FECF452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E4FF68-6620-48D0-8D8D-79CD4D18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5B490F-2073-46B0-95F7-8066BDF3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F6CA86-0311-4612-8167-B137CEA8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BA75E5-08CE-4815-B12D-50AC2C8E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334AFA-4D6F-4B7D-9F3D-4A367E87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AFE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839C2C-AA82-40BD-881B-0DEE466B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652350-3D15-47E0-A643-E8DFC598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EA34E7-97FC-4DD1-B5D0-0EBEDBDC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820F44-A79D-46B0-8F43-3AD5F3E4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SINCRONÍA / RED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45A89B-37CD-4C81-9D25-CCB91CF9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6DD4CD9-EA2B-48F2-9974-99277697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INGESTA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74108C-0FA3-442E-A78C-5DD3B42F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C1D838-8671-4DCD-A689-39A3796E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0AB204-3A10-4C89-8E8B-F505E318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611892-E8A7-4FD8-808D-72F09B47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F10E424-C317-4D5E-853D-4BA1DF9F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22107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8CB09F-CDDF-4167-9C01-B935AFC2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INTERFACES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267EF-0128-439F-9631-54C3B052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Campo y servidor: datos compartidos, roles distintos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06EA3-22B0-435C-B5E3-5B747703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107FD-B655-489F-8DCF-E892C4F1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a6a41e2444dad"/>
          <a:stretch xmlns:a="http://schemas.openxmlformats.org/drawingml/2006/main"/>
        </p:blipFill>
        <p:spPr>
          <a:xfrm xmlns:a="http://schemas.openxmlformats.org/drawingml/2006/main">
            <a:off x="495300" y="1996335"/>
            <a:ext cx="5429250" cy="3055831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4c9a96cf74703"/>
          <a:stretch xmlns:a="http://schemas.openxmlformats.org/drawingml/2006/main"/>
        </p:blipFill>
        <p:spPr>
          <a:xfrm xmlns:a="http://schemas.openxmlformats.org/drawingml/2006/main">
            <a:off x="6267450" y="1996335"/>
            <a:ext cx="5429250" cy="305583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CACDA-085B-4F88-A726-CB03AD1F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4BF3D-6D93-40B9-A830-DA92BE7D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CAMPO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711D4-3C2B-42B3-9FE9-C8EE4500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3C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396F8-33F9-4F54-A1FC-B88A4A87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9070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SERVIDOR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57731-9AA2-4717-B4AE-4D71737F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212B"/>
                </a:solidFill>
              </a:defRPr>
            </a:pPr>
            <a:r>
              <a:rPr sz="1575" b="1" i="0">
                <a:solidFill>
                  <a:srgbClr val="17212B"/>
                </a:solidFill>
              </a:rPr>
              <a:t>armar · configurar · capturar · exportar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0DC10-C7BA-493A-B2A0-89192D3E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212B"/>
                </a:solidFill>
              </a:defRPr>
            </a:pPr>
            <a:r>
              <a:rPr sz="1575" b="1" i="0">
                <a:solidFill>
                  <a:srgbClr val="17212B"/>
                </a:solidFill>
              </a:rPr>
              <a:t>validar · agrupar · promediar · invertir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F684E-5080-4E79-830E-8D4DB62B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+ interfaces reales del repositorio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A7A15-C058-4FB8-A44B-B8618D7B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137A1-1E3A-4DEF-B394-F21786C6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1E061-8348-4A16-9985-35F19A67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A7643-980C-46EB-82B3-A2B3735C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2E4090-A145-4CFE-BF70-0256FE7A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0E35D-7327-4FA8-B26E-76D1A0C9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AFE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F942DD-542D-41FE-82C9-2DE6D65D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436FF-28E7-4EF4-99A5-A2962BE7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3CF1E-CE7C-478E-906F-2F9C40D9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4EEDF4-E8CB-47A5-BBA8-F6A3650C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E5CC11-F2E0-4F03-B877-8B86EB18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28F1EF-82B6-4BDA-AD3D-5221AD43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INGESTA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CA92CE-885D-4C64-AE7F-DA458CA0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FF4F55-9914-4E40-B388-31439C18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85C46A-165B-4E35-84B2-8FF43153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53DB3D-A3D6-4E28-A8F4-061BD57F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FA43AD-5FE0-4611-84F1-A9897CF3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43292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AE2458-09A0-482A-AD26-5D9786CB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CAMPAÑA CANCHITA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FBEE5-B131-40B2-ACC7-EDEC5C28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La cadena completa ya corre con datos de campo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02C80-1D39-49EC-956E-048F4FB8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74BEB-8A91-4477-9365-940CF96E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08807aa88485c"/>
          <a:stretch xmlns:a="http://schemas.openxmlformats.org/drawingml/2006/main"/>
        </p:blipFill>
        <p:spPr>
          <a:xfrm xmlns:a="http://schemas.openxmlformats.org/drawingml/2006/main">
            <a:off x="2995119" y="1381125"/>
            <a:ext cx="2677513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9996A-364E-42FA-9E25-11B5C330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0970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4"/>
          </a:solidFill>
          <a:ln xmlns:a="http://schemas.openxmlformats.org/drawingml/2006/main" w="9525">
            <a:solidFill>
              <a:srgbClr val="2F6F6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47EE9-CE3B-433C-A03B-FDBC35FA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5732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F6F62"/>
                </a:solidFill>
              </a:defRPr>
            </a:pPr>
            <a:r>
              <a:rPr sz="975" b="1" i="0">
                <a:solidFill>
                  <a:srgbClr val="2F6F62"/>
                </a:solidFill>
              </a:rPr>
              <a:t>MEDIDO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8887E-40E2-45EE-A3C1-FD36870B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7645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E86F38"/>
                </a:solidFill>
              </a:defRPr>
            </a:pPr>
            <a:r>
              <a:rPr sz="4350" b="1" i="0">
                <a:solidFill>
                  <a:srgbClr val="E86F38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6FDFE6-E5C6-4F54-B27D-807E9EA9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14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5717C"/>
                </a:solidFill>
              </a:defRPr>
            </a:pPr>
            <a:r>
              <a:rPr sz="1650" b="0" i="0">
                <a:solidFill>
                  <a:srgbClr val="65717C"/>
                </a:solidFill>
              </a:rPr>
              <a:t>posiciones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3AFEC-746E-489E-99CD-7D778358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525" b="1" i="0">
                <a:solidFill>
                  <a:srgbClr val="0B3C49"/>
                </a:solidFill>
              </a:defRPr>
            </a:pPr>
            <a:r>
              <a:rPr sz="3525" b="1" i="0">
                <a:solidFill>
                  <a:srgbClr val="0B3C49"/>
                </a:solidFill>
              </a:rPr>
              <a:t>2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38DD2-B822-4F0B-85F1-B0E4D7CC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05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5717C"/>
                </a:solidFill>
              </a:defRPr>
            </a:pPr>
            <a:r>
              <a:rPr sz="1650" b="0" i="0">
                <a:solidFill>
                  <a:srgbClr val="65717C"/>
                </a:solidFill>
              </a:rPr>
              <a:t>paso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7004F-E0EF-47F9-B994-7D4BFF9F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2437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525" b="1" i="0">
                <a:solidFill>
                  <a:srgbClr val="2F6F62"/>
                </a:solidFill>
              </a:defRPr>
            </a:pPr>
            <a:r>
              <a:rPr sz="3525" b="1" i="0">
                <a:solidFill>
                  <a:srgbClr val="2F6F62"/>
                </a:solidFill>
              </a:rPr>
              <a:t>40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F242B-8A01-4CA3-B472-02337ADF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095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5717C"/>
                </a:solidFill>
              </a:defRPr>
            </a:pPr>
            <a:r>
              <a:rPr sz="1650" b="0" i="0">
                <a:solidFill>
                  <a:srgbClr val="65717C"/>
                </a:solidFill>
              </a:rPr>
              <a:t>apertura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DF728-4E0F-4EF5-A1E5-B7048478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007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212B"/>
                </a:solidFill>
              </a:defRPr>
            </a:pPr>
            <a:r>
              <a:rPr sz="1575" b="1" i="0">
                <a:solidFill>
                  <a:srgbClr val="17212B"/>
                </a:solidFill>
              </a:rPr>
              <a:t>Registro → dispersión → selección → inversión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8B27C-6A40-4A16-BD01-BEE74640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campaña real Canchita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52DE0-697F-472E-A134-05983B61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A3815-C2CB-4889-A8E6-AFE5ABC2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FUENTE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19C52-89A2-47FA-9760-31E28BC1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B95AD5-F174-42D3-B9FD-8B30BDD8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SENSOR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C3BDA-5003-4926-97C3-AD99425F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CADFFA-2124-41FC-B62C-4F9CE060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DCD14C-6E71-456D-AA17-520CC100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336E7A-E155-42F1-96CA-8EEC9D3A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ADC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031B14-E865-456E-8145-24BFFDC0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B157EC-C2C7-4597-93A5-B5C6F5B1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SINCRONÍA / 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529315-C937-4970-89EC-464B9EB4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E27292-0BB6-4345-BE85-741D04DA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INGESTA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DBF4B-2CED-49F9-9703-CF59F466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CE412E-C61F-434E-8EAD-DED62F3D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MASW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74F9F9-8E58-4123-AD94-CDC434DF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4DAD45-5FAF-4DDA-90CE-71B7A666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3A05C7-5BE9-4C78-ACFD-E96F590C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456589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3ACB3D-6727-450A-B40D-71A26D1D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LÍMITE EXPERIMENTAL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0212F-8CCF-4E13-BEB5-2E857A2C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12B"/>
                </a:solidFill>
              </a:defRPr>
            </a:pPr>
            <a:r>
              <a:rPr sz="2850" b="1" i="0">
                <a:solidFill>
                  <a:srgbClr val="17212B"/>
                </a:solidFill>
              </a:rPr>
              <a:t>La geometría define qué parte de la dispersión es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43D7B-9211-4053-BC29-347C5129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2C13B-3CEC-4340-8293-3276AFED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6e1f46c5047e2"/>
          <a:stretch xmlns:a="http://schemas.openxmlformats.org/drawingml/2006/main"/>
        </p:blipFill>
        <p:spPr>
          <a:xfrm xmlns:a="http://schemas.openxmlformats.org/drawingml/2006/main">
            <a:off x="476250" y="2403405"/>
            <a:ext cx="6667500" cy="247981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67EF6-645D-4E7A-8C15-12EB10D7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1450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000" b="0" i="0">
                <a:solidFill>
                  <a:srgbClr val="0B3C49"/>
                </a:solidFill>
              </a:defRPr>
            </a:pPr>
            <a:r>
              <a:rPr sz="3000" b="0" i="0">
                <a:solidFill>
                  <a:srgbClr val="0B3C49"/>
                </a:solidFill>
              </a:rPr>
              <a:t>c ≥ 2 · Δx · 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E2F33-1C29-4551-BFCE-194068C4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6697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65717C"/>
                </a:solidFill>
              </a:defRPr>
            </a:pPr>
            <a:r>
              <a:rPr sz="1800" b="0" i="0">
                <a:solidFill>
                  <a:srgbClr val="65717C"/>
                </a:solidFill>
              </a:rPr>
              <a:t>Con Δx = 2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DEFDB-85F1-4E1A-937B-2B4BC53C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527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E86F38"/>
                </a:solidFill>
              </a:defRPr>
            </a:pPr>
            <a:r>
              <a:rPr sz="2850" b="0" i="0">
                <a:solidFill>
                  <a:srgbClr val="E86F38"/>
                </a:solidFill>
              </a:rPr>
              <a:t>cₐₗᵢₐₛ = 4f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8D189-6998-46D0-BAA7-34AC7342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14750"/>
            <a:ext cx="34290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DED3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BC538-5B97-4E30-83BD-1D4BBD26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86F38"/>
                </a:solidFill>
              </a:defRPr>
            </a:pPr>
            <a:r>
              <a:rPr sz="1275" b="1" i="0">
                <a:solidFill>
                  <a:srgbClr val="E86F38"/>
                </a:solidFill>
              </a:rPr>
              <a:t>CRESTA ÚTIL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4FF28-BA37-48F6-A1F1-A7C4DF89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481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3C49"/>
                </a:solidFill>
              </a:defRPr>
            </a:pPr>
            <a:r>
              <a:rPr sz="2325" b="1" i="0">
                <a:solidFill>
                  <a:srgbClr val="0B3C49"/>
                </a:solidFill>
              </a:rPr>
              <a:t>6–20 Hz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A4783-8E00-451D-A979-3E188BB4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481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0B3C49"/>
                </a:solidFill>
              </a:defRPr>
            </a:pPr>
            <a:r>
              <a:rPr sz="2100" b="1" i="0">
                <a:solidFill>
                  <a:srgbClr val="0B3C49"/>
                </a:solidFill>
              </a:rPr>
              <a:t>70–110 m/s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72E4B-E7FB-4ECB-BA6F-38AA8D25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7212B"/>
                </a:solidFill>
              </a:defRPr>
            </a:pPr>
            <a:r>
              <a:rPr sz="1275" b="0" i="0">
                <a:solidFill>
                  <a:srgbClr val="17212B"/>
                </a:solidFill>
              </a:rPr>
              <a:t>La cresta de 100 m/s cruza la cota cerca de 25 Hz.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14942-F5C9-4D9D-8AAD-350E86F8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47687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5717C"/>
                </a:solidFill>
              </a:defRPr>
            </a:pPr>
            <a:r>
              <a:rPr sz="1350" b="0" i="0">
                <a:solidFill>
                  <a:srgbClr val="65717C"/>
                </a:solidFill>
              </a:rPr>
              <a:t>La apertura de 40 m condiciona el extremo bajo; el paso de 2 m condiciona el alto.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1040E-A9A0-49AB-8DCA-02962AAC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geometría y aliasing espacial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D58C0-F2AB-4F4D-A8A4-7315B7A1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4661D2-2808-4A11-887E-9A869FA9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14F13-00BB-447B-865C-B7E71642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1A26F-C680-4A1F-8082-7084F005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96EE1-0EE1-48ED-A0FE-71EB3556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BEB04D-A7ED-48BD-BC72-569C9BA0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AFE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B935D7-D47F-41DC-8803-FBB4F0A5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DF1A43-D00A-4611-AC6D-3F8ED49D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5155D-E83C-4F39-BF5C-4F1FF2CB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A80977-C638-4114-8498-52273A83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5C3B62-E617-429C-A18D-EB3B901D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88C0D-ECF3-4FFB-896A-6A8B96FB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98A361-6BDC-4D84-A329-C15302B0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19E37A-CD62-4892-90FF-11581B9A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MASW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00E5F0-72AD-477D-8FC9-3DF31A26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DF4495-F395-4FBF-BD95-89C05FAC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83160D-B837-4EB8-9779-159AD5E5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70268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3DFE85-30D1-4DBA-BB58-C1AF8C8B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HALLAZGO EXPERIMENTAL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C5F36-ACE5-4E8D-AFC8-E4797678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La profundidad está limitada por energía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1E944-5D5A-4BF4-9873-4E881367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333BE-D6F9-479E-A8DD-8F675E19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0d902f0cc45b7"/>
          <a:stretch xmlns:a="http://schemas.openxmlformats.org/drawingml/2006/main"/>
        </p:blipFill>
        <p:spPr>
          <a:xfrm xmlns:a="http://schemas.openxmlformats.org/drawingml/2006/main">
            <a:off x="2311739" y="1428750"/>
            <a:ext cx="3225123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7C09E-68B0-44FC-9C44-A9869765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438275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4"/>
          </a:solidFill>
          <a:ln xmlns:a="http://schemas.openxmlformats.org/drawingml/2006/main" w="9525">
            <a:solidFill>
              <a:srgbClr val="2F6F6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956AA-21D0-4620-BA24-7AC6E7B9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485900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F6F62"/>
                </a:solidFill>
              </a:defRPr>
            </a:pPr>
            <a:r>
              <a:rPr sz="975" b="1" i="0">
                <a:solidFill>
                  <a:srgbClr val="2F6F62"/>
                </a:solidFill>
              </a:rPr>
              <a:t>MEDIDO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E4E14-AA0C-41FB-B98D-8B51F897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5717C"/>
                </a:solidFill>
              </a:defRPr>
            </a:pPr>
            <a:r>
              <a:rPr sz="1650" b="1" i="0">
                <a:solidFill>
                  <a:srgbClr val="65717C"/>
                </a:solidFill>
              </a:rPr>
              <a:t>&lt; 5 Hz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2BDD2-0782-4E0E-9A75-7E44EECC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1666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B23A2B"/>
                </a:solidFill>
              </a:defRPr>
            </a:pPr>
            <a:r>
              <a:rPr sz="2850" b="1" i="0">
                <a:solidFill>
                  <a:srgbClr val="B23A2B"/>
                </a:solidFill>
              </a:rPr>
              <a:t>0,1%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2234A-F476-4D61-B35A-92FCFAEE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319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7DEEC-E41F-4EF5-8FDC-6581A47B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5717C"/>
                </a:solidFill>
              </a:defRPr>
            </a:pPr>
            <a:r>
              <a:rPr sz="1650" b="1" i="0">
                <a:solidFill>
                  <a:srgbClr val="65717C"/>
                </a:solidFill>
              </a:rPr>
              <a:t>5–20 Hz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210C5-BFDC-49DB-A8AD-82CF4D2B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0375"/>
            <a:ext cx="1666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E86F38"/>
                </a:solidFill>
              </a:defRPr>
            </a:pPr>
            <a:r>
              <a:rPr sz="2850" b="1" i="0">
                <a:solidFill>
                  <a:srgbClr val="E86F38"/>
                </a:solidFill>
              </a:rPr>
              <a:t>54,3%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E3185-0846-43BF-85AB-56B6D313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71875"/>
            <a:ext cx="319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FC238-C89A-4C71-B87E-6747A77A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48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5717C"/>
                </a:solidFill>
              </a:defRPr>
            </a:pPr>
            <a:r>
              <a:rPr sz="1650" b="1" i="0">
                <a:solidFill>
                  <a:srgbClr val="65717C"/>
                </a:solidFill>
              </a:rPr>
              <a:t>20–50 Hz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AB9E9-E9FE-4C1B-8281-06E33FB4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0"/>
            <a:ext cx="1666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0B3C49"/>
                </a:solidFill>
              </a:defRPr>
            </a:pPr>
            <a:r>
              <a:rPr sz="2850" b="1" i="0">
                <a:solidFill>
                  <a:srgbClr val="0B3C49"/>
                </a:solidFill>
              </a:rPr>
              <a:t>43,2%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83732-A5D0-48AA-837E-07824ED0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319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33B2F-3CF0-40EF-85FD-A5624FB5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00625"/>
            <a:ext cx="33813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5DED3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7EAD1F-3474-4BC1-A206-00C6920C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72075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Un filtro no recupera señal que nunca superó el ruido antes del ADC.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42D22F-C54C-47A1-89FF-69B4DBC4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main.pdf · autopotencia multicanal de Canchita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9E37D4-F316-4EF0-9C1D-A2F5F8ED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D8273-5F71-4E72-842A-81506C4F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FUENTE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4F05E1-1997-4086-97AF-67B0F4BF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8B5AE-AE6D-4E20-AA22-C9F9B0BD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SENSOR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A54325-C5A1-4A6A-BA42-8B6F467D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1399B0-64B9-4487-8611-31E90EBA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3B5898-4CC1-4255-8175-346E9DD1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60B239-7E8F-4713-9680-50751AF4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529E9B-527D-4FC3-8CC3-B0D9C69D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32F770-E2E2-4ED8-B2B3-689BC47D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3C5FAC-C661-47E3-AD54-D1D503EE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A43F6D-2CA0-4EFA-8D0C-20EBAC42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5A4D8D-EA28-4AD1-87AE-C8823744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7F0B1E-176E-4C15-8541-CF6C7652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MASW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757922-28FD-4CF9-8734-F6AB9F27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10C1AB-9DC4-465A-B351-28C72C6C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185D0C-90DD-457E-9FC5-7832E0EE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86018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BB8C59-3D38-47F1-9978-EF279D22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PRUEBA DE IMPACTOS EN SECUENCIA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D3587-4775-4C9F-98F6-B43DEDCF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El apilado confirma respuesta en baja frecuencia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93953-F80F-4EA7-8D90-2F705FBA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BD0C1-0A8E-4935-B6A3-F0B5FB8C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48321f6e74890"/>
          <a:stretch xmlns:a="http://schemas.openxmlformats.org/drawingml/2006/main"/>
        </p:blipFill>
        <p:spPr>
          <a:xfrm xmlns:a="http://schemas.openxmlformats.org/drawingml/2006/main">
            <a:off x="495300" y="1730313"/>
            <a:ext cx="7143750" cy="1492375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232883f5e4981"/>
          <a:stretch xmlns:a="http://schemas.openxmlformats.org/drawingml/2006/main"/>
        </p:blipFill>
        <p:spPr>
          <a:xfrm xmlns:a="http://schemas.openxmlformats.org/drawingml/2006/main">
            <a:off x="495300" y="3886364"/>
            <a:ext cx="7143750" cy="18475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83FFD-98AB-44D2-9964-1E8A082F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438275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4"/>
          </a:solidFill>
          <a:ln xmlns:a="http://schemas.openxmlformats.org/drawingml/2006/main" w="9525">
            <a:solidFill>
              <a:srgbClr val="2F6F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42973-1BA1-4A77-9DC5-EDEBFE90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485900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F6F62"/>
                </a:solidFill>
              </a:defRPr>
            </a:pPr>
            <a:r>
              <a:rPr sz="975" b="1" i="0">
                <a:solidFill>
                  <a:srgbClr val="2F6F62"/>
                </a:solidFill>
              </a:rPr>
              <a:t>PROBADO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9A3F1-F523-4354-A895-9E0DCFF1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3C49"/>
                </a:solidFill>
              </a:defRPr>
            </a:pPr>
            <a:r>
              <a:rPr sz="2025" b="1" i="0">
                <a:solidFill>
                  <a:srgbClr val="0B3C49"/>
                </a:solidFill>
              </a:rPr>
              <a:t>La secuencia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84E52-D8C3-4A81-81A8-9B899215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permite apilar impactos y elevar la componente coherente sobre el ruido.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5790A-2E9A-418D-8CAA-5FED74B8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0C42E-7457-4887-B890-60DBB6F9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05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E86F38"/>
                </a:solidFill>
              </a:defRPr>
            </a:pPr>
            <a:r>
              <a:rPr sz="2025" b="1" i="0">
                <a:solidFill>
                  <a:srgbClr val="E86F38"/>
                </a:solidFill>
              </a:rPr>
              <a:t>El espectro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73C9B-B656-46F1-BA44-E8F30B5A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212B"/>
                </a:solidFill>
              </a:defRPr>
            </a:pPr>
            <a:r>
              <a:rPr sz="1725" b="0" i="0">
                <a:solidFill>
                  <a:srgbClr val="17212B"/>
                </a:solidFill>
              </a:rPr>
              <a:t>muestra respuesta en baja frecuencia compatible con el pasa-bandas estimado.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4D957-136C-44DC-B8EB-B332376A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76875"/>
            <a:ext cx="2333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3DEDA"/>
          </a:solidFill>
          <a:ln xmlns:a="http://schemas.openxmlformats.org/drawingml/2006/main" w="9525">
            <a:solidFill>
              <a:srgbClr val="B23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1B992-E627-42F6-8F13-6EDC50E1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524500"/>
            <a:ext cx="2181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23A2B"/>
                </a:solidFill>
              </a:defRPr>
            </a:pPr>
            <a:r>
              <a:rPr sz="975" b="1" i="0">
                <a:solidFill>
                  <a:srgbClr val="B23A2B"/>
                </a:solidFill>
              </a:rPr>
              <a:t>MARTILLETE PENDIENTE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16E94-6878-4EBF-802C-0B3E602A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prueba aportada · señal temporal y espectro apilado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2CD96-63A8-467D-BA77-16B647B7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F2EB9-764E-477A-A77F-26E9DF22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FUENTE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4F21B-F7FE-4972-99EC-DEA8E307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590497-B2B5-4461-828B-18D069E5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SENSOR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C5B73-6C65-44B9-BF4E-A5143DF2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B148C-68D0-44BD-9029-7028219B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AFE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6E6E51-DD8B-4649-BC8E-1E7092CA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A0DE71-1E1F-43BE-B49A-8C3A841B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765715-437C-44FF-AF87-267708CD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F36097-16CE-40ED-9E6C-2699BC4C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A519C5-DBE8-445E-BD3C-E03A8F46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324FCB-1BAF-4EF7-B30C-FF42792D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0A3CFB-70EC-4ED8-A4FF-92C749B8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FAC090-D79E-4393-A01E-34F01EA9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MASW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1C51A8-FCD7-4CCB-9451-19EBDE0F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AF2E4F-D475-4CA5-8554-2813B7D2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INVERSIÓN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F3E0BD-AA8D-4530-A3E3-47AB3320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192922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1439E6-437B-4811-8228-E1250399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1640 EJECUCIONES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616C5-B17D-4F75-AA20-A88DE174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12B"/>
                </a:solidFill>
              </a:defRPr>
            </a:pPr>
            <a:r>
              <a:rPr sz="3600" b="1" i="0">
                <a:solidFill>
                  <a:srgbClr val="17212B"/>
                </a:solidFill>
              </a:rPr>
              <a:t>Benchmark: incertidumbre de datos vs. modelo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F05D6-4E12-45FF-B6BE-8CF2CDA8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5717C"/>
                </a:solidFill>
              </a:defRPr>
            </a:pPr>
            <a:r>
              <a:rPr sz="1350" b="1" i="0">
                <a:solidFill>
                  <a:srgbClr val="65717C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DC59C-3EA2-4B2D-A62D-5DE0EEE0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857bd579e4810"/>
          <a:stretch xmlns:a="http://schemas.openxmlformats.org/drawingml/2006/main"/>
        </p:blipFill>
        <p:spPr>
          <a:xfrm xmlns:a="http://schemas.openxmlformats.org/drawingml/2006/main">
            <a:off x="457200" y="1711694"/>
            <a:ext cx="6762750" cy="391086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A1B4D-FA6D-4F67-80E1-9DDE440A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438275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E9E4"/>
          </a:solidFill>
          <a:ln xmlns:a="http://schemas.openxmlformats.org/drawingml/2006/main" w="9525">
            <a:solidFill>
              <a:srgbClr val="2F6F6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1DB43-E92C-450F-AFD4-2942A59D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485900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F6F62"/>
                </a:solidFill>
              </a:defRPr>
            </a:pPr>
            <a:r>
              <a:rPr sz="975" b="1" i="0">
                <a:solidFill>
                  <a:srgbClr val="2F6F62"/>
                </a:solidFill>
              </a:rPr>
              <a:t>MEDIDO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66403-26CA-489D-AD37-99EA8754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3C49"/>
                </a:solidFill>
              </a:defRPr>
            </a:pPr>
            <a:r>
              <a:rPr sz="1875" b="1" i="0">
                <a:solidFill>
                  <a:srgbClr val="0B3C49"/>
                </a:solidFill>
              </a:rPr>
              <a:t>Park + DP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703FC-A893-4781-838F-9BA4B0CB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</a:defRPr>
            </a:pPr>
            <a:r>
              <a:rPr sz="1425" b="0" i="0">
                <a:solidFill>
                  <a:srgbClr val="17212B"/>
                </a:solidFill>
              </a:rPr>
              <a:t>línea base real: 25/48 admisibles · misfit mediano 4,09%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44AB7-538D-4DA5-B02A-6E4BE0F4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9082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328CD-18BC-465B-981D-595C1AF0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051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86F38"/>
                </a:solidFill>
              </a:defRPr>
            </a:pPr>
            <a:r>
              <a:rPr sz="1875" b="1" i="0">
                <a:solidFill>
                  <a:srgbClr val="E86F38"/>
                </a:solidFill>
              </a:rPr>
              <a:t>29,76 vs 2,28 m/s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D1860-4FE9-46BE-A062-6271514F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766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</a:defRPr>
            </a:pPr>
            <a:r>
              <a:rPr sz="1425" b="0" i="0">
                <a:solidFill>
                  <a:srgbClr val="17212B"/>
                </a:solidFill>
              </a:rPr>
              <a:t>retirar offsets mueve c(f) ≈13× más que cambiar transformada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D6892-BA8B-43F3-BACB-23430872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4332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E120B-49BF-4BC0-913A-5EA6745F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576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3C49"/>
                </a:solidFill>
              </a:defRPr>
            </a:pPr>
            <a:r>
              <a:rPr sz="1875" b="1" i="0">
                <a:solidFill>
                  <a:srgbClr val="0B3C49"/>
                </a:solidFill>
              </a:rPr>
              <a:t>3 capas · CV ≈3,0%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74B86-DA8E-46B9-AA90-2BA73A8B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291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</a:defRPr>
            </a:pPr>
            <a:r>
              <a:rPr sz="1425" b="0" i="0">
                <a:solidFill>
                  <a:srgbClr val="17212B"/>
                </a:solidFill>
              </a:rPr>
              <a:t>mejor condicionadas; cinco capas elevan sensibilidad al optimizador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FCAA1-DFFB-415F-85FC-D168A356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9582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7E208-99D7-4994-841D-77D19C21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01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3C49"/>
                </a:solidFill>
              </a:defRPr>
            </a:pPr>
            <a:r>
              <a:rPr sz="1875" b="1" i="0">
                <a:solidFill>
                  <a:srgbClr val="0B3C49"/>
                </a:solidFill>
              </a:rPr>
              <a:t>QC + bootstrap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A023CF-67F6-48B1-AEA8-9599A99D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816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</a:defRPr>
            </a:pPr>
            <a:r>
              <a:rPr sz="1425" b="0" i="0">
                <a:solidFill>
                  <a:srgbClr val="17212B"/>
                </a:solidFill>
              </a:rPr>
              <a:t>DP puede inventar curva sin energía; censura no reemplaza señal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0A642-9993-44AC-AFDB-ACFB3428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4832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B66FC-C132-420D-B18D-5D842889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34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5717C"/>
                </a:solidFill>
              </a:defRPr>
            </a:pPr>
            <a:r>
              <a:rPr sz="1350" b="0" i="0">
                <a:solidFill>
                  <a:srgbClr val="65717C"/>
                </a:solidFill>
              </a:rPr>
              <a:t>432 ejecuciones comparables en el balance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8A1FFB-EA05-456A-B1F0-218EEE42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17C"/>
                </a:solidFill>
              </a:defRPr>
            </a:pPr>
            <a:r>
              <a:rPr sz="975" b="0" i="0">
                <a:solidFill>
                  <a:srgbClr val="65717C"/>
                </a:solidFill>
              </a:rPr>
              <a:t>Fuente: INFORME_COMPLETO.pdf · benchmark consolidado 2026-08-23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2C53C-6C25-4C9F-B090-86FCE118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DBF761-2408-4FC5-8122-B72E56BB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FUENTE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08D8D-CA79-40C1-A9DD-94F01D68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198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51C3FD-6370-4CD7-8B87-76F4404F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4865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SENSOR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F78ACF-CDAC-4A37-ACB2-7BCDDE70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19850"/>
            <a:ext cx="885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F45C6D-741E-48DC-B53F-3953349D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865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AFE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253EB7-9F17-4B06-9BFA-116ED173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73B085-799B-46BE-BB81-AEAEC9F9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48652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ADC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381883-F7FE-4F08-B96F-5B573FB9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419850"/>
            <a:ext cx="1704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27B027-90CB-499C-91A4-8CFCE26B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86525"/>
            <a:ext cx="1628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17C"/>
                </a:solidFill>
              </a:defRPr>
            </a:pPr>
            <a:r>
              <a:rPr sz="900" b="1" i="0">
                <a:solidFill>
                  <a:srgbClr val="65717C"/>
                </a:solidFill>
              </a:rPr>
              <a:t>SINCRONÍA / RED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0E0BF8-9CDA-4754-9350-9CFC492A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4198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EAE1"/>
          </a:solidFill>
          <a:ln xmlns:a="http://schemas.openxmlformats.org/drawingml/2006/main" w="9525">
            <a:solidFill>
              <a:srgbClr val="E6E1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F4A4A0-D729-4F30-AA48-8EF22A9F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8652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5717C"/>
                </a:solidFill>
              </a:defRPr>
            </a:pPr>
            <a:r>
              <a:rPr sz="975" b="1" i="0">
                <a:solidFill>
                  <a:srgbClr val="65717C"/>
                </a:solidFill>
              </a:rPr>
              <a:t>INGESTA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992CF0-D71D-4DD4-87CF-D90FE1A9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19850"/>
            <a:ext cx="9429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ACEE6D-CB66-4B3D-9059-4B036066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48652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MASW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83C9BB-8B6A-4794-841F-9EF3CF1A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19850"/>
            <a:ext cx="11715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7DC9AA-0480-4F4A-B32E-D1DA5124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86525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INVERSIÓN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D38CE3-79E9-4CBE-A8EA-7A3D07D5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532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3084133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3C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56CA83-AD87-42C9-9505-10B8D517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6F38"/>
                </a:solidFill>
              </a:defRPr>
            </a:pPr>
            <a:r>
              <a:rPr sz="1125" b="1" i="0">
                <a:solidFill>
                  <a:srgbClr val="E86F38"/>
                </a:solidFill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A71BB-2A74-4B6A-AF40-550D5398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66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</a:defRPr>
            </a:pPr>
            <a:r>
              <a:rPr sz="3225" b="1" i="0">
                <a:solidFill>
                  <a:srgbClr val="FFFFFF"/>
                </a:solidFill>
              </a:rPr>
              <a:t>La cadena funciona; el próximo avance depende de mejorar el dato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E6DE5-94D4-4B99-9EBE-5547B08C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859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E204B-7AD7-42A8-895A-BAA1AB00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714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F6F62"/>
          </a:solidFill>
          <a:ln xmlns:a="http://schemas.openxmlformats.org/drawingml/2006/main" w="9525">
            <a:solidFill>
              <a:srgbClr val="2F6F6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25998-A6AA-4DCB-B3E2-1698233E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MEDIDO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4B445-D4D9-4987-9E73-0D3AA9E9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6217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sincronismo · respuesta AFE · campaña · espectro · apilado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C979B-25C9-4DD6-B4D0-36B4F8DE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1714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9525">
            <a:solidFill>
              <a:srgbClr val="1F6F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92E63-017E-4CBF-809E-79A51351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IMPLEMENTADO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EE792-FB78-4F7C-BDBB-7DFF1FB7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1942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calibración · ADC/DMA · transporte · interfaces · MASW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9889A-6008-492B-8368-68834F35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1714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6F38"/>
          </a:solidFill>
          <a:ln xmlns:a="http://schemas.openxmlformats.org/drawingml/2006/main" w="9525">
            <a:solidFill>
              <a:srgbClr val="E86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97BDA-4A22-4854-95DB-3D561693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PENDIENTE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2B13A-B73C-4E51-A608-72FBE4D8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7667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fuente repetitiva instrumentada · validación extremo a extremo · bootstrap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0B5BD-1549-4966-A809-EB1DE74C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86F38"/>
                </a:solidFill>
              </a:defRPr>
            </a:pPr>
            <a:r>
              <a:rPr sz="1350" b="1" i="0">
                <a:solidFill>
                  <a:srgbClr val="E86F38"/>
                </a:solidFill>
              </a:rPr>
              <a:t>FÍSICA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6A2D5-52EA-47E8-B364-A16E456A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720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98163-ADDE-425C-93F7-E06580D0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581275" y="51054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9F0C5-7BAA-46DE-8584-7BE11127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REQUISITOS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C3C81-F879-4A4F-8E2A-AE1FCB07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FA260-E248-411F-8041-C92F0AE3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200650" y="51054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F227F-4D72-4B2C-A93A-A43035FA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48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IMPLEMENTACIÓN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9BB96-87AA-4B66-8DB9-D98606B3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720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F8FF23-8B68-4F5C-BFCE-3227A5A0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53400" y="51054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241EAF-5898-446D-943B-311ED25A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48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EVIDENCIA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AE31C9-69BB-43C1-B517-F3B343EE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1720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1C463B-990F-4E88-9B08-A4654121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677525" y="51054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F38"/>
          </a:solidFill>
          <a:ln xmlns:a="http://schemas.openxmlformats.org/drawingml/2006/main" w="0">
            <a:solidFill>
              <a:srgbClr val="E86F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AC430C-931B-4086-AF50-D34B935D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524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E86F38"/>
                </a:solidFill>
              </a:defRPr>
            </a:pPr>
            <a:r>
              <a:rPr sz="1350" b="1" i="0">
                <a:solidFill>
                  <a:srgbClr val="E86F38"/>
                </a:solidFill>
              </a:rPr>
              <a:t>DECISIÓN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F6A9FF-F732-4AF0-86CE-0F801CE6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5312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Prioridad: más energía útil de baja frecuencia, misma geometría y validación repetible.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879503-1AB7-477B-BF88-D8384B06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94AEB4"/>
                </a:solidFill>
              </a:defRPr>
            </a:pPr>
            <a:r>
              <a:rPr sz="1350" b="1" i="0">
                <a:solidFill>
                  <a:srgbClr val="94AEB4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91986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2026-08-24T17:18:00.8050000Z</dcterms:created>
  <dcterms:modified xsi:type="dcterms:W3CDTF">2026-08-24T17:18:00.8050000Z</dcterms:modified>
</coreProperties>
</file>